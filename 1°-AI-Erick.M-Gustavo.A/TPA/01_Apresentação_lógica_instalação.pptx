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779" r:id="rId2"/>
    <p:sldId id="780" r:id="rId3"/>
    <p:sldId id="496" r:id="rId4"/>
    <p:sldId id="781" r:id="rId5"/>
    <p:sldId id="376" r:id="rId6"/>
    <p:sldId id="377" r:id="rId7"/>
    <p:sldId id="378" r:id="rId8"/>
    <p:sldId id="379" r:id="rId9"/>
    <p:sldId id="380" r:id="rId10"/>
    <p:sldId id="782" r:id="rId11"/>
    <p:sldId id="783" r:id="rId12"/>
    <p:sldId id="784" r:id="rId13"/>
    <p:sldId id="786" r:id="rId14"/>
    <p:sldId id="765" r:id="rId15"/>
    <p:sldId id="763" r:id="rId16"/>
    <p:sldId id="764" r:id="rId17"/>
    <p:sldId id="785" r:id="rId18"/>
    <p:sldId id="767" r:id="rId19"/>
    <p:sldId id="768" r:id="rId20"/>
    <p:sldId id="769" r:id="rId21"/>
    <p:sldId id="770" r:id="rId22"/>
    <p:sldId id="771" r:id="rId23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0659"/>
    <a:srgbClr val="131415"/>
    <a:srgbClr val="91A3AD"/>
    <a:srgbClr val="1C1F20"/>
    <a:srgbClr val="D9D9D9"/>
    <a:srgbClr val="000000"/>
    <a:srgbClr val="009BEB"/>
    <a:srgbClr val="75838B"/>
    <a:srgbClr val="ED2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31" autoAdjust="0"/>
    <p:restoredTop sz="95196"/>
  </p:normalViewPr>
  <p:slideViewPr>
    <p:cSldViewPr>
      <p:cViewPr varScale="1">
        <p:scale>
          <a:sx n="119" d="100"/>
          <a:sy n="119" d="100"/>
        </p:scale>
        <p:origin x="954" y="96"/>
      </p:cViewPr>
      <p:guideLst>
        <p:guide orient="horz" pos="2880"/>
        <p:guide pos="2160"/>
      </p:guideLst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141B6-8E8E-4E1A-B16D-8B3054E1AB03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75C5F-C1A2-4DE4-85B0-A4DA2723F7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7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75C5F-C1A2-4DE4-85B0-A4DA2723F7A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531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75C5F-C1A2-4DE4-85B0-A4DA2723F7A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945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75C5F-C1A2-4DE4-85B0-A4DA2723F7A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29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2A9D8-0EF7-7A47-AE47-3A1BC39FC80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50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2A9D8-0EF7-7A47-AE47-3A1BC39FC80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483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2A9D8-0EF7-7A47-AE47-3A1BC39FC80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609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2A9D8-0EF7-7A47-AE47-3A1BC39FC80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387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2A9D8-0EF7-7A47-AE47-3A1BC39FC80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601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39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888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257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32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25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995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112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729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113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664207" y="460248"/>
            <a:ext cx="5580888" cy="438912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7025" y="42081"/>
            <a:ext cx="5949950" cy="1365250"/>
          </a:xfrm>
          <a:prstGeom prst="rect">
            <a:avLst/>
          </a:prstGeom>
        </p:spPr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888" y="1375506"/>
            <a:ext cx="7230222" cy="276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7025" y="42081"/>
            <a:ext cx="5949950" cy="1365250"/>
          </a:xfrm>
          <a:prstGeom prst="rect">
            <a:avLst/>
          </a:prstGeom>
        </p:spPr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3475" y="1350312"/>
            <a:ext cx="3801745" cy="291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08274" y="1350312"/>
            <a:ext cx="4022725" cy="3330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7025" y="42081"/>
            <a:ext cx="5949950" cy="1365250"/>
          </a:xfrm>
          <a:prstGeom prst="rect">
            <a:avLst/>
          </a:prstGeom>
        </p:spPr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354B95ED-7F7E-40C8-9123-15E22DF25971}" type="datetimeFigureOut">
              <a:rPr lang="pt-BR" smtClean="0"/>
              <a:t>06/02/2025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93775" y="4864939"/>
            <a:ext cx="2133600" cy="273844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r>
              <a:rPr lang="pt-BR"/>
              <a:t>Prof. Edson de Oliveira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940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53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475" t="-31201" b="-62954"/>
          <a:stretch/>
        </p:blipFill>
        <p:spPr>
          <a:xfrm>
            <a:off x="8382000" y="209550"/>
            <a:ext cx="533399" cy="22859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173961F-F5F4-3C51-30D0-027E30D7BF8C}"/>
              </a:ext>
            </a:extLst>
          </p:cNvPr>
          <p:cNvSpPr txBox="1"/>
          <p:nvPr userDrawn="1"/>
        </p:nvSpPr>
        <p:spPr>
          <a:xfrm>
            <a:off x="7189619" y="4897279"/>
            <a:ext cx="19543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Prof. Edson de Oliveira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7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84" y="2571750"/>
            <a:ext cx="2018746" cy="239726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BF1D1CD-81D5-E48E-9DD7-08FC681FF670}"/>
              </a:ext>
            </a:extLst>
          </p:cNvPr>
          <p:cNvSpPr txBox="1"/>
          <p:nvPr/>
        </p:nvSpPr>
        <p:spPr>
          <a:xfrm>
            <a:off x="2438400" y="203835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126C"/>
                </a:solidFill>
                <a:latin typeface="Gotham HTF XLight" pitchFamily="50" charset="0"/>
              </a:rPr>
              <a:t>QUEM SOU?</a:t>
            </a:r>
          </a:p>
        </p:txBody>
      </p:sp>
    </p:spTree>
    <p:extLst>
      <p:ext uri="{BB962C8B-B14F-4D97-AF65-F5344CB8AC3E}">
        <p14:creationId xmlns:p14="http://schemas.microsoft.com/office/powerpoint/2010/main" val="193547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552" y="2592981"/>
            <a:ext cx="2018746" cy="2397260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33F06FF7-5FF5-914B-A5D1-442D04F55604}"/>
              </a:ext>
            </a:extLst>
          </p:cNvPr>
          <p:cNvCxnSpPr/>
          <p:nvPr/>
        </p:nvCxnSpPr>
        <p:spPr>
          <a:xfrm>
            <a:off x="685800" y="614993"/>
            <a:ext cx="444090" cy="0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0">
            <a:extLst>
              <a:ext uri="{FF2B5EF4-FFF2-40B4-BE49-F238E27FC236}">
                <a16:creationId xmlns:a16="http://schemas.microsoft.com/office/drawing/2014/main" id="{0D9F96E7-3C2F-8341-B583-8856655F7C9A}"/>
              </a:ext>
            </a:extLst>
          </p:cNvPr>
          <p:cNvSpPr txBox="1"/>
          <p:nvPr/>
        </p:nvSpPr>
        <p:spPr>
          <a:xfrm>
            <a:off x="593521" y="2945226"/>
            <a:ext cx="5780344" cy="20467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Especialista em Engenharia de Software | Especialista em Tecnologia Educacional | Especialista em Pedagogia em Ensino de Técnico e Superior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Professor há 28 anos Coordenador de curso na ETEC Prof. H. A. Silveira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Expertise: </a:t>
            </a:r>
          </a:p>
          <a:p>
            <a:pPr marL="800100" lvl="1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Lógica de Programação</a:t>
            </a:r>
          </a:p>
        </p:txBody>
      </p:sp>
      <p:pic>
        <p:nvPicPr>
          <p:cNvPr id="9" name="Picture 18">
            <a:extLst>
              <a:ext uri="{FF2B5EF4-FFF2-40B4-BE49-F238E27FC236}">
                <a16:creationId xmlns:a16="http://schemas.microsoft.com/office/drawing/2014/main" id="{C948E339-E593-104C-97F4-A4CECE0A8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3926F8A3-F272-2848-898F-F77202CFFD37}"/>
              </a:ext>
            </a:extLst>
          </p:cNvPr>
          <p:cNvSpPr txBox="1"/>
          <p:nvPr/>
        </p:nvSpPr>
        <p:spPr>
          <a:xfrm>
            <a:off x="609600" y="79462"/>
            <a:ext cx="3550972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C00000"/>
                </a:solidFill>
                <a:latin typeface="Gotham HTF Light"/>
                <a:cs typeface="Gotham HTF Bold"/>
              </a:rPr>
              <a:t>EDSON DE OLIVEIRA</a:t>
            </a:r>
            <a:endParaRPr lang="pt-BR" sz="2797" dirty="0">
              <a:solidFill>
                <a:srgbClr val="C00000"/>
              </a:solidFill>
              <a:latin typeface="Gotham HTF Light"/>
              <a:cs typeface="Gotham HTF Bold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966864B-A70E-5B0F-BC1E-F1362CE0E6F9}"/>
              </a:ext>
            </a:extLst>
          </p:cNvPr>
          <p:cNvSpPr txBox="1"/>
          <p:nvPr/>
        </p:nvSpPr>
        <p:spPr>
          <a:xfrm>
            <a:off x="6612324" y="3993937"/>
            <a:ext cx="2124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ED265B"/>
                </a:solidFill>
                <a:latin typeface="Mistral" panose="03090702030407020403" pitchFamily="66" charset="0"/>
              </a:rPr>
              <a:t>Prof. Edson de Oliveira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C9C6C30-0193-C344-FAB1-CE23ACABA026}"/>
              </a:ext>
            </a:extLst>
          </p:cNvPr>
          <p:cNvSpPr txBox="1"/>
          <p:nvPr/>
        </p:nvSpPr>
        <p:spPr>
          <a:xfrm>
            <a:off x="398050" y="2571750"/>
            <a:ext cx="4572000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MUNDO ACADÊMICO E FORMAÇÃO</a:t>
            </a:r>
          </a:p>
        </p:txBody>
      </p:sp>
      <p:pic>
        <p:nvPicPr>
          <p:cNvPr id="18" name="Imagem 17" descr="Foto preta e branca de homem de terno e gravata&#10;&#10;Descrição gerada automaticamente">
            <a:extLst>
              <a:ext uri="{FF2B5EF4-FFF2-40B4-BE49-F238E27FC236}">
                <a16:creationId xmlns:a16="http://schemas.microsoft.com/office/drawing/2014/main" id="{E5BE3329-5EC4-3647-D97F-DFC4DA09D4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027" y="959556"/>
            <a:ext cx="2470469" cy="303438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C7675AD-740A-E157-1FE6-9B9570705087}"/>
              </a:ext>
            </a:extLst>
          </p:cNvPr>
          <p:cNvSpPr txBox="1"/>
          <p:nvPr/>
        </p:nvSpPr>
        <p:spPr>
          <a:xfrm>
            <a:off x="414828" y="774259"/>
            <a:ext cx="4572000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 FIAP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868A644-9CB7-CBFF-F069-524890A17E8B}"/>
              </a:ext>
            </a:extLst>
          </p:cNvPr>
          <p:cNvSpPr txBox="1"/>
          <p:nvPr/>
        </p:nvSpPr>
        <p:spPr>
          <a:xfrm>
            <a:off x="649448" y="1116268"/>
            <a:ext cx="45720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800" dirty="0">
                <a:solidFill>
                  <a:schemeClr val="bg1">
                    <a:lumMod val="85000"/>
                  </a:schemeClr>
                </a:solidFill>
              </a:rPr>
              <a:t>PROFESSOR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SCRUM MASTER (TDS – 1.o Ano)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800" dirty="0">
                <a:solidFill>
                  <a:schemeClr val="bg1">
                    <a:lumMod val="85000"/>
                  </a:schemeClr>
                </a:solidFill>
              </a:rPr>
              <a:t>TU</a:t>
            </a:r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TOR E CONTEUDISTA (ESO)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800" dirty="0">
                <a:solidFill>
                  <a:schemeClr val="bg1">
                    <a:lumMod val="85000"/>
                  </a:schemeClr>
                </a:solidFill>
              </a:rPr>
              <a:t>RESPONSÁVEL POR CTP</a:t>
            </a:r>
          </a:p>
        </p:txBody>
      </p:sp>
    </p:spTree>
    <p:extLst>
      <p:ext uri="{BB962C8B-B14F-4D97-AF65-F5344CB8AC3E}">
        <p14:creationId xmlns:p14="http://schemas.microsoft.com/office/powerpoint/2010/main" val="173090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4" y="2571750"/>
            <a:ext cx="2018746" cy="239726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0D9F96E7-3C2F-8341-B583-8856655F7C9A}"/>
              </a:ext>
            </a:extLst>
          </p:cNvPr>
          <p:cNvSpPr txBox="1"/>
          <p:nvPr/>
        </p:nvSpPr>
        <p:spPr>
          <a:xfrm>
            <a:off x="606105" y="1306568"/>
            <a:ext cx="605105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5 anos na Sabesp como Programador 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3 anos na Alquimia como QA (Quality Assurance)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3 anos no grupo LTM como: Coordenador de Desenvolvimento</a:t>
            </a:r>
          </a:p>
        </p:txBody>
      </p:sp>
      <p:pic>
        <p:nvPicPr>
          <p:cNvPr id="9" name="Picture 18">
            <a:extLst>
              <a:ext uri="{FF2B5EF4-FFF2-40B4-BE49-F238E27FC236}">
                <a16:creationId xmlns:a16="http://schemas.microsoft.com/office/drawing/2014/main" id="{C948E339-E593-104C-97F4-A4CECE0A8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518FAC0-E14E-FF3F-0D7D-541DF7D35392}"/>
              </a:ext>
            </a:extLst>
          </p:cNvPr>
          <p:cNvSpPr txBox="1"/>
          <p:nvPr/>
        </p:nvSpPr>
        <p:spPr>
          <a:xfrm>
            <a:off x="403698" y="834257"/>
            <a:ext cx="4572000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MUNDO CORPORATIVO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18123B2-816D-8F0B-6E44-08BF882B079E}"/>
              </a:ext>
            </a:extLst>
          </p:cNvPr>
          <p:cNvSpPr txBox="1"/>
          <p:nvPr/>
        </p:nvSpPr>
        <p:spPr>
          <a:xfrm>
            <a:off x="403698" y="2410874"/>
            <a:ext cx="4572000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PROJETOS RELEVANTES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8008695-1EBD-52D1-C740-F79249C7562D}"/>
              </a:ext>
            </a:extLst>
          </p:cNvPr>
          <p:cNvSpPr txBox="1"/>
          <p:nvPr/>
        </p:nvSpPr>
        <p:spPr>
          <a:xfrm>
            <a:off x="606104" y="2858433"/>
            <a:ext cx="60510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Gerente de projetos: Galera Animal (Nestle)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Conteudista do NANO e ESO</a:t>
            </a:r>
          </a:p>
          <a:p>
            <a:pPr marL="342900" indent="-342900">
              <a:spcAft>
                <a:spcPts val="600"/>
              </a:spcAft>
              <a:buClr>
                <a:srgbClr val="FFFFFF"/>
              </a:buClr>
              <a:buFont typeface="Wingdings" pitchFamily="2" charset="2"/>
              <a:buChar char="§"/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Conteudista / Gravação da disciplina </a:t>
            </a:r>
            <a:r>
              <a:rPr lang="pt-BR" sz="1600" dirty="0" err="1">
                <a:solidFill>
                  <a:schemeClr val="bg1">
                    <a:lumMod val="85000"/>
                  </a:schemeClr>
                </a:solidFill>
              </a:rPr>
              <a:t>Computational</a:t>
            </a: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bg1">
                    <a:lumMod val="85000"/>
                  </a:schemeClr>
                </a:solidFill>
              </a:rPr>
              <a:t>Thinkins</a:t>
            </a: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bg1">
                    <a:lumMod val="85000"/>
                  </a:schemeClr>
                </a:solidFill>
              </a:rPr>
              <a:t>with</a:t>
            </a: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 Python – Engenharia de software – ON LINE</a:t>
            </a:r>
          </a:p>
        </p:txBody>
      </p:sp>
      <p:pic>
        <p:nvPicPr>
          <p:cNvPr id="19" name="Imagem 18" descr="Homem com a mão na cintura&#10;&#10;Descrição gerada automaticamente">
            <a:extLst>
              <a:ext uri="{FF2B5EF4-FFF2-40B4-BE49-F238E27FC236}">
                <a16:creationId xmlns:a16="http://schemas.microsoft.com/office/drawing/2014/main" id="{14F5BF16-03E6-5A4A-61A7-E1B8D32AB5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784" y="542710"/>
            <a:ext cx="2044892" cy="405808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9D4A1957-BAD4-38DC-2EDB-E34778F0165D}"/>
              </a:ext>
            </a:extLst>
          </p:cNvPr>
          <p:cNvSpPr txBox="1"/>
          <p:nvPr/>
        </p:nvSpPr>
        <p:spPr>
          <a:xfrm>
            <a:off x="6831488" y="4601274"/>
            <a:ext cx="2124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ED265B"/>
                </a:solidFill>
                <a:latin typeface="Mistral" panose="03090702030407020403" pitchFamily="66" charset="0"/>
              </a:rPr>
              <a:t>Prof. Edson de Oliveira</a:t>
            </a:r>
          </a:p>
        </p:txBody>
      </p:sp>
      <p:cxnSp>
        <p:nvCxnSpPr>
          <p:cNvPr id="22" name="Straight Connector 6">
            <a:extLst>
              <a:ext uri="{FF2B5EF4-FFF2-40B4-BE49-F238E27FC236}">
                <a16:creationId xmlns:a16="http://schemas.microsoft.com/office/drawing/2014/main" id="{96C7E959-4420-17F7-9EEF-A6A72C71CEE9}"/>
              </a:ext>
            </a:extLst>
          </p:cNvPr>
          <p:cNvCxnSpPr/>
          <p:nvPr/>
        </p:nvCxnSpPr>
        <p:spPr>
          <a:xfrm>
            <a:off x="685800" y="666750"/>
            <a:ext cx="444090" cy="0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8">
            <a:extLst>
              <a:ext uri="{FF2B5EF4-FFF2-40B4-BE49-F238E27FC236}">
                <a16:creationId xmlns:a16="http://schemas.microsoft.com/office/drawing/2014/main" id="{05275F70-17CA-B49C-FFE8-DB43AEC2382F}"/>
              </a:ext>
            </a:extLst>
          </p:cNvPr>
          <p:cNvSpPr txBox="1"/>
          <p:nvPr/>
        </p:nvSpPr>
        <p:spPr>
          <a:xfrm>
            <a:off x="609600" y="79462"/>
            <a:ext cx="3550972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C00000"/>
                </a:solidFill>
                <a:latin typeface="Gotham HTF Light"/>
                <a:cs typeface="Gotham HTF Bold"/>
              </a:rPr>
              <a:t>EDSON DE OLIVEIRA</a:t>
            </a:r>
            <a:endParaRPr lang="pt-BR" sz="2797" dirty="0">
              <a:solidFill>
                <a:srgbClr val="C00000"/>
              </a:solidFill>
              <a:latin typeface="Gotham HTF Light"/>
              <a:cs typeface="Gotham HTF Bold"/>
            </a:endParaRPr>
          </a:p>
        </p:txBody>
      </p:sp>
    </p:spTree>
    <p:extLst>
      <p:ext uri="{BB962C8B-B14F-4D97-AF65-F5344CB8AC3E}">
        <p14:creationId xmlns:p14="http://schemas.microsoft.com/office/powerpoint/2010/main" val="58184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4" y="2571750"/>
            <a:ext cx="2018746" cy="2397260"/>
          </a:xfrm>
          <a:prstGeom prst="rect">
            <a:avLst/>
          </a:prstGeom>
        </p:spPr>
      </p:pic>
      <p:pic>
        <p:nvPicPr>
          <p:cNvPr id="9" name="Picture 18">
            <a:extLst>
              <a:ext uri="{FF2B5EF4-FFF2-40B4-BE49-F238E27FC236}">
                <a16:creationId xmlns:a16="http://schemas.microsoft.com/office/drawing/2014/main" id="{C948E339-E593-104C-97F4-A4CECE0A8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718123B2-816D-8F0B-6E44-08BF882B079E}"/>
              </a:ext>
            </a:extLst>
          </p:cNvPr>
          <p:cNvSpPr txBox="1"/>
          <p:nvPr/>
        </p:nvSpPr>
        <p:spPr>
          <a:xfrm>
            <a:off x="381000" y="1583882"/>
            <a:ext cx="4572000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CONTATOS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8008695-1EBD-52D1-C740-F79249C7562D}"/>
              </a:ext>
            </a:extLst>
          </p:cNvPr>
          <p:cNvSpPr txBox="1"/>
          <p:nvPr/>
        </p:nvSpPr>
        <p:spPr>
          <a:xfrm>
            <a:off x="152400" y="1980914"/>
            <a:ext cx="6319255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FFFF"/>
              </a:buClr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E-MAIL:  </a:t>
            </a:r>
            <a:r>
              <a:rPr lang="pt-BR" sz="1200" dirty="0" err="1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profedson.oliveira@fiap.com.br</a:t>
            </a:r>
            <a:endParaRPr lang="pt-BR" sz="12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spcAft>
                <a:spcPts val="600"/>
              </a:spcAft>
              <a:buClr>
                <a:srgbClr val="FFFFFF"/>
              </a:buClr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CANAL:  </a:t>
            </a:r>
            <a:r>
              <a:rPr lang="pt-BR" sz="12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https://www.youtube.com/c/edsonoliveiraprof</a:t>
            </a:r>
          </a:p>
          <a:p>
            <a:pPr>
              <a:spcAft>
                <a:spcPts val="600"/>
              </a:spcAft>
              <a:buClr>
                <a:srgbClr val="FFFFFF"/>
              </a:buClr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LINKEDIN:  </a:t>
            </a:r>
            <a:r>
              <a:rPr lang="pt-BR" sz="12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https://www.linkedin.com/in/edson-de-oliveira-338343148/</a:t>
            </a:r>
          </a:p>
          <a:p>
            <a:pPr>
              <a:spcAft>
                <a:spcPts val="600"/>
              </a:spcAft>
              <a:buClr>
                <a:srgbClr val="FFFFFF"/>
              </a:buClr>
            </a:pPr>
            <a:r>
              <a:rPr lang="pt-BR" sz="1600" dirty="0">
                <a:solidFill>
                  <a:schemeClr val="bg1">
                    <a:lumMod val="85000"/>
                  </a:schemeClr>
                </a:solidFill>
              </a:rPr>
              <a:t>LATTES:  </a:t>
            </a:r>
            <a:r>
              <a:rPr lang="pt-BR" sz="1600" dirty="0">
                <a:solidFill>
                  <a:schemeClr val="bg1"/>
                </a:solidFill>
              </a:rPr>
              <a:t>http://lattes.cnpq.br/2355191552770389</a:t>
            </a:r>
          </a:p>
        </p:txBody>
      </p:sp>
      <p:pic>
        <p:nvPicPr>
          <p:cNvPr id="18" name="Imagem 17" descr="Foto em preto e branco de homem sorrindo&#10;&#10;Descrição gerada automaticamente">
            <a:extLst>
              <a:ext uri="{FF2B5EF4-FFF2-40B4-BE49-F238E27FC236}">
                <a16:creationId xmlns:a16="http://schemas.microsoft.com/office/drawing/2014/main" id="{91A706B3-5D0A-191D-248C-4A6E11E1B3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962" y="445166"/>
            <a:ext cx="2720250" cy="371475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9F0117-037C-2914-B416-0146C641FCE1}"/>
              </a:ext>
            </a:extLst>
          </p:cNvPr>
          <p:cNvSpPr txBox="1"/>
          <p:nvPr/>
        </p:nvSpPr>
        <p:spPr>
          <a:xfrm>
            <a:off x="6809007" y="4251957"/>
            <a:ext cx="2124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ED265B"/>
                </a:solidFill>
                <a:latin typeface="Mistral" panose="03090702030407020403" pitchFamily="66" charset="0"/>
              </a:rPr>
              <a:t>Prof. Edson de Oliveira</a:t>
            </a:r>
          </a:p>
        </p:txBody>
      </p:sp>
      <p:cxnSp>
        <p:nvCxnSpPr>
          <p:cNvPr id="20" name="Straight Connector 6">
            <a:extLst>
              <a:ext uri="{FF2B5EF4-FFF2-40B4-BE49-F238E27FC236}">
                <a16:creationId xmlns:a16="http://schemas.microsoft.com/office/drawing/2014/main" id="{D03130BF-6A6F-C4CB-4823-4ADD5FD76F45}"/>
              </a:ext>
            </a:extLst>
          </p:cNvPr>
          <p:cNvCxnSpPr/>
          <p:nvPr/>
        </p:nvCxnSpPr>
        <p:spPr>
          <a:xfrm>
            <a:off x="685800" y="666750"/>
            <a:ext cx="444090" cy="0"/>
          </a:xfrm>
          <a:prstGeom prst="line">
            <a:avLst/>
          </a:prstGeom>
          <a:ln w="5080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8">
            <a:extLst>
              <a:ext uri="{FF2B5EF4-FFF2-40B4-BE49-F238E27FC236}">
                <a16:creationId xmlns:a16="http://schemas.microsoft.com/office/drawing/2014/main" id="{773C4E76-E25A-3AB8-9500-A910E7FEA23B}"/>
              </a:ext>
            </a:extLst>
          </p:cNvPr>
          <p:cNvSpPr txBox="1"/>
          <p:nvPr/>
        </p:nvSpPr>
        <p:spPr>
          <a:xfrm>
            <a:off x="609600" y="79462"/>
            <a:ext cx="3550972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C00000"/>
                </a:solidFill>
                <a:latin typeface="Gotham HTF Light"/>
                <a:cs typeface="Gotham HTF Bold"/>
              </a:rPr>
              <a:t>EDSON DE OLIVEIRA</a:t>
            </a:r>
            <a:endParaRPr lang="pt-BR" sz="2797" dirty="0">
              <a:solidFill>
                <a:srgbClr val="C00000"/>
              </a:solidFill>
              <a:latin typeface="Gotham HTF Light"/>
              <a:cs typeface="Gotham HTF Bold"/>
            </a:endParaRPr>
          </a:p>
        </p:txBody>
      </p:sp>
    </p:spTree>
    <p:extLst>
      <p:ext uri="{BB962C8B-B14F-4D97-AF65-F5344CB8AC3E}">
        <p14:creationId xmlns:p14="http://schemas.microsoft.com/office/powerpoint/2010/main" val="337925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7">
            <a:extLst>
              <a:ext uri="{FF2B5EF4-FFF2-40B4-BE49-F238E27FC236}">
                <a16:creationId xmlns:a16="http://schemas.microsoft.com/office/drawing/2014/main" id="{C86F6A96-47DE-0F48-960F-D04F270B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585878" y="2962270"/>
            <a:ext cx="1310600" cy="1926725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0BC79B98-121C-6795-6930-C555802C6486}"/>
              </a:ext>
            </a:extLst>
          </p:cNvPr>
          <p:cNvSpPr txBox="1"/>
          <p:nvPr/>
        </p:nvSpPr>
        <p:spPr>
          <a:xfrm>
            <a:off x="0" y="5371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FF126C"/>
                </a:solidFill>
                <a:latin typeface="Gotham HTF XLight" pitchFamily="50" charset="0"/>
              </a:rPr>
              <a:t>PLANO DE ENSINO – CTP – TDS</a:t>
            </a:r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</a:p>
          <a:p>
            <a:pPr algn="ctr"/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Gotham HTF XLight" pitchFamily="50" charset="0"/>
              </a:rPr>
              <a:t>INTRODUÇÃO E FUNDAMENTOS DE ALGORITMOS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088EFCB-CD50-AF4C-3D0B-3C7DA495D1F5}"/>
              </a:ext>
            </a:extLst>
          </p:cNvPr>
          <p:cNvSpPr txBox="1"/>
          <p:nvPr/>
        </p:nvSpPr>
        <p:spPr>
          <a:xfrm>
            <a:off x="1514104" y="2103230"/>
            <a:ext cx="66311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O que é um Algoritmo | Programa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Construção de Pseudocódigos | Fluxogramas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Aplicação da Lógica em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Tipos de dados, Variáveis e 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Saída (print), Entrada (input) e Processamento de dados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Operadores Relacionais, lógicos e aritméticos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E18FA5F-D778-0DB1-AF02-BBCD97EA7C37}"/>
              </a:ext>
            </a:extLst>
          </p:cNvPr>
          <p:cNvCxnSpPr/>
          <p:nvPr/>
        </p:nvCxnSpPr>
        <p:spPr>
          <a:xfrm>
            <a:off x="2519054" y="1046296"/>
            <a:ext cx="4105893" cy="0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39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7">
            <a:extLst>
              <a:ext uri="{FF2B5EF4-FFF2-40B4-BE49-F238E27FC236}">
                <a16:creationId xmlns:a16="http://schemas.microsoft.com/office/drawing/2014/main" id="{C86F6A96-47DE-0F48-960F-D04F270B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585878" y="2962270"/>
            <a:ext cx="1310600" cy="192672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088EFCB-CD50-AF4C-3D0B-3C7DA495D1F5}"/>
              </a:ext>
            </a:extLst>
          </p:cNvPr>
          <p:cNvSpPr txBox="1"/>
          <p:nvPr/>
        </p:nvSpPr>
        <p:spPr>
          <a:xfrm>
            <a:off x="2815526" y="1729211"/>
            <a:ext cx="3332322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Estruturas de decisão: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Simples (</a:t>
            </a:r>
            <a:r>
              <a:rPr lang="pt-BR" sz="2100" dirty="0" err="1">
                <a:solidFill>
                  <a:schemeClr val="bg1"/>
                </a:solidFill>
              </a:rPr>
              <a:t>if</a:t>
            </a:r>
            <a:r>
              <a:rPr lang="pt-BR" sz="2100" dirty="0">
                <a:solidFill>
                  <a:schemeClr val="bg1"/>
                </a:solidFill>
              </a:rPr>
              <a:t>)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Composta (</a:t>
            </a:r>
            <a:r>
              <a:rPr lang="pt-BR" sz="2100" dirty="0" err="1">
                <a:solidFill>
                  <a:schemeClr val="bg1"/>
                </a:solidFill>
              </a:rPr>
              <a:t>if</a:t>
            </a:r>
            <a:r>
              <a:rPr lang="pt-BR" sz="2100" dirty="0">
                <a:solidFill>
                  <a:schemeClr val="bg1"/>
                </a:solidFill>
              </a:rPr>
              <a:t> </a:t>
            </a:r>
            <a:r>
              <a:rPr lang="pt-BR" sz="2100" dirty="0" err="1">
                <a:solidFill>
                  <a:schemeClr val="bg1"/>
                </a:solidFill>
              </a:rPr>
              <a:t>else</a:t>
            </a:r>
            <a:r>
              <a:rPr lang="pt-BR" sz="2100" dirty="0">
                <a:solidFill>
                  <a:schemeClr val="bg1"/>
                </a:solidFill>
              </a:rPr>
              <a:t>)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Encadeada (</a:t>
            </a:r>
            <a:r>
              <a:rPr lang="pt-BR" sz="2100" dirty="0" err="1">
                <a:solidFill>
                  <a:schemeClr val="bg1"/>
                </a:solidFill>
              </a:rPr>
              <a:t>if</a:t>
            </a:r>
            <a:r>
              <a:rPr lang="pt-BR" sz="2100" dirty="0">
                <a:solidFill>
                  <a:schemeClr val="bg1"/>
                </a:solidFill>
              </a:rPr>
              <a:t> </a:t>
            </a:r>
            <a:r>
              <a:rPr lang="pt-BR" sz="2100" dirty="0" err="1">
                <a:solidFill>
                  <a:schemeClr val="bg1"/>
                </a:solidFill>
              </a:rPr>
              <a:t>elif</a:t>
            </a:r>
            <a:r>
              <a:rPr lang="pt-BR" sz="2100" dirty="0">
                <a:solidFill>
                  <a:schemeClr val="bg1"/>
                </a:solidFill>
              </a:rPr>
              <a:t> </a:t>
            </a:r>
            <a:r>
              <a:rPr lang="pt-BR" sz="2100" dirty="0" err="1">
                <a:solidFill>
                  <a:schemeClr val="bg1"/>
                </a:solidFill>
              </a:rPr>
              <a:t>else</a:t>
            </a:r>
            <a:r>
              <a:rPr lang="pt-BR" sz="2100" dirty="0">
                <a:solidFill>
                  <a:schemeClr val="bg1"/>
                </a:solidFill>
              </a:rPr>
              <a:t>)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Seleção (match)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BCC7073-1539-DD70-A1CA-F7765025A9F8}"/>
              </a:ext>
            </a:extLst>
          </p:cNvPr>
          <p:cNvCxnSpPr/>
          <p:nvPr/>
        </p:nvCxnSpPr>
        <p:spPr>
          <a:xfrm>
            <a:off x="2519054" y="1029425"/>
            <a:ext cx="4105893" cy="0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6">
            <a:extLst>
              <a:ext uri="{FF2B5EF4-FFF2-40B4-BE49-F238E27FC236}">
                <a16:creationId xmlns:a16="http://schemas.microsoft.com/office/drawing/2014/main" id="{47034D55-5BA6-C08E-99DA-D4E20A91BFD7}"/>
              </a:ext>
            </a:extLst>
          </p:cNvPr>
          <p:cNvSpPr txBox="1"/>
          <p:nvPr/>
        </p:nvSpPr>
        <p:spPr>
          <a:xfrm>
            <a:off x="0" y="5371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FF126C"/>
                </a:solidFill>
                <a:latin typeface="Gotham HTF XLight" pitchFamily="50" charset="0"/>
              </a:rPr>
              <a:t>PLANO DE ENSINO – CTP – TDS</a:t>
            </a:r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</a:p>
          <a:p>
            <a:pPr algn="ctr"/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Gotham HTF XLight" pitchFamily="50" charset="0"/>
              </a:rPr>
              <a:t>ESTRUTURAS DE DECISÃO – APLICAÇÃO EM PYTHON</a:t>
            </a:r>
          </a:p>
        </p:txBody>
      </p:sp>
    </p:spTree>
    <p:extLst>
      <p:ext uri="{BB962C8B-B14F-4D97-AF65-F5344CB8AC3E}">
        <p14:creationId xmlns:p14="http://schemas.microsoft.com/office/powerpoint/2010/main" val="331454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7">
            <a:extLst>
              <a:ext uri="{FF2B5EF4-FFF2-40B4-BE49-F238E27FC236}">
                <a16:creationId xmlns:a16="http://schemas.microsoft.com/office/drawing/2014/main" id="{C86F6A96-47DE-0F48-960F-D04F270B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585878" y="2962270"/>
            <a:ext cx="1310600" cy="192672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088EFCB-CD50-AF4C-3D0B-3C7DA495D1F5}"/>
              </a:ext>
            </a:extLst>
          </p:cNvPr>
          <p:cNvSpPr txBox="1"/>
          <p:nvPr/>
        </p:nvSpPr>
        <p:spPr>
          <a:xfrm>
            <a:off x="2237659" y="2308080"/>
            <a:ext cx="471603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Laço </a:t>
            </a:r>
            <a:r>
              <a:rPr lang="pt-BR" sz="2100" dirty="0" err="1">
                <a:solidFill>
                  <a:schemeClr val="bg1"/>
                </a:solidFill>
              </a:rPr>
              <a:t>pré-condicional</a:t>
            </a:r>
            <a:r>
              <a:rPr lang="pt-BR" sz="2100" dirty="0">
                <a:solidFill>
                  <a:schemeClr val="bg1"/>
                </a:solidFill>
              </a:rPr>
              <a:t> Enquanto (</a:t>
            </a:r>
            <a:r>
              <a:rPr lang="pt-BR" sz="2100" dirty="0" err="1">
                <a:solidFill>
                  <a:schemeClr val="bg1"/>
                </a:solidFill>
              </a:rPr>
              <a:t>while</a:t>
            </a:r>
            <a:r>
              <a:rPr lang="pt-BR" sz="2100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Laço pós-condicional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Laço contador Para (for)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C730F848-72C2-4F1C-CF9D-99D487B9292B}"/>
              </a:ext>
            </a:extLst>
          </p:cNvPr>
          <p:cNvCxnSpPr/>
          <p:nvPr/>
        </p:nvCxnSpPr>
        <p:spPr>
          <a:xfrm>
            <a:off x="2519054" y="1046296"/>
            <a:ext cx="4105893" cy="0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6">
            <a:extLst>
              <a:ext uri="{FF2B5EF4-FFF2-40B4-BE49-F238E27FC236}">
                <a16:creationId xmlns:a16="http://schemas.microsoft.com/office/drawing/2014/main" id="{339B3957-959D-EC59-730F-A00565ECB7E4}"/>
              </a:ext>
            </a:extLst>
          </p:cNvPr>
          <p:cNvSpPr txBox="1"/>
          <p:nvPr/>
        </p:nvSpPr>
        <p:spPr>
          <a:xfrm>
            <a:off x="0" y="5371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FF126C"/>
                </a:solidFill>
                <a:latin typeface="Gotham HTF XLight" pitchFamily="50" charset="0"/>
              </a:rPr>
              <a:t>PLANO DE ENSINO – CTP – TDS</a:t>
            </a:r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</a:p>
          <a:p>
            <a:pPr algn="ctr"/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Gotham HTF XLight" pitchFamily="50" charset="0"/>
              </a:rPr>
              <a:t>ESTRUTURAS DE REPETIÇÃO</a:t>
            </a:r>
          </a:p>
        </p:txBody>
      </p:sp>
    </p:spTree>
    <p:extLst>
      <p:ext uri="{BB962C8B-B14F-4D97-AF65-F5344CB8AC3E}">
        <p14:creationId xmlns:p14="http://schemas.microsoft.com/office/powerpoint/2010/main" val="954045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7">
            <a:extLst>
              <a:ext uri="{FF2B5EF4-FFF2-40B4-BE49-F238E27FC236}">
                <a16:creationId xmlns:a16="http://schemas.microsoft.com/office/drawing/2014/main" id="{C86F6A96-47DE-0F48-960F-D04F270B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585878" y="2962270"/>
            <a:ext cx="1310600" cy="192672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088EFCB-CD50-AF4C-3D0B-3C7DA495D1F5}"/>
              </a:ext>
            </a:extLst>
          </p:cNvPr>
          <p:cNvSpPr txBox="1"/>
          <p:nvPr/>
        </p:nvSpPr>
        <p:spPr>
          <a:xfrm>
            <a:off x="2152252" y="1796566"/>
            <a:ext cx="4886851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Subalgoritmos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Funções | Procedimentos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Parâmetros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Real | Formal | Default | </a:t>
            </a:r>
            <a:r>
              <a:rPr lang="pt-BR" sz="2100" dirty="0" err="1">
                <a:solidFill>
                  <a:schemeClr val="bg1"/>
                </a:solidFill>
              </a:rPr>
              <a:t>Args</a:t>
            </a:r>
            <a:endParaRPr lang="pt-BR" sz="21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Subalgoritmos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Recursivos | Encadeado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Separando e importando Subalgoritmos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CE46E48-13BC-C241-6F30-9A0139D691BB}"/>
              </a:ext>
            </a:extLst>
          </p:cNvPr>
          <p:cNvCxnSpPr/>
          <p:nvPr/>
        </p:nvCxnSpPr>
        <p:spPr>
          <a:xfrm>
            <a:off x="2581399" y="1046296"/>
            <a:ext cx="4105893" cy="0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6">
            <a:extLst>
              <a:ext uri="{FF2B5EF4-FFF2-40B4-BE49-F238E27FC236}">
                <a16:creationId xmlns:a16="http://schemas.microsoft.com/office/drawing/2014/main" id="{7867A2D9-6258-E744-9D1C-55FDDADD386A}"/>
              </a:ext>
            </a:extLst>
          </p:cNvPr>
          <p:cNvSpPr txBox="1"/>
          <p:nvPr/>
        </p:nvSpPr>
        <p:spPr>
          <a:xfrm>
            <a:off x="0" y="5371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FF126C"/>
                </a:solidFill>
                <a:latin typeface="Gotham HTF XLight" pitchFamily="50" charset="0"/>
              </a:rPr>
              <a:t>PLANO DE ENSINO – CTP – TDS</a:t>
            </a:r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</a:p>
          <a:p>
            <a:pPr algn="ctr"/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Gotham HTF XLight" pitchFamily="50" charset="0"/>
              </a:rPr>
              <a:t>FUNÇÕES | PROCEDIMENTOS | PARÂMETROS</a:t>
            </a:r>
          </a:p>
        </p:txBody>
      </p:sp>
    </p:spTree>
    <p:extLst>
      <p:ext uri="{BB962C8B-B14F-4D97-AF65-F5344CB8AC3E}">
        <p14:creationId xmlns:p14="http://schemas.microsoft.com/office/powerpoint/2010/main" val="340546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7">
            <a:extLst>
              <a:ext uri="{FF2B5EF4-FFF2-40B4-BE49-F238E27FC236}">
                <a16:creationId xmlns:a16="http://schemas.microsoft.com/office/drawing/2014/main" id="{C86F6A96-47DE-0F48-960F-D04F270B5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585878" y="2962270"/>
            <a:ext cx="1310600" cy="192672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088EFCB-CD50-AF4C-3D0B-3C7DA495D1F5}"/>
              </a:ext>
            </a:extLst>
          </p:cNvPr>
          <p:cNvSpPr txBox="1"/>
          <p:nvPr/>
        </p:nvSpPr>
        <p:spPr>
          <a:xfrm>
            <a:off x="2640534" y="1796566"/>
            <a:ext cx="3911135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Estruturas de dados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Homogêneas 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Vetor | Matriz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Heterogêneas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Lista | </a:t>
            </a:r>
            <a:r>
              <a:rPr lang="pt-BR" sz="2100" dirty="0" err="1">
                <a:solidFill>
                  <a:schemeClr val="bg1"/>
                </a:solidFill>
              </a:rPr>
              <a:t>Tupla</a:t>
            </a:r>
            <a:r>
              <a:rPr lang="pt-BR" sz="2100" dirty="0">
                <a:solidFill>
                  <a:schemeClr val="bg1"/>
                </a:solidFill>
              </a:rPr>
              <a:t> | Dicionário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Tabelas de memória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pt-BR" sz="2100" dirty="0">
                <a:solidFill>
                  <a:schemeClr val="bg1"/>
                </a:solidFill>
              </a:rPr>
              <a:t>Lista de dicionários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3C7BD0B-4EE2-9403-E349-113E128E3237}"/>
              </a:ext>
            </a:extLst>
          </p:cNvPr>
          <p:cNvCxnSpPr/>
          <p:nvPr/>
        </p:nvCxnSpPr>
        <p:spPr>
          <a:xfrm>
            <a:off x="2519054" y="1056145"/>
            <a:ext cx="4105893" cy="0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6">
            <a:extLst>
              <a:ext uri="{FF2B5EF4-FFF2-40B4-BE49-F238E27FC236}">
                <a16:creationId xmlns:a16="http://schemas.microsoft.com/office/drawing/2014/main" id="{288CF332-1FA5-4753-EFB5-4A5F43EE1398}"/>
              </a:ext>
            </a:extLst>
          </p:cNvPr>
          <p:cNvSpPr txBox="1"/>
          <p:nvPr/>
        </p:nvSpPr>
        <p:spPr>
          <a:xfrm>
            <a:off x="0" y="5371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FF126C"/>
                </a:solidFill>
                <a:latin typeface="Gotham HTF XLight" pitchFamily="50" charset="0"/>
              </a:rPr>
              <a:t>PLANO DE ENSINO – CTP – TDS</a:t>
            </a:r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</a:p>
          <a:p>
            <a:pPr algn="ctr"/>
            <a:r>
              <a:rPr lang="pt-BR" sz="3000" b="1" dirty="0">
                <a:solidFill>
                  <a:schemeClr val="bg1">
                    <a:lumMod val="85000"/>
                  </a:schemeClr>
                </a:solidFill>
                <a:latin typeface="Gotham HTF XLight" pitchFamily="50" charset="0"/>
              </a:rPr>
              <a:t> </a:t>
            </a:r>
            <a:r>
              <a:rPr lang="pt-BR" b="1" dirty="0">
                <a:solidFill>
                  <a:schemeClr val="bg1">
                    <a:lumMod val="75000"/>
                  </a:schemeClr>
                </a:solidFill>
                <a:latin typeface="Gotham HTF XLight" pitchFamily="50" charset="0"/>
              </a:rPr>
              <a:t>ESTRUTURAS DE DADOS</a:t>
            </a:r>
          </a:p>
        </p:txBody>
      </p:sp>
    </p:spTree>
    <p:extLst>
      <p:ext uri="{BB962C8B-B14F-4D97-AF65-F5344CB8AC3E}">
        <p14:creationId xmlns:p14="http://schemas.microsoft.com/office/powerpoint/2010/main" val="274379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84" y="2571750"/>
            <a:ext cx="2018746" cy="239726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BF1D1CD-81D5-E48E-9DD7-08FC681FF670}"/>
              </a:ext>
            </a:extLst>
          </p:cNvPr>
          <p:cNvSpPr txBox="1"/>
          <p:nvPr/>
        </p:nvSpPr>
        <p:spPr>
          <a:xfrm>
            <a:off x="2438400" y="203835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126C"/>
                </a:solidFill>
                <a:latin typeface="Gotham HTF XLight" pitchFamily="50" charset="0"/>
              </a:rPr>
              <a:t>QUEM É VOCÊ?</a:t>
            </a:r>
          </a:p>
        </p:txBody>
      </p:sp>
    </p:spTree>
    <p:extLst>
      <p:ext uri="{BB962C8B-B14F-4D97-AF65-F5344CB8AC3E}">
        <p14:creationId xmlns:p14="http://schemas.microsoft.com/office/powerpoint/2010/main" val="80261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84" y="2571750"/>
            <a:ext cx="2018746" cy="239726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BF1D1CD-81D5-E48E-9DD7-08FC681FF670}"/>
              </a:ext>
            </a:extLst>
          </p:cNvPr>
          <p:cNvSpPr txBox="1"/>
          <p:nvPr/>
        </p:nvSpPr>
        <p:spPr>
          <a:xfrm>
            <a:off x="2438400" y="137312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otham HTF XLight" pitchFamily="50" charset="0"/>
              </a:rPr>
              <a:t>Nome e 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chemeClr val="bg1"/>
                </a:solidFill>
                <a:latin typeface="Gotham HTF XLight" pitchFamily="50" charset="0"/>
              </a:rPr>
              <a:t>Conhecimentos em programação</a:t>
            </a:r>
          </a:p>
        </p:txBody>
      </p:sp>
    </p:spTree>
    <p:extLst>
      <p:ext uri="{BB962C8B-B14F-4D97-AF65-F5344CB8AC3E}">
        <p14:creationId xmlns:p14="http://schemas.microsoft.com/office/powerpoint/2010/main" val="83401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84" y="2571750"/>
            <a:ext cx="2018746" cy="239726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BF1D1CD-81D5-E48E-9DD7-08FC681FF670}"/>
              </a:ext>
            </a:extLst>
          </p:cNvPr>
          <p:cNvSpPr txBox="1"/>
          <p:nvPr/>
        </p:nvSpPr>
        <p:spPr>
          <a:xfrm>
            <a:off x="2438400" y="1786920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126C"/>
                </a:solidFill>
                <a:latin typeface="Gotham HTF XLight" pitchFamily="50" charset="0"/>
              </a:rPr>
              <a:t>LÓGICA 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237243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586835" y="742950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1180702" y="1402268"/>
            <a:ext cx="647495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u="sng" dirty="0">
                <a:solidFill>
                  <a:schemeClr val="bg1"/>
                </a:solidFill>
                <a:latin typeface="+mj-lt"/>
              </a:rPr>
              <a:t>DESAFIOS: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+mj-lt"/>
              </a:rPr>
              <a:t>Salas Heterogêneas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+mj-lt"/>
              </a:rPr>
              <a:t>Diversidade e diferença das linguagens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bg1"/>
              </a:solidFill>
              <a:latin typeface="+mj-lt"/>
            </a:endParaRPr>
          </a:p>
          <a:p>
            <a:pPr algn="ctr"/>
            <a:endParaRPr lang="pt-BR" sz="24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pt-BR" sz="2400" b="1" u="sng" dirty="0">
                <a:solidFill>
                  <a:schemeClr val="bg1"/>
                </a:solidFill>
                <a:latin typeface="+mj-lt"/>
              </a:rPr>
              <a:t>SOLUÇÃO: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  <a:latin typeface="+mj-lt"/>
              </a:rPr>
              <a:t>Desenvolver o Raciocínio Lógico</a:t>
            </a:r>
          </a:p>
          <a:p>
            <a:endParaRPr lang="pt-BR" sz="2000" dirty="0">
              <a:solidFill>
                <a:schemeClr val="bg1"/>
              </a:solidFill>
              <a:latin typeface="+mj-lt"/>
            </a:endParaRPr>
          </a:p>
          <a:p>
            <a:endParaRPr lang="pt-BR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</p:txBody>
      </p:sp>
    </p:spTree>
    <p:extLst>
      <p:ext uri="{BB962C8B-B14F-4D97-AF65-F5344CB8AC3E}">
        <p14:creationId xmlns:p14="http://schemas.microsoft.com/office/powerpoint/2010/main" val="53339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351452" y="1601395"/>
            <a:ext cx="39919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É um maneira específica de raciocinar, de forma acertada.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Lógica é uma premissa com duas respostas extremas: Verdadeiro ou falso</a:t>
            </a:r>
          </a:p>
          <a:p>
            <a:endParaRPr lang="pt-BR" sz="2000" dirty="0">
              <a:solidFill>
                <a:schemeClr val="bg1"/>
              </a:solidFill>
              <a:latin typeface="+mj-lt"/>
            </a:endParaRPr>
          </a:p>
          <a:p>
            <a:endParaRPr lang="pt-BR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Introdução - Lógica</a:t>
            </a:r>
          </a:p>
        </p:txBody>
      </p:sp>
      <p:pic>
        <p:nvPicPr>
          <p:cNvPr id="4" name="Imagem 3" descr="Desenho de personagem&#10;&#10;Descrição gerada automaticamente com confiança baixa">
            <a:extLst>
              <a:ext uri="{FF2B5EF4-FFF2-40B4-BE49-F238E27FC236}">
                <a16:creationId xmlns:a16="http://schemas.microsoft.com/office/drawing/2014/main" id="{D085CD2C-A0FB-1046-812B-16DC8699C3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576" y="1535857"/>
            <a:ext cx="3429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210126" y="1142195"/>
            <a:ext cx="527627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A lógica de programação é a linguagem usada para criar um programa de 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computador. 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A lógica de programação é essencial para desenvolver programas e sistemas informáticos, pois ela defina o encadeamento lógico para esse 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desenvolvimento.</a:t>
            </a:r>
          </a:p>
          <a:p>
            <a:endParaRPr lang="pt-BR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Introdução – Lógica de Programação</a:t>
            </a:r>
          </a:p>
        </p:txBody>
      </p:sp>
      <p:pic>
        <p:nvPicPr>
          <p:cNvPr id="8" name="Imagem 7" descr="Logotipo&#10;&#10;Descrição gerada automaticamente com confiança baixa">
            <a:extLst>
              <a:ext uri="{FF2B5EF4-FFF2-40B4-BE49-F238E27FC236}">
                <a16:creationId xmlns:a16="http://schemas.microsoft.com/office/drawing/2014/main" id="{C76EB335-AB7F-204B-A6A6-1D75988B5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507" y="1428750"/>
            <a:ext cx="2917029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1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495082" y="1202791"/>
            <a:ext cx="80246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+mj-lt"/>
              </a:rPr>
              <a:t>É a sequencia de passos em ordem lógica com o objetivo de resolver um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  <a:latin typeface="+mj-lt"/>
              </a:rPr>
              <a:t>problema.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  <a:latin typeface="+mj-lt"/>
              </a:rPr>
              <a:t>Algoritmo é COMO resolvemos um problema, não a resposta do problema,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  <a:latin typeface="+mj-lt"/>
              </a:rPr>
              <a:t>como estamos habituados a responder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Introdução – Algoritmos </a:t>
            </a:r>
          </a:p>
        </p:txBody>
      </p:sp>
      <p:pic>
        <p:nvPicPr>
          <p:cNvPr id="4" name="Imagem 3" descr="Brinquedo de lego&#10;&#10;Descrição gerada automaticamente com confiança média">
            <a:extLst>
              <a:ext uri="{FF2B5EF4-FFF2-40B4-BE49-F238E27FC236}">
                <a16:creationId xmlns:a16="http://schemas.microsoft.com/office/drawing/2014/main" id="{DBEC5988-EC07-8042-8A7A-8C6AB56CF3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605416"/>
            <a:ext cx="4187884" cy="219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4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1" y="174490"/>
            <a:ext cx="2044892" cy="2397260"/>
          </a:xfrm>
          <a:prstGeom prst="rect">
            <a:avLst/>
          </a:prstGeom>
        </p:spPr>
      </p:pic>
      <p:pic>
        <p:nvPicPr>
          <p:cNvPr id="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84" y="2571750"/>
            <a:ext cx="2018746" cy="239726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BF1D1CD-81D5-E48E-9DD7-08FC681FF670}"/>
              </a:ext>
            </a:extLst>
          </p:cNvPr>
          <p:cNvSpPr txBox="1"/>
          <p:nvPr/>
        </p:nvSpPr>
        <p:spPr>
          <a:xfrm>
            <a:off x="2438400" y="203835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rgbClr val="FF126C"/>
                </a:solidFill>
                <a:latin typeface="Gotham HTF XLight" pitchFamily="50" charset="0"/>
              </a:rPr>
              <a:t>TIPOS DE DADOS</a:t>
            </a:r>
          </a:p>
        </p:txBody>
      </p:sp>
    </p:spTree>
    <p:extLst>
      <p:ext uri="{BB962C8B-B14F-4D97-AF65-F5344CB8AC3E}">
        <p14:creationId xmlns:p14="http://schemas.microsoft.com/office/powerpoint/2010/main" val="159274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Tipos de dados</a:t>
            </a:r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856D7AA2-4A6A-7647-AC36-0462ECE3EB3D}"/>
              </a:ext>
            </a:extLst>
          </p:cNvPr>
          <p:cNvSpPr/>
          <p:nvPr/>
        </p:nvSpPr>
        <p:spPr>
          <a:xfrm>
            <a:off x="3707331" y="1311225"/>
            <a:ext cx="1600200" cy="757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TIPOS DE DADOS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2F554D63-744E-8D44-AA59-6E536745ECF9}"/>
              </a:ext>
            </a:extLst>
          </p:cNvPr>
          <p:cNvSpPr/>
          <p:nvPr/>
        </p:nvSpPr>
        <p:spPr>
          <a:xfrm>
            <a:off x="1098277" y="2770378"/>
            <a:ext cx="1600200" cy="4915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NUMÉRICOS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1A10E290-6247-0E4A-850B-B9B439A2367C}"/>
              </a:ext>
            </a:extLst>
          </p:cNvPr>
          <p:cNvSpPr/>
          <p:nvPr/>
        </p:nvSpPr>
        <p:spPr>
          <a:xfrm>
            <a:off x="3686633" y="2770375"/>
            <a:ext cx="1600200" cy="4916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TEXTO</a:t>
            </a:r>
          </a:p>
        </p:txBody>
      </p:sp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F455EB0F-E263-3743-946B-A806D45A7AE0}"/>
              </a:ext>
            </a:extLst>
          </p:cNvPr>
          <p:cNvSpPr/>
          <p:nvPr/>
        </p:nvSpPr>
        <p:spPr>
          <a:xfrm>
            <a:off x="6315566" y="2728700"/>
            <a:ext cx="1600200" cy="491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LÓGICO</a:t>
            </a: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B66D5F68-EEBA-A644-8920-4A5D973E3DF2}"/>
              </a:ext>
            </a:extLst>
          </p:cNvPr>
          <p:cNvSpPr/>
          <p:nvPr/>
        </p:nvSpPr>
        <p:spPr>
          <a:xfrm>
            <a:off x="276519" y="3963800"/>
            <a:ext cx="1325892" cy="4915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INTEIRO</a:t>
            </a:r>
          </a:p>
        </p:txBody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FEE9F860-0E64-9340-B13B-8F666601D4D6}"/>
              </a:ext>
            </a:extLst>
          </p:cNvPr>
          <p:cNvSpPr/>
          <p:nvPr/>
        </p:nvSpPr>
        <p:spPr>
          <a:xfrm>
            <a:off x="2050787" y="3954019"/>
            <a:ext cx="1325892" cy="4906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REAL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F6A5FDB-8E4F-E64A-BF2C-EF3EE6A2C79D}"/>
              </a:ext>
            </a:extLst>
          </p:cNvPr>
          <p:cNvCxnSpPr/>
          <p:nvPr/>
        </p:nvCxnSpPr>
        <p:spPr>
          <a:xfrm>
            <a:off x="1905000" y="2414801"/>
            <a:ext cx="5257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FC683A2A-1CCF-0B44-9AE5-5EB3AE88F7C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507431" y="2068676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50CCF0E8-21C6-2340-BAE1-C468E788C7E3}"/>
              </a:ext>
            </a:extLst>
          </p:cNvPr>
          <p:cNvCxnSpPr>
            <a:cxnSpLocks/>
          </p:cNvCxnSpPr>
          <p:nvPr/>
        </p:nvCxnSpPr>
        <p:spPr>
          <a:xfrm>
            <a:off x="1905000" y="2414800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92078BC1-28E7-B943-AF25-B9A0403A41F3}"/>
              </a:ext>
            </a:extLst>
          </p:cNvPr>
          <p:cNvCxnSpPr>
            <a:cxnSpLocks/>
          </p:cNvCxnSpPr>
          <p:nvPr/>
        </p:nvCxnSpPr>
        <p:spPr>
          <a:xfrm>
            <a:off x="4507431" y="2414800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1608A6DF-2A0E-6541-B0CA-2C7DDFCA2428}"/>
              </a:ext>
            </a:extLst>
          </p:cNvPr>
          <p:cNvCxnSpPr>
            <a:cxnSpLocks/>
          </p:cNvCxnSpPr>
          <p:nvPr/>
        </p:nvCxnSpPr>
        <p:spPr>
          <a:xfrm>
            <a:off x="7162800" y="2398688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7ED66A6-234A-CF4A-96AD-4DFEACDB9B2C}"/>
              </a:ext>
            </a:extLst>
          </p:cNvPr>
          <p:cNvCxnSpPr>
            <a:cxnSpLocks/>
          </p:cNvCxnSpPr>
          <p:nvPr/>
        </p:nvCxnSpPr>
        <p:spPr>
          <a:xfrm>
            <a:off x="926402" y="3608101"/>
            <a:ext cx="1791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214F355D-79C7-4148-AA59-8E0207CA7544}"/>
              </a:ext>
            </a:extLst>
          </p:cNvPr>
          <p:cNvCxnSpPr>
            <a:cxnSpLocks/>
          </p:cNvCxnSpPr>
          <p:nvPr/>
        </p:nvCxnSpPr>
        <p:spPr>
          <a:xfrm>
            <a:off x="1907177" y="3261977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14C6E89-50F1-EB4C-8EF7-25395C3FC2CA}"/>
              </a:ext>
            </a:extLst>
          </p:cNvPr>
          <p:cNvCxnSpPr>
            <a:cxnSpLocks/>
          </p:cNvCxnSpPr>
          <p:nvPr/>
        </p:nvCxnSpPr>
        <p:spPr>
          <a:xfrm>
            <a:off x="939465" y="3607895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28D48AD5-BA3F-E948-A5D9-DCCD135119AD}"/>
              </a:ext>
            </a:extLst>
          </p:cNvPr>
          <p:cNvCxnSpPr>
            <a:cxnSpLocks/>
          </p:cNvCxnSpPr>
          <p:nvPr/>
        </p:nvCxnSpPr>
        <p:spPr>
          <a:xfrm>
            <a:off x="2713733" y="3607895"/>
            <a:ext cx="0" cy="346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22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1613263" y="2932807"/>
            <a:ext cx="5592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São dados utilizados para informações que pode ter algum tipo de cálculo</a:t>
            </a:r>
            <a:endParaRPr lang="pt-BR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Tipos de dados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387D8CB5-26CE-EB40-8861-24FFB59EDA36}"/>
              </a:ext>
            </a:extLst>
          </p:cNvPr>
          <p:cNvSpPr/>
          <p:nvPr/>
        </p:nvSpPr>
        <p:spPr>
          <a:xfrm>
            <a:off x="3707331" y="1864176"/>
            <a:ext cx="1600200" cy="757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NUMÉRICO</a:t>
            </a:r>
          </a:p>
        </p:txBody>
      </p:sp>
    </p:spTree>
    <p:extLst>
      <p:ext uri="{BB962C8B-B14F-4D97-AF65-F5344CB8AC3E}">
        <p14:creationId xmlns:p14="http://schemas.microsoft.com/office/powerpoint/2010/main" val="372987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1613263" y="2932807"/>
            <a:ext cx="55921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Número que não armazena casas decimais.</a:t>
            </a:r>
          </a:p>
          <a:p>
            <a:pPr algn="ctr"/>
            <a:endParaRPr lang="pt-BR" sz="20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pt-BR" sz="2000" b="1" dirty="0">
                <a:solidFill>
                  <a:schemeClr val="bg1"/>
                </a:solidFill>
                <a:latin typeface="+mj-lt"/>
              </a:rPr>
              <a:t>Exemplo: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  <a:latin typeface="+mj-lt"/>
              </a:rPr>
              <a:t>7     98      -45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Tipos de dados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387D8CB5-26CE-EB40-8861-24FFB59EDA36}"/>
              </a:ext>
            </a:extLst>
          </p:cNvPr>
          <p:cNvSpPr/>
          <p:nvPr/>
        </p:nvSpPr>
        <p:spPr>
          <a:xfrm>
            <a:off x="3707331" y="1733550"/>
            <a:ext cx="1600200" cy="757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INTEIRO</a:t>
            </a:r>
          </a:p>
          <a:p>
            <a:pPr algn="ctr"/>
            <a:r>
              <a:rPr lang="pt-BR" dirty="0" err="1"/>
              <a:t>int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031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1514325" y="2871618"/>
            <a:ext cx="59862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Número capaz de armazenar casas decimais.</a:t>
            </a:r>
          </a:p>
          <a:p>
            <a:pPr algn="ctr"/>
            <a:endParaRPr lang="pt-BR" sz="2000" b="1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pt-BR" sz="2000" b="1" dirty="0">
                <a:solidFill>
                  <a:schemeClr val="bg1"/>
                </a:solidFill>
                <a:latin typeface="+mj-lt"/>
              </a:rPr>
              <a:t>Exemplo: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  <a:latin typeface="+mj-lt"/>
              </a:rPr>
              <a:t>17.7     0.798      -145.00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Tipos de dados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387D8CB5-26CE-EB40-8861-24FFB59EDA36}"/>
              </a:ext>
            </a:extLst>
          </p:cNvPr>
          <p:cNvSpPr/>
          <p:nvPr/>
        </p:nvSpPr>
        <p:spPr>
          <a:xfrm>
            <a:off x="3707331" y="1733550"/>
            <a:ext cx="1600200" cy="757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REAL</a:t>
            </a:r>
          </a:p>
          <a:p>
            <a:pPr algn="ctr"/>
            <a:r>
              <a:rPr lang="pt-BR" dirty="0" err="1"/>
              <a:t>float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418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10126" y="237429"/>
            <a:ext cx="8734373" cy="4690800"/>
            <a:chOff x="206087" y="237647"/>
            <a:chExt cx="8742460" cy="469704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cxnSp>
        <p:nvCxnSpPr>
          <p:cNvPr id="7" name="Straight Connector 6"/>
          <p:cNvCxnSpPr/>
          <p:nvPr/>
        </p:nvCxnSpPr>
        <p:spPr>
          <a:xfrm>
            <a:off x="1600200" y="984617"/>
            <a:ext cx="44409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31" y="4386164"/>
            <a:ext cx="129145" cy="4955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7716-945E-6744-A84E-6D86FEBD8DE4}"/>
              </a:ext>
            </a:extLst>
          </p:cNvPr>
          <p:cNvSpPr txBox="1"/>
          <p:nvPr/>
        </p:nvSpPr>
        <p:spPr>
          <a:xfrm>
            <a:off x="990600" y="2204024"/>
            <a:ext cx="722304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+mj-lt"/>
              </a:rPr>
              <a:t>Informação capaz de armazenar todos os caracteres alfanuméricos (dígitos, letras e caracteres especiais).</a:t>
            </a:r>
          </a:p>
          <a:p>
            <a:pPr algn="ctr"/>
            <a:endParaRPr lang="pt-BR" sz="2000" b="1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pt-BR" sz="2000" b="1" dirty="0">
                <a:solidFill>
                  <a:schemeClr val="bg1"/>
                </a:solidFill>
                <a:latin typeface="+mj-lt"/>
              </a:rPr>
              <a:t>Exemplo:</a:t>
            </a:r>
          </a:p>
          <a:p>
            <a:pPr algn="ctr"/>
            <a:r>
              <a:rPr lang="pt-BR" sz="2000" b="1" dirty="0">
                <a:solidFill>
                  <a:schemeClr val="bg1"/>
                </a:solidFill>
                <a:latin typeface="+mj-lt"/>
              </a:rPr>
              <a:t>“Edson”</a:t>
            </a:r>
          </a:p>
          <a:p>
            <a:pPr algn="ctr"/>
            <a:r>
              <a:rPr lang="pt-BR" sz="2000" i="1" dirty="0">
                <a:solidFill>
                  <a:schemeClr val="bg1"/>
                </a:solidFill>
                <a:latin typeface="+mj-lt"/>
              </a:rPr>
              <a:t>“</a:t>
            </a:r>
            <a:r>
              <a:rPr lang="pt-BR" sz="2000" i="1" dirty="0" err="1">
                <a:solidFill>
                  <a:schemeClr val="bg1"/>
                </a:solidFill>
                <a:latin typeface="+mj-lt"/>
              </a:rPr>
              <a:t>prof.edson.oliveira@hotmail.com</a:t>
            </a:r>
            <a:r>
              <a:rPr lang="pt-BR" sz="2000" i="1" dirty="0">
                <a:solidFill>
                  <a:schemeClr val="bg1"/>
                </a:solidFill>
                <a:latin typeface="+mj-lt"/>
              </a:rPr>
              <a:t>”</a:t>
            </a:r>
          </a:p>
          <a:p>
            <a:pPr algn="ctr"/>
            <a:r>
              <a:rPr lang="pt-BR" sz="2000" i="1" dirty="0">
                <a:solidFill>
                  <a:schemeClr val="bg1"/>
                </a:solidFill>
                <a:latin typeface="+mj-lt"/>
              </a:rPr>
              <a:t>“Av. Paulista, 345”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F61B841-ED71-FC42-90BB-0E10CE52A1B7}"/>
              </a:ext>
            </a:extLst>
          </p:cNvPr>
          <p:cNvSpPr txBox="1"/>
          <p:nvPr/>
        </p:nvSpPr>
        <p:spPr>
          <a:xfrm>
            <a:off x="1586835" y="159020"/>
            <a:ext cx="662681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91A3AD"/>
                </a:solidFill>
                <a:latin typeface="Gotham HTF Light"/>
                <a:cs typeface="Gotham HTF Light"/>
              </a:rPr>
              <a:t>COMPUTATIONAL THINKING USING PYTHON</a:t>
            </a:r>
          </a:p>
          <a:p>
            <a:pPr>
              <a:lnSpc>
                <a:spcPct val="90000"/>
              </a:lnSpc>
            </a:pPr>
            <a:r>
              <a:rPr lang="pt-BR" sz="2400" dirty="0">
                <a:solidFill>
                  <a:srgbClr val="91A3AD"/>
                </a:solidFill>
                <a:latin typeface="Gotham HTF Light"/>
                <a:cs typeface="Gotham HTF Bold"/>
              </a:rPr>
              <a:t>Tipos de dados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387D8CB5-26CE-EB40-8861-24FFB59EDA36}"/>
              </a:ext>
            </a:extLst>
          </p:cNvPr>
          <p:cNvSpPr/>
          <p:nvPr/>
        </p:nvSpPr>
        <p:spPr>
          <a:xfrm>
            <a:off x="3707330" y="1218228"/>
            <a:ext cx="1600200" cy="757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TEXTO</a:t>
            </a:r>
          </a:p>
          <a:p>
            <a:pPr algn="ctr"/>
            <a:r>
              <a:rPr lang="pt-BR" dirty="0" err="1"/>
              <a:t>str</a:t>
            </a:r>
            <a:r>
              <a:rPr lang="pt-BR" dirty="0"/>
              <a:t> (</a:t>
            </a:r>
            <a:r>
              <a:rPr lang="pt-BR" dirty="0" err="1"/>
              <a:t>String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486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32402</TotalTime>
  <Words>691</Words>
  <Application>Microsoft Office PowerPoint</Application>
  <PresentationFormat>Apresentação na tela (16:9)</PresentationFormat>
  <Paragraphs>157</Paragraphs>
  <Slides>22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1" baseType="lpstr">
      <vt:lpstr>Arial</vt:lpstr>
      <vt:lpstr>Calibri</vt:lpstr>
      <vt:lpstr>Gotham HTF Bold</vt:lpstr>
      <vt:lpstr>Gotham HTF Light</vt:lpstr>
      <vt:lpstr>Gotham HTF XLight</vt:lpstr>
      <vt:lpstr>Menlo</vt:lpstr>
      <vt:lpstr>Mistral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Maíra Fernandes Palácios</dc:creator>
  <cp:lastModifiedBy>etechas</cp:lastModifiedBy>
  <cp:revision>712</cp:revision>
  <cp:lastPrinted>2018-07-02T20:18:36Z</cp:lastPrinted>
  <dcterms:created xsi:type="dcterms:W3CDTF">2018-06-21T14:25:56Z</dcterms:created>
  <dcterms:modified xsi:type="dcterms:W3CDTF">2025-02-06T22:15:11Z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2018-06-21T00:00:00Z</vt:filetime>
  </property>
  <property fmtid="{D5CDD505-2E9C-101B-9397-08002B2CF9AE}" pid="3" name="Creator">
    <vt:lpwstr>Google</vt:lpwstr>
  </property>
  <property fmtid="{D5CDD505-2E9C-101B-9397-08002B2CF9AE}" pid="4" name="LastSaved">
    <vt:filetime>2018-06-21T00:00:00Z</vt:filetime>
  </property>
</Properties>
</file>