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customXml/itemProps1.xml" ContentType="application/vnd.openxmlformats-officedocument.customXmlProperties+xml"/>
  <Override PartName="/customXml/itemProps2.xml" ContentType="application/vnd.openxmlformats-officedocument.customXmlPropertie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Jannah Heavy" charset="1" panose="00000A00000000000000"/>
      <p:regular r:id="rId15"/>
    </p:embeddedFont>
    <p:embeddedFont>
      <p:font typeface="Open Sans Bold" charset="1" panose="020B0806030504020204"/>
      <p:regular r:id="rId16"/>
    </p:embeddedFont>
    <p:embeddedFont>
      <p:font typeface="Open Sans Light" charset="1" panose="020B0306030504020204"/>
      <p:regular r:id="rId17"/>
    </p:embeddedFont>
    <p:embeddedFont>
      <p:font typeface="Jannah Medium" charset="1" panose="000006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font" Target="fonts/font18.fntdata"/><Relationship Id="rId8" Type="http://schemas.openxmlformats.org/officeDocument/2006/relationships/slide" Target="slides/slide3.xml"/><Relationship Id="rId3" Type="http://schemas.openxmlformats.org/officeDocument/2006/relationships/viewProps" Target="viewProps.xml"/><Relationship Id="rId12" Type="http://schemas.openxmlformats.org/officeDocument/2006/relationships/slide" Target="slides/slide7.xml"/><Relationship Id="rId17" Type="http://schemas.openxmlformats.org/officeDocument/2006/relationships/font" Target="fonts/font17.fntdata"/><Relationship Id="rId7" Type="http://schemas.openxmlformats.org/officeDocument/2006/relationships/slide" Target="slides/slide2.xml"/><Relationship Id="rId16" Type="http://schemas.openxmlformats.org/officeDocument/2006/relationships/font" Target="fonts/font16.fntdata"/><Relationship Id="rId2" Type="http://schemas.openxmlformats.org/officeDocument/2006/relationships/presProps" Target="presProps.xml"/><Relationship Id="rId20" Type="http://schemas.openxmlformats.org/officeDocument/2006/relationships/customXml" Target="../customXml/item2.xml"/><Relationship Id="rId1" Type="http://schemas.openxmlformats.org/officeDocument/2006/relationships/slideMaster" Target="slideMasters/slideMaster1.xml"/><Relationship Id="rId11" Type="http://schemas.openxmlformats.org/officeDocument/2006/relationships/slide" Target="slides/slide6.xml"/><Relationship Id="rId6" Type="http://schemas.openxmlformats.org/officeDocument/2006/relationships/slide" Target="slides/slide1.xml"/><Relationship Id="rId15" Type="http://schemas.openxmlformats.org/officeDocument/2006/relationships/font" Target="fonts/font15.fntdata"/><Relationship Id="rId5"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customXml" Target="../customXml/item1.xml"/><Relationship Id="rId14" Type="http://schemas.openxmlformats.org/officeDocument/2006/relationships/slide" Target="slides/slide9.xml"/><Relationship Id="rId4" Type="http://schemas.openxmlformats.org/officeDocument/2006/relationships/theme" Target="theme/theme1.xml"/><Relationship Id="rId9" Type="http://schemas.openxmlformats.org/officeDocument/2006/relationships/slide" Target="slides/slide4.xml"/></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980389" y="979389"/>
            <a:ext cx="9307611" cy="9307611"/>
            <a:chOff x="0" y="0"/>
            <a:chExt cx="6350000" cy="6350000"/>
          </a:xfrm>
        </p:grpSpPr>
        <p:sp>
          <p:nvSpPr>
            <p:cNvPr name="Freeform 3" id="3"/>
            <p:cNvSpPr/>
            <p:nvPr/>
          </p:nvSpPr>
          <p:spPr>
            <a:xfrm flipH="false" flipV="false" rot="0">
              <a:off x="-95377" y="-95377"/>
              <a:ext cx="6540754" cy="6540754"/>
            </a:xfrm>
            <a:custGeom>
              <a:avLst/>
              <a:gdLst/>
              <a:ahLst/>
              <a:cxnLst/>
              <a:rect r="r" b="b" t="t" l="l"/>
              <a:pathLst>
                <a:path h="6540754" w="6540754">
                  <a:moveTo>
                    <a:pt x="6540754" y="0"/>
                  </a:moveTo>
                  <a:lnTo>
                    <a:pt x="0" y="6540754"/>
                  </a:lnTo>
                  <a:lnTo>
                    <a:pt x="6540754" y="6540754"/>
                  </a:lnTo>
                  <a:close/>
                </a:path>
              </a:pathLst>
            </a:custGeom>
            <a:blipFill>
              <a:blip r:embed="rId2"/>
              <a:stretch>
                <a:fillRect l="0" t="0" r="-78173" b="0"/>
              </a:stretch>
            </a:blipFill>
          </p:spPr>
        </p:sp>
      </p:grpSp>
      <p:grpSp>
        <p:nvGrpSpPr>
          <p:cNvPr name="Group 4" id="4"/>
          <p:cNvGrpSpPr/>
          <p:nvPr/>
        </p:nvGrpSpPr>
        <p:grpSpPr>
          <a:xfrm rot="-2700000">
            <a:off x="-4354851" y="827408"/>
            <a:ext cx="18111132" cy="11629737"/>
            <a:chOff x="0" y="0"/>
            <a:chExt cx="4770010" cy="3062976"/>
          </a:xfrm>
        </p:grpSpPr>
        <p:sp>
          <p:nvSpPr>
            <p:cNvPr name="Freeform 5" id="5"/>
            <p:cNvSpPr/>
            <p:nvPr/>
          </p:nvSpPr>
          <p:spPr>
            <a:xfrm flipH="false" flipV="false" rot="0">
              <a:off x="0" y="0"/>
              <a:ext cx="4770010" cy="3062976"/>
            </a:xfrm>
            <a:custGeom>
              <a:avLst/>
              <a:gdLst/>
              <a:ahLst/>
              <a:cxnLst/>
              <a:rect r="r" b="b" t="t" l="l"/>
              <a:pathLst>
                <a:path h="3062976" w="4770010">
                  <a:moveTo>
                    <a:pt x="0" y="0"/>
                  </a:moveTo>
                  <a:lnTo>
                    <a:pt x="4770010" y="0"/>
                  </a:lnTo>
                  <a:lnTo>
                    <a:pt x="4770010" y="3062976"/>
                  </a:lnTo>
                  <a:lnTo>
                    <a:pt x="0" y="3062976"/>
                  </a:lnTo>
                  <a:close/>
                </a:path>
              </a:pathLst>
            </a:custGeom>
            <a:solidFill>
              <a:srgbClr val="023D54"/>
            </a:solidFill>
          </p:spPr>
        </p:sp>
        <p:sp>
          <p:nvSpPr>
            <p:cNvPr name="TextBox 6" id="6"/>
            <p:cNvSpPr txBox="true"/>
            <p:nvPr/>
          </p:nvSpPr>
          <p:spPr>
            <a:xfrm>
              <a:off x="0" y="-38100"/>
              <a:ext cx="4770010" cy="3101076"/>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2700000">
            <a:off x="10877795" y="-5191057"/>
            <a:ext cx="5852739" cy="8669109"/>
            <a:chOff x="0" y="0"/>
            <a:chExt cx="1541462" cy="2283222"/>
          </a:xfrm>
        </p:grpSpPr>
        <p:sp>
          <p:nvSpPr>
            <p:cNvPr name="Freeform 8" id="8"/>
            <p:cNvSpPr/>
            <p:nvPr/>
          </p:nvSpPr>
          <p:spPr>
            <a:xfrm flipH="false" flipV="false" rot="0">
              <a:off x="0" y="0"/>
              <a:ext cx="1541462" cy="2283222"/>
            </a:xfrm>
            <a:custGeom>
              <a:avLst/>
              <a:gdLst/>
              <a:ahLst/>
              <a:cxnLst/>
              <a:rect r="r" b="b" t="t" l="l"/>
              <a:pathLst>
                <a:path h="2283222" w="1541462">
                  <a:moveTo>
                    <a:pt x="0" y="0"/>
                  </a:moveTo>
                  <a:lnTo>
                    <a:pt x="1541462" y="0"/>
                  </a:lnTo>
                  <a:lnTo>
                    <a:pt x="1541462" y="2283222"/>
                  </a:lnTo>
                  <a:lnTo>
                    <a:pt x="0" y="2283222"/>
                  </a:lnTo>
                  <a:close/>
                </a:path>
              </a:pathLst>
            </a:custGeom>
            <a:solidFill>
              <a:srgbClr val="023D54">
                <a:alpha val="40000"/>
              </a:srgbClr>
            </a:solidFill>
            <a:ln cap="sq">
              <a:noFill/>
              <a:prstDash val="solid"/>
              <a:miter/>
            </a:ln>
          </p:spPr>
        </p:sp>
        <p:sp>
          <p:nvSpPr>
            <p:cNvPr name="TextBox 9" id="9"/>
            <p:cNvSpPr txBox="true"/>
            <p:nvPr/>
          </p:nvSpPr>
          <p:spPr>
            <a:xfrm>
              <a:off x="0" y="-38100"/>
              <a:ext cx="1541462" cy="2321322"/>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2700000">
            <a:off x="10877795" y="-5551814"/>
            <a:ext cx="5852739" cy="8669109"/>
            <a:chOff x="0" y="0"/>
            <a:chExt cx="1541462" cy="2283222"/>
          </a:xfrm>
        </p:grpSpPr>
        <p:sp>
          <p:nvSpPr>
            <p:cNvPr name="Freeform 11" id="11"/>
            <p:cNvSpPr/>
            <p:nvPr/>
          </p:nvSpPr>
          <p:spPr>
            <a:xfrm flipH="false" flipV="false" rot="0">
              <a:off x="0" y="0"/>
              <a:ext cx="1541462" cy="2283222"/>
            </a:xfrm>
            <a:custGeom>
              <a:avLst/>
              <a:gdLst/>
              <a:ahLst/>
              <a:cxnLst/>
              <a:rect r="r" b="b" t="t" l="l"/>
              <a:pathLst>
                <a:path h="2283222" w="1541462">
                  <a:moveTo>
                    <a:pt x="0" y="0"/>
                  </a:moveTo>
                  <a:lnTo>
                    <a:pt x="1541462" y="0"/>
                  </a:lnTo>
                  <a:lnTo>
                    <a:pt x="1541462" y="2283222"/>
                  </a:lnTo>
                  <a:lnTo>
                    <a:pt x="0" y="2283222"/>
                  </a:lnTo>
                  <a:close/>
                </a:path>
              </a:pathLst>
            </a:custGeom>
            <a:solidFill>
              <a:srgbClr val="023D54">
                <a:alpha val="40000"/>
              </a:srgbClr>
            </a:solidFill>
            <a:ln cap="sq">
              <a:noFill/>
              <a:prstDash val="solid"/>
              <a:miter/>
            </a:ln>
          </p:spPr>
        </p:sp>
        <p:sp>
          <p:nvSpPr>
            <p:cNvPr name="TextBox 12" id="12"/>
            <p:cNvSpPr txBox="true"/>
            <p:nvPr/>
          </p:nvSpPr>
          <p:spPr>
            <a:xfrm>
              <a:off x="0" y="-38100"/>
              <a:ext cx="1541462" cy="2321322"/>
            </a:xfrm>
            <a:prstGeom prst="rect">
              <a:avLst/>
            </a:prstGeom>
          </p:spPr>
          <p:txBody>
            <a:bodyPr anchor="ctr" rtlCol="false" tIns="50800" lIns="50800" bIns="50800" rIns="50800"/>
            <a:lstStyle/>
            <a:p>
              <a:pPr algn="ctr">
                <a:lnSpc>
                  <a:spcPts val="2659"/>
                </a:lnSpc>
                <a:spcBef>
                  <a:spcPct val="0"/>
                </a:spcBef>
              </a:pPr>
            </a:p>
          </p:txBody>
        </p:sp>
      </p:grpSp>
      <p:grpSp>
        <p:nvGrpSpPr>
          <p:cNvPr name="Group 13" id="13"/>
          <p:cNvGrpSpPr/>
          <p:nvPr/>
        </p:nvGrpSpPr>
        <p:grpSpPr>
          <a:xfrm rot="-2700000">
            <a:off x="10877795" y="-6010958"/>
            <a:ext cx="5852739" cy="8669109"/>
            <a:chOff x="0" y="0"/>
            <a:chExt cx="1541462" cy="2283222"/>
          </a:xfrm>
        </p:grpSpPr>
        <p:sp>
          <p:nvSpPr>
            <p:cNvPr name="Freeform 14" id="14"/>
            <p:cNvSpPr/>
            <p:nvPr/>
          </p:nvSpPr>
          <p:spPr>
            <a:xfrm flipH="false" flipV="false" rot="0">
              <a:off x="0" y="0"/>
              <a:ext cx="1541462" cy="2283222"/>
            </a:xfrm>
            <a:custGeom>
              <a:avLst/>
              <a:gdLst/>
              <a:ahLst/>
              <a:cxnLst/>
              <a:rect r="r" b="b" t="t" l="l"/>
              <a:pathLst>
                <a:path h="2283222" w="1541462">
                  <a:moveTo>
                    <a:pt x="0" y="0"/>
                  </a:moveTo>
                  <a:lnTo>
                    <a:pt x="1541462" y="0"/>
                  </a:lnTo>
                  <a:lnTo>
                    <a:pt x="1541462" y="2283222"/>
                  </a:lnTo>
                  <a:lnTo>
                    <a:pt x="0" y="2283222"/>
                  </a:lnTo>
                  <a:close/>
                </a:path>
              </a:pathLst>
            </a:custGeom>
            <a:solidFill>
              <a:srgbClr val="023D54">
                <a:alpha val="89804"/>
              </a:srgbClr>
            </a:solidFill>
            <a:ln cap="sq">
              <a:noFill/>
              <a:prstDash val="solid"/>
              <a:miter/>
            </a:ln>
          </p:spPr>
        </p:sp>
        <p:sp>
          <p:nvSpPr>
            <p:cNvPr name="TextBox 15" id="15"/>
            <p:cNvSpPr txBox="true"/>
            <p:nvPr/>
          </p:nvSpPr>
          <p:spPr>
            <a:xfrm>
              <a:off x="0" y="-38100"/>
              <a:ext cx="1541462" cy="2321322"/>
            </a:xfrm>
            <a:prstGeom prst="rect">
              <a:avLst/>
            </a:prstGeom>
          </p:spPr>
          <p:txBody>
            <a:bodyPr anchor="ctr" rtlCol="false" tIns="50800" lIns="50800" bIns="50800" rIns="50800"/>
            <a:lstStyle/>
            <a:p>
              <a:pPr algn="ctr">
                <a:lnSpc>
                  <a:spcPts val="2659"/>
                </a:lnSpc>
                <a:spcBef>
                  <a:spcPct val="0"/>
                </a:spcBef>
              </a:pPr>
            </a:p>
          </p:txBody>
        </p:sp>
      </p:grpSp>
      <p:sp>
        <p:nvSpPr>
          <p:cNvPr name="TextBox 16" id="16"/>
          <p:cNvSpPr txBox="true"/>
          <p:nvPr/>
        </p:nvSpPr>
        <p:spPr>
          <a:xfrm rot="0">
            <a:off x="1400030" y="1380125"/>
            <a:ext cx="14539773" cy="2630603"/>
          </a:xfrm>
          <a:prstGeom prst="rect">
            <a:avLst/>
          </a:prstGeom>
        </p:spPr>
        <p:txBody>
          <a:bodyPr anchor="t" rtlCol="false" tIns="0" lIns="0" bIns="0" rIns="0">
            <a:spAutoFit/>
          </a:bodyPr>
          <a:lstStyle/>
          <a:p>
            <a:pPr algn="l" marL="0" indent="0" lvl="0">
              <a:lnSpc>
                <a:spcPts val="21528"/>
              </a:lnSpc>
              <a:spcBef>
                <a:spcPct val="0"/>
              </a:spcBef>
            </a:pPr>
            <a:r>
              <a:rPr lang="en-US" sz="15377" spc="-1122">
                <a:solidFill>
                  <a:srgbClr val="FFFFFF"/>
                </a:solidFill>
                <a:latin typeface="Jannah Heavy"/>
                <a:ea typeface="Jannah Heavy"/>
                <a:cs typeface="Jannah Heavy"/>
                <a:sym typeface="Jannah Heavy"/>
              </a:rPr>
              <a:t>UML</a:t>
            </a:r>
          </a:p>
        </p:txBody>
      </p:sp>
      <p:sp>
        <p:nvSpPr>
          <p:cNvPr name="AutoShape 17" id="17"/>
          <p:cNvSpPr/>
          <p:nvPr/>
        </p:nvSpPr>
        <p:spPr>
          <a:xfrm>
            <a:off x="-4083813" y="5652244"/>
            <a:ext cx="13227813" cy="0"/>
          </a:xfrm>
          <a:prstGeom prst="line">
            <a:avLst/>
          </a:prstGeom>
          <a:ln cap="flat" w="38100">
            <a:solidFill>
              <a:srgbClr val="FFFFFF"/>
            </a:solidFill>
            <a:prstDash val="solid"/>
            <a:headEnd type="none" len="sm" w="sm"/>
            <a:tailEnd type="none" len="sm" w="sm"/>
          </a:ln>
        </p:spPr>
      </p:sp>
      <p:sp>
        <p:nvSpPr>
          <p:cNvPr name="Freeform 18" id="18"/>
          <p:cNvSpPr/>
          <p:nvPr/>
        </p:nvSpPr>
        <p:spPr>
          <a:xfrm flipH="false" flipV="false" rot="0">
            <a:off x="180435" y="9294696"/>
            <a:ext cx="7315200" cy="3977640"/>
          </a:xfrm>
          <a:custGeom>
            <a:avLst/>
            <a:gdLst/>
            <a:ahLst/>
            <a:cxnLst/>
            <a:rect r="r" b="b" t="t" l="l"/>
            <a:pathLst>
              <a:path h="3977640" w="7315200">
                <a:moveTo>
                  <a:pt x="0" y="0"/>
                </a:moveTo>
                <a:lnTo>
                  <a:pt x="7315200" y="0"/>
                </a:lnTo>
                <a:lnTo>
                  <a:pt x="7315200" y="3977640"/>
                </a:lnTo>
                <a:lnTo>
                  <a:pt x="0" y="397764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9" id="19"/>
          <p:cNvSpPr/>
          <p:nvPr/>
        </p:nvSpPr>
        <p:spPr>
          <a:xfrm flipH="false" flipV="true" rot="8100000">
            <a:off x="-3475881" y="1121409"/>
            <a:ext cx="9401653" cy="429307"/>
          </a:xfrm>
          <a:custGeom>
            <a:avLst/>
            <a:gdLst/>
            <a:ahLst/>
            <a:cxnLst/>
            <a:rect r="r" b="b" t="t" l="l"/>
            <a:pathLst>
              <a:path h="429307" w="9401653">
                <a:moveTo>
                  <a:pt x="0" y="429307"/>
                </a:moveTo>
                <a:lnTo>
                  <a:pt x="9401654" y="429307"/>
                </a:lnTo>
                <a:lnTo>
                  <a:pt x="9401654" y="0"/>
                </a:lnTo>
                <a:lnTo>
                  <a:pt x="0" y="0"/>
                </a:lnTo>
                <a:lnTo>
                  <a:pt x="0" y="429307"/>
                </a:lnTo>
                <a:close/>
              </a:path>
            </a:pathLst>
          </a:custGeom>
          <a:blipFill>
            <a:blip r:embed="rId5">
              <a:alphaModFix amt="50000"/>
            </a:blip>
            <a:stretch>
              <a:fillRect l="0" t="0" r="0" b="-332517"/>
            </a:stretch>
          </a:blipFill>
        </p:spPr>
      </p:sp>
      <p:sp>
        <p:nvSpPr>
          <p:cNvPr name="TextBox 20" id="20"/>
          <p:cNvSpPr txBox="true"/>
          <p:nvPr/>
        </p:nvSpPr>
        <p:spPr>
          <a:xfrm rot="0">
            <a:off x="1200202" y="4924783"/>
            <a:ext cx="4224338" cy="572557"/>
          </a:xfrm>
          <a:prstGeom prst="rect">
            <a:avLst/>
          </a:prstGeom>
        </p:spPr>
        <p:txBody>
          <a:bodyPr anchor="t" rtlCol="false" tIns="0" lIns="0" bIns="0" rIns="0">
            <a:spAutoFit/>
          </a:bodyPr>
          <a:lstStyle/>
          <a:p>
            <a:pPr algn="ctr">
              <a:lnSpc>
                <a:spcPts val="4666"/>
              </a:lnSpc>
              <a:spcBef>
                <a:spcPct val="0"/>
              </a:spcBef>
            </a:pPr>
            <a:r>
              <a:rPr lang="en-US" sz="3333">
                <a:solidFill>
                  <a:srgbClr val="FFFFFF"/>
                </a:solidFill>
                <a:latin typeface="Open Sans Bold"/>
                <a:ea typeface="Open Sans Bold"/>
                <a:cs typeface="Open Sans Bold"/>
                <a:sym typeface="Open Sans Bold"/>
              </a:rPr>
              <a:t>Diagrama de Objeto</a:t>
            </a:r>
          </a:p>
        </p:txBody>
      </p:sp>
      <p:sp>
        <p:nvSpPr>
          <p:cNvPr name="TextBox 21" id="21"/>
          <p:cNvSpPr txBox="true"/>
          <p:nvPr/>
        </p:nvSpPr>
        <p:spPr>
          <a:xfrm rot="0">
            <a:off x="1184041" y="4128318"/>
            <a:ext cx="4694783" cy="538900"/>
          </a:xfrm>
          <a:prstGeom prst="rect">
            <a:avLst/>
          </a:prstGeom>
        </p:spPr>
        <p:txBody>
          <a:bodyPr anchor="t" rtlCol="false" tIns="0" lIns="0" bIns="0" rIns="0">
            <a:spAutoFit/>
          </a:bodyPr>
          <a:lstStyle/>
          <a:p>
            <a:pPr algn="ctr">
              <a:lnSpc>
                <a:spcPts val="4421"/>
              </a:lnSpc>
              <a:spcBef>
                <a:spcPct val="0"/>
              </a:spcBef>
            </a:pPr>
            <a:r>
              <a:rPr lang="en-US" sz="3158">
                <a:solidFill>
                  <a:srgbClr val="FFFFFF"/>
                </a:solidFill>
                <a:latin typeface="Open Sans Bold"/>
                <a:ea typeface="Open Sans Bold"/>
                <a:cs typeface="Open Sans Bold"/>
                <a:sym typeface="Open Sans Bold"/>
              </a:rPr>
              <a:t>Diagrama de Sequência</a:t>
            </a:r>
          </a:p>
        </p:txBody>
      </p:sp>
      <p:sp>
        <p:nvSpPr>
          <p:cNvPr name="AutoShape 22" id="22"/>
          <p:cNvSpPr/>
          <p:nvPr/>
        </p:nvSpPr>
        <p:spPr>
          <a:xfrm>
            <a:off x="-7186131" y="4830882"/>
            <a:ext cx="13227813" cy="0"/>
          </a:xfrm>
          <a:prstGeom prst="line">
            <a:avLst/>
          </a:prstGeom>
          <a:ln cap="flat" w="38100">
            <a:solidFill>
              <a:srgbClr val="FFFFFF"/>
            </a:solidFill>
            <a:prstDash val="solid"/>
            <a:headEnd type="none" len="sm" w="sm"/>
            <a:tailEnd type="none" len="sm" w="sm"/>
          </a:ln>
        </p:spPr>
      </p:sp>
      <p:sp>
        <p:nvSpPr>
          <p:cNvPr name="TextBox 23" id="23"/>
          <p:cNvSpPr txBox="true"/>
          <p:nvPr/>
        </p:nvSpPr>
        <p:spPr>
          <a:xfrm rot="0">
            <a:off x="1400030" y="5947629"/>
            <a:ext cx="7147827" cy="3013692"/>
          </a:xfrm>
          <a:prstGeom prst="rect">
            <a:avLst/>
          </a:prstGeom>
        </p:spPr>
        <p:txBody>
          <a:bodyPr anchor="t" rtlCol="false" tIns="0" lIns="0" bIns="0" rIns="0">
            <a:spAutoFit/>
          </a:bodyPr>
          <a:lstStyle/>
          <a:p>
            <a:pPr algn="ctr">
              <a:lnSpc>
                <a:spcPts val="4028"/>
              </a:lnSpc>
            </a:pPr>
            <a:r>
              <a:rPr lang="en-US" sz="2877">
                <a:solidFill>
                  <a:srgbClr val="FFFFFF"/>
                </a:solidFill>
                <a:latin typeface="Open Sans Light"/>
                <a:ea typeface="Open Sans Light"/>
                <a:cs typeface="Open Sans Light"/>
                <a:sym typeface="Open Sans Light"/>
              </a:rPr>
              <a:t>Enzo Catarino Leite RM: 241417</a:t>
            </a:r>
          </a:p>
          <a:p>
            <a:pPr algn="ctr">
              <a:lnSpc>
                <a:spcPts val="4028"/>
              </a:lnSpc>
            </a:pPr>
            <a:r>
              <a:rPr lang="en-US" sz="2877">
                <a:solidFill>
                  <a:srgbClr val="FFFFFF"/>
                </a:solidFill>
                <a:latin typeface="Open Sans Light"/>
                <a:ea typeface="Open Sans Light"/>
                <a:cs typeface="Open Sans Light"/>
                <a:sym typeface="Open Sans Light"/>
              </a:rPr>
              <a:t>Gabriel Chaves da Silva RM: 241047</a:t>
            </a:r>
          </a:p>
          <a:p>
            <a:pPr algn="ctr">
              <a:lnSpc>
                <a:spcPts val="4028"/>
              </a:lnSpc>
            </a:pPr>
            <a:r>
              <a:rPr lang="en-US" sz="2877">
                <a:solidFill>
                  <a:srgbClr val="FFFFFF"/>
                </a:solidFill>
                <a:latin typeface="Open Sans Light"/>
                <a:ea typeface="Open Sans Light"/>
                <a:cs typeface="Open Sans Light"/>
                <a:sym typeface="Open Sans Light"/>
              </a:rPr>
              <a:t>João Pedro Silva de Assis RM: 241614</a:t>
            </a:r>
          </a:p>
          <a:p>
            <a:pPr algn="ctr">
              <a:lnSpc>
                <a:spcPts val="4028"/>
              </a:lnSpc>
            </a:pPr>
            <a:r>
              <a:rPr lang="en-US" sz="2877">
                <a:solidFill>
                  <a:srgbClr val="FFFFFF"/>
                </a:solidFill>
                <a:latin typeface="Open Sans Light"/>
                <a:ea typeface="Open Sans Light"/>
                <a:cs typeface="Open Sans Light"/>
                <a:sym typeface="Open Sans Light"/>
              </a:rPr>
              <a:t>Kauã Mota Santos RM: 241532</a:t>
            </a:r>
          </a:p>
          <a:p>
            <a:pPr algn="ctr">
              <a:lnSpc>
                <a:spcPts val="4028"/>
              </a:lnSpc>
            </a:pPr>
            <a:r>
              <a:rPr lang="en-US" sz="2877">
                <a:solidFill>
                  <a:srgbClr val="FFFFFF"/>
                </a:solidFill>
                <a:latin typeface="Open Sans Light"/>
                <a:ea typeface="Open Sans Light"/>
                <a:cs typeface="Open Sans Light"/>
                <a:sym typeface="Open Sans Light"/>
              </a:rPr>
              <a:t>Matheus Guerino da Silva RM: 241533</a:t>
            </a:r>
          </a:p>
          <a:p>
            <a:pPr algn="ctr">
              <a:lnSpc>
                <a:spcPts val="4028"/>
              </a:lnSpc>
              <a:spcBef>
                <a:spcPct val="0"/>
              </a:spcBef>
            </a:pPr>
            <a:r>
              <a:rPr lang="en-US" sz="2877">
                <a:solidFill>
                  <a:srgbClr val="FFFFFF"/>
                </a:solidFill>
                <a:latin typeface="Open Sans Light"/>
                <a:ea typeface="Open Sans Light"/>
                <a:cs typeface="Open Sans Light"/>
                <a:sym typeface="Open Sans Light"/>
              </a:rPr>
              <a:t>Samuel Lopes dos Santos Lima RM: 241534</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2700000">
            <a:off x="16474984" y="799694"/>
            <a:ext cx="5852739" cy="8669109"/>
            <a:chOff x="0" y="0"/>
            <a:chExt cx="1541462" cy="2283222"/>
          </a:xfrm>
        </p:grpSpPr>
        <p:sp>
          <p:nvSpPr>
            <p:cNvPr name="Freeform 3" id="3"/>
            <p:cNvSpPr/>
            <p:nvPr/>
          </p:nvSpPr>
          <p:spPr>
            <a:xfrm flipH="false" flipV="false" rot="0">
              <a:off x="0" y="0"/>
              <a:ext cx="1541462" cy="2283222"/>
            </a:xfrm>
            <a:custGeom>
              <a:avLst/>
              <a:gdLst/>
              <a:ahLst/>
              <a:cxnLst/>
              <a:rect r="r" b="b" t="t" l="l"/>
              <a:pathLst>
                <a:path h="2283222" w="1541462">
                  <a:moveTo>
                    <a:pt x="0" y="0"/>
                  </a:moveTo>
                  <a:lnTo>
                    <a:pt x="1541462" y="0"/>
                  </a:lnTo>
                  <a:lnTo>
                    <a:pt x="1541462" y="2283222"/>
                  </a:lnTo>
                  <a:lnTo>
                    <a:pt x="0" y="2283222"/>
                  </a:lnTo>
                  <a:close/>
                </a:path>
              </a:pathLst>
            </a:custGeom>
            <a:solidFill>
              <a:srgbClr val="023D54">
                <a:alpha val="40000"/>
              </a:srgbClr>
            </a:solidFill>
            <a:ln cap="sq">
              <a:noFill/>
              <a:prstDash val="solid"/>
              <a:miter/>
            </a:ln>
          </p:spPr>
        </p:sp>
        <p:sp>
          <p:nvSpPr>
            <p:cNvPr name="TextBox 4" id="4"/>
            <p:cNvSpPr txBox="true"/>
            <p:nvPr/>
          </p:nvSpPr>
          <p:spPr>
            <a:xfrm>
              <a:off x="0" y="-38100"/>
              <a:ext cx="1541462" cy="2321322"/>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2700000">
            <a:off x="16972214" y="759751"/>
            <a:ext cx="5852739" cy="8669109"/>
            <a:chOff x="0" y="0"/>
            <a:chExt cx="1541462" cy="2283222"/>
          </a:xfrm>
        </p:grpSpPr>
        <p:sp>
          <p:nvSpPr>
            <p:cNvPr name="Freeform 6" id="6"/>
            <p:cNvSpPr/>
            <p:nvPr/>
          </p:nvSpPr>
          <p:spPr>
            <a:xfrm flipH="false" flipV="false" rot="0">
              <a:off x="0" y="0"/>
              <a:ext cx="1541462" cy="2283222"/>
            </a:xfrm>
            <a:custGeom>
              <a:avLst/>
              <a:gdLst/>
              <a:ahLst/>
              <a:cxnLst/>
              <a:rect r="r" b="b" t="t" l="l"/>
              <a:pathLst>
                <a:path h="2283222" w="1541462">
                  <a:moveTo>
                    <a:pt x="0" y="0"/>
                  </a:moveTo>
                  <a:lnTo>
                    <a:pt x="1541462" y="0"/>
                  </a:lnTo>
                  <a:lnTo>
                    <a:pt x="1541462" y="2283222"/>
                  </a:lnTo>
                  <a:lnTo>
                    <a:pt x="0" y="2283222"/>
                  </a:lnTo>
                  <a:close/>
                </a:path>
              </a:pathLst>
            </a:custGeom>
            <a:solidFill>
              <a:srgbClr val="023D54">
                <a:alpha val="40000"/>
              </a:srgbClr>
            </a:solidFill>
            <a:ln cap="sq">
              <a:noFill/>
              <a:prstDash val="solid"/>
              <a:miter/>
            </a:ln>
          </p:spPr>
        </p:sp>
        <p:sp>
          <p:nvSpPr>
            <p:cNvPr name="TextBox 7" id="7"/>
            <p:cNvSpPr txBox="true"/>
            <p:nvPr/>
          </p:nvSpPr>
          <p:spPr>
            <a:xfrm>
              <a:off x="0" y="-38100"/>
              <a:ext cx="1541462" cy="2321322"/>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2700000">
            <a:off x="10108517" y="-5762255"/>
            <a:ext cx="6664400" cy="8669109"/>
            <a:chOff x="0" y="0"/>
            <a:chExt cx="1755233" cy="2283222"/>
          </a:xfrm>
        </p:grpSpPr>
        <p:sp>
          <p:nvSpPr>
            <p:cNvPr name="Freeform 9" id="9"/>
            <p:cNvSpPr/>
            <p:nvPr/>
          </p:nvSpPr>
          <p:spPr>
            <a:xfrm flipH="false" flipV="false" rot="0">
              <a:off x="0" y="0"/>
              <a:ext cx="1755233" cy="2283222"/>
            </a:xfrm>
            <a:custGeom>
              <a:avLst/>
              <a:gdLst/>
              <a:ahLst/>
              <a:cxnLst/>
              <a:rect r="r" b="b" t="t" l="l"/>
              <a:pathLst>
                <a:path h="2283222" w="1755233">
                  <a:moveTo>
                    <a:pt x="0" y="0"/>
                  </a:moveTo>
                  <a:lnTo>
                    <a:pt x="1755233" y="0"/>
                  </a:lnTo>
                  <a:lnTo>
                    <a:pt x="1755233" y="2283222"/>
                  </a:lnTo>
                  <a:lnTo>
                    <a:pt x="0" y="2283222"/>
                  </a:lnTo>
                  <a:close/>
                </a:path>
              </a:pathLst>
            </a:custGeom>
            <a:solidFill>
              <a:srgbClr val="023D54">
                <a:alpha val="89804"/>
              </a:srgbClr>
            </a:solidFill>
            <a:ln cap="sq">
              <a:noFill/>
              <a:prstDash val="solid"/>
              <a:miter/>
            </a:ln>
          </p:spPr>
        </p:sp>
        <p:sp>
          <p:nvSpPr>
            <p:cNvPr name="TextBox 10" id="10"/>
            <p:cNvSpPr txBox="true"/>
            <p:nvPr/>
          </p:nvSpPr>
          <p:spPr>
            <a:xfrm>
              <a:off x="0" y="-38100"/>
              <a:ext cx="1755233" cy="2321322"/>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8100000">
            <a:off x="-2544752" y="7355436"/>
            <a:ext cx="11929395" cy="514338"/>
          </a:xfrm>
          <a:custGeom>
            <a:avLst/>
            <a:gdLst/>
            <a:ahLst/>
            <a:cxnLst/>
            <a:rect r="r" b="b" t="t" l="l"/>
            <a:pathLst>
              <a:path h="514338" w="11929395">
                <a:moveTo>
                  <a:pt x="0" y="0"/>
                </a:moveTo>
                <a:lnTo>
                  <a:pt x="11929395" y="0"/>
                </a:lnTo>
                <a:lnTo>
                  <a:pt x="11929395" y="514338"/>
                </a:lnTo>
                <a:lnTo>
                  <a:pt x="0" y="514338"/>
                </a:lnTo>
                <a:lnTo>
                  <a:pt x="0" y="0"/>
                </a:lnTo>
                <a:close/>
              </a:path>
            </a:pathLst>
          </a:custGeom>
          <a:blipFill>
            <a:blip r:embed="rId2">
              <a:alphaModFix amt="50000"/>
            </a:blip>
            <a:stretch>
              <a:fillRect l="-2804" t="0" r="-2804" b="-383771"/>
            </a:stretch>
          </a:blipFill>
        </p:spPr>
      </p:sp>
      <p:sp>
        <p:nvSpPr>
          <p:cNvPr name="Freeform 12" id="12"/>
          <p:cNvSpPr/>
          <p:nvPr/>
        </p:nvSpPr>
        <p:spPr>
          <a:xfrm flipH="false" flipV="true" rot="-8100000">
            <a:off x="6802116" y="2714655"/>
            <a:ext cx="11929395" cy="514338"/>
          </a:xfrm>
          <a:custGeom>
            <a:avLst/>
            <a:gdLst/>
            <a:ahLst/>
            <a:cxnLst/>
            <a:rect r="r" b="b" t="t" l="l"/>
            <a:pathLst>
              <a:path h="514338" w="11929395">
                <a:moveTo>
                  <a:pt x="0" y="514338"/>
                </a:moveTo>
                <a:lnTo>
                  <a:pt x="11929395" y="514338"/>
                </a:lnTo>
                <a:lnTo>
                  <a:pt x="11929395" y="0"/>
                </a:lnTo>
                <a:lnTo>
                  <a:pt x="0" y="0"/>
                </a:lnTo>
                <a:lnTo>
                  <a:pt x="0" y="514338"/>
                </a:lnTo>
                <a:close/>
              </a:path>
            </a:pathLst>
          </a:custGeom>
          <a:blipFill>
            <a:blip r:embed="rId2">
              <a:alphaModFix amt="50000"/>
            </a:blip>
            <a:stretch>
              <a:fillRect l="-2804" t="0" r="-2804" b="-383771"/>
            </a:stretch>
          </a:blipFill>
        </p:spPr>
      </p:sp>
      <p:sp>
        <p:nvSpPr>
          <p:cNvPr name="TextBox 13" id="13"/>
          <p:cNvSpPr txBox="true"/>
          <p:nvPr/>
        </p:nvSpPr>
        <p:spPr>
          <a:xfrm rot="0">
            <a:off x="1028700" y="634708"/>
            <a:ext cx="9035599" cy="749884"/>
          </a:xfrm>
          <a:prstGeom prst="rect">
            <a:avLst/>
          </a:prstGeom>
        </p:spPr>
        <p:txBody>
          <a:bodyPr anchor="t" rtlCol="false" tIns="0" lIns="0" bIns="0" rIns="0">
            <a:spAutoFit/>
          </a:bodyPr>
          <a:lstStyle/>
          <a:p>
            <a:pPr algn="l">
              <a:lnSpc>
                <a:spcPts val="6115"/>
              </a:lnSpc>
            </a:pPr>
            <a:r>
              <a:rPr lang="en-US" sz="4703" u="sng">
                <a:solidFill>
                  <a:srgbClr val="023D54"/>
                </a:solidFill>
                <a:latin typeface="Jannah Medium"/>
                <a:ea typeface="Jannah Medium"/>
                <a:cs typeface="Jannah Medium"/>
                <a:sym typeface="Jannah Medium"/>
              </a:rPr>
              <a:t>Diagrama de Sequência</a:t>
            </a:r>
          </a:p>
        </p:txBody>
      </p:sp>
      <p:sp>
        <p:nvSpPr>
          <p:cNvPr name="TextBox 14" id="14"/>
          <p:cNvSpPr txBox="true"/>
          <p:nvPr/>
        </p:nvSpPr>
        <p:spPr>
          <a:xfrm rot="0">
            <a:off x="1788260" y="3174981"/>
            <a:ext cx="8276039" cy="2781056"/>
          </a:xfrm>
          <a:prstGeom prst="rect">
            <a:avLst/>
          </a:prstGeom>
        </p:spPr>
        <p:txBody>
          <a:bodyPr anchor="t" rtlCol="false" tIns="0" lIns="0" bIns="0" rIns="0">
            <a:spAutoFit/>
          </a:bodyPr>
          <a:lstStyle/>
          <a:p>
            <a:pPr algn="ctr">
              <a:lnSpc>
                <a:spcPts val="3160"/>
              </a:lnSpc>
              <a:spcBef>
                <a:spcPct val="0"/>
              </a:spcBef>
            </a:pPr>
            <a:r>
              <a:rPr lang="en-US" sz="2257">
                <a:solidFill>
                  <a:srgbClr val="000000"/>
                </a:solidFill>
                <a:latin typeface="Open Sans Bold"/>
                <a:ea typeface="Open Sans Bold"/>
                <a:cs typeface="Open Sans Bold"/>
                <a:sym typeface="Open Sans Bold"/>
              </a:rPr>
              <a:t>Um diagrama de seqüência é um diagrama Unified Modeling Language (UML) que ilustra a seqüência das mensagens entre objetos em uma interação. Onde basicamente consiste em um grupo de objetos representados por linhas de vida e as mensagens que eles trocam durante a interação, ele também mostram as estruturas de controle entre objetos. </a:t>
            </a:r>
          </a:p>
        </p:txBody>
      </p:sp>
      <p:sp>
        <p:nvSpPr>
          <p:cNvPr name="TextBox 15" id="15"/>
          <p:cNvSpPr txBox="true"/>
          <p:nvPr/>
        </p:nvSpPr>
        <p:spPr>
          <a:xfrm rot="0">
            <a:off x="2409104" y="2235160"/>
            <a:ext cx="7964633" cy="564776"/>
          </a:xfrm>
          <a:prstGeom prst="rect">
            <a:avLst/>
          </a:prstGeom>
        </p:spPr>
        <p:txBody>
          <a:bodyPr anchor="t" rtlCol="false" tIns="0" lIns="0" bIns="0" rIns="0">
            <a:spAutoFit/>
          </a:bodyPr>
          <a:lstStyle/>
          <a:p>
            <a:pPr algn="l" marL="762001" indent="-381001" lvl="1">
              <a:lnSpc>
                <a:spcPts val="4588"/>
              </a:lnSpc>
              <a:buFont typeface="Arial"/>
              <a:buChar char="•"/>
            </a:pPr>
            <a:r>
              <a:rPr lang="en-US" sz="3529">
                <a:solidFill>
                  <a:srgbClr val="023D54"/>
                </a:solidFill>
                <a:latin typeface="Jannah Medium"/>
                <a:ea typeface="Jannah Medium"/>
                <a:cs typeface="Jannah Medium"/>
                <a:sym typeface="Jannah Medium"/>
              </a:rPr>
              <a:t>O que é e para que serve?</a:t>
            </a:r>
          </a:p>
        </p:txBody>
      </p:sp>
      <p:sp>
        <p:nvSpPr>
          <p:cNvPr name="TextBox 16" id="16"/>
          <p:cNvSpPr txBox="true"/>
          <p:nvPr/>
        </p:nvSpPr>
        <p:spPr>
          <a:xfrm rot="0">
            <a:off x="6343891" y="6361792"/>
            <a:ext cx="8420444" cy="1981012"/>
          </a:xfrm>
          <a:prstGeom prst="rect">
            <a:avLst/>
          </a:prstGeom>
        </p:spPr>
        <p:txBody>
          <a:bodyPr anchor="t" rtlCol="false" tIns="0" lIns="0" bIns="0" rIns="0">
            <a:spAutoFit/>
          </a:bodyPr>
          <a:lstStyle/>
          <a:p>
            <a:pPr algn="ctr" marL="0" indent="0" lvl="0">
              <a:lnSpc>
                <a:spcPts val="3160"/>
              </a:lnSpc>
              <a:spcBef>
                <a:spcPct val="0"/>
              </a:spcBef>
            </a:pPr>
            <a:r>
              <a:rPr lang="en-US" sz="2257" strike="noStrike" u="none">
                <a:solidFill>
                  <a:srgbClr val="000000"/>
                </a:solidFill>
                <a:latin typeface="Open Sans Bold"/>
                <a:ea typeface="Open Sans Bold"/>
                <a:cs typeface="Open Sans Bold"/>
                <a:sym typeface="Open Sans Bold"/>
              </a:rPr>
              <a:t>Como por exemplo, linhas de vida em um diagrama de seqüência para um cenário financeiro podem representar um cliente, um funcionário ou um gerente do banco, onde a comunicação entre o cliente, o funcionário e o gerente é representada por mensagens transmitidas entre eles.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56834" y="1681074"/>
            <a:ext cx="15374331" cy="8241632"/>
            <a:chOff x="0" y="0"/>
            <a:chExt cx="4049207" cy="2170636"/>
          </a:xfrm>
        </p:grpSpPr>
        <p:sp>
          <p:nvSpPr>
            <p:cNvPr name="Freeform 3" id="3"/>
            <p:cNvSpPr/>
            <p:nvPr/>
          </p:nvSpPr>
          <p:spPr>
            <a:xfrm flipH="false" flipV="false" rot="0">
              <a:off x="0" y="0"/>
              <a:ext cx="4049207" cy="2170636"/>
            </a:xfrm>
            <a:custGeom>
              <a:avLst/>
              <a:gdLst/>
              <a:ahLst/>
              <a:cxnLst/>
              <a:rect r="r" b="b" t="t" l="l"/>
              <a:pathLst>
                <a:path h="2170636" w="4049207">
                  <a:moveTo>
                    <a:pt x="0" y="0"/>
                  </a:moveTo>
                  <a:lnTo>
                    <a:pt x="4049207" y="0"/>
                  </a:lnTo>
                  <a:lnTo>
                    <a:pt x="4049207" y="2170636"/>
                  </a:lnTo>
                  <a:lnTo>
                    <a:pt x="0" y="2170636"/>
                  </a:lnTo>
                  <a:close/>
                </a:path>
              </a:pathLst>
            </a:custGeom>
            <a:solidFill>
              <a:srgbClr val="EEEEEE"/>
            </a:solidFill>
          </p:spPr>
        </p:sp>
        <p:sp>
          <p:nvSpPr>
            <p:cNvPr name="TextBox 4" id="4"/>
            <p:cNvSpPr txBox="true"/>
            <p:nvPr/>
          </p:nvSpPr>
          <p:spPr>
            <a:xfrm>
              <a:off x="0" y="-38100"/>
              <a:ext cx="4049207" cy="2208736"/>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2184865" y="3201902"/>
            <a:ext cx="13918270" cy="3400508"/>
            <a:chOff x="0" y="0"/>
            <a:chExt cx="3665717" cy="895607"/>
          </a:xfrm>
        </p:grpSpPr>
        <p:sp>
          <p:nvSpPr>
            <p:cNvPr name="Freeform 6" id="6"/>
            <p:cNvSpPr/>
            <p:nvPr/>
          </p:nvSpPr>
          <p:spPr>
            <a:xfrm flipH="false" flipV="false" rot="0">
              <a:off x="0" y="0"/>
              <a:ext cx="3665717" cy="895607"/>
            </a:xfrm>
            <a:custGeom>
              <a:avLst/>
              <a:gdLst/>
              <a:ahLst/>
              <a:cxnLst/>
              <a:rect r="r" b="b" t="t" l="l"/>
              <a:pathLst>
                <a:path h="895607" w="3665717">
                  <a:moveTo>
                    <a:pt x="0" y="0"/>
                  </a:moveTo>
                  <a:lnTo>
                    <a:pt x="3665717" y="0"/>
                  </a:lnTo>
                  <a:lnTo>
                    <a:pt x="3665717" y="895607"/>
                  </a:lnTo>
                  <a:lnTo>
                    <a:pt x="0" y="895607"/>
                  </a:lnTo>
                  <a:close/>
                </a:path>
              </a:pathLst>
            </a:custGeom>
            <a:solidFill>
              <a:srgbClr val="FFFFFF"/>
            </a:solidFill>
            <a:ln w="19050" cap="sq">
              <a:solidFill>
                <a:srgbClr val="023D54"/>
              </a:solidFill>
              <a:prstDash val="solid"/>
              <a:miter/>
            </a:ln>
          </p:spPr>
        </p:sp>
        <p:sp>
          <p:nvSpPr>
            <p:cNvPr name="TextBox 7" id="7"/>
            <p:cNvSpPr txBox="true"/>
            <p:nvPr/>
          </p:nvSpPr>
          <p:spPr>
            <a:xfrm>
              <a:off x="0" y="-38100"/>
              <a:ext cx="3665717" cy="933707"/>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2184865" y="6704147"/>
            <a:ext cx="13918270" cy="2895446"/>
            <a:chOff x="0" y="0"/>
            <a:chExt cx="3665717" cy="762587"/>
          </a:xfrm>
        </p:grpSpPr>
        <p:sp>
          <p:nvSpPr>
            <p:cNvPr name="Freeform 9" id="9"/>
            <p:cNvSpPr/>
            <p:nvPr/>
          </p:nvSpPr>
          <p:spPr>
            <a:xfrm flipH="false" flipV="false" rot="0">
              <a:off x="0" y="0"/>
              <a:ext cx="3665717" cy="762587"/>
            </a:xfrm>
            <a:custGeom>
              <a:avLst/>
              <a:gdLst/>
              <a:ahLst/>
              <a:cxnLst/>
              <a:rect r="r" b="b" t="t" l="l"/>
              <a:pathLst>
                <a:path h="762587" w="3665717">
                  <a:moveTo>
                    <a:pt x="0" y="0"/>
                  </a:moveTo>
                  <a:lnTo>
                    <a:pt x="3665717" y="0"/>
                  </a:lnTo>
                  <a:lnTo>
                    <a:pt x="3665717" y="762587"/>
                  </a:lnTo>
                  <a:lnTo>
                    <a:pt x="0" y="762587"/>
                  </a:lnTo>
                  <a:close/>
                </a:path>
              </a:pathLst>
            </a:custGeom>
            <a:solidFill>
              <a:srgbClr val="FFFFFF"/>
            </a:solidFill>
            <a:ln w="19050" cap="sq">
              <a:solidFill>
                <a:srgbClr val="023D54"/>
              </a:solidFill>
              <a:prstDash val="solid"/>
              <a:miter/>
            </a:ln>
          </p:spPr>
        </p:sp>
        <p:sp>
          <p:nvSpPr>
            <p:cNvPr name="TextBox 10" id="10"/>
            <p:cNvSpPr txBox="true"/>
            <p:nvPr/>
          </p:nvSpPr>
          <p:spPr>
            <a:xfrm>
              <a:off x="0" y="-38100"/>
              <a:ext cx="3665717" cy="800687"/>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1" id="11"/>
          <p:cNvGrpSpPr/>
          <p:nvPr/>
        </p:nvGrpSpPr>
        <p:grpSpPr>
          <a:xfrm rot="0">
            <a:off x="2184865" y="3201902"/>
            <a:ext cx="3086100" cy="810605"/>
            <a:chOff x="0" y="0"/>
            <a:chExt cx="812800" cy="213493"/>
          </a:xfrm>
        </p:grpSpPr>
        <p:sp>
          <p:nvSpPr>
            <p:cNvPr name="Freeform 12" id="12"/>
            <p:cNvSpPr/>
            <p:nvPr/>
          </p:nvSpPr>
          <p:spPr>
            <a:xfrm flipH="false" flipV="false" rot="0">
              <a:off x="0" y="0"/>
              <a:ext cx="812800" cy="213493"/>
            </a:xfrm>
            <a:custGeom>
              <a:avLst/>
              <a:gdLst/>
              <a:ahLst/>
              <a:cxnLst/>
              <a:rect r="r" b="b" t="t" l="l"/>
              <a:pathLst>
                <a:path h="213493" w="812800">
                  <a:moveTo>
                    <a:pt x="0" y="0"/>
                  </a:moveTo>
                  <a:lnTo>
                    <a:pt x="812800" y="0"/>
                  </a:lnTo>
                  <a:lnTo>
                    <a:pt x="812800" y="213493"/>
                  </a:lnTo>
                  <a:lnTo>
                    <a:pt x="0" y="213493"/>
                  </a:lnTo>
                  <a:close/>
                </a:path>
              </a:pathLst>
            </a:custGeom>
            <a:solidFill>
              <a:srgbClr val="023D54"/>
            </a:solidFill>
          </p:spPr>
        </p:sp>
        <p:sp>
          <p:nvSpPr>
            <p:cNvPr name="TextBox 13" id="13"/>
            <p:cNvSpPr txBox="true"/>
            <p:nvPr/>
          </p:nvSpPr>
          <p:spPr>
            <a:xfrm>
              <a:off x="0" y="-38100"/>
              <a:ext cx="812800" cy="251593"/>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2184865" y="6704147"/>
            <a:ext cx="3086100" cy="810605"/>
            <a:chOff x="0" y="0"/>
            <a:chExt cx="812800" cy="213493"/>
          </a:xfrm>
        </p:grpSpPr>
        <p:sp>
          <p:nvSpPr>
            <p:cNvPr name="Freeform 15" id="15"/>
            <p:cNvSpPr/>
            <p:nvPr/>
          </p:nvSpPr>
          <p:spPr>
            <a:xfrm flipH="false" flipV="false" rot="0">
              <a:off x="0" y="0"/>
              <a:ext cx="812800" cy="213493"/>
            </a:xfrm>
            <a:custGeom>
              <a:avLst/>
              <a:gdLst/>
              <a:ahLst/>
              <a:cxnLst/>
              <a:rect r="r" b="b" t="t" l="l"/>
              <a:pathLst>
                <a:path h="213493" w="812800">
                  <a:moveTo>
                    <a:pt x="0" y="0"/>
                  </a:moveTo>
                  <a:lnTo>
                    <a:pt x="812800" y="0"/>
                  </a:lnTo>
                  <a:lnTo>
                    <a:pt x="812800" y="213493"/>
                  </a:lnTo>
                  <a:lnTo>
                    <a:pt x="0" y="213493"/>
                  </a:lnTo>
                  <a:close/>
                </a:path>
              </a:pathLst>
            </a:custGeom>
            <a:solidFill>
              <a:srgbClr val="023D54"/>
            </a:solidFill>
          </p:spPr>
        </p:sp>
        <p:sp>
          <p:nvSpPr>
            <p:cNvPr name="TextBox 16" id="16"/>
            <p:cNvSpPr txBox="true"/>
            <p:nvPr/>
          </p:nvSpPr>
          <p:spPr>
            <a:xfrm>
              <a:off x="0" y="-38100"/>
              <a:ext cx="812800" cy="251593"/>
            </a:xfrm>
            <a:prstGeom prst="rect">
              <a:avLst/>
            </a:prstGeom>
          </p:spPr>
          <p:txBody>
            <a:bodyPr anchor="ctr" rtlCol="false" tIns="50800" lIns="50800" bIns="50800" rIns="50800"/>
            <a:lstStyle/>
            <a:p>
              <a:pPr algn="ctr">
                <a:lnSpc>
                  <a:spcPts val="2659"/>
                </a:lnSpc>
              </a:pPr>
            </a:p>
          </p:txBody>
        </p:sp>
      </p:grpSp>
      <p:sp>
        <p:nvSpPr>
          <p:cNvPr name="Freeform 17" id="17"/>
          <p:cNvSpPr/>
          <p:nvPr/>
        </p:nvSpPr>
        <p:spPr>
          <a:xfrm flipH="false" flipV="false" rot="0">
            <a:off x="3512378" y="684198"/>
            <a:ext cx="11197651" cy="482789"/>
          </a:xfrm>
          <a:custGeom>
            <a:avLst/>
            <a:gdLst/>
            <a:ahLst/>
            <a:cxnLst/>
            <a:rect r="r" b="b" t="t" l="l"/>
            <a:pathLst>
              <a:path h="482789" w="11197651">
                <a:moveTo>
                  <a:pt x="0" y="0"/>
                </a:moveTo>
                <a:lnTo>
                  <a:pt x="11197651" y="0"/>
                </a:lnTo>
                <a:lnTo>
                  <a:pt x="11197651" y="482789"/>
                </a:lnTo>
                <a:lnTo>
                  <a:pt x="0" y="482789"/>
                </a:lnTo>
                <a:lnTo>
                  <a:pt x="0" y="0"/>
                </a:lnTo>
                <a:close/>
              </a:path>
            </a:pathLst>
          </a:custGeom>
          <a:blipFill>
            <a:blip r:embed="rId2">
              <a:alphaModFix amt="50000"/>
            </a:blip>
            <a:stretch>
              <a:fillRect l="-2804" t="0" r="-2804" b="-383771"/>
            </a:stretch>
          </a:blipFill>
        </p:spPr>
      </p:sp>
      <p:grpSp>
        <p:nvGrpSpPr>
          <p:cNvPr name="Group 18" id="18"/>
          <p:cNvGrpSpPr/>
          <p:nvPr/>
        </p:nvGrpSpPr>
        <p:grpSpPr>
          <a:xfrm rot="0">
            <a:off x="3157088" y="547491"/>
            <a:ext cx="11132059" cy="1340737"/>
            <a:chOff x="0" y="0"/>
            <a:chExt cx="2931900" cy="353116"/>
          </a:xfrm>
        </p:grpSpPr>
        <p:sp>
          <p:nvSpPr>
            <p:cNvPr name="Freeform 19" id="19"/>
            <p:cNvSpPr/>
            <p:nvPr/>
          </p:nvSpPr>
          <p:spPr>
            <a:xfrm flipH="false" flipV="false" rot="0">
              <a:off x="0" y="0"/>
              <a:ext cx="2931900" cy="353116"/>
            </a:xfrm>
            <a:custGeom>
              <a:avLst/>
              <a:gdLst/>
              <a:ahLst/>
              <a:cxnLst/>
              <a:rect r="r" b="b" t="t" l="l"/>
              <a:pathLst>
                <a:path h="353116" w="2931900">
                  <a:moveTo>
                    <a:pt x="0" y="0"/>
                  </a:moveTo>
                  <a:lnTo>
                    <a:pt x="2931900" y="0"/>
                  </a:lnTo>
                  <a:lnTo>
                    <a:pt x="2931900" y="353116"/>
                  </a:lnTo>
                  <a:lnTo>
                    <a:pt x="0" y="353116"/>
                  </a:lnTo>
                  <a:close/>
                </a:path>
              </a:pathLst>
            </a:custGeom>
            <a:solidFill>
              <a:srgbClr val="023D54"/>
            </a:solidFill>
          </p:spPr>
        </p:sp>
        <p:sp>
          <p:nvSpPr>
            <p:cNvPr name="TextBox 20" id="20"/>
            <p:cNvSpPr txBox="true"/>
            <p:nvPr/>
          </p:nvSpPr>
          <p:spPr>
            <a:xfrm>
              <a:off x="0" y="-38100"/>
              <a:ext cx="2931900" cy="391216"/>
            </a:xfrm>
            <a:prstGeom prst="rect">
              <a:avLst/>
            </a:prstGeom>
          </p:spPr>
          <p:txBody>
            <a:bodyPr anchor="ctr" rtlCol="false" tIns="50800" lIns="50800" bIns="50800" rIns="50800"/>
            <a:lstStyle/>
            <a:p>
              <a:pPr algn="ctr">
                <a:lnSpc>
                  <a:spcPts val="2659"/>
                </a:lnSpc>
              </a:pPr>
            </a:p>
          </p:txBody>
        </p:sp>
      </p:grpSp>
      <p:sp>
        <p:nvSpPr>
          <p:cNvPr name="TextBox 21" id="21"/>
          <p:cNvSpPr txBox="true"/>
          <p:nvPr/>
        </p:nvSpPr>
        <p:spPr>
          <a:xfrm rot="0">
            <a:off x="1637308" y="836864"/>
            <a:ext cx="14171619" cy="723891"/>
          </a:xfrm>
          <a:prstGeom prst="rect">
            <a:avLst/>
          </a:prstGeom>
        </p:spPr>
        <p:txBody>
          <a:bodyPr anchor="t" rtlCol="false" tIns="0" lIns="0" bIns="0" rIns="0">
            <a:spAutoFit/>
          </a:bodyPr>
          <a:lstStyle/>
          <a:p>
            <a:pPr algn="ctr">
              <a:lnSpc>
                <a:spcPts val="5850"/>
              </a:lnSpc>
            </a:pPr>
            <a:r>
              <a:rPr lang="en-US" sz="4500">
                <a:solidFill>
                  <a:srgbClr val="FFFFFF"/>
                </a:solidFill>
                <a:latin typeface="Jannah Medium"/>
                <a:ea typeface="Jannah Medium"/>
                <a:cs typeface="Jannah Medium"/>
                <a:sym typeface="Jannah Medium"/>
              </a:rPr>
              <a:t>Exemplos</a:t>
            </a:r>
          </a:p>
        </p:txBody>
      </p:sp>
      <p:sp>
        <p:nvSpPr>
          <p:cNvPr name="TextBox 22" id="22"/>
          <p:cNvSpPr txBox="true"/>
          <p:nvPr/>
        </p:nvSpPr>
        <p:spPr>
          <a:xfrm rot="0">
            <a:off x="5509107" y="3362186"/>
            <a:ext cx="10420746" cy="3003301"/>
          </a:xfrm>
          <a:prstGeom prst="rect">
            <a:avLst/>
          </a:prstGeom>
        </p:spPr>
        <p:txBody>
          <a:bodyPr anchor="t" rtlCol="false" tIns="0" lIns="0" bIns="0" rIns="0">
            <a:spAutoFit/>
          </a:bodyPr>
          <a:lstStyle/>
          <a:p>
            <a:pPr algn="l">
              <a:lnSpc>
                <a:spcPts val="2625"/>
              </a:lnSpc>
            </a:pPr>
            <a:r>
              <a:rPr lang="en-US" sz="2019">
                <a:solidFill>
                  <a:srgbClr val="545454"/>
                </a:solidFill>
                <a:latin typeface="Open Sans Bold"/>
                <a:ea typeface="Open Sans Bold"/>
                <a:cs typeface="Open Sans Bold"/>
                <a:sym typeface="Open Sans Bold"/>
              </a:rPr>
              <a:t>Sistema de Reserva de Restaurante </a:t>
            </a:r>
          </a:p>
          <a:p>
            <a:pPr algn="l" marL="436032" indent="-218016" lvl="1">
              <a:lnSpc>
                <a:spcPts val="2625"/>
              </a:lnSpc>
              <a:buFont typeface="Arial"/>
              <a:buChar char="•"/>
            </a:pPr>
            <a:r>
              <a:rPr lang="en-US" sz="2019">
                <a:solidFill>
                  <a:srgbClr val="545454"/>
                </a:solidFill>
                <a:latin typeface="Open Sans Bold"/>
                <a:ea typeface="Open Sans Bold"/>
                <a:cs typeface="Open Sans Bold"/>
                <a:sym typeface="Open Sans Bold"/>
              </a:rPr>
              <a:t>Contexto: Um cliente faz uma reserva de mesa em um restaurante usando um sistema online. </a:t>
            </a:r>
          </a:p>
          <a:p>
            <a:pPr algn="l" marL="436032" indent="-218016" lvl="1">
              <a:lnSpc>
                <a:spcPts val="2625"/>
              </a:lnSpc>
              <a:buFont typeface="Arial"/>
              <a:buChar char="•"/>
            </a:pPr>
            <a:r>
              <a:rPr lang="en-US" sz="2019">
                <a:solidFill>
                  <a:srgbClr val="545454"/>
                </a:solidFill>
                <a:latin typeface="Open Sans Bold"/>
                <a:ea typeface="Open Sans Bold"/>
                <a:cs typeface="Open Sans Bold"/>
                <a:sym typeface="Open Sans Bold"/>
              </a:rPr>
              <a:t>Objetos envolvidos: Cliente Interface Web Sistema de Reserva Sistema de Notificação </a:t>
            </a:r>
          </a:p>
          <a:p>
            <a:pPr algn="l" marL="436032" indent="-218016" lvl="1">
              <a:lnSpc>
                <a:spcPts val="2625"/>
              </a:lnSpc>
              <a:buFont typeface="Arial"/>
              <a:buChar char="•"/>
            </a:pPr>
            <a:r>
              <a:rPr lang="en-US" sz="2019">
                <a:solidFill>
                  <a:srgbClr val="545454"/>
                </a:solidFill>
                <a:latin typeface="Open Sans Bold"/>
                <a:ea typeface="Open Sans Bold"/>
                <a:cs typeface="Open Sans Bold"/>
                <a:sym typeface="Open Sans Bold"/>
              </a:rPr>
              <a:t>Desenvolvimento: Ajuda a visualizar a sequência de interações para o processo de reserva, facilitando a implementação. Teste: Cria cenários para verificar se a reserva é processada corretamente. Documentação: Explica o fluxo de reserva para desenvolvedores e stakeholders.</a:t>
            </a:r>
          </a:p>
        </p:txBody>
      </p:sp>
      <p:sp>
        <p:nvSpPr>
          <p:cNvPr name="TextBox 23" id="23"/>
          <p:cNvSpPr txBox="true"/>
          <p:nvPr/>
        </p:nvSpPr>
        <p:spPr>
          <a:xfrm rot="0">
            <a:off x="2441202" y="3416189"/>
            <a:ext cx="2573425" cy="384103"/>
          </a:xfrm>
          <a:prstGeom prst="rect">
            <a:avLst/>
          </a:prstGeom>
        </p:spPr>
        <p:txBody>
          <a:bodyPr anchor="t" rtlCol="false" tIns="0" lIns="0" bIns="0" rIns="0">
            <a:spAutoFit/>
          </a:bodyPr>
          <a:lstStyle/>
          <a:p>
            <a:pPr algn="ctr">
              <a:lnSpc>
                <a:spcPts val="3141"/>
              </a:lnSpc>
            </a:pPr>
            <a:r>
              <a:rPr lang="en-US" sz="2416">
                <a:solidFill>
                  <a:srgbClr val="FFFFFF"/>
                </a:solidFill>
                <a:latin typeface="Jannah Heavy"/>
                <a:ea typeface="Jannah Heavy"/>
                <a:cs typeface="Jannah Heavy"/>
                <a:sym typeface="Jannah Heavy"/>
              </a:rPr>
              <a:t>EXEMPLO 1</a:t>
            </a:r>
          </a:p>
        </p:txBody>
      </p:sp>
      <p:sp>
        <p:nvSpPr>
          <p:cNvPr name="TextBox 24" id="24"/>
          <p:cNvSpPr txBox="true"/>
          <p:nvPr/>
        </p:nvSpPr>
        <p:spPr>
          <a:xfrm rot="0">
            <a:off x="2441202" y="6907873"/>
            <a:ext cx="2573425" cy="384103"/>
          </a:xfrm>
          <a:prstGeom prst="rect">
            <a:avLst/>
          </a:prstGeom>
        </p:spPr>
        <p:txBody>
          <a:bodyPr anchor="t" rtlCol="false" tIns="0" lIns="0" bIns="0" rIns="0">
            <a:spAutoFit/>
          </a:bodyPr>
          <a:lstStyle/>
          <a:p>
            <a:pPr algn="ctr">
              <a:lnSpc>
                <a:spcPts val="3141"/>
              </a:lnSpc>
            </a:pPr>
            <a:r>
              <a:rPr lang="en-US" sz="2416">
                <a:solidFill>
                  <a:srgbClr val="FFFFFF"/>
                </a:solidFill>
                <a:latin typeface="Jannah Heavy"/>
                <a:ea typeface="Jannah Heavy"/>
                <a:cs typeface="Jannah Heavy"/>
                <a:sym typeface="Jannah Heavy"/>
              </a:rPr>
              <a:t>EXEMPLO 2</a:t>
            </a:r>
          </a:p>
        </p:txBody>
      </p:sp>
      <p:sp>
        <p:nvSpPr>
          <p:cNvPr name="TextBox 25" id="25"/>
          <p:cNvSpPr txBox="true"/>
          <p:nvPr/>
        </p:nvSpPr>
        <p:spPr>
          <a:xfrm rot="0">
            <a:off x="5509107" y="6821485"/>
            <a:ext cx="10420746" cy="2623665"/>
          </a:xfrm>
          <a:prstGeom prst="rect">
            <a:avLst/>
          </a:prstGeom>
        </p:spPr>
        <p:txBody>
          <a:bodyPr anchor="t" rtlCol="false" tIns="0" lIns="0" bIns="0" rIns="0">
            <a:spAutoFit/>
          </a:bodyPr>
          <a:lstStyle/>
          <a:p>
            <a:pPr algn="l">
              <a:lnSpc>
                <a:spcPts val="2625"/>
              </a:lnSpc>
              <a:spcBef>
                <a:spcPct val="0"/>
              </a:spcBef>
            </a:pPr>
            <a:r>
              <a:rPr lang="en-US" sz="2019" strike="noStrike" u="none">
                <a:solidFill>
                  <a:srgbClr val="545454"/>
                </a:solidFill>
                <a:latin typeface="Open Sans Bold"/>
                <a:ea typeface="Open Sans Bold"/>
                <a:cs typeface="Open Sans Bold"/>
                <a:sym typeface="Open Sans Bold"/>
              </a:rPr>
              <a:t>Fluxo de Compra de Bilhete de Cinema </a:t>
            </a:r>
          </a:p>
          <a:p>
            <a:pPr algn="l" marL="436031" indent="-218016" lvl="1">
              <a:lnSpc>
                <a:spcPts val="2625"/>
              </a:lnSpc>
              <a:spcBef>
                <a:spcPct val="0"/>
              </a:spcBef>
              <a:buFont typeface="Arial"/>
              <a:buChar char="•"/>
            </a:pPr>
            <a:r>
              <a:rPr lang="en-US" sz="2019" strike="noStrike" u="none">
                <a:solidFill>
                  <a:srgbClr val="545454"/>
                </a:solidFill>
                <a:latin typeface="Open Sans Bold"/>
                <a:ea typeface="Open Sans Bold"/>
                <a:cs typeface="Open Sans Bold"/>
                <a:sym typeface="Open Sans Bold"/>
              </a:rPr>
              <a:t>Contexto: Um cliente compra um bilhete de cinema online. </a:t>
            </a:r>
          </a:p>
          <a:p>
            <a:pPr algn="l" marL="436031" indent="-218016" lvl="1">
              <a:lnSpc>
                <a:spcPts val="2625"/>
              </a:lnSpc>
              <a:spcBef>
                <a:spcPct val="0"/>
              </a:spcBef>
              <a:buFont typeface="Arial"/>
              <a:buChar char="•"/>
            </a:pPr>
            <a:r>
              <a:rPr lang="en-US" sz="2019" strike="noStrike" u="none">
                <a:solidFill>
                  <a:srgbClr val="545454"/>
                </a:solidFill>
                <a:latin typeface="Open Sans Bold"/>
                <a:ea typeface="Open Sans Bold"/>
                <a:cs typeface="Open Sans Bold"/>
                <a:sym typeface="Open Sans Bold"/>
              </a:rPr>
              <a:t>Objetos envolvidos: Cliente Interface de Compra Sistema de Bilheteira Sistema de Pagamento </a:t>
            </a:r>
          </a:p>
          <a:p>
            <a:pPr algn="l" marL="436031" indent="-218016" lvl="1">
              <a:lnSpc>
                <a:spcPts val="2625"/>
              </a:lnSpc>
              <a:spcBef>
                <a:spcPct val="0"/>
              </a:spcBef>
              <a:buFont typeface="Arial"/>
              <a:buChar char="•"/>
            </a:pPr>
            <a:r>
              <a:rPr lang="en-US" sz="2019" strike="noStrike" u="none">
                <a:solidFill>
                  <a:srgbClr val="545454"/>
                </a:solidFill>
                <a:latin typeface="Open Sans Bold"/>
                <a:ea typeface="Open Sans Bold"/>
                <a:cs typeface="Open Sans Bold"/>
                <a:sym typeface="Open Sans Bold"/>
              </a:rPr>
              <a:t>Desenvolvimento: Define a sequência de passos para realizar a compra e emissão de bilhetes. Análise de Performance: Ajuda a identificar gargalos no processo de compra. Interface de Usuário: Guia a criação da interface para uma experiência de compra intuitiva.</a:t>
            </a:r>
          </a:p>
        </p:txBody>
      </p:sp>
      <p:grpSp>
        <p:nvGrpSpPr>
          <p:cNvPr name="Group 26" id="26"/>
          <p:cNvGrpSpPr/>
          <p:nvPr/>
        </p:nvGrpSpPr>
        <p:grpSpPr>
          <a:xfrm rot="-2700000">
            <a:off x="14933571" y="-4875932"/>
            <a:ext cx="5852739" cy="8669109"/>
            <a:chOff x="0" y="0"/>
            <a:chExt cx="1541462" cy="2283222"/>
          </a:xfrm>
        </p:grpSpPr>
        <p:sp>
          <p:nvSpPr>
            <p:cNvPr name="Freeform 27" id="27"/>
            <p:cNvSpPr/>
            <p:nvPr/>
          </p:nvSpPr>
          <p:spPr>
            <a:xfrm flipH="false" flipV="false" rot="0">
              <a:off x="0" y="0"/>
              <a:ext cx="1541462" cy="2283222"/>
            </a:xfrm>
            <a:custGeom>
              <a:avLst/>
              <a:gdLst/>
              <a:ahLst/>
              <a:cxnLst/>
              <a:rect r="r" b="b" t="t" l="l"/>
              <a:pathLst>
                <a:path h="2283222" w="1541462">
                  <a:moveTo>
                    <a:pt x="0" y="0"/>
                  </a:moveTo>
                  <a:lnTo>
                    <a:pt x="1541462" y="0"/>
                  </a:lnTo>
                  <a:lnTo>
                    <a:pt x="1541462" y="2283222"/>
                  </a:lnTo>
                  <a:lnTo>
                    <a:pt x="0" y="2283222"/>
                  </a:lnTo>
                  <a:close/>
                </a:path>
              </a:pathLst>
            </a:custGeom>
            <a:solidFill>
              <a:srgbClr val="023D54">
                <a:alpha val="40000"/>
              </a:srgbClr>
            </a:solidFill>
            <a:ln cap="sq">
              <a:noFill/>
              <a:prstDash val="solid"/>
              <a:miter/>
            </a:ln>
          </p:spPr>
        </p:sp>
        <p:sp>
          <p:nvSpPr>
            <p:cNvPr name="TextBox 28" id="28"/>
            <p:cNvSpPr txBox="true"/>
            <p:nvPr/>
          </p:nvSpPr>
          <p:spPr>
            <a:xfrm>
              <a:off x="0" y="-38100"/>
              <a:ext cx="1541462" cy="2321322"/>
            </a:xfrm>
            <a:prstGeom prst="rect">
              <a:avLst/>
            </a:prstGeom>
          </p:spPr>
          <p:txBody>
            <a:bodyPr anchor="ctr" rtlCol="false" tIns="50800" lIns="50800" bIns="50800" rIns="50800"/>
            <a:lstStyle/>
            <a:p>
              <a:pPr algn="ctr">
                <a:lnSpc>
                  <a:spcPts val="2659"/>
                </a:lnSpc>
                <a:spcBef>
                  <a:spcPct val="0"/>
                </a:spcBef>
              </a:pPr>
            </a:p>
          </p:txBody>
        </p:sp>
      </p:grpSp>
      <p:grpSp>
        <p:nvGrpSpPr>
          <p:cNvPr name="Group 29" id="29"/>
          <p:cNvGrpSpPr/>
          <p:nvPr/>
        </p:nvGrpSpPr>
        <p:grpSpPr>
          <a:xfrm rot="7755540">
            <a:off x="-2967378" y="6742882"/>
            <a:ext cx="5852739" cy="8669109"/>
            <a:chOff x="0" y="0"/>
            <a:chExt cx="1541462" cy="2283222"/>
          </a:xfrm>
        </p:grpSpPr>
        <p:sp>
          <p:nvSpPr>
            <p:cNvPr name="Freeform 30" id="30"/>
            <p:cNvSpPr/>
            <p:nvPr/>
          </p:nvSpPr>
          <p:spPr>
            <a:xfrm flipH="false" flipV="false" rot="0">
              <a:off x="0" y="0"/>
              <a:ext cx="1541462" cy="2283222"/>
            </a:xfrm>
            <a:custGeom>
              <a:avLst/>
              <a:gdLst/>
              <a:ahLst/>
              <a:cxnLst/>
              <a:rect r="r" b="b" t="t" l="l"/>
              <a:pathLst>
                <a:path h="2283222" w="1541462">
                  <a:moveTo>
                    <a:pt x="0" y="0"/>
                  </a:moveTo>
                  <a:lnTo>
                    <a:pt x="1541462" y="0"/>
                  </a:lnTo>
                  <a:lnTo>
                    <a:pt x="1541462" y="2283222"/>
                  </a:lnTo>
                  <a:lnTo>
                    <a:pt x="0" y="2283222"/>
                  </a:lnTo>
                  <a:close/>
                </a:path>
              </a:pathLst>
            </a:custGeom>
            <a:solidFill>
              <a:srgbClr val="023D54">
                <a:alpha val="40000"/>
              </a:srgbClr>
            </a:solidFill>
            <a:ln cap="sq">
              <a:noFill/>
              <a:prstDash val="solid"/>
              <a:miter/>
            </a:ln>
          </p:spPr>
        </p:sp>
        <p:sp>
          <p:nvSpPr>
            <p:cNvPr name="TextBox 31" id="31"/>
            <p:cNvSpPr txBox="true"/>
            <p:nvPr/>
          </p:nvSpPr>
          <p:spPr>
            <a:xfrm>
              <a:off x="0" y="-38100"/>
              <a:ext cx="1541462" cy="2321322"/>
            </a:xfrm>
            <a:prstGeom prst="rect">
              <a:avLst/>
            </a:prstGeom>
          </p:spPr>
          <p:txBody>
            <a:bodyPr anchor="ctr" rtlCol="false" tIns="50800" lIns="50800" bIns="50800" rIns="50800"/>
            <a:lstStyle/>
            <a:p>
              <a:pPr algn="ctr">
                <a:lnSpc>
                  <a:spcPts val="2659"/>
                </a:lnSpc>
                <a:spcBef>
                  <a:spcPct val="0"/>
                </a:spcBef>
              </a:pPr>
            </a:p>
          </p:txBody>
        </p:sp>
      </p:grpSp>
      <p:grpSp>
        <p:nvGrpSpPr>
          <p:cNvPr name="Group 32" id="32"/>
          <p:cNvGrpSpPr/>
          <p:nvPr/>
        </p:nvGrpSpPr>
        <p:grpSpPr>
          <a:xfrm rot="-2700000">
            <a:off x="14933571" y="-5236688"/>
            <a:ext cx="5852739" cy="8669109"/>
            <a:chOff x="0" y="0"/>
            <a:chExt cx="1541462" cy="2283222"/>
          </a:xfrm>
        </p:grpSpPr>
        <p:sp>
          <p:nvSpPr>
            <p:cNvPr name="Freeform 33" id="33"/>
            <p:cNvSpPr/>
            <p:nvPr/>
          </p:nvSpPr>
          <p:spPr>
            <a:xfrm flipH="false" flipV="false" rot="0">
              <a:off x="0" y="0"/>
              <a:ext cx="1541462" cy="2283222"/>
            </a:xfrm>
            <a:custGeom>
              <a:avLst/>
              <a:gdLst/>
              <a:ahLst/>
              <a:cxnLst/>
              <a:rect r="r" b="b" t="t" l="l"/>
              <a:pathLst>
                <a:path h="2283222" w="1541462">
                  <a:moveTo>
                    <a:pt x="0" y="0"/>
                  </a:moveTo>
                  <a:lnTo>
                    <a:pt x="1541462" y="0"/>
                  </a:lnTo>
                  <a:lnTo>
                    <a:pt x="1541462" y="2283222"/>
                  </a:lnTo>
                  <a:lnTo>
                    <a:pt x="0" y="2283222"/>
                  </a:lnTo>
                  <a:close/>
                </a:path>
              </a:pathLst>
            </a:custGeom>
            <a:solidFill>
              <a:srgbClr val="023D54">
                <a:alpha val="40000"/>
              </a:srgbClr>
            </a:solidFill>
            <a:ln cap="sq">
              <a:noFill/>
              <a:prstDash val="solid"/>
              <a:miter/>
            </a:ln>
          </p:spPr>
        </p:sp>
        <p:sp>
          <p:nvSpPr>
            <p:cNvPr name="TextBox 34" id="34"/>
            <p:cNvSpPr txBox="true"/>
            <p:nvPr/>
          </p:nvSpPr>
          <p:spPr>
            <a:xfrm>
              <a:off x="0" y="-38100"/>
              <a:ext cx="1541462" cy="2321322"/>
            </a:xfrm>
            <a:prstGeom prst="rect">
              <a:avLst/>
            </a:prstGeom>
          </p:spPr>
          <p:txBody>
            <a:bodyPr anchor="ctr" rtlCol="false" tIns="50800" lIns="50800" bIns="50800" rIns="50800"/>
            <a:lstStyle/>
            <a:p>
              <a:pPr algn="ctr">
                <a:lnSpc>
                  <a:spcPts val="2659"/>
                </a:lnSpc>
                <a:spcBef>
                  <a:spcPct val="0"/>
                </a:spcBef>
              </a:pPr>
            </a:p>
          </p:txBody>
        </p:sp>
      </p:grpSp>
      <p:grpSp>
        <p:nvGrpSpPr>
          <p:cNvPr name="Group 35" id="35"/>
          <p:cNvGrpSpPr/>
          <p:nvPr/>
        </p:nvGrpSpPr>
        <p:grpSpPr>
          <a:xfrm rot="7755540">
            <a:off x="-2931291" y="7101829"/>
            <a:ext cx="5852739" cy="8669109"/>
            <a:chOff x="0" y="0"/>
            <a:chExt cx="1541462" cy="2283222"/>
          </a:xfrm>
        </p:grpSpPr>
        <p:sp>
          <p:nvSpPr>
            <p:cNvPr name="Freeform 36" id="36"/>
            <p:cNvSpPr/>
            <p:nvPr/>
          </p:nvSpPr>
          <p:spPr>
            <a:xfrm flipH="false" flipV="false" rot="0">
              <a:off x="0" y="0"/>
              <a:ext cx="1541462" cy="2283222"/>
            </a:xfrm>
            <a:custGeom>
              <a:avLst/>
              <a:gdLst/>
              <a:ahLst/>
              <a:cxnLst/>
              <a:rect r="r" b="b" t="t" l="l"/>
              <a:pathLst>
                <a:path h="2283222" w="1541462">
                  <a:moveTo>
                    <a:pt x="0" y="0"/>
                  </a:moveTo>
                  <a:lnTo>
                    <a:pt x="1541462" y="0"/>
                  </a:lnTo>
                  <a:lnTo>
                    <a:pt x="1541462" y="2283222"/>
                  </a:lnTo>
                  <a:lnTo>
                    <a:pt x="0" y="2283222"/>
                  </a:lnTo>
                  <a:close/>
                </a:path>
              </a:pathLst>
            </a:custGeom>
            <a:solidFill>
              <a:srgbClr val="023D54">
                <a:alpha val="40000"/>
              </a:srgbClr>
            </a:solidFill>
            <a:ln cap="sq">
              <a:noFill/>
              <a:prstDash val="solid"/>
              <a:miter/>
            </a:ln>
          </p:spPr>
        </p:sp>
        <p:sp>
          <p:nvSpPr>
            <p:cNvPr name="TextBox 37" id="37"/>
            <p:cNvSpPr txBox="true"/>
            <p:nvPr/>
          </p:nvSpPr>
          <p:spPr>
            <a:xfrm>
              <a:off x="0" y="-38100"/>
              <a:ext cx="1541462" cy="2321322"/>
            </a:xfrm>
            <a:prstGeom prst="rect">
              <a:avLst/>
            </a:prstGeom>
          </p:spPr>
          <p:txBody>
            <a:bodyPr anchor="ctr" rtlCol="false" tIns="50800" lIns="50800" bIns="50800" rIns="50800"/>
            <a:lstStyle/>
            <a:p>
              <a:pPr algn="ctr">
                <a:lnSpc>
                  <a:spcPts val="2659"/>
                </a:lnSpc>
                <a:spcBef>
                  <a:spcPct val="0"/>
                </a:spcBef>
              </a:pPr>
            </a:p>
          </p:txBody>
        </p:sp>
      </p:grpSp>
      <p:grpSp>
        <p:nvGrpSpPr>
          <p:cNvPr name="Group 38" id="38"/>
          <p:cNvGrpSpPr/>
          <p:nvPr/>
        </p:nvGrpSpPr>
        <p:grpSpPr>
          <a:xfrm rot="-2700000">
            <a:off x="14933571" y="-5695833"/>
            <a:ext cx="5852739" cy="8669109"/>
            <a:chOff x="0" y="0"/>
            <a:chExt cx="1541462" cy="2283222"/>
          </a:xfrm>
        </p:grpSpPr>
        <p:sp>
          <p:nvSpPr>
            <p:cNvPr name="Freeform 39" id="39"/>
            <p:cNvSpPr/>
            <p:nvPr/>
          </p:nvSpPr>
          <p:spPr>
            <a:xfrm flipH="false" flipV="false" rot="0">
              <a:off x="0" y="0"/>
              <a:ext cx="1541462" cy="2283222"/>
            </a:xfrm>
            <a:custGeom>
              <a:avLst/>
              <a:gdLst/>
              <a:ahLst/>
              <a:cxnLst/>
              <a:rect r="r" b="b" t="t" l="l"/>
              <a:pathLst>
                <a:path h="2283222" w="1541462">
                  <a:moveTo>
                    <a:pt x="0" y="0"/>
                  </a:moveTo>
                  <a:lnTo>
                    <a:pt x="1541462" y="0"/>
                  </a:lnTo>
                  <a:lnTo>
                    <a:pt x="1541462" y="2283222"/>
                  </a:lnTo>
                  <a:lnTo>
                    <a:pt x="0" y="2283222"/>
                  </a:lnTo>
                  <a:close/>
                </a:path>
              </a:pathLst>
            </a:custGeom>
            <a:solidFill>
              <a:srgbClr val="023D54">
                <a:alpha val="89804"/>
              </a:srgbClr>
            </a:solidFill>
            <a:ln cap="sq">
              <a:noFill/>
              <a:prstDash val="solid"/>
              <a:miter/>
            </a:ln>
          </p:spPr>
        </p:sp>
        <p:sp>
          <p:nvSpPr>
            <p:cNvPr name="TextBox 40" id="40"/>
            <p:cNvSpPr txBox="true"/>
            <p:nvPr/>
          </p:nvSpPr>
          <p:spPr>
            <a:xfrm>
              <a:off x="0" y="-38100"/>
              <a:ext cx="1541462" cy="2321322"/>
            </a:xfrm>
            <a:prstGeom prst="rect">
              <a:avLst/>
            </a:prstGeom>
          </p:spPr>
          <p:txBody>
            <a:bodyPr anchor="ctr" rtlCol="false" tIns="50800" lIns="50800" bIns="50800" rIns="50800"/>
            <a:lstStyle/>
            <a:p>
              <a:pPr algn="ctr">
                <a:lnSpc>
                  <a:spcPts val="2659"/>
                </a:lnSpc>
                <a:spcBef>
                  <a:spcPct val="0"/>
                </a:spcBef>
              </a:pPr>
            </a:p>
          </p:txBody>
        </p:sp>
      </p:grpSp>
      <p:grpSp>
        <p:nvGrpSpPr>
          <p:cNvPr name="Group 41" id="41"/>
          <p:cNvGrpSpPr/>
          <p:nvPr/>
        </p:nvGrpSpPr>
        <p:grpSpPr>
          <a:xfrm rot="7755540">
            <a:off x="-2885362" y="7558670"/>
            <a:ext cx="5852739" cy="8669109"/>
            <a:chOff x="0" y="0"/>
            <a:chExt cx="1541462" cy="2283222"/>
          </a:xfrm>
        </p:grpSpPr>
        <p:sp>
          <p:nvSpPr>
            <p:cNvPr name="Freeform 42" id="42"/>
            <p:cNvSpPr/>
            <p:nvPr/>
          </p:nvSpPr>
          <p:spPr>
            <a:xfrm flipH="false" flipV="false" rot="0">
              <a:off x="0" y="0"/>
              <a:ext cx="1541462" cy="2283222"/>
            </a:xfrm>
            <a:custGeom>
              <a:avLst/>
              <a:gdLst/>
              <a:ahLst/>
              <a:cxnLst/>
              <a:rect r="r" b="b" t="t" l="l"/>
              <a:pathLst>
                <a:path h="2283222" w="1541462">
                  <a:moveTo>
                    <a:pt x="0" y="0"/>
                  </a:moveTo>
                  <a:lnTo>
                    <a:pt x="1541462" y="0"/>
                  </a:lnTo>
                  <a:lnTo>
                    <a:pt x="1541462" y="2283222"/>
                  </a:lnTo>
                  <a:lnTo>
                    <a:pt x="0" y="2283222"/>
                  </a:lnTo>
                  <a:close/>
                </a:path>
              </a:pathLst>
            </a:custGeom>
            <a:solidFill>
              <a:srgbClr val="023D54">
                <a:alpha val="89804"/>
              </a:srgbClr>
            </a:solidFill>
            <a:ln cap="sq">
              <a:noFill/>
              <a:prstDash val="solid"/>
              <a:miter/>
            </a:ln>
          </p:spPr>
        </p:sp>
        <p:sp>
          <p:nvSpPr>
            <p:cNvPr name="TextBox 43" id="43"/>
            <p:cNvSpPr txBox="true"/>
            <p:nvPr/>
          </p:nvSpPr>
          <p:spPr>
            <a:xfrm>
              <a:off x="0" y="-38100"/>
              <a:ext cx="1541462" cy="2321322"/>
            </a:xfrm>
            <a:prstGeom prst="rect">
              <a:avLst/>
            </a:prstGeom>
          </p:spPr>
          <p:txBody>
            <a:bodyPr anchor="ctr" rtlCol="false" tIns="50800" lIns="50800" bIns="50800" rIns="50800"/>
            <a:lstStyle/>
            <a:p>
              <a:pPr algn="ctr">
                <a:lnSpc>
                  <a:spcPts val="2659"/>
                </a:lnSpc>
                <a:spcBef>
                  <a:spcPct val="0"/>
                </a:spcBef>
              </a:pPr>
            </a:p>
          </p:txBody>
        </p:sp>
      </p:grpSp>
      <p:sp>
        <p:nvSpPr>
          <p:cNvPr name="TextBox 44" id="44"/>
          <p:cNvSpPr txBox="true"/>
          <p:nvPr/>
        </p:nvSpPr>
        <p:spPr>
          <a:xfrm rot="0">
            <a:off x="5249110" y="2092381"/>
            <a:ext cx="7061787" cy="789305"/>
          </a:xfrm>
          <a:prstGeom prst="rect">
            <a:avLst/>
          </a:prstGeom>
        </p:spPr>
        <p:txBody>
          <a:bodyPr anchor="t" rtlCol="false" tIns="0" lIns="0" bIns="0" rIns="0">
            <a:spAutoFit/>
          </a:bodyPr>
          <a:lstStyle/>
          <a:p>
            <a:pPr algn="ctr">
              <a:lnSpc>
                <a:spcPts val="3219"/>
              </a:lnSpc>
              <a:spcBef>
                <a:spcPct val="0"/>
              </a:spcBef>
            </a:pPr>
            <a:r>
              <a:rPr lang="en-US" sz="2299">
                <a:solidFill>
                  <a:srgbClr val="000000"/>
                </a:solidFill>
                <a:latin typeface="Open Sans Bold"/>
                <a:ea typeface="Open Sans Bold"/>
                <a:cs typeface="Open Sans Bold"/>
                <a:sym typeface="Open Sans Bold"/>
              </a:rPr>
              <a:t>Um diagrama UML de sequencia e usado como cadastro em diferentes casos sendo eles</a:t>
            </a:r>
            <a:r>
              <a:rPr lang="en-US" sz="2299">
                <a:solidFill>
                  <a:srgbClr val="000000"/>
                </a:solidFill>
                <a:latin typeface="Open Sans Light"/>
                <a:ea typeface="Open Sans Light"/>
                <a:cs typeface="Open Sans Light"/>
                <a:sym typeface="Open Sans Light"/>
              </a:rPr>
              <a: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512378" y="684198"/>
            <a:ext cx="11197651" cy="482789"/>
          </a:xfrm>
          <a:custGeom>
            <a:avLst/>
            <a:gdLst/>
            <a:ahLst/>
            <a:cxnLst/>
            <a:rect r="r" b="b" t="t" l="l"/>
            <a:pathLst>
              <a:path h="482789" w="11197651">
                <a:moveTo>
                  <a:pt x="0" y="0"/>
                </a:moveTo>
                <a:lnTo>
                  <a:pt x="11197651" y="0"/>
                </a:lnTo>
                <a:lnTo>
                  <a:pt x="11197651" y="482789"/>
                </a:lnTo>
                <a:lnTo>
                  <a:pt x="0" y="482789"/>
                </a:lnTo>
                <a:lnTo>
                  <a:pt x="0" y="0"/>
                </a:lnTo>
                <a:close/>
              </a:path>
            </a:pathLst>
          </a:custGeom>
          <a:blipFill>
            <a:blip r:embed="rId2">
              <a:alphaModFix amt="50000"/>
            </a:blip>
            <a:stretch>
              <a:fillRect l="-2804" t="0" r="-2804" b="-383771"/>
            </a:stretch>
          </a:blipFill>
        </p:spPr>
      </p:sp>
      <p:grpSp>
        <p:nvGrpSpPr>
          <p:cNvPr name="Group 3" id="3"/>
          <p:cNvGrpSpPr/>
          <p:nvPr/>
        </p:nvGrpSpPr>
        <p:grpSpPr>
          <a:xfrm rot="0">
            <a:off x="3157088" y="547491"/>
            <a:ext cx="11132059" cy="1340737"/>
            <a:chOff x="0" y="0"/>
            <a:chExt cx="2931900" cy="353116"/>
          </a:xfrm>
        </p:grpSpPr>
        <p:sp>
          <p:nvSpPr>
            <p:cNvPr name="Freeform 4" id="4"/>
            <p:cNvSpPr/>
            <p:nvPr/>
          </p:nvSpPr>
          <p:spPr>
            <a:xfrm flipH="false" flipV="false" rot="0">
              <a:off x="0" y="0"/>
              <a:ext cx="2931900" cy="353116"/>
            </a:xfrm>
            <a:custGeom>
              <a:avLst/>
              <a:gdLst/>
              <a:ahLst/>
              <a:cxnLst/>
              <a:rect r="r" b="b" t="t" l="l"/>
              <a:pathLst>
                <a:path h="353116" w="2931900">
                  <a:moveTo>
                    <a:pt x="0" y="0"/>
                  </a:moveTo>
                  <a:lnTo>
                    <a:pt x="2931900" y="0"/>
                  </a:lnTo>
                  <a:lnTo>
                    <a:pt x="2931900" y="353116"/>
                  </a:lnTo>
                  <a:lnTo>
                    <a:pt x="0" y="353116"/>
                  </a:lnTo>
                  <a:close/>
                </a:path>
              </a:pathLst>
            </a:custGeom>
            <a:solidFill>
              <a:srgbClr val="023D54"/>
            </a:solidFill>
          </p:spPr>
        </p:sp>
        <p:sp>
          <p:nvSpPr>
            <p:cNvPr name="TextBox 5" id="5"/>
            <p:cNvSpPr txBox="true"/>
            <p:nvPr/>
          </p:nvSpPr>
          <p:spPr>
            <a:xfrm>
              <a:off x="0" y="-38100"/>
              <a:ext cx="2931900" cy="391216"/>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637308" y="836864"/>
            <a:ext cx="14171619" cy="723891"/>
          </a:xfrm>
          <a:prstGeom prst="rect">
            <a:avLst/>
          </a:prstGeom>
        </p:spPr>
        <p:txBody>
          <a:bodyPr anchor="t" rtlCol="false" tIns="0" lIns="0" bIns="0" rIns="0">
            <a:spAutoFit/>
          </a:bodyPr>
          <a:lstStyle/>
          <a:p>
            <a:pPr algn="ctr">
              <a:lnSpc>
                <a:spcPts val="5850"/>
              </a:lnSpc>
            </a:pPr>
            <a:r>
              <a:rPr lang="en-US" sz="4500">
                <a:solidFill>
                  <a:srgbClr val="FFFFFF"/>
                </a:solidFill>
                <a:latin typeface="Jannah Medium"/>
                <a:ea typeface="Jannah Medium"/>
                <a:cs typeface="Jannah Medium"/>
                <a:sym typeface="Jannah Medium"/>
              </a:rPr>
              <a:t>Diagrama de Sequência</a:t>
            </a:r>
          </a:p>
        </p:txBody>
      </p:sp>
      <p:grpSp>
        <p:nvGrpSpPr>
          <p:cNvPr name="Group 7" id="7"/>
          <p:cNvGrpSpPr/>
          <p:nvPr/>
        </p:nvGrpSpPr>
        <p:grpSpPr>
          <a:xfrm rot="-2700000">
            <a:off x="14933571" y="-4875932"/>
            <a:ext cx="5852739" cy="8669109"/>
            <a:chOff x="0" y="0"/>
            <a:chExt cx="1541462" cy="2283222"/>
          </a:xfrm>
        </p:grpSpPr>
        <p:sp>
          <p:nvSpPr>
            <p:cNvPr name="Freeform 8" id="8"/>
            <p:cNvSpPr/>
            <p:nvPr/>
          </p:nvSpPr>
          <p:spPr>
            <a:xfrm flipH="false" flipV="false" rot="0">
              <a:off x="0" y="0"/>
              <a:ext cx="1541462" cy="2283222"/>
            </a:xfrm>
            <a:custGeom>
              <a:avLst/>
              <a:gdLst/>
              <a:ahLst/>
              <a:cxnLst/>
              <a:rect r="r" b="b" t="t" l="l"/>
              <a:pathLst>
                <a:path h="2283222" w="1541462">
                  <a:moveTo>
                    <a:pt x="0" y="0"/>
                  </a:moveTo>
                  <a:lnTo>
                    <a:pt x="1541462" y="0"/>
                  </a:lnTo>
                  <a:lnTo>
                    <a:pt x="1541462" y="2283222"/>
                  </a:lnTo>
                  <a:lnTo>
                    <a:pt x="0" y="2283222"/>
                  </a:lnTo>
                  <a:close/>
                </a:path>
              </a:pathLst>
            </a:custGeom>
            <a:solidFill>
              <a:srgbClr val="023D54">
                <a:alpha val="40000"/>
              </a:srgbClr>
            </a:solidFill>
            <a:ln cap="sq">
              <a:noFill/>
              <a:prstDash val="solid"/>
              <a:miter/>
            </a:ln>
          </p:spPr>
        </p:sp>
        <p:sp>
          <p:nvSpPr>
            <p:cNvPr name="TextBox 9" id="9"/>
            <p:cNvSpPr txBox="true"/>
            <p:nvPr/>
          </p:nvSpPr>
          <p:spPr>
            <a:xfrm>
              <a:off x="0" y="-38100"/>
              <a:ext cx="1541462" cy="2321322"/>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7755540">
            <a:off x="-2967378" y="6742882"/>
            <a:ext cx="5852739" cy="8669109"/>
            <a:chOff x="0" y="0"/>
            <a:chExt cx="1541462" cy="2283222"/>
          </a:xfrm>
        </p:grpSpPr>
        <p:sp>
          <p:nvSpPr>
            <p:cNvPr name="Freeform 11" id="11"/>
            <p:cNvSpPr/>
            <p:nvPr/>
          </p:nvSpPr>
          <p:spPr>
            <a:xfrm flipH="false" flipV="false" rot="0">
              <a:off x="0" y="0"/>
              <a:ext cx="1541462" cy="2283222"/>
            </a:xfrm>
            <a:custGeom>
              <a:avLst/>
              <a:gdLst/>
              <a:ahLst/>
              <a:cxnLst/>
              <a:rect r="r" b="b" t="t" l="l"/>
              <a:pathLst>
                <a:path h="2283222" w="1541462">
                  <a:moveTo>
                    <a:pt x="0" y="0"/>
                  </a:moveTo>
                  <a:lnTo>
                    <a:pt x="1541462" y="0"/>
                  </a:lnTo>
                  <a:lnTo>
                    <a:pt x="1541462" y="2283222"/>
                  </a:lnTo>
                  <a:lnTo>
                    <a:pt x="0" y="2283222"/>
                  </a:lnTo>
                  <a:close/>
                </a:path>
              </a:pathLst>
            </a:custGeom>
            <a:solidFill>
              <a:srgbClr val="023D54">
                <a:alpha val="40000"/>
              </a:srgbClr>
            </a:solidFill>
            <a:ln cap="sq">
              <a:noFill/>
              <a:prstDash val="solid"/>
              <a:miter/>
            </a:ln>
          </p:spPr>
        </p:sp>
        <p:sp>
          <p:nvSpPr>
            <p:cNvPr name="TextBox 12" id="12"/>
            <p:cNvSpPr txBox="true"/>
            <p:nvPr/>
          </p:nvSpPr>
          <p:spPr>
            <a:xfrm>
              <a:off x="0" y="-38100"/>
              <a:ext cx="1541462" cy="2321322"/>
            </a:xfrm>
            <a:prstGeom prst="rect">
              <a:avLst/>
            </a:prstGeom>
          </p:spPr>
          <p:txBody>
            <a:bodyPr anchor="ctr" rtlCol="false" tIns="50800" lIns="50800" bIns="50800" rIns="50800"/>
            <a:lstStyle/>
            <a:p>
              <a:pPr algn="ctr">
                <a:lnSpc>
                  <a:spcPts val="2659"/>
                </a:lnSpc>
                <a:spcBef>
                  <a:spcPct val="0"/>
                </a:spcBef>
              </a:pPr>
            </a:p>
          </p:txBody>
        </p:sp>
      </p:grpSp>
      <p:grpSp>
        <p:nvGrpSpPr>
          <p:cNvPr name="Group 13" id="13"/>
          <p:cNvGrpSpPr/>
          <p:nvPr/>
        </p:nvGrpSpPr>
        <p:grpSpPr>
          <a:xfrm rot="-2700000">
            <a:off x="14933571" y="-5236688"/>
            <a:ext cx="5852739" cy="8669109"/>
            <a:chOff x="0" y="0"/>
            <a:chExt cx="1541462" cy="2283222"/>
          </a:xfrm>
        </p:grpSpPr>
        <p:sp>
          <p:nvSpPr>
            <p:cNvPr name="Freeform 14" id="14"/>
            <p:cNvSpPr/>
            <p:nvPr/>
          </p:nvSpPr>
          <p:spPr>
            <a:xfrm flipH="false" flipV="false" rot="0">
              <a:off x="0" y="0"/>
              <a:ext cx="1541462" cy="2283222"/>
            </a:xfrm>
            <a:custGeom>
              <a:avLst/>
              <a:gdLst/>
              <a:ahLst/>
              <a:cxnLst/>
              <a:rect r="r" b="b" t="t" l="l"/>
              <a:pathLst>
                <a:path h="2283222" w="1541462">
                  <a:moveTo>
                    <a:pt x="0" y="0"/>
                  </a:moveTo>
                  <a:lnTo>
                    <a:pt x="1541462" y="0"/>
                  </a:lnTo>
                  <a:lnTo>
                    <a:pt x="1541462" y="2283222"/>
                  </a:lnTo>
                  <a:lnTo>
                    <a:pt x="0" y="2283222"/>
                  </a:lnTo>
                  <a:close/>
                </a:path>
              </a:pathLst>
            </a:custGeom>
            <a:solidFill>
              <a:srgbClr val="023D54">
                <a:alpha val="40000"/>
              </a:srgbClr>
            </a:solidFill>
            <a:ln cap="sq">
              <a:noFill/>
              <a:prstDash val="solid"/>
              <a:miter/>
            </a:ln>
          </p:spPr>
        </p:sp>
        <p:sp>
          <p:nvSpPr>
            <p:cNvPr name="TextBox 15" id="15"/>
            <p:cNvSpPr txBox="true"/>
            <p:nvPr/>
          </p:nvSpPr>
          <p:spPr>
            <a:xfrm>
              <a:off x="0" y="-38100"/>
              <a:ext cx="1541462" cy="2321322"/>
            </a:xfrm>
            <a:prstGeom prst="rect">
              <a:avLst/>
            </a:prstGeom>
          </p:spPr>
          <p:txBody>
            <a:bodyPr anchor="ctr" rtlCol="false" tIns="50800" lIns="50800" bIns="50800" rIns="50800"/>
            <a:lstStyle/>
            <a:p>
              <a:pPr algn="ctr">
                <a:lnSpc>
                  <a:spcPts val="2659"/>
                </a:lnSpc>
                <a:spcBef>
                  <a:spcPct val="0"/>
                </a:spcBef>
              </a:pPr>
            </a:p>
          </p:txBody>
        </p:sp>
      </p:grpSp>
      <p:grpSp>
        <p:nvGrpSpPr>
          <p:cNvPr name="Group 16" id="16"/>
          <p:cNvGrpSpPr/>
          <p:nvPr/>
        </p:nvGrpSpPr>
        <p:grpSpPr>
          <a:xfrm rot="7755540">
            <a:off x="-2931291" y="7101829"/>
            <a:ext cx="5852739" cy="8669109"/>
            <a:chOff x="0" y="0"/>
            <a:chExt cx="1541462" cy="2283222"/>
          </a:xfrm>
        </p:grpSpPr>
        <p:sp>
          <p:nvSpPr>
            <p:cNvPr name="Freeform 17" id="17"/>
            <p:cNvSpPr/>
            <p:nvPr/>
          </p:nvSpPr>
          <p:spPr>
            <a:xfrm flipH="false" flipV="false" rot="0">
              <a:off x="0" y="0"/>
              <a:ext cx="1541462" cy="2283222"/>
            </a:xfrm>
            <a:custGeom>
              <a:avLst/>
              <a:gdLst/>
              <a:ahLst/>
              <a:cxnLst/>
              <a:rect r="r" b="b" t="t" l="l"/>
              <a:pathLst>
                <a:path h="2283222" w="1541462">
                  <a:moveTo>
                    <a:pt x="0" y="0"/>
                  </a:moveTo>
                  <a:lnTo>
                    <a:pt x="1541462" y="0"/>
                  </a:lnTo>
                  <a:lnTo>
                    <a:pt x="1541462" y="2283222"/>
                  </a:lnTo>
                  <a:lnTo>
                    <a:pt x="0" y="2283222"/>
                  </a:lnTo>
                  <a:close/>
                </a:path>
              </a:pathLst>
            </a:custGeom>
            <a:solidFill>
              <a:srgbClr val="023D54">
                <a:alpha val="40000"/>
              </a:srgbClr>
            </a:solidFill>
            <a:ln cap="sq">
              <a:noFill/>
              <a:prstDash val="solid"/>
              <a:miter/>
            </a:ln>
          </p:spPr>
        </p:sp>
        <p:sp>
          <p:nvSpPr>
            <p:cNvPr name="TextBox 18" id="18"/>
            <p:cNvSpPr txBox="true"/>
            <p:nvPr/>
          </p:nvSpPr>
          <p:spPr>
            <a:xfrm>
              <a:off x="0" y="-38100"/>
              <a:ext cx="1541462" cy="2321322"/>
            </a:xfrm>
            <a:prstGeom prst="rect">
              <a:avLst/>
            </a:prstGeom>
          </p:spPr>
          <p:txBody>
            <a:bodyPr anchor="ctr" rtlCol="false" tIns="50800" lIns="50800" bIns="50800" rIns="50800"/>
            <a:lstStyle/>
            <a:p>
              <a:pPr algn="ctr">
                <a:lnSpc>
                  <a:spcPts val="2659"/>
                </a:lnSpc>
                <a:spcBef>
                  <a:spcPct val="0"/>
                </a:spcBef>
              </a:pPr>
            </a:p>
          </p:txBody>
        </p:sp>
      </p:grpSp>
      <p:grpSp>
        <p:nvGrpSpPr>
          <p:cNvPr name="Group 19" id="19"/>
          <p:cNvGrpSpPr/>
          <p:nvPr/>
        </p:nvGrpSpPr>
        <p:grpSpPr>
          <a:xfrm rot="-2700000">
            <a:off x="14933571" y="-5695833"/>
            <a:ext cx="5852739" cy="8669109"/>
            <a:chOff x="0" y="0"/>
            <a:chExt cx="1541462" cy="2283222"/>
          </a:xfrm>
        </p:grpSpPr>
        <p:sp>
          <p:nvSpPr>
            <p:cNvPr name="Freeform 20" id="20"/>
            <p:cNvSpPr/>
            <p:nvPr/>
          </p:nvSpPr>
          <p:spPr>
            <a:xfrm flipH="false" flipV="false" rot="0">
              <a:off x="0" y="0"/>
              <a:ext cx="1541462" cy="2283222"/>
            </a:xfrm>
            <a:custGeom>
              <a:avLst/>
              <a:gdLst/>
              <a:ahLst/>
              <a:cxnLst/>
              <a:rect r="r" b="b" t="t" l="l"/>
              <a:pathLst>
                <a:path h="2283222" w="1541462">
                  <a:moveTo>
                    <a:pt x="0" y="0"/>
                  </a:moveTo>
                  <a:lnTo>
                    <a:pt x="1541462" y="0"/>
                  </a:lnTo>
                  <a:lnTo>
                    <a:pt x="1541462" y="2283222"/>
                  </a:lnTo>
                  <a:lnTo>
                    <a:pt x="0" y="2283222"/>
                  </a:lnTo>
                  <a:close/>
                </a:path>
              </a:pathLst>
            </a:custGeom>
            <a:solidFill>
              <a:srgbClr val="023D54">
                <a:alpha val="89804"/>
              </a:srgbClr>
            </a:solidFill>
            <a:ln cap="sq">
              <a:noFill/>
              <a:prstDash val="solid"/>
              <a:miter/>
            </a:ln>
          </p:spPr>
        </p:sp>
        <p:sp>
          <p:nvSpPr>
            <p:cNvPr name="TextBox 21" id="21"/>
            <p:cNvSpPr txBox="true"/>
            <p:nvPr/>
          </p:nvSpPr>
          <p:spPr>
            <a:xfrm>
              <a:off x="0" y="-38100"/>
              <a:ext cx="1541462" cy="2321322"/>
            </a:xfrm>
            <a:prstGeom prst="rect">
              <a:avLst/>
            </a:prstGeom>
          </p:spPr>
          <p:txBody>
            <a:bodyPr anchor="ctr" rtlCol="false" tIns="50800" lIns="50800" bIns="50800" rIns="50800"/>
            <a:lstStyle/>
            <a:p>
              <a:pPr algn="ctr">
                <a:lnSpc>
                  <a:spcPts val="2659"/>
                </a:lnSpc>
                <a:spcBef>
                  <a:spcPct val="0"/>
                </a:spcBef>
              </a:pPr>
            </a:p>
          </p:txBody>
        </p:sp>
      </p:grpSp>
      <p:grpSp>
        <p:nvGrpSpPr>
          <p:cNvPr name="Group 22" id="22"/>
          <p:cNvGrpSpPr/>
          <p:nvPr/>
        </p:nvGrpSpPr>
        <p:grpSpPr>
          <a:xfrm rot="7755540">
            <a:off x="-2885362" y="7558670"/>
            <a:ext cx="5852739" cy="8669109"/>
            <a:chOff x="0" y="0"/>
            <a:chExt cx="1541462" cy="2283222"/>
          </a:xfrm>
        </p:grpSpPr>
        <p:sp>
          <p:nvSpPr>
            <p:cNvPr name="Freeform 23" id="23"/>
            <p:cNvSpPr/>
            <p:nvPr/>
          </p:nvSpPr>
          <p:spPr>
            <a:xfrm flipH="false" flipV="false" rot="0">
              <a:off x="0" y="0"/>
              <a:ext cx="1541462" cy="2283222"/>
            </a:xfrm>
            <a:custGeom>
              <a:avLst/>
              <a:gdLst/>
              <a:ahLst/>
              <a:cxnLst/>
              <a:rect r="r" b="b" t="t" l="l"/>
              <a:pathLst>
                <a:path h="2283222" w="1541462">
                  <a:moveTo>
                    <a:pt x="0" y="0"/>
                  </a:moveTo>
                  <a:lnTo>
                    <a:pt x="1541462" y="0"/>
                  </a:lnTo>
                  <a:lnTo>
                    <a:pt x="1541462" y="2283222"/>
                  </a:lnTo>
                  <a:lnTo>
                    <a:pt x="0" y="2283222"/>
                  </a:lnTo>
                  <a:close/>
                </a:path>
              </a:pathLst>
            </a:custGeom>
            <a:solidFill>
              <a:srgbClr val="023D54">
                <a:alpha val="89804"/>
              </a:srgbClr>
            </a:solidFill>
            <a:ln cap="sq">
              <a:noFill/>
              <a:prstDash val="solid"/>
              <a:miter/>
            </a:ln>
          </p:spPr>
        </p:sp>
        <p:sp>
          <p:nvSpPr>
            <p:cNvPr name="TextBox 24" id="24"/>
            <p:cNvSpPr txBox="true"/>
            <p:nvPr/>
          </p:nvSpPr>
          <p:spPr>
            <a:xfrm>
              <a:off x="0" y="-38100"/>
              <a:ext cx="1541462" cy="2321322"/>
            </a:xfrm>
            <a:prstGeom prst="rect">
              <a:avLst/>
            </a:prstGeom>
          </p:spPr>
          <p:txBody>
            <a:bodyPr anchor="ctr" rtlCol="false" tIns="50800" lIns="50800" bIns="50800" rIns="50800"/>
            <a:lstStyle/>
            <a:p>
              <a:pPr algn="ctr">
                <a:lnSpc>
                  <a:spcPts val="2659"/>
                </a:lnSpc>
                <a:spcBef>
                  <a:spcPct val="0"/>
                </a:spcBef>
              </a:pPr>
            </a:p>
          </p:txBody>
        </p:sp>
      </p:grpSp>
      <p:sp>
        <p:nvSpPr>
          <p:cNvPr name="Freeform 25" id="25"/>
          <p:cNvSpPr/>
          <p:nvPr/>
        </p:nvSpPr>
        <p:spPr>
          <a:xfrm flipH="false" flipV="false" rot="0">
            <a:off x="4164384" y="2093649"/>
            <a:ext cx="9893640" cy="7486410"/>
          </a:xfrm>
          <a:custGeom>
            <a:avLst/>
            <a:gdLst/>
            <a:ahLst/>
            <a:cxnLst/>
            <a:rect r="r" b="b" t="t" l="l"/>
            <a:pathLst>
              <a:path h="7486410" w="9893640">
                <a:moveTo>
                  <a:pt x="0" y="0"/>
                </a:moveTo>
                <a:lnTo>
                  <a:pt x="9893640" y="0"/>
                </a:lnTo>
                <a:lnTo>
                  <a:pt x="9893640" y="7486411"/>
                </a:lnTo>
                <a:lnTo>
                  <a:pt x="0" y="7486411"/>
                </a:lnTo>
                <a:lnTo>
                  <a:pt x="0" y="0"/>
                </a:lnTo>
                <a:close/>
              </a:path>
            </a:pathLst>
          </a:custGeom>
          <a:blipFill>
            <a:blip r:embed="rId3"/>
            <a:stretch>
              <a:fillRect l="0" t="0" r="-1612"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22408" y="0"/>
            <a:ext cx="15829845" cy="10287000"/>
          </a:xfrm>
          <a:custGeom>
            <a:avLst/>
            <a:gdLst/>
            <a:ahLst/>
            <a:cxnLst/>
            <a:rect r="r" b="b" t="t" l="l"/>
            <a:pathLst>
              <a:path h="10287000" w="15829845">
                <a:moveTo>
                  <a:pt x="0" y="0"/>
                </a:moveTo>
                <a:lnTo>
                  <a:pt x="15829845" y="0"/>
                </a:lnTo>
                <a:lnTo>
                  <a:pt x="15829845" y="10287000"/>
                </a:lnTo>
                <a:lnTo>
                  <a:pt x="0" y="10287000"/>
                </a:lnTo>
                <a:lnTo>
                  <a:pt x="0" y="0"/>
                </a:lnTo>
                <a:close/>
              </a:path>
            </a:pathLst>
          </a:custGeom>
          <a:blipFill>
            <a:blip r:embed="rId2"/>
            <a:stretch>
              <a:fillRect l="0" t="-15658" r="-28083" b="-15658"/>
            </a:stretch>
          </a:blipFill>
        </p:spPr>
      </p:sp>
      <p:grpSp>
        <p:nvGrpSpPr>
          <p:cNvPr name="Group 3" id="3"/>
          <p:cNvGrpSpPr/>
          <p:nvPr/>
        </p:nvGrpSpPr>
        <p:grpSpPr>
          <a:xfrm rot="-2700000">
            <a:off x="-7231006" y="-4612269"/>
            <a:ext cx="6664400" cy="8669109"/>
            <a:chOff x="0" y="0"/>
            <a:chExt cx="1755233" cy="2283222"/>
          </a:xfrm>
        </p:grpSpPr>
        <p:sp>
          <p:nvSpPr>
            <p:cNvPr name="Freeform 4" id="4"/>
            <p:cNvSpPr/>
            <p:nvPr/>
          </p:nvSpPr>
          <p:spPr>
            <a:xfrm flipH="false" flipV="false" rot="0">
              <a:off x="0" y="0"/>
              <a:ext cx="1755233" cy="2283222"/>
            </a:xfrm>
            <a:custGeom>
              <a:avLst/>
              <a:gdLst/>
              <a:ahLst/>
              <a:cxnLst/>
              <a:rect r="r" b="b" t="t" l="l"/>
              <a:pathLst>
                <a:path h="2283222" w="1755233">
                  <a:moveTo>
                    <a:pt x="0" y="0"/>
                  </a:moveTo>
                  <a:lnTo>
                    <a:pt x="1755233" y="0"/>
                  </a:lnTo>
                  <a:lnTo>
                    <a:pt x="1755233" y="2283222"/>
                  </a:lnTo>
                  <a:lnTo>
                    <a:pt x="0" y="2283222"/>
                  </a:lnTo>
                  <a:close/>
                </a:path>
              </a:pathLst>
            </a:custGeom>
            <a:solidFill>
              <a:srgbClr val="000000">
                <a:alpha val="0"/>
              </a:srgbClr>
            </a:solidFill>
            <a:ln w="38100" cap="sq">
              <a:solidFill>
                <a:srgbClr val="023D54">
                  <a:alpha val="89804"/>
                </a:srgbClr>
              </a:solidFill>
              <a:prstDash val="solid"/>
              <a:miter/>
            </a:ln>
          </p:spPr>
        </p:sp>
        <p:sp>
          <p:nvSpPr>
            <p:cNvPr name="TextBox 5" id="5"/>
            <p:cNvSpPr txBox="true"/>
            <p:nvPr/>
          </p:nvSpPr>
          <p:spPr>
            <a:xfrm>
              <a:off x="0" y="-28575"/>
              <a:ext cx="1755233" cy="2311797"/>
            </a:xfrm>
            <a:prstGeom prst="rect">
              <a:avLst/>
            </a:prstGeom>
          </p:spPr>
          <p:txBody>
            <a:bodyPr anchor="ctr" rtlCol="false" tIns="50800" lIns="50800" bIns="50800" rIns="50800"/>
            <a:lstStyle/>
            <a:p>
              <a:pPr algn="ctr">
                <a:lnSpc>
                  <a:spcPts val="2520"/>
                </a:lnSpc>
                <a:spcBef>
                  <a:spcPct val="0"/>
                </a:spcBef>
              </a:pPr>
            </a:p>
          </p:txBody>
        </p:sp>
      </p:grpSp>
      <p:grpSp>
        <p:nvGrpSpPr>
          <p:cNvPr name="Group 6" id="6"/>
          <p:cNvGrpSpPr/>
          <p:nvPr/>
        </p:nvGrpSpPr>
        <p:grpSpPr>
          <a:xfrm rot="0">
            <a:off x="1028700" y="2064748"/>
            <a:ext cx="16478947" cy="8222252"/>
            <a:chOff x="0" y="0"/>
            <a:chExt cx="4340134" cy="2165531"/>
          </a:xfrm>
        </p:grpSpPr>
        <p:sp>
          <p:nvSpPr>
            <p:cNvPr name="Freeform 7" id="7"/>
            <p:cNvSpPr/>
            <p:nvPr/>
          </p:nvSpPr>
          <p:spPr>
            <a:xfrm flipH="false" flipV="false" rot="0">
              <a:off x="0" y="0"/>
              <a:ext cx="4340134" cy="2165531"/>
            </a:xfrm>
            <a:custGeom>
              <a:avLst/>
              <a:gdLst/>
              <a:ahLst/>
              <a:cxnLst/>
              <a:rect r="r" b="b" t="t" l="l"/>
              <a:pathLst>
                <a:path h="2165531" w="4340134">
                  <a:moveTo>
                    <a:pt x="0" y="0"/>
                  </a:moveTo>
                  <a:lnTo>
                    <a:pt x="4340134" y="0"/>
                  </a:lnTo>
                  <a:lnTo>
                    <a:pt x="4340134" y="2165531"/>
                  </a:lnTo>
                  <a:lnTo>
                    <a:pt x="0" y="2165531"/>
                  </a:lnTo>
                  <a:close/>
                </a:path>
              </a:pathLst>
            </a:custGeom>
            <a:solidFill>
              <a:srgbClr val="FFFFFF"/>
            </a:solidFill>
          </p:spPr>
        </p:sp>
        <p:sp>
          <p:nvSpPr>
            <p:cNvPr name="TextBox 8" id="8"/>
            <p:cNvSpPr txBox="true"/>
            <p:nvPr/>
          </p:nvSpPr>
          <p:spPr>
            <a:xfrm>
              <a:off x="0" y="-38100"/>
              <a:ext cx="4340134" cy="220363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2700000">
            <a:off x="6105131" y="10221012"/>
            <a:ext cx="6664400" cy="8669109"/>
            <a:chOff x="0" y="0"/>
            <a:chExt cx="1755233" cy="2283222"/>
          </a:xfrm>
        </p:grpSpPr>
        <p:sp>
          <p:nvSpPr>
            <p:cNvPr name="Freeform 10" id="10"/>
            <p:cNvSpPr/>
            <p:nvPr/>
          </p:nvSpPr>
          <p:spPr>
            <a:xfrm flipH="false" flipV="false" rot="0">
              <a:off x="0" y="0"/>
              <a:ext cx="1755233" cy="2283222"/>
            </a:xfrm>
            <a:custGeom>
              <a:avLst/>
              <a:gdLst/>
              <a:ahLst/>
              <a:cxnLst/>
              <a:rect r="r" b="b" t="t" l="l"/>
              <a:pathLst>
                <a:path h="2283222" w="1755233">
                  <a:moveTo>
                    <a:pt x="0" y="0"/>
                  </a:moveTo>
                  <a:lnTo>
                    <a:pt x="1755233" y="0"/>
                  </a:lnTo>
                  <a:lnTo>
                    <a:pt x="1755233" y="2283222"/>
                  </a:lnTo>
                  <a:lnTo>
                    <a:pt x="0" y="2283222"/>
                  </a:lnTo>
                  <a:close/>
                </a:path>
              </a:pathLst>
            </a:custGeom>
            <a:solidFill>
              <a:srgbClr val="000000">
                <a:alpha val="0"/>
              </a:srgbClr>
            </a:solidFill>
            <a:ln w="38100" cap="sq">
              <a:solidFill>
                <a:srgbClr val="023D54">
                  <a:alpha val="89804"/>
                </a:srgbClr>
              </a:solidFill>
              <a:prstDash val="solid"/>
              <a:miter/>
            </a:ln>
          </p:spPr>
        </p:sp>
        <p:sp>
          <p:nvSpPr>
            <p:cNvPr name="TextBox 11" id="11"/>
            <p:cNvSpPr txBox="true"/>
            <p:nvPr/>
          </p:nvSpPr>
          <p:spPr>
            <a:xfrm>
              <a:off x="0" y="-28575"/>
              <a:ext cx="1755233" cy="2311797"/>
            </a:xfrm>
            <a:prstGeom prst="rect">
              <a:avLst/>
            </a:prstGeom>
          </p:spPr>
          <p:txBody>
            <a:bodyPr anchor="ctr" rtlCol="false" tIns="50800" lIns="50800" bIns="50800" rIns="50800"/>
            <a:lstStyle/>
            <a:p>
              <a:pPr algn="ctr">
                <a:lnSpc>
                  <a:spcPts val="2520"/>
                </a:lnSpc>
                <a:spcBef>
                  <a:spcPct val="0"/>
                </a:spcBef>
              </a:pPr>
            </a:p>
          </p:txBody>
        </p:sp>
      </p:grpSp>
      <p:sp>
        <p:nvSpPr>
          <p:cNvPr name="TextBox 12" id="12"/>
          <p:cNvSpPr txBox="true"/>
          <p:nvPr/>
        </p:nvSpPr>
        <p:spPr>
          <a:xfrm rot="0">
            <a:off x="10784117" y="638812"/>
            <a:ext cx="8663523" cy="920316"/>
          </a:xfrm>
          <a:prstGeom prst="rect">
            <a:avLst/>
          </a:prstGeom>
        </p:spPr>
        <p:txBody>
          <a:bodyPr anchor="t" rtlCol="false" tIns="0" lIns="0" bIns="0" rIns="0">
            <a:spAutoFit/>
          </a:bodyPr>
          <a:lstStyle/>
          <a:p>
            <a:pPr algn="just">
              <a:lnSpc>
                <a:spcPts val="7548"/>
              </a:lnSpc>
            </a:pPr>
            <a:r>
              <a:rPr lang="en-US" sz="5392">
                <a:solidFill>
                  <a:srgbClr val="000000"/>
                </a:solidFill>
                <a:latin typeface="Jannah Medium"/>
                <a:ea typeface="Jannah Medium"/>
                <a:cs typeface="Jannah Medium"/>
                <a:sym typeface="Jannah Medium"/>
              </a:rPr>
              <a:t>Desvantagens</a:t>
            </a:r>
          </a:p>
        </p:txBody>
      </p:sp>
      <p:sp>
        <p:nvSpPr>
          <p:cNvPr name="TextBox 13" id="13"/>
          <p:cNvSpPr txBox="true"/>
          <p:nvPr/>
        </p:nvSpPr>
        <p:spPr>
          <a:xfrm rot="0">
            <a:off x="2906402" y="638812"/>
            <a:ext cx="3524548" cy="920316"/>
          </a:xfrm>
          <a:prstGeom prst="rect">
            <a:avLst/>
          </a:prstGeom>
        </p:spPr>
        <p:txBody>
          <a:bodyPr anchor="t" rtlCol="false" tIns="0" lIns="0" bIns="0" rIns="0">
            <a:spAutoFit/>
          </a:bodyPr>
          <a:lstStyle/>
          <a:p>
            <a:pPr algn="just" marL="0" indent="0" lvl="0">
              <a:lnSpc>
                <a:spcPts val="7548"/>
              </a:lnSpc>
              <a:spcBef>
                <a:spcPct val="0"/>
              </a:spcBef>
            </a:pPr>
            <a:r>
              <a:rPr lang="en-US" sz="5392" strike="noStrike" u="none">
                <a:solidFill>
                  <a:srgbClr val="000000"/>
                </a:solidFill>
                <a:latin typeface="Jannah Medium"/>
                <a:ea typeface="Jannah Medium"/>
                <a:cs typeface="Jannah Medium"/>
                <a:sym typeface="Jannah Medium"/>
              </a:rPr>
              <a:t>Vantagens</a:t>
            </a:r>
          </a:p>
        </p:txBody>
      </p:sp>
      <p:sp>
        <p:nvSpPr>
          <p:cNvPr name="TextBox 14" id="14"/>
          <p:cNvSpPr txBox="true"/>
          <p:nvPr/>
        </p:nvSpPr>
        <p:spPr>
          <a:xfrm rot="0">
            <a:off x="1522408" y="2627641"/>
            <a:ext cx="6292536" cy="5934237"/>
          </a:xfrm>
          <a:prstGeom prst="rect">
            <a:avLst/>
          </a:prstGeom>
        </p:spPr>
        <p:txBody>
          <a:bodyPr anchor="t" rtlCol="false" tIns="0" lIns="0" bIns="0" rIns="0">
            <a:spAutoFit/>
          </a:bodyPr>
          <a:lstStyle/>
          <a:p>
            <a:pPr algn="ctr">
              <a:lnSpc>
                <a:spcPts val="3666"/>
              </a:lnSpc>
            </a:pPr>
            <a:r>
              <a:rPr lang="en-US" sz="2618">
                <a:solidFill>
                  <a:srgbClr val="000000"/>
                </a:solidFill>
                <a:latin typeface="Open Sans Bold"/>
                <a:ea typeface="Open Sans Bold"/>
                <a:cs typeface="Open Sans Bold"/>
                <a:sym typeface="Open Sans Bold"/>
              </a:rPr>
              <a:t>Diagramas de sequência podem ser referências úteis para empresas e outras organizações. O diagrama de sequência é usado nas seguintes situações: </a:t>
            </a:r>
          </a:p>
          <a:p>
            <a:pPr algn="ctr">
              <a:lnSpc>
                <a:spcPts val="3666"/>
              </a:lnSpc>
            </a:pPr>
            <a:r>
              <a:rPr lang="en-US" sz="2618">
                <a:solidFill>
                  <a:srgbClr val="000000"/>
                </a:solidFill>
                <a:latin typeface="Open Sans Bold"/>
                <a:ea typeface="Open Sans Bold"/>
                <a:cs typeface="Open Sans Bold"/>
                <a:sym typeface="Open Sans Bold"/>
              </a:rPr>
              <a:t>1.Modelar a lógica de um processo, função ou operação sofisticado. </a:t>
            </a:r>
          </a:p>
          <a:p>
            <a:pPr algn="ctr">
              <a:lnSpc>
                <a:spcPts val="3666"/>
              </a:lnSpc>
            </a:pPr>
            <a:r>
              <a:rPr lang="en-US" sz="2618">
                <a:solidFill>
                  <a:srgbClr val="000000"/>
                </a:solidFill>
                <a:latin typeface="Open Sans Bold"/>
                <a:ea typeface="Open Sans Bold"/>
                <a:cs typeface="Open Sans Bold"/>
                <a:sym typeface="Open Sans Bold"/>
              </a:rPr>
              <a:t>2.Ver como objetos e componentes interagem uns com os outros para concluir um processo. </a:t>
            </a:r>
          </a:p>
          <a:p>
            <a:pPr algn="ctr">
              <a:lnSpc>
                <a:spcPts val="3666"/>
              </a:lnSpc>
              <a:spcBef>
                <a:spcPct val="0"/>
              </a:spcBef>
            </a:pPr>
            <a:r>
              <a:rPr lang="en-US" sz="2618">
                <a:solidFill>
                  <a:srgbClr val="000000"/>
                </a:solidFill>
                <a:latin typeface="Open Sans Bold"/>
                <a:ea typeface="Open Sans Bold"/>
                <a:cs typeface="Open Sans Bold"/>
                <a:sym typeface="Open Sans Bold"/>
              </a:rPr>
              <a:t>3.Planejar e compreender a funcionalidade detalhada de um cenário existente ou futuro.</a:t>
            </a:r>
          </a:p>
        </p:txBody>
      </p:sp>
      <p:sp>
        <p:nvSpPr>
          <p:cNvPr name="TextBox 15" id="15"/>
          <p:cNvSpPr txBox="true"/>
          <p:nvPr/>
        </p:nvSpPr>
        <p:spPr>
          <a:xfrm rot="0">
            <a:off x="10189509" y="2646691"/>
            <a:ext cx="6563077" cy="6983757"/>
          </a:xfrm>
          <a:prstGeom prst="rect">
            <a:avLst/>
          </a:prstGeom>
        </p:spPr>
        <p:txBody>
          <a:bodyPr anchor="t" rtlCol="false" tIns="0" lIns="0" bIns="0" rIns="0">
            <a:spAutoFit/>
          </a:bodyPr>
          <a:lstStyle/>
          <a:p>
            <a:pPr algn="ctr" marL="0" indent="0" lvl="0">
              <a:lnSpc>
                <a:spcPts val="3284"/>
              </a:lnSpc>
              <a:spcBef>
                <a:spcPct val="0"/>
              </a:spcBef>
            </a:pPr>
            <a:r>
              <a:rPr lang="en-US" sz="2346" strike="noStrike" u="none">
                <a:solidFill>
                  <a:srgbClr val="000000"/>
                </a:solidFill>
                <a:latin typeface="Open Sans Bold"/>
                <a:ea typeface="Open Sans Bold"/>
                <a:cs typeface="Open Sans Bold"/>
                <a:sym typeface="Open Sans Bold"/>
              </a:rPr>
              <a:t>1.Notação formal não é necessária O argumento mais forte contra UML é que você não precisa realmente de um diagrama UML para comunicar seus desenhos. Você pode ter o mesmo impacto e efeito com diagramas informais, de caixa e linha criados em PowerPoint, Visio, ou um quadro branco. Como a codificação é uma linguagem formal por si só, muitos desenvolvedores não preferem a complexidade e a formalidade a nível arquitetônico, o que desestimula o uso da UML e se tornou uma de suas desvantagens. </a:t>
            </a:r>
          </a:p>
          <a:p>
            <a:pPr algn="ctr" marL="0" indent="0" lvl="0">
              <a:lnSpc>
                <a:spcPts val="3284"/>
              </a:lnSpc>
              <a:spcBef>
                <a:spcPct val="0"/>
              </a:spcBef>
            </a:pPr>
            <a:r>
              <a:rPr lang="en-US" sz="2346" strike="noStrike" u="none">
                <a:solidFill>
                  <a:srgbClr val="000000"/>
                </a:solidFill>
                <a:latin typeface="Open Sans Bold"/>
                <a:ea typeface="Open Sans Bold"/>
                <a:cs typeface="Open Sans Bold"/>
                <a:sym typeface="Open Sans Bold"/>
              </a:rPr>
              <a:t>2.Grau Ascendente de Complexidade Desde o seu início até agora, a UML tem crescido em complexidade e tamanho.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2700000">
            <a:off x="16835740" y="7742948"/>
            <a:ext cx="5852739" cy="8669109"/>
            <a:chOff x="0" y="0"/>
            <a:chExt cx="1541462" cy="2283222"/>
          </a:xfrm>
        </p:grpSpPr>
        <p:sp>
          <p:nvSpPr>
            <p:cNvPr name="Freeform 3" id="3"/>
            <p:cNvSpPr/>
            <p:nvPr/>
          </p:nvSpPr>
          <p:spPr>
            <a:xfrm flipH="false" flipV="false" rot="0">
              <a:off x="0" y="0"/>
              <a:ext cx="1541462" cy="2283222"/>
            </a:xfrm>
            <a:custGeom>
              <a:avLst/>
              <a:gdLst/>
              <a:ahLst/>
              <a:cxnLst/>
              <a:rect r="r" b="b" t="t" l="l"/>
              <a:pathLst>
                <a:path h="2283222" w="1541462">
                  <a:moveTo>
                    <a:pt x="0" y="0"/>
                  </a:moveTo>
                  <a:lnTo>
                    <a:pt x="1541462" y="0"/>
                  </a:lnTo>
                  <a:lnTo>
                    <a:pt x="1541462" y="2283222"/>
                  </a:lnTo>
                  <a:lnTo>
                    <a:pt x="0" y="2283222"/>
                  </a:lnTo>
                  <a:close/>
                </a:path>
              </a:pathLst>
            </a:custGeom>
            <a:solidFill>
              <a:srgbClr val="023D54">
                <a:alpha val="40000"/>
              </a:srgbClr>
            </a:solidFill>
            <a:ln cap="sq">
              <a:noFill/>
              <a:prstDash val="solid"/>
              <a:miter/>
            </a:ln>
          </p:spPr>
        </p:sp>
        <p:sp>
          <p:nvSpPr>
            <p:cNvPr name="TextBox 4" id="4"/>
            <p:cNvSpPr txBox="true"/>
            <p:nvPr/>
          </p:nvSpPr>
          <p:spPr>
            <a:xfrm>
              <a:off x="0" y="-38100"/>
              <a:ext cx="1541462" cy="2321322"/>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2700000">
            <a:off x="17076245" y="7742948"/>
            <a:ext cx="5852739" cy="8669109"/>
            <a:chOff x="0" y="0"/>
            <a:chExt cx="1541462" cy="2283222"/>
          </a:xfrm>
        </p:grpSpPr>
        <p:sp>
          <p:nvSpPr>
            <p:cNvPr name="Freeform 6" id="6"/>
            <p:cNvSpPr/>
            <p:nvPr/>
          </p:nvSpPr>
          <p:spPr>
            <a:xfrm flipH="false" flipV="false" rot="0">
              <a:off x="0" y="0"/>
              <a:ext cx="1541462" cy="2283222"/>
            </a:xfrm>
            <a:custGeom>
              <a:avLst/>
              <a:gdLst/>
              <a:ahLst/>
              <a:cxnLst/>
              <a:rect r="r" b="b" t="t" l="l"/>
              <a:pathLst>
                <a:path h="2283222" w="1541462">
                  <a:moveTo>
                    <a:pt x="0" y="0"/>
                  </a:moveTo>
                  <a:lnTo>
                    <a:pt x="1541462" y="0"/>
                  </a:lnTo>
                  <a:lnTo>
                    <a:pt x="1541462" y="2283222"/>
                  </a:lnTo>
                  <a:lnTo>
                    <a:pt x="0" y="2283222"/>
                  </a:lnTo>
                  <a:close/>
                </a:path>
              </a:pathLst>
            </a:custGeom>
            <a:solidFill>
              <a:srgbClr val="023D54">
                <a:alpha val="40000"/>
              </a:srgbClr>
            </a:solidFill>
            <a:ln cap="sq">
              <a:noFill/>
              <a:prstDash val="solid"/>
              <a:miter/>
            </a:ln>
          </p:spPr>
        </p:sp>
        <p:sp>
          <p:nvSpPr>
            <p:cNvPr name="TextBox 7" id="7"/>
            <p:cNvSpPr txBox="true"/>
            <p:nvPr/>
          </p:nvSpPr>
          <p:spPr>
            <a:xfrm>
              <a:off x="0" y="-38100"/>
              <a:ext cx="1541462" cy="2321322"/>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7731218" y="939216"/>
            <a:ext cx="6460152" cy="920316"/>
          </a:xfrm>
          <a:prstGeom prst="rect">
            <a:avLst/>
          </a:prstGeom>
        </p:spPr>
        <p:txBody>
          <a:bodyPr anchor="t" rtlCol="false" tIns="0" lIns="0" bIns="0" rIns="0">
            <a:spAutoFit/>
          </a:bodyPr>
          <a:lstStyle/>
          <a:p>
            <a:pPr algn="just">
              <a:lnSpc>
                <a:spcPts val="7548"/>
              </a:lnSpc>
            </a:pPr>
            <a:r>
              <a:rPr lang="en-US" sz="5392" u="sng">
                <a:solidFill>
                  <a:srgbClr val="023D54"/>
                </a:solidFill>
                <a:latin typeface="Jannah Medium"/>
                <a:ea typeface="Jannah Medium"/>
                <a:cs typeface="Jannah Medium"/>
                <a:sym typeface="Jannah Medium"/>
              </a:rPr>
              <a:t>Diagrama de Objeto</a:t>
            </a:r>
          </a:p>
        </p:txBody>
      </p:sp>
      <p:sp>
        <p:nvSpPr>
          <p:cNvPr name="AutoShape 9" id="9"/>
          <p:cNvSpPr/>
          <p:nvPr/>
        </p:nvSpPr>
        <p:spPr>
          <a:xfrm rot="0">
            <a:off x="-5954360" y="3048012"/>
            <a:ext cx="13227813" cy="0"/>
          </a:xfrm>
          <a:prstGeom prst="line">
            <a:avLst/>
          </a:prstGeom>
          <a:ln cap="flat" w="38100">
            <a:solidFill>
              <a:srgbClr val="EEEEEE"/>
            </a:solidFill>
            <a:prstDash val="solid"/>
            <a:headEnd type="none" len="sm" w="sm"/>
            <a:tailEnd type="none" len="sm" w="sm"/>
          </a:ln>
        </p:spPr>
      </p:sp>
      <p:sp>
        <p:nvSpPr>
          <p:cNvPr name="Freeform 10" id="10"/>
          <p:cNvSpPr/>
          <p:nvPr/>
        </p:nvSpPr>
        <p:spPr>
          <a:xfrm flipH="false" flipV="false" rot="0">
            <a:off x="-1273518" y="8298180"/>
            <a:ext cx="7315200" cy="3977640"/>
          </a:xfrm>
          <a:custGeom>
            <a:avLst/>
            <a:gdLst/>
            <a:ahLst/>
            <a:cxnLst/>
            <a:rect r="r" b="b" t="t" l="l"/>
            <a:pathLst>
              <a:path h="3977640" w="7315200">
                <a:moveTo>
                  <a:pt x="0" y="0"/>
                </a:moveTo>
                <a:lnTo>
                  <a:pt x="7315200" y="0"/>
                </a:lnTo>
                <a:lnTo>
                  <a:pt x="7315200" y="3977640"/>
                </a:lnTo>
                <a:lnTo>
                  <a:pt x="0" y="39776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5781396" y="2025942"/>
            <a:ext cx="10285984" cy="6702070"/>
            <a:chOff x="0" y="0"/>
            <a:chExt cx="2709066" cy="1765154"/>
          </a:xfrm>
        </p:grpSpPr>
        <p:sp>
          <p:nvSpPr>
            <p:cNvPr name="Freeform 12" id="12"/>
            <p:cNvSpPr/>
            <p:nvPr/>
          </p:nvSpPr>
          <p:spPr>
            <a:xfrm flipH="false" flipV="false" rot="0">
              <a:off x="0" y="0"/>
              <a:ext cx="2709066" cy="1765154"/>
            </a:xfrm>
            <a:custGeom>
              <a:avLst/>
              <a:gdLst/>
              <a:ahLst/>
              <a:cxnLst/>
              <a:rect r="r" b="b" t="t" l="l"/>
              <a:pathLst>
                <a:path h="1765154" w="2709066">
                  <a:moveTo>
                    <a:pt x="0" y="0"/>
                  </a:moveTo>
                  <a:lnTo>
                    <a:pt x="2709066" y="0"/>
                  </a:lnTo>
                  <a:lnTo>
                    <a:pt x="2709066" y="1765154"/>
                  </a:lnTo>
                  <a:lnTo>
                    <a:pt x="0" y="1765154"/>
                  </a:lnTo>
                  <a:close/>
                </a:path>
              </a:pathLst>
            </a:custGeom>
            <a:solidFill>
              <a:srgbClr val="EEEEEE"/>
            </a:solidFill>
          </p:spPr>
        </p:sp>
        <p:sp>
          <p:nvSpPr>
            <p:cNvPr name="TextBox 13" id="13"/>
            <p:cNvSpPr txBox="true"/>
            <p:nvPr/>
          </p:nvSpPr>
          <p:spPr>
            <a:xfrm>
              <a:off x="0" y="-38100"/>
              <a:ext cx="2709066" cy="1803254"/>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6041682" y="2199409"/>
            <a:ext cx="9839224" cy="6233627"/>
          </a:xfrm>
          <a:prstGeom prst="rect">
            <a:avLst/>
          </a:prstGeom>
        </p:spPr>
        <p:txBody>
          <a:bodyPr anchor="t" rtlCol="false" tIns="0" lIns="0" bIns="0" rIns="0">
            <a:spAutoFit/>
          </a:bodyPr>
          <a:lstStyle/>
          <a:p>
            <a:pPr algn="ctr" marL="0" indent="0" lvl="0">
              <a:lnSpc>
                <a:spcPts val="3284"/>
              </a:lnSpc>
              <a:spcBef>
                <a:spcPct val="0"/>
              </a:spcBef>
            </a:pPr>
            <a:r>
              <a:rPr lang="en-US" sz="2346" strike="noStrike" u="none">
                <a:solidFill>
                  <a:srgbClr val="000000"/>
                </a:solidFill>
                <a:latin typeface="Open Sans Bold"/>
                <a:ea typeface="Open Sans Bold"/>
                <a:cs typeface="Open Sans Bold"/>
                <a:sym typeface="Open Sans Bold"/>
              </a:rPr>
              <a:t>Na UML, os diagramas de objetos fornecem uma captura instantânea das instâncias em um sistema e os relacionamentos entre as instâncias. Inicializando os elementos de modelos em um diagrama de classe, você pode explorar o comportamento de um sistema em um determinado momento. Um diagrama de objetos é um diagrama estrutural de UML que mostra as instâncias dos classificadores nos modelos. Os diagramas de objetos usam notação semelhante à usada nos diagramas de classe. No entanto, enquanto os diagramas de classe mostram os classificadores reais e seus relacionamentos em um sistema, os diagramas de objetos mostram instâncias específicas desses classificadores e os links entre essas instâncias em um determinado momento. Você pode criar diagramas de objetos instanciando os classificadores nos diagramas de classe, implementação, componente e caso de uso.</a:t>
            </a:r>
          </a:p>
        </p:txBody>
      </p:sp>
      <p:grpSp>
        <p:nvGrpSpPr>
          <p:cNvPr name="Group 15" id="15"/>
          <p:cNvGrpSpPr/>
          <p:nvPr/>
        </p:nvGrpSpPr>
        <p:grpSpPr>
          <a:xfrm rot="-2700000">
            <a:off x="815496" y="-7896237"/>
            <a:ext cx="6664400" cy="8669109"/>
            <a:chOff x="0" y="0"/>
            <a:chExt cx="1755233" cy="2283222"/>
          </a:xfrm>
        </p:grpSpPr>
        <p:sp>
          <p:nvSpPr>
            <p:cNvPr name="Freeform 16" id="16"/>
            <p:cNvSpPr/>
            <p:nvPr/>
          </p:nvSpPr>
          <p:spPr>
            <a:xfrm flipH="false" flipV="false" rot="0">
              <a:off x="0" y="0"/>
              <a:ext cx="1755233" cy="2283222"/>
            </a:xfrm>
            <a:custGeom>
              <a:avLst/>
              <a:gdLst/>
              <a:ahLst/>
              <a:cxnLst/>
              <a:rect r="r" b="b" t="t" l="l"/>
              <a:pathLst>
                <a:path h="2283222" w="1755233">
                  <a:moveTo>
                    <a:pt x="0" y="0"/>
                  </a:moveTo>
                  <a:lnTo>
                    <a:pt x="1755233" y="0"/>
                  </a:lnTo>
                  <a:lnTo>
                    <a:pt x="1755233" y="2283222"/>
                  </a:lnTo>
                  <a:lnTo>
                    <a:pt x="0" y="2283222"/>
                  </a:lnTo>
                  <a:close/>
                </a:path>
              </a:pathLst>
            </a:custGeom>
            <a:solidFill>
              <a:srgbClr val="023D54">
                <a:alpha val="89804"/>
              </a:srgbClr>
            </a:solidFill>
            <a:ln cap="sq">
              <a:noFill/>
              <a:prstDash val="solid"/>
              <a:miter/>
            </a:ln>
          </p:spPr>
        </p:sp>
        <p:sp>
          <p:nvSpPr>
            <p:cNvPr name="TextBox 17" id="17"/>
            <p:cNvSpPr txBox="true"/>
            <p:nvPr/>
          </p:nvSpPr>
          <p:spPr>
            <a:xfrm>
              <a:off x="0" y="-28575"/>
              <a:ext cx="1755233" cy="2311797"/>
            </a:xfrm>
            <a:prstGeom prst="rect">
              <a:avLst/>
            </a:prstGeom>
          </p:spPr>
          <p:txBody>
            <a:bodyPr anchor="ctr" rtlCol="false" tIns="50800" lIns="50800" bIns="50800" rIns="50800"/>
            <a:lstStyle/>
            <a:p>
              <a:pPr algn="ctr">
                <a:lnSpc>
                  <a:spcPts val="2520"/>
                </a:lnSpc>
                <a:spcBef>
                  <a:spcPct val="0"/>
                </a:spcBef>
              </a:pPr>
            </a:p>
          </p:txBody>
        </p:sp>
      </p:grpSp>
      <p:grpSp>
        <p:nvGrpSpPr>
          <p:cNvPr name="Group 18" id="18"/>
          <p:cNvGrpSpPr/>
          <p:nvPr/>
        </p:nvGrpSpPr>
        <p:grpSpPr>
          <a:xfrm rot="-2700000">
            <a:off x="815496" y="-7589972"/>
            <a:ext cx="6664400" cy="8669109"/>
            <a:chOff x="0" y="0"/>
            <a:chExt cx="1755233" cy="2283222"/>
          </a:xfrm>
        </p:grpSpPr>
        <p:sp>
          <p:nvSpPr>
            <p:cNvPr name="Freeform 19" id="19"/>
            <p:cNvSpPr/>
            <p:nvPr/>
          </p:nvSpPr>
          <p:spPr>
            <a:xfrm flipH="false" flipV="false" rot="0">
              <a:off x="0" y="0"/>
              <a:ext cx="1755233" cy="2283222"/>
            </a:xfrm>
            <a:custGeom>
              <a:avLst/>
              <a:gdLst/>
              <a:ahLst/>
              <a:cxnLst/>
              <a:rect r="r" b="b" t="t" l="l"/>
              <a:pathLst>
                <a:path h="2283222" w="1755233">
                  <a:moveTo>
                    <a:pt x="0" y="0"/>
                  </a:moveTo>
                  <a:lnTo>
                    <a:pt x="1755233" y="0"/>
                  </a:lnTo>
                  <a:lnTo>
                    <a:pt x="1755233" y="2283222"/>
                  </a:lnTo>
                  <a:lnTo>
                    <a:pt x="0" y="2283222"/>
                  </a:lnTo>
                  <a:close/>
                </a:path>
              </a:pathLst>
            </a:custGeom>
            <a:solidFill>
              <a:srgbClr val="000000">
                <a:alpha val="0"/>
              </a:srgbClr>
            </a:solidFill>
            <a:ln w="38100" cap="sq">
              <a:solidFill>
                <a:srgbClr val="023D54">
                  <a:alpha val="89804"/>
                </a:srgbClr>
              </a:solidFill>
              <a:prstDash val="solid"/>
              <a:miter/>
            </a:ln>
          </p:spPr>
        </p:sp>
        <p:sp>
          <p:nvSpPr>
            <p:cNvPr name="TextBox 20" id="20"/>
            <p:cNvSpPr txBox="true"/>
            <p:nvPr/>
          </p:nvSpPr>
          <p:spPr>
            <a:xfrm>
              <a:off x="0" y="-28575"/>
              <a:ext cx="1755233" cy="2311797"/>
            </a:xfrm>
            <a:prstGeom prst="rect">
              <a:avLst/>
            </a:prstGeom>
          </p:spPr>
          <p:txBody>
            <a:bodyPr anchor="ctr" rtlCol="false" tIns="50800" lIns="50800" bIns="50800" rIns="50800"/>
            <a:lstStyle/>
            <a:p>
              <a:pPr algn="ctr">
                <a:lnSpc>
                  <a:spcPts val="2520"/>
                </a:lnSpc>
                <a:spcBef>
                  <a:spcPct val="0"/>
                </a:spcBef>
              </a:pP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2700000">
            <a:off x="16835740" y="7742948"/>
            <a:ext cx="5852739" cy="8669109"/>
            <a:chOff x="0" y="0"/>
            <a:chExt cx="1541462" cy="2283222"/>
          </a:xfrm>
        </p:grpSpPr>
        <p:sp>
          <p:nvSpPr>
            <p:cNvPr name="Freeform 3" id="3"/>
            <p:cNvSpPr/>
            <p:nvPr/>
          </p:nvSpPr>
          <p:spPr>
            <a:xfrm flipH="false" flipV="false" rot="0">
              <a:off x="0" y="0"/>
              <a:ext cx="1541462" cy="2283222"/>
            </a:xfrm>
            <a:custGeom>
              <a:avLst/>
              <a:gdLst/>
              <a:ahLst/>
              <a:cxnLst/>
              <a:rect r="r" b="b" t="t" l="l"/>
              <a:pathLst>
                <a:path h="2283222" w="1541462">
                  <a:moveTo>
                    <a:pt x="0" y="0"/>
                  </a:moveTo>
                  <a:lnTo>
                    <a:pt x="1541462" y="0"/>
                  </a:lnTo>
                  <a:lnTo>
                    <a:pt x="1541462" y="2283222"/>
                  </a:lnTo>
                  <a:lnTo>
                    <a:pt x="0" y="2283222"/>
                  </a:lnTo>
                  <a:close/>
                </a:path>
              </a:pathLst>
            </a:custGeom>
            <a:solidFill>
              <a:srgbClr val="023D54">
                <a:alpha val="40000"/>
              </a:srgbClr>
            </a:solidFill>
            <a:ln cap="sq">
              <a:noFill/>
              <a:prstDash val="solid"/>
              <a:miter/>
            </a:ln>
          </p:spPr>
        </p:sp>
        <p:sp>
          <p:nvSpPr>
            <p:cNvPr name="TextBox 4" id="4"/>
            <p:cNvSpPr txBox="true"/>
            <p:nvPr/>
          </p:nvSpPr>
          <p:spPr>
            <a:xfrm>
              <a:off x="0" y="-38100"/>
              <a:ext cx="1541462" cy="2321322"/>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2700000">
            <a:off x="17076245" y="7742948"/>
            <a:ext cx="5852739" cy="8669109"/>
            <a:chOff x="0" y="0"/>
            <a:chExt cx="1541462" cy="2283222"/>
          </a:xfrm>
        </p:grpSpPr>
        <p:sp>
          <p:nvSpPr>
            <p:cNvPr name="Freeform 6" id="6"/>
            <p:cNvSpPr/>
            <p:nvPr/>
          </p:nvSpPr>
          <p:spPr>
            <a:xfrm flipH="false" flipV="false" rot="0">
              <a:off x="0" y="0"/>
              <a:ext cx="1541462" cy="2283222"/>
            </a:xfrm>
            <a:custGeom>
              <a:avLst/>
              <a:gdLst/>
              <a:ahLst/>
              <a:cxnLst/>
              <a:rect r="r" b="b" t="t" l="l"/>
              <a:pathLst>
                <a:path h="2283222" w="1541462">
                  <a:moveTo>
                    <a:pt x="0" y="0"/>
                  </a:moveTo>
                  <a:lnTo>
                    <a:pt x="1541462" y="0"/>
                  </a:lnTo>
                  <a:lnTo>
                    <a:pt x="1541462" y="2283222"/>
                  </a:lnTo>
                  <a:lnTo>
                    <a:pt x="0" y="2283222"/>
                  </a:lnTo>
                  <a:close/>
                </a:path>
              </a:pathLst>
            </a:custGeom>
            <a:solidFill>
              <a:srgbClr val="023D54">
                <a:alpha val="40000"/>
              </a:srgbClr>
            </a:solidFill>
            <a:ln cap="sq">
              <a:noFill/>
              <a:prstDash val="solid"/>
              <a:miter/>
            </a:ln>
          </p:spPr>
        </p:sp>
        <p:sp>
          <p:nvSpPr>
            <p:cNvPr name="TextBox 7" id="7"/>
            <p:cNvSpPr txBox="true"/>
            <p:nvPr/>
          </p:nvSpPr>
          <p:spPr>
            <a:xfrm>
              <a:off x="0" y="-38100"/>
              <a:ext cx="1541462" cy="2321322"/>
            </a:xfrm>
            <a:prstGeom prst="rect">
              <a:avLst/>
            </a:prstGeom>
          </p:spPr>
          <p:txBody>
            <a:bodyPr anchor="ctr" rtlCol="false" tIns="50800" lIns="50800" bIns="50800" rIns="50800"/>
            <a:lstStyle/>
            <a:p>
              <a:pPr algn="ctr">
                <a:lnSpc>
                  <a:spcPts val="2659"/>
                </a:lnSpc>
                <a:spcBef>
                  <a:spcPct val="0"/>
                </a:spcBef>
              </a:pPr>
            </a:p>
          </p:txBody>
        </p:sp>
      </p:grpSp>
      <p:sp>
        <p:nvSpPr>
          <p:cNvPr name="AutoShape 8" id="8"/>
          <p:cNvSpPr/>
          <p:nvPr/>
        </p:nvSpPr>
        <p:spPr>
          <a:xfrm rot="0">
            <a:off x="-5954360" y="3048012"/>
            <a:ext cx="13227813" cy="0"/>
          </a:xfrm>
          <a:prstGeom prst="line">
            <a:avLst/>
          </a:prstGeom>
          <a:ln cap="flat" w="38100">
            <a:solidFill>
              <a:srgbClr val="EEEEEE"/>
            </a:solidFill>
            <a:prstDash val="solid"/>
            <a:headEnd type="none" len="sm" w="sm"/>
            <a:tailEnd type="none" len="sm" w="sm"/>
          </a:ln>
        </p:spPr>
      </p:sp>
      <p:sp>
        <p:nvSpPr>
          <p:cNvPr name="Freeform 9" id="9"/>
          <p:cNvSpPr/>
          <p:nvPr/>
        </p:nvSpPr>
        <p:spPr>
          <a:xfrm flipH="false" flipV="false" rot="0">
            <a:off x="-1273518" y="8298180"/>
            <a:ext cx="7315200" cy="3977640"/>
          </a:xfrm>
          <a:custGeom>
            <a:avLst/>
            <a:gdLst/>
            <a:ahLst/>
            <a:cxnLst/>
            <a:rect r="r" b="b" t="t" l="l"/>
            <a:pathLst>
              <a:path h="3977640" w="7315200">
                <a:moveTo>
                  <a:pt x="0" y="0"/>
                </a:moveTo>
                <a:lnTo>
                  <a:pt x="7315200" y="0"/>
                </a:lnTo>
                <a:lnTo>
                  <a:pt x="7315200" y="3977640"/>
                </a:lnTo>
                <a:lnTo>
                  <a:pt x="0" y="39776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2700000">
            <a:off x="815496" y="-7896237"/>
            <a:ext cx="6664400" cy="8669109"/>
            <a:chOff x="0" y="0"/>
            <a:chExt cx="1755233" cy="2283222"/>
          </a:xfrm>
        </p:grpSpPr>
        <p:sp>
          <p:nvSpPr>
            <p:cNvPr name="Freeform 11" id="11"/>
            <p:cNvSpPr/>
            <p:nvPr/>
          </p:nvSpPr>
          <p:spPr>
            <a:xfrm flipH="false" flipV="false" rot="0">
              <a:off x="0" y="0"/>
              <a:ext cx="1755233" cy="2283222"/>
            </a:xfrm>
            <a:custGeom>
              <a:avLst/>
              <a:gdLst/>
              <a:ahLst/>
              <a:cxnLst/>
              <a:rect r="r" b="b" t="t" l="l"/>
              <a:pathLst>
                <a:path h="2283222" w="1755233">
                  <a:moveTo>
                    <a:pt x="0" y="0"/>
                  </a:moveTo>
                  <a:lnTo>
                    <a:pt x="1755233" y="0"/>
                  </a:lnTo>
                  <a:lnTo>
                    <a:pt x="1755233" y="2283222"/>
                  </a:lnTo>
                  <a:lnTo>
                    <a:pt x="0" y="2283222"/>
                  </a:lnTo>
                  <a:close/>
                </a:path>
              </a:pathLst>
            </a:custGeom>
            <a:solidFill>
              <a:srgbClr val="023D54">
                <a:alpha val="89804"/>
              </a:srgbClr>
            </a:solidFill>
            <a:ln cap="sq">
              <a:noFill/>
              <a:prstDash val="solid"/>
              <a:miter/>
            </a:ln>
          </p:spPr>
        </p:sp>
        <p:sp>
          <p:nvSpPr>
            <p:cNvPr name="TextBox 12" id="12"/>
            <p:cNvSpPr txBox="true"/>
            <p:nvPr/>
          </p:nvSpPr>
          <p:spPr>
            <a:xfrm>
              <a:off x="0" y="-28575"/>
              <a:ext cx="1755233" cy="2311797"/>
            </a:xfrm>
            <a:prstGeom prst="rect">
              <a:avLst/>
            </a:prstGeom>
          </p:spPr>
          <p:txBody>
            <a:bodyPr anchor="ctr" rtlCol="false" tIns="50800" lIns="50800" bIns="50800" rIns="50800"/>
            <a:lstStyle/>
            <a:p>
              <a:pPr algn="ctr">
                <a:lnSpc>
                  <a:spcPts val="2520"/>
                </a:lnSpc>
                <a:spcBef>
                  <a:spcPct val="0"/>
                </a:spcBef>
              </a:pPr>
            </a:p>
          </p:txBody>
        </p:sp>
      </p:grpSp>
      <p:grpSp>
        <p:nvGrpSpPr>
          <p:cNvPr name="Group 13" id="13"/>
          <p:cNvGrpSpPr/>
          <p:nvPr/>
        </p:nvGrpSpPr>
        <p:grpSpPr>
          <a:xfrm rot="-2700000">
            <a:off x="390586" y="-7760906"/>
            <a:ext cx="6664400" cy="8669109"/>
            <a:chOff x="0" y="0"/>
            <a:chExt cx="1755233" cy="2283222"/>
          </a:xfrm>
        </p:grpSpPr>
        <p:sp>
          <p:nvSpPr>
            <p:cNvPr name="Freeform 14" id="14"/>
            <p:cNvSpPr/>
            <p:nvPr/>
          </p:nvSpPr>
          <p:spPr>
            <a:xfrm flipH="false" flipV="false" rot="0">
              <a:off x="0" y="0"/>
              <a:ext cx="1755233" cy="2283222"/>
            </a:xfrm>
            <a:custGeom>
              <a:avLst/>
              <a:gdLst/>
              <a:ahLst/>
              <a:cxnLst/>
              <a:rect r="r" b="b" t="t" l="l"/>
              <a:pathLst>
                <a:path h="2283222" w="1755233">
                  <a:moveTo>
                    <a:pt x="0" y="0"/>
                  </a:moveTo>
                  <a:lnTo>
                    <a:pt x="1755233" y="0"/>
                  </a:lnTo>
                  <a:lnTo>
                    <a:pt x="1755233" y="2283222"/>
                  </a:lnTo>
                  <a:lnTo>
                    <a:pt x="0" y="2283222"/>
                  </a:lnTo>
                  <a:close/>
                </a:path>
              </a:pathLst>
            </a:custGeom>
            <a:solidFill>
              <a:srgbClr val="000000">
                <a:alpha val="0"/>
              </a:srgbClr>
            </a:solidFill>
            <a:ln w="38100" cap="sq">
              <a:solidFill>
                <a:srgbClr val="023D54">
                  <a:alpha val="89804"/>
                </a:srgbClr>
              </a:solidFill>
              <a:prstDash val="solid"/>
              <a:miter/>
            </a:ln>
          </p:spPr>
        </p:sp>
        <p:sp>
          <p:nvSpPr>
            <p:cNvPr name="TextBox 15" id="15"/>
            <p:cNvSpPr txBox="true"/>
            <p:nvPr/>
          </p:nvSpPr>
          <p:spPr>
            <a:xfrm>
              <a:off x="0" y="-28575"/>
              <a:ext cx="1755233" cy="2311797"/>
            </a:xfrm>
            <a:prstGeom prst="rect">
              <a:avLst/>
            </a:prstGeom>
          </p:spPr>
          <p:txBody>
            <a:bodyPr anchor="ctr" rtlCol="false" tIns="50800" lIns="50800" bIns="50800" rIns="50800"/>
            <a:lstStyle/>
            <a:p>
              <a:pPr algn="ctr">
                <a:lnSpc>
                  <a:spcPts val="2520"/>
                </a:lnSpc>
                <a:spcBef>
                  <a:spcPct val="0"/>
                </a:spcBef>
              </a:pPr>
            </a:p>
          </p:txBody>
        </p:sp>
      </p:grpSp>
      <p:sp>
        <p:nvSpPr>
          <p:cNvPr name="Freeform 16" id="16"/>
          <p:cNvSpPr/>
          <p:nvPr/>
        </p:nvSpPr>
        <p:spPr>
          <a:xfrm flipH="false" flipV="false" rot="0">
            <a:off x="2739613" y="1994863"/>
            <a:ext cx="12808774" cy="6333227"/>
          </a:xfrm>
          <a:custGeom>
            <a:avLst/>
            <a:gdLst/>
            <a:ahLst/>
            <a:cxnLst/>
            <a:rect r="r" b="b" t="t" l="l"/>
            <a:pathLst>
              <a:path h="6333227" w="12808774">
                <a:moveTo>
                  <a:pt x="0" y="0"/>
                </a:moveTo>
                <a:lnTo>
                  <a:pt x="12808774" y="0"/>
                </a:lnTo>
                <a:lnTo>
                  <a:pt x="12808774" y="6333227"/>
                </a:lnTo>
                <a:lnTo>
                  <a:pt x="0" y="6333227"/>
                </a:lnTo>
                <a:lnTo>
                  <a:pt x="0" y="0"/>
                </a:lnTo>
                <a:close/>
              </a:path>
            </a:pathLst>
          </a:custGeom>
          <a:blipFill>
            <a:blip r:embed="rId4"/>
            <a:stretch>
              <a:fillRect l="0" t="0" r="0" b="0"/>
            </a:stretch>
          </a:blipFill>
        </p:spPr>
      </p:sp>
      <p:sp>
        <p:nvSpPr>
          <p:cNvPr name="TextBox 17" id="17"/>
          <p:cNvSpPr txBox="true"/>
          <p:nvPr/>
        </p:nvSpPr>
        <p:spPr>
          <a:xfrm rot="0">
            <a:off x="5913924" y="923925"/>
            <a:ext cx="6460152" cy="920316"/>
          </a:xfrm>
          <a:prstGeom prst="rect">
            <a:avLst/>
          </a:prstGeom>
        </p:spPr>
        <p:txBody>
          <a:bodyPr anchor="t" rtlCol="false" tIns="0" lIns="0" bIns="0" rIns="0">
            <a:spAutoFit/>
          </a:bodyPr>
          <a:lstStyle/>
          <a:p>
            <a:pPr algn="just">
              <a:lnSpc>
                <a:spcPts val="7548"/>
              </a:lnSpc>
            </a:pPr>
            <a:r>
              <a:rPr lang="en-US" sz="5392">
                <a:solidFill>
                  <a:srgbClr val="023D54"/>
                </a:solidFill>
                <a:latin typeface="Jannah Medium"/>
                <a:ea typeface="Jannah Medium"/>
                <a:cs typeface="Jannah Medium"/>
                <a:sym typeface="Jannah Medium"/>
              </a:rPr>
              <a:t>Diagrama de Objeto</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512378" y="684198"/>
            <a:ext cx="11197651" cy="482789"/>
          </a:xfrm>
          <a:custGeom>
            <a:avLst/>
            <a:gdLst/>
            <a:ahLst/>
            <a:cxnLst/>
            <a:rect r="r" b="b" t="t" l="l"/>
            <a:pathLst>
              <a:path h="482789" w="11197651">
                <a:moveTo>
                  <a:pt x="0" y="0"/>
                </a:moveTo>
                <a:lnTo>
                  <a:pt x="11197651" y="0"/>
                </a:lnTo>
                <a:lnTo>
                  <a:pt x="11197651" y="482789"/>
                </a:lnTo>
                <a:lnTo>
                  <a:pt x="0" y="482789"/>
                </a:lnTo>
                <a:lnTo>
                  <a:pt x="0" y="0"/>
                </a:lnTo>
                <a:close/>
              </a:path>
            </a:pathLst>
          </a:custGeom>
          <a:blipFill>
            <a:blip r:embed="rId2">
              <a:alphaModFix amt="50000"/>
            </a:blip>
            <a:stretch>
              <a:fillRect l="-2804" t="0" r="-2804" b="-383771"/>
            </a:stretch>
          </a:blipFill>
        </p:spPr>
      </p:sp>
      <p:grpSp>
        <p:nvGrpSpPr>
          <p:cNvPr name="Group 3" id="3"/>
          <p:cNvGrpSpPr/>
          <p:nvPr/>
        </p:nvGrpSpPr>
        <p:grpSpPr>
          <a:xfrm rot="0">
            <a:off x="3577971" y="1160536"/>
            <a:ext cx="11132059" cy="1340737"/>
            <a:chOff x="0" y="0"/>
            <a:chExt cx="2931900" cy="353116"/>
          </a:xfrm>
        </p:grpSpPr>
        <p:sp>
          <p:nvSpPr>
            <p:cNvPr name="Freeform 4" id="4"/>
            <p:cNvSpPr/>
            <p:nvPr/>
          </p:nvSpPr>
          <p:spPr>
            <a:xfrm flipH="false" flipV="false" rot="0">
              <a:off x="0" y="0"/>
              <a:ext cx="2931900" cy="353116"/>
            </a:xfrm>
            <a:custGeom>
              <a:avLst/>
              <a:gdLst/>
              <a:ahLst/>
              <a:cxnLst/>
              <a:rect r="r" b="b" t="t" l="l"/>
              <a:pathLst>
                <a:path h="353116" w="2931900">
                  <a:moveTo>
                    <a:pt x="0" y="0"/>
                  </a:moveTo>
                  <a:lnTo>
                    <a:pt x="2931900" y="0"/>
                  </a:lnTo>
                  <a:lnTo>
                    <a:pt x="2931900" y="353116"/>
                  </a:lnTo>
                  <a:lnTo>
                    <a:pt x="0" y="353116"/>
                  </a:lnTo>
                  <a:close/>
                </a:path>
              </a:pathLst>
            </a:custGeom>
            <a:solidFill>
              <a:srgbClr val="023D54"/>
            </a:solidFill>
          </p:spPr>
        </p:sp>
        <p:sp>
          <p:nvSpPr>
            <p:cNvPr name="TextBox 5" id="5"/>
            <p:cNvSpPr txBox="true"/>
            <p:nvPr/>
          </p:nvSpPr>
          <p:spPr>
            <a:xfrm>
              <a:off x="0" y="-38100"/>
              <a:ext cx="2931900" cy="391216"/>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058190" y="1449909"/>
            <a:ext cx="14171619" cy="723891"/>
          </a:xfrm>
          <a:prstGeom prst="rect">
            <a:avLst/>
          </a:prstGeom>
        </p:spPr>
        <p:txBody>
          <a:bodyPr anchor="t" rtlCol="false" tIns="0" lIns="0" bIns="0" rIns="0">
            <a:spAutoFit/>
          </a:bodyPr>
          <a:lstStyle/>
          <a:p>
            <a:pPr algn="ctr">
              <a:lnSpc>
                <a:spcPts val="5850"/>
              </a:lnSpc>
            </a:pPr>
            <a:r>
              <a:rPr lang="en-US" sz="4500">
                <a:solidFill>
                  <a:srgbClr val="FFFFFF"/>
                </a:solidFill>
                <a:latin typeface="Jannah Medium"/>
                <a:ea typeface="Jannah Medium"/>
                <a:cs typeface="Jannah Medium"/>
                <a:sym typeface="Jannah Medium"/>
              </a:rPr>
              <a:t>Principais objetivos</a:t>
            </a:r>
          </a:p>
        </p:txBody>
      </p:sp>
      <p:grpSp>
        <p:nvGrpSpPr>
          <p:cNvPr name="Group 7" id="7"/>
          <p:cNvGrpSpPr/>
          <p:nvPr/>
        </p:nvGrpSpPr>
        <p:grpSpPr>
          <a:xfrm rot="-2700000">
            <a:off x="14933571" y="-4875932"/>
            <a:ext cx="5852739" cy="8669109"/>
            <a:chOff x="0" y="0"/>
            <a:chExt cx="1541462" cy="2283222"/>
          </a:xfrm>
        </p:grpSpPr>
        <p:sp>
          <p:nvSpPr>
            <p:cNvPr name="Freeform 8" id="8"/>
            <p:cNvSpPr/>
            <p:nvPr/>
          </p:nvSpPr>
          <p:spPr>
            <a:xfrm flipH="false" flipV="false" rot="0">
              <a:off x="0" y="0"/>
              <a:ext cx="1541462" cy="2283222"/>
            </a:xfrm>
            <a:custGeom>
              <a:avLst/>
              <a:gdLst/>
              <a:ahLst/>
              <a:cxnLst/>
              <a:rect r="r" b="b" t="t" l="l"/>
              <a:pathLst>
                <a:path h="2283222" w="1541462">
                  <a:moveTo>
                    <a:pt x="0" y="0"/>
                  </a:moveTo>
                  <a:lnTo>
                    <a:pt x="1541462" y="0"/>
                  </a:lnTo>
                  <a:lnTo>
                    <a:pt x="1541462" y="2283222"/>
                  </a:lnTo>
                  <a:lnTo>
                    <a:pt x="0" y="2283222"/>
                  </a:lnTo>
                  <a:close/>
                </a:path>
              </a:pathLst>
            </a:custGeom>
            <a:solidFill>
              <a:srgbClr val="023D54">
                <a:alpha val="40000"/>
              </a:srgbClr>
            </a:solidFill>
            <a:ln cap="sq">
              <a:noFill/>
              <a:prstDash val="solid"/>
              <a:miter/>
            </a:ln>
          </p:spPr>
        </p:sp>
        <p:sp>
          <p:nvSpPr>
            <p:cNvPr name="TextBox 9" id="9"/>
            <p:cNvSpPr txBox="true"/>
            <p:nvPr/>
          </p:nvSpPr>
          <p:spPr>
            <a:xfrm>
              <a:off x="0" y="-38100"/>
              <a:ext cx="1541462" cy="2321322"/>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7755540">
            <a:off x="-2967378" y="6742882"/>
            <a:ext cx="5852739" cy="8669109"/>
            <a:chOff x="0" y="0"/>
            <a:chExt cx="1541462" cy="2283222"/>
          </a:xfrm>
        </p:grpSpPr>
        <p:sp>
          <p:nvSpPr>
            <p:cNvPr name="Freeform 11" id="11"/>
            <p:cNvSpPr/>
            <p:nvPr/>
          </p:nvSpPr>
          <p:spPr>
            <a:xfrm flipH="false" flipV="false" rot="0">
              <a:off x="0" y="0"/>
              <a:ext cx="1541462" cy="2283222"/>
            </a:xfrm>
            <a:custGeom>
              <a:avLst/>
              <a:gdLst/>
              <a:ahLst/>
              <a:cxnLst/>
              <a:rect r="r" b="b" t="t" l="l"/>
              <a:pathLst>
                <a:path h="2283222" w="1541462">
                  <a:moveTo>
                    <a:pt x="0" y="0"/>
                  </a:moveTo>
                  <a:lnTo>
                    <a:pt x="1541462" y="0"/>
                  </a:lnTo>
                  <a:lnTo>
                    <a:pt x="1541462" y="2283222"/>
                  </a:lnTo>
                  <a:lnTo>
                    <a:pt x="0" y="2283222"/>
                  </a:lnTo>
                  <a:close/>
                </a:path>
              </a:pathLst>
            </a:custGeom>
            <a:solidFill>
              <a:srgbClr val="023D54">
                <a:alpha val="40000"/>
              </a:srgbClr>
            </a:solidFill>
            <a:ln cap="sq">
              <a:noFill/>
              <a:prstDash val="solid"/>
              <a:miter/>
            </a:ln>
          </p:spPr>
        </p:sp>
        <p:sp>
          <p:nvSpPr>
            <p:cNvPr name="TextBox 12" id="12"/>
            <p:cNvSpPr txBox="true"/>
            <p:nvPr/>
          </p:nvSpPr>
          <p:spPr>
            <a:xfrm>
              <a:off x="0" y="-38100"/>
              <a:ext cx="1541462" cy="2321322"/>
            </a:xfrm>
            <a:prstGeom prst="rect">
              <a:avLst/>
            </a:prstGeom>
          </p:spPr>
          <p:txBody>
            <a:bodyPr anchor="ctr" rtlCol="false" tIns="50800" lIns="50800" bIns="50800" rIns="50800"/>
            <a:lstStyle/>
            <a:p>
              <a:pPr algn="ctr">
                <a:lnSpc>
                  <a:spcPts val="2659"/>
                </a:lnSpc>
                <a:spcBef>
                  <a:spcPct val="0"/>
                </a:spcBef>
              </a:pPr>
            </a:p>
          </p:txBody>
        </p:sp>
      </p:grpSp>
      <p:grpSp>
        <p:nvGrpSpPr>
          <p:cNvPr name="Group 13" id="13"/>
          <p:cNvGrpSpPr/>
          <p:nvPr/>
        </p:nvGrpSpPr>
        <p:grpSpPr>
          <a:xfrm rot="-2700000">
            <a:off x="14933571" y="-5236688"/>
            <a:ext cx="5852739" cy="8669109"/>
            <a:chOff x="0" y="0"/>
            <a:chExt cx="1541462" cy="2283222"/>
          </a:xfrm>
        </p:grpSpPr>
        <p:sp>
          <p:nvSpPr>
            <p:cNvPr name="Freeform 14" id="14"/>
            <p:cNvSpPr/>
            <p:nvPr/>
          </p:nvSpPr>
          <p:spPr>
            <a:xfrm flipH="false" flipV="false" rot="0">
              <a:off x="0" y="0"/>
              <a:ext cx="1541462" cy="2283222"/>
            </a:xfrm>
            <a:custGeom>
              <a:avLst/>
              <a:gdLst/>
              <a:ahLst/>
              <a:cxnLst/>
              <a:rect r="r" b="b" t="t" l="l"/>
              <a:pathLst>
                <a:path h="2283222" w="1541462">
                  <a:moveTo>
                    <a:pt x="0" y="0"/>
                  </a:moveTo>
                  <a:lnTo>
                    <a:pt x="1541462" y="0"/>
                  </a:lnTo>
                  <a:lnTo>
                    <a:pt x="1541462" y="2283222"/>
                  </a:lnTo>
                  <a:lnTo>
                    <a:pt x="0" y="2283222"/>
                  </a:lnTo>
                  <a:close/>
                </a:path>
              </a:pathLst>
            </a:custGeom>
            <a:solidFill>
              <a:srgbClr val="023D54">
                <a:alpha val="40000"/>
              </a:srgbClr>
            </a:solidFill>
            <a:ln cap="sq">
              <a:noFill/>
              <a:prstDash val="solid"/>
              <a:miter/>
            </a:ln>
          </p:spPr>
        </p:sp>
        <p:sp>
          <p:nvSpPr>
            <p:cNvPr name="TextBox 15" id="15"/>
            <p:cNvSpPr txBox="true"/>
            <p:nvPr/>
          </p:nvSpPr>
          <p:spPr>
            <a:xfrm>
              <a:off x="0" y="-38100"/>
              <a:ext cx="1541462" cy="2321322"/>
            </a:xfrm>
            <a:prstGeom prst="rect">
              <a:avLst/>
            </a:prstGeom>
          </p:spPr>
          <p:txBody>
            <a:bodyPr anchor="ctr" rtlCol="false" tIns="50800" lIns="50800" bIns="50800" rIns="50800"/>
            <a:lstStyle/>
            <a:p>
              <a:pPr algn="ctr">
                <a:lnSpc>
                  <a:spcPts val="2659"/>
                </a:lnSpc>
                <a:spcBef>
                  <a:spcPct val="0"/>
                </a:spcBef>
              </a:pPr>
            </a:p>
          </p:txBody>
        </p:sp>
      </p:grpSp>
      <p:grpSp>
        <p:nvGrpSpPr>
          <p:cNvPr name="Group 16" id="16"/>
          <p:cNvGrpSpPr/>
          <p:nvPr/>
        </p:nvGrpSpPr>
        <p:grpSpPr>
          <a:xfrm rot="7755540">
            <a:off x="-2931291" y="7101829"/>
            <a:ext cx="5852739" cy="8669109"/>
            <a:chOff x="0" y="0"/>
            <a:chExt cx="1541462" cy="2283222"/>
          </a:xfrm>
        </p:grpSpPr>
        <p:sp>
          <p:nvSpPr>
            <p:cNvPr name="Freeform 17" id="17"/>
            <p:cNvSpPr/>
            <p:nvPr/>
          </p:nvSpPr>
          <p:spPr>
            <a:xfrm flipH="false" flipV="false" rot="0">
              <a:off x="0" y="0"/>
              <a:ext cx="1541462" cy="2283222"/>
            </a:xfrm>
            <a:custGeom>
              <a:avLst/>
              <a:gdLst/>
              <a:ahLst/>
              <a:cxnLst/>
              <a:rect r="r" b="b" t="t" l="l"/>
              <a:pathLst>
                <a:path h="2283222" w="1541462">
                  <a:moveTo>
                    <a:pt x="0" y="0"/>
                  </a:moveTo>
                  <a:lnTo>
                    <a:pt x="1541462" y="0"/>
                  </a:lnTo>
                  <a:lnTo>
                    <a:pt x="1541462" y="2283222"/>
                  </a:lnTo>
                  <a:lnTo>
                    <a:pt x="0" y="2283222"/>
                  </a:lnTo>
                  <a:close/>
                </a:path>
              </a:pathLst>
            </a:custGeom>
            <a:solidFill>
              <a:srgbClr val="023D54">
                <a:alpha val="40000"/>
              </a:srgbClr>
            </a:solidFill>
            <a:ln cap="sq">
              <a:noFill/>
              <a:prstDash val="solid"/>
              <a:miter/>
            </a:ln>
          </p:spPr>
        </p:sp>
        <p:sp>
          <p:nvSpPr>
            <p:cNvPr name="TextBox 18" id="18"/>
            <p:cNvSpPr txBox="true"/>
            <p:nvPr/>
          </p:nvSpPr>
          <p:spPr>
            <a:xfrm>
              <a:off x="0" y="-38100"/>
              <a:ext cx="1541462" cy="2321322"/>
            </a:xfrm>
            <a:prstGeom prst="rect">
              <a:avLst/>
            </a:prstGeom>
          </p:spPr>
          <p:txBody>
            <a:bodyPr anchor="ctr" rtlCol="false" tIns="50800" lIns="50800" bIns="50800" rIns="50800"/>
            <a:lstStyle/>
            <a:p>
              <a:pPr algn="ctr">
                <a:lnSpc>
                  <a:spcPts val="2659"/>
                </a:lnSpc>
                <a:spcBef>
                  <a:spcPct val="0"/>
                </a:spcBef>
              </a:pPr>
            </a:p>
          </p:txBody>
        </p:sp>
      </p:grpSp>
      <p:grpSp>
        <p:nvGrpSpPr>
          <p:cNvPr name="Group 19" id="19"/>
          <p:cNvGrpSpPr/>
          <p:nvPr/>
        </p:nvGrpSpPr>
        <p:grpSpPr>
          <a:xfrm rot="-2700000">
            <a:off x="14933571" y="-5695833"/>
            <a:ext cx="5852739" cy="8669109"/>
            <a:chOff x="0" y="0"/>
            <a:chExt cx="1541462" cy="2283222"/>
          </a:xfrm>
        </p:grpSpPr>
        <p:sp>
          <p:nvSpPr>
            <p:cNvPr name="Freeform 20" id="20"/>
            <p:cNvSpPr/>
            <p:nvPr/>
          </p:nvSpPr>
          <p:spPr>
            <a:xfrm flipH="false" flipV="false" rot="0">
              <a:off x="0" y="0"/>
              <a:ext cx="1541462" cy="2283222"/>
            </a:xfrm>
            <a:custGeom>
              <a:avLst/>
              <a:gdLst/>
              <a:ahLst/>
              <a:cxnLst/>
              <a:rect r="r" b="b" t="t" l="l"/>
              <a:pathLst>
                <a:path h="2283222" w="1541462">
                  <a:moveTo>
                    <a:pt x="0" y="0"/>
                  </a:moveTo>
                  <a:lnTo>
                    <a:pt x="1541462" y="0"/>
                  </a:lnTo>
                  <a:lnTo>
                    <a:pt x="1541462" y="2283222"/>
                  </a:lnTo>
                  <a:lnTo>
                    <a:pt x="0" y="2283222"/>
                  </a:lnTo>
                  <a:close/>
                </a:path>
              </a:pathLst>
            </a:custGeom>
            <a:solidFill>
              <a:srgbClr val="023D54">
                <a:alpha val="89804"/>
              </a:srgbClr>
            </a:solidFill>
            <a:ln cap="sq">
              <a:noFill/>
              <a:prstDash val="solid"/>
              <a:miter/>
            </a:ln>
          </p:spPr>
        </p:sp>
        <p:sp>
          <p:nvSpPr>
            <p:cNvPr name="TextBox 21" id="21"/>
            <p:cNvSpPr txBox="true"/>
            <p:nvPr/>
          </p:nvSpPr>
          <p:spPr>
            <a:xfrm>
              <a:off x="0" y="-38100"/>
              <a:ext cx="1541462" cy="2321322"/>
            </a:xfrm>
            <a:prstGeom prst="rect">
              <a:avLst/>
            </a:prstGeom>
          </p:spPr>
          <p:txBody>
            <a:bodyPr anchor="ctr" rtlCol="false" tIns="50800" lIns="50800" bIns="50800" rIns="50800"/>
            <a:lstStyle/>
            <a:p>
              <a:pPr algn="ctr">
                <a:lnSpc>
                  <a:spcPts val="2659"/>
                </a:lnSpc>
                <a:spcBef>
                  <a:spcPct val="0"/>
                </a:spcBef>
              </a:pPr>
            </a:p>
          </p:txBody>
        </p:sp>
      </p:grpSp>
      <p:grpSp>
        <p:nvGrpSpPr>
          <p:cNvPr name="Group 22" id="22"/>
          <p:cNvGrpSpPr/>
          <p:nvPr/>
        </p:nvGrpSpPr>
        <p:grpSpPr>
          <a:xfrm rot="7755540">
            <a:off x="-2885362" y="7558670"/>
            <a:ext cx="5852739" cy="8669109"/>
            <a:chOff x="0" y="0"/>
            <a:chExt cx="1541462" cy="2283222"/>
          </a:xfrm>
        </p:grpSpPr>
        <p:sp>
          <p:nvSpPr>
            <p:cNvPr name="Freeform 23" id="23"/>
            <p:cNvSpPr/>
            <p:nvPr/>
          </p:nvSpPr>
          <p:spPr>
            <a:xfrm flipH="false" flipV="false" rot="0">
              <a:off x="0" y="0"/>
              <a:ext cx="1541462" cy="2283222"/>
            </a:xfrm>
            <a:custGeom>
              <a:avLst/>
              <a:gdLst/>
              <a:ahLst/>
              <a:cxnLst/>
              <a:rect r="r" b="b" t="t" l="l"/>
              <a:pathLst>
                <a:path h="2283222" w="1541462">
                  <a:moveTo>
                    <a:pt x="0" y="0"/>
                  </a:moveTo>
                  <a:lnTo>
                    <a:pt x="1541462" y="0"/>
                  </a:lnTo>
                  <a:lnTo>
                    <a:pt x="1541462" y="2283222"/>
                  </a:lnTo>
                  <a:lnTo>
                    <a:pt x="0" y="2283222"/>
                  </a:lnTo>
                  <a:close/>
                </a:path>
              </a:pathLst>
            </a:custGeom>
            <a:solidFill>
              <a:srgbClr val="023D54">
                <a:alpha val="89804"/>
              </a:srgbClr>
            </a:solidFill>
            <a:ln cap="sq">
              <a:noFill/>
              <a:prstDash val="solid"/>
              <a:miter/>
            </a:ln>
          </p:spPr>
        </p:sp>
        <p:sp>
          <p:nvSpPr>
            <p:cNvPr name="TextBox 24" id="24"/>
            <p:cNvSpPr txBox="true"/>
            <p:nvPr/>
          </p:nvSpPr>
          <p:spPr>
            <a:xfrm>
              <a:off x="0" y="-38100"/>
              <a:ext cx="1541462" cy="2321322"/>
            </a:xfrm>
            <a:prstGeom prst="rect">
              <a:avLst/>
            </a:prstGeom>
          </p:spPr>
          <p:txBody>
            <a:bodyPr anchor="ctr" rtlCol="false" tIns="50800" lIns="50800" bIns="50800" rIns="50800"/>
            <a:lstStyle/>
            <a:p>
              <a:pPr algn="ctr">
                <a:lnSpc>
                  <a:spcPts val="2659"/>
                </a:lnSpc>
                <a:spcBef>
                  <a:spcPct val="0"/>
                </a:spcBef>
              </a:pPr>
            </a:p>
          </p:txBody>
        </p:sp>
      </p:grpSp>
      <p:sp>
        <p:nvSpPr>
          <p:cNvPr name="Freeform 25" id="25"/>
          <p:cNvSpPr/>
          <p:nvPr/>
        </p:nvSpPr>
        <p:spPr>
          <a:xfrm flipH="false" flipV="false" rot="-10800000">
            <a:off x="3512378" y="8496124"/>
            <a:ext cx="11132059" cy="479961"/>
          </a:xfrm>
          <a:custGeom>
            <a:avLst/>
            <a:gdLst/>
            <a:ahLst/>
            <a:cxnLst/>
            <a:rect r="r" b="b" t="t" l="l"/>
            <a:pathLst>
              <a:path h="479961" w="11132059">
                <a:moveTo>
                  <a:pt x="0" y="0"/>
                </a:moveTo>
                <a:lnTo>
                  <a:pt x="11132059" y="0"/>
                </a:lnTo>
                <a:lnTo>
                  <a:pt x="11132059" y="479960"/>
                </a:lnTo>
                <a:lnTo>
                  <a:pt x="0" y="479960"/>
                </a:lnTo>
                <a:lnTo>
                  <a:pt x="0" y="0"/>
                </a:lnTo>
                <a:close/>
              </a:path>
            </a:pathLst>
          </a:custGeom>
          <a:blipFill>
            <a:blip r:embed="rId2">
              <a:alphaModFix amt="50000"/>
            </a:blip>
            <a:stretch>
              <a:fillRect l="-2804" t="0" r="-2804" b="-383771"/>
            </a:stretch>
          </a:blipFill>
        </p:spPr>
      </p:sp>
      <p:sp>
        <p:nvSpPr>
          <p:cNvPr name="TextBox 26" id="26"/>
          <p:cNvSpPr txBox="true"/>
          <p:nvPr/>
        </p:nvSpPr>
        <p:spPr>
          <a:xfrm rot="0">
            <a:off x="3966057" y="2674790"/>
            <a:ext cx="10355886" cy="5712558"/>
          </a:xfrm>
          <a:prstGeom prst="rect">
            <a:avLst/>
          </a:prstGeom>
        </p:spPr>
        <p:txBody>
          <a:bodyPr anchor="t" rtlCol="false" tIns="0" lIns="0" bIns="0" rIns="0">
            <a:spAutoFit/>
          </a:bodyPr>
          <a:lstStyle/>
          <a:p>
            <a:pPr algn="ctr" marL="0" indent="0" lvl="0">
              <a:lnSpc>
                <a:spcPts val="3284"/>
              </a:lnSpc>
              <a:spcBef>
                <a:spcPct val="0"/>
              </a:spcBef>
            </a:pPr>
            <a:r>
              <a:rPr lang="en-US" sz="2346" strike="noStrike" u="none">
                <a:solidFill>
                  <a:srgbClr val="000000"/>
                </a:solidFill>
                <a:latin typeface="Open Sans Bold"/>
                <a:ea typeface="Open Sans Bold"/>
                <a:cs typeface="Open Sans Bold"/>
                <a:sym typeface="Open Sans Bold"/>
              </a:rPr>
              <a:t>Um diagrama de objetos incide sobre os atributos de um conjunto de objetos, e como eles se relacionam entre si. Por exemplo, neste diagrama de objetos abaixo, as três contas bancárias estão relacionadas ao próprio banco. Os nomes da classe mostram os tipos de contas (poupança, corrente e de cartão de crédito) que um determinado cliente poderia ter neste banco. Os atributos de classe são diferentes para cada tipo de conta. Por exemplo, o objeto do cartão de crédito possui um limite de crédito, enquanto a poupança e a conta corrente possuem taxas de juros.</a:t>
            </a:r>
          </a:p>
          <a:p>
            <a:pPr algn="ctr" marL="0" indent="0" lvl="0">
              <a:lnSpc>
                <a:spcPts val="3284"/>
              </a:lnSpc>
              <a:spcBef>
                <a:spcPct val="0"/>
              </a:spcBef>
            </a:pPr>
          </a:p>
          <a:p>
            <a:pPr algn="ctr" marL="0" indent="0" lvl="0">
              <a:lnSpc>
                <a:spcPts val="3284"/>
              </a:lnSpc>
              <a:spcBef>
                <a:spcPct val="0"/>
              </a:spcBef>
            </a:pPr>
            <a:r>
              <a:rPr lang="en-US" sz="2346" strike="noStrike" u="none">
                <a:solidFill>
                  <a:srgbClr val="000000"/>
                </a:solidFill>
                <a:latin typeface="Open Sans Bold"/>
                <a:ea typeface="Open Sans Bold"/>
                <a:cs typeface="Open Sans Bold"/>
                <a:sym typeface="Open Sans Bold"/>
              </a:rPr>
              <a:t>Diagramas de objetos não são usados apenas em casos de uso bancário. Você pode criar um diagrama de objetos para árvores genealógicas, departamentos corporativos ou qualquer outro sistema com partes inter-relacionadas.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22408" y="0"/>
            <a:ext cx="15829845" cy="10287000"/>
          </a:xfrm>
          <a:custGeom>
            <a:avLst/>
            <a:gdLst/>
            <a:ahLst/>
            <a:cxnLst/>
            <a:rect r="r" b="b" t="t" l="l"/>
            <a:pathLst>
              <a:path h="10287000" w="15829845">
                <a:moveTo>
                  <a:pt x="0" y="0"/>
                </a:moveTo>
                <a:lnTo>
                  <a:pt x="15829845" y="0"/>
                </a:lnTo>
                <a:lnTo>
                  <a:pt x="15829845" y="10287000"/>
                </a:lnTo>
                <a:lnTo>
                  <a:pt x="0" y="10287000"/>
                </a:lnTo>
                <a:lnTo>
                  <a:pt x="0" y="0"/>
                </a:lnTo>
                <a:close/>
              </a:path>
            </a:pathLst>
          </a:custGeom>
          <a:blipFill>
            <a:blip r:embed="rId2"/>
            <a:stretch>
              <a:fillRect l="0" t="-15658" r="-28083" b="-15658"/>
            </a:stretch>
          </a:blipFill>
        </p:spPr>
      </p:sp>
      <p:grpSp>
        <p:nvGrpSpPr>
          <p:cNvPr name="Group 3" id="3"/>
          <p:cNvGrpSpPr/>
          <p:nvPr/>
        </p:nvGrpSpPr>
        <p:grpSpPr>
          <a:xfrm rot="-2700000">
            <a:off x="-7231006" y="-4612269"/>
            <a:ext cx="6664400" cy="8669109"/>
            <a:chOff x="0" y="0"/>
            <a:chExt cx="1755233" cy="2283222"/>
          </a:xfrm>
        </p:grpSpPr>
        <p:sp>
          <p:nvSpPr>
            <p:cNvPr name="Freeform 4" id="4"/>
            <p:cNvSpPr/>
            <p:nvPr/>
          </p:nvSpPr>
          <p:spPr>
            <a:xfrm flipH="false" flipV="false" rot="0">
              <a:off x="0" y="0"/>
              <a:ext cx="1755233" cy="2283222"/>
            </a:xfrm>
            <a:custGeom>
              <a:avLst/>
              <a:gdLst/>
              <a:ahLst/>
              <a:cxnLst/>
              <a:rect r="r" b="b" t="t" l="l"/>
              <a:pathLst>
                <a:path h="2283222" w="1755233">
                  <a:moveTo>
                    <a:pt x="0" y="0"/>
                  </a:moveTo>
                  <a:lnTo>
                    <a:pt x="1755233" y="0"/>
                  </a:lnTo>
                  <a:lnTo>
                    <a:pt x="1755233" y="2283222"/>
                  </a:lnTo>
                  <a:lnTo>
                    <a:pt x="0" y="2283222"/>
                  </a:lnTo>
                  <a:close/>
                </a:path>
              </a:pathLst>
            </a:custGeom>
            <a:solidFill>
              <a:srgbClr val="000000">
                <a:alpha val="0"/>
              </a:srgbClr>
            </a:solidFill>
            <a:ln w="38100" cap="sq">
              <a:solidFill>
                <a:srgbClr val="023D54">
                  <a:alpha val="89804"/>
                </a:srgbClr>
              </a:solidFill>
              <a:prstDash val="solid"/>
              <a:miter/>
            </a:ln>
          </p:spPr>
        </p:sp>
        <p:sp>
          <p:nvSpPr>
            <p:cNvPr name="TextBox 5" id="5"/>
            <p:cNvSpPr txBox="true"/>
            <p:nvPr/>
          </p:nvSpPr>
          <p:spPr>
            <a:xfrm>
              <a:off x="0" y="-28575"/>
              <a:ext cx="1755233" cy="2311797"/>
            </a:xfrm>
            <a:prstGeom prst="rect">
              <a:avLst/>
            </a:prstGeom>
          </p:spPr>
          <p:txBody>
            <a:bodyPr anchor="ctr" rtlCol="false" tIns="50800" lIns="50800" bIns="50800" rIns="50800"/>
            <a:lstStyle/>
            <a:p>
              <a:pPr algn="ctr">
                <a:lnSpc>
                  <a:spcPts val="2520"/>
                </a:lnSpc>
                <a:spcBef>
                  <a:spcPct val="0"/>
                </a:spcBef>
              </a:pPr>
            </a:p>
          </p:txBody>
        </p:sp>
      </p:grpSp>
      <p:grpSp>
        <p:nvGrpSpPr>
          <p:cNvPr name="Group 6" id="6"/>
          <p:cNvGrpSpPr/>
          <p:nvPr/>
        </p:nvGrpSpPr>
        <p:grpSpPr>
          <a:xfrm rot="0">
            <a:off x="1028700" y="2064748"/>
            <a:ext cx="16478947" cy="8222252"/>
            <a:chOff x="0" y="0"/>
            <a:chExt cx="4340134" cy="2165531"/>
          </a:xfrm>
        </p:grpSpPr>
        <p:sp>
          <p:nvSpPr>
            <p:cNvPr name="Freeform 7" id="7"/>
            <p:cNvSpPr/>
            <p:nvPr/>
          </p:nvSpPr>
          <p:spPr>
            <a:xfrm flipH="false" flipV="false" rot="0">
              <a:off x="0" y="0"/>
              <a:ext cx="4340134" cy="2165531"/>
            </a:xfrm>
            <a:custGeom>
              <a:avLst/>
              <a:gdLst/>
              <a:ahLst/>
              <a:cxnLst/>
              <a:rect r="r" b="b" t="t" l="l"/>
              <a:pathLst>
                <a:path h="2165531" w="4340134">
                  <a:moveTo>
                    <a:pt x="0" y="0"/>
                  </a:moveTo>
                  <a:lnTo>
                    <a:pt x="4340134" y="0"/>
                  </a:lnTo>
                  <a:lnTo>
                    <a:pt x="4340134" y="2165531"/>
                  </a:lnTo>
                  <a:lnTo>
                    <a:pt x="0" y="2165531"/>
                  </a:lnTo>
                  <a:close/>
                </a:path>
              </a:pathLst>
            </a:custGeom>
            <a:solidFill>
              <a:srgbClr val="FFFFFF"/>
            </a:solidFill>
          </p:spPr>
        </p:sp>
        <p:sp>
          <p:nvSpPr>
            <p:cNvPr name="TextBox 8" id="8"/>
            <p:cNvSpPr txBox="true"/>
            <p:nvPr/>
          </p:nvSpPr>
          <p:spPr>
            <a:xfrm>
              <a:off x="0" y="-38100"/>
              <a:ext cx="4340134" cy="220363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2700000">
            <a:off x="6105131" y="10221012"/>
            <a:ext cx="6664400" cy="8669109"/>
            <a:chOff x="0" y="0"/>
            <a:chExt cx="1755233" cy="2283222"/>
          </a:xfrm>
        </p:grpSpPr>
        <p:sp>
          <p:nvSpPr>
            <p:cNvPr name="Freeform 10" id="10"/>
            <p:cNvSpPr/>
            <p:nvPr/>
          </p:nvSpPr>
          <p:spPr>
            <a:xfrm flipH="false" flipV="false" rot="0">
              <a:off x="0" y="0"/>
              <a:ext cx="1755233" cy="2283222"/>
            </a:xfrm>
            <a:custGeom>
              <a:avLst/>
              <a:gdLst/>
              <a:ahLst/>
              <a:cxnLst/>
              <a:rect r="r" b="b" t="t" l="l"/>
              <a:pathLst>
                <a:path h="2283222" w="1755233">
                  <a:moveTo>
                    <a:pt x="0" y="0"/>
                  </a:moveTo>
                  <a:lnTo>
                    <a:pt x="1755233" y="0"/>
                  </a:lnTo>
                  <a:lnTo>
                    <a:pt x="1755233" y="2283222"/>
                  </a:lnTo>
                  <a:lnTo>
                    <a:pt x="0" y="2283222"/>
                  </a:lnTo>
                  <a:close/>
                </a:path>
              </a:pathLst>
            </a:custGeom>
            <a:solidFill>
              <a:srgbClr val="000000">
                <a:alpha val="0"/>
              </a:srgbClr>
            </a:solidFill>
            <a:ln w="38100" cap="sq">
              <a:solidFill>
                <a:srgbClr val="023D54">
                  <a:alpha val="89804"/>
                </a:srgbClr>
              </a:solidFill>
              <a:prstDash val="solid"/>
              <a:miter/>
            </a:ln>
          </p:spPr>
        </p:sp>
        <p:sp>
          <p:nvSpPr>
            <p:cNvPr name="TextBox 11" id="11"/>
            <p:cNvSpPr txBox="true"/>
            <p:nvPr/>
          </p:nvSpPr>
          <p:spPr>
            <a:xfrm>
              <a:off x="0" y="-28575"/>
              <a:ext cx="1755233" cy="2311797"/>
            </a:xfrm>
            <a:prstGeom prst="rect">
              <a:avLst/>
            </a:prstGeom>
          </p:spPr>
          <p:txBody>
            <a:bodyPr anchor="ctr" rtlCol="false" tIns="50800" lIns="50800" bIns="50800" rIns="50800"/>
            <a:lstStyle/>
            <a:p>
              <a:pPr algn="ctr">
                <a:lnSpc>
                  <a:spcPts val="2520"/>
                </a:lnSpc>
                <a:spcBef>
                  <a:spcPct val="0"/>
                </a:spcBef>
              </a:pPr>
            </a:p>
          </p:txBody>
        </p:sp>
      </p:grpSp>
      <p:sp>
        <p:nvSpPr>
          <p:cNvPr name="TextBox 12" id="12"/>
          <p:cNvSpPr txBox="true"/>
          <p:nvPr/>
        </p:nvSpPr>
        <p:spPr>
          <a:xfrm rot="0">
            <a:off x="10784117" y="638812"/>
            <a:ext cx="8663523" cy="920316"/>
          </a:xfrm>
          <a:prstGeom prst="rect">
            <a:avLst/>
          </a:prstGeom>
        </p:spPr>
        <p:txBody>
          <a:bodyPr anchor="t" rtlCol="false" tIns="0" lIns="0" bIns="0" rIns="0">
            <a:spAutoFit/>
          </a:bodyPr>
          <a:lstStyle/>
          <a:p>
            <a:pPr algn="just">
              <a:lnSpc>
                <a:spcPts val="7548"/>
              </a:lnSpc>
            </a:pPr>
            <a:r>
              <a:rPr lang="en-US" sz="5392">
                <a:solidFill>
                  <a:srgbClr val="000000"/>
                </a:solidFill>
                <a:latin typeface="Jannah Medium"/>
                <a:ea typeface="Jannah Medium"/>
                <a:cs typeface="Jannah Medium"/>
                <a:sym typeface="Jannah Medium"/>
              </a:rPr>
              <a:t>Desvantagens</a:t>
            </a:r>
          </a:p>
        </p:txBody>
      </p:sp>
      <p:sp>
        <p:nvSpPr>
          <p:cNvPr name="TextBox 13" id="13"/>
          <p:cNvSpPr txBox="true"/>
          <p:nvPr/>
        </p:nvSpPr>
        <p:spPr>
          <a:xfrm rot="0">
            <a:off x="2906402" y="638812"/>
            <a:ext cx="3524548" cy="920316"/>
          </a:xfrm>
          <a:prstGeom prst="rect">
            <a:avLst/>
          </a:prstGeom>
        </p:spPr>
        <p:txBody>
          <a:bodyPr anchor="t" rtlCol="false" tIns="0" lIns="0" bIns="0" rIns="0">
            <a:spAutoFit/>
          </a:bodyPr>
          <a:lstStyle/>
          <a:p>
            <a:pPr algn="just" marL="0" indent="0" lvl="0">
              <a:lnSpc>
                <a:spcPts val="7548"/>
              </a:lnSpc>
              <a:spcBef>
                <a:spcPct val="0"/>
              </a:spcBef>
            </a:pPr>
            <a:r>
              <a:rPr lang="en-US" sz="5392" strike="noStrike" u="none">
                <a:solidFill>
                  <a:srgbClr val="000000"/>
                </a:solidFill>
                <a:latin typeface="Jannah Medium"/>
                <a:ea typeface="Jannah Medium"/>
                <a:cs typeface="Jannah Medium"/>
                <a:sym typeface="Jannah Medium"/>
              </a:rPr>
              <a:t>Vantagens</a:t>
            </a:r>
          </a:p>
        </p:txBody>
      </p:sp>
      <p:sp>
        <p:nvSpPr>
          <p:cNvPr name="TextBox 14" id="14"/>
          <p:cNvSpPr txBox="true"/>
          <p:nvPr/>
        </p:nvSpPr>
        <p:spPr>
          <a:xfrm rot="0">
            <a:off x="1522408" y="2627641"/>
            <a:ext cx="6292536" cy="6391437"/>
          </a:xfrm>
          <a:prstGeom prst="rect">
            <a:avLst/>
          </a:prstGeom>
        </p:spPr>
        <p:txBody>
          <a:bodyPr anchor="t" rtlCol="false" tIns="0" lIns="0" bIns="0" rIns="0">
            <a:spAutoFit/>
          </a:bodyPr>
          <a:lstStyle/>
          <a:p>
            <a:pPr algn="ctr">
              <a:lnSpc>
                <a:spcPts val="3666"/>
              </a:lnSpc>
              <a:spcBef>
                <a:spcPct val="0"/>
              </a:spcBef>
            </a:pPr>
            <a:r>
              <a:rPr lang="en-US" sz="2618">
                <a:solidFill>
                  <a:srgbClr val="000000"/>
                </a:solidFill>
                <a:latin typeface="Open Sans Bold"/>
                <a:ea typeface="Open Sans Bold"/>
                <a:cs typeface="Open Sans Bold"/>
                <a:sym typeface="Open Sans Bold"/>
              </a:rPr>
              <a:t>1- Durante a fase de análise de um projeto, você pode criar um diagrama de classes para descrever a estrutura de um sistema e criar um conjunto de diagramas de objetos como casos de teste para verificar a precisão e integridade do diagrama de classes. 2- Antes de criar um diagrama de classes, você pode criar um diagrama de objetos para descobrir fatos sobre elementos de modelos específicos e seus links ou para ilustrar exemplos específicos de classificadores requeridos.</a:t>
            </a:r>
          </a:p>
        </p:txBody>
      </p:sp>
      <p:sp>
        <p:nvSpPr>
          <p:cNvPr name="TextBox 15" id="15"/>
          <p:cNvSpPr txBox="true"/>
          <p:nvPr/>
        </p:nvSpPr>
        <p:spPr>
          <a:xfrm rot="0">
            <a:off x="8263896" y="2363471"/>
            <a:ext cx="8995404" cy="6848637"/>
          </a:xfrm>
          <a:prstGeom prst="rect">
            <a:avLst/>
          </a:prstGeom>
        </p:spPr>
        <p:txBody>
          <a:bodyPr anchor="t" rtlCol="false" tIns="0" lIns="0" bIns="0" rIns="0">
            <a:spAutoFit/>
          </a:bodyPr>
          <a:lstStyle/>
          <a:p>
            <a:pPr algn="ctr" marL="0" indent="0" lvl="0">
              <a:lnSpc>
                <a:spcPts val="3666"/>
              </a:lnSpc>
              <a:spcBef>
                <a:spcPct val="0"/>
              </a:spcBef>
            </a:pPr>
            <a:r>
              <a:rPr lang="en-US" sz="2618" strike="noStrike" u="none">
                <a:solidFill>
                  <a:srgbClr val="000000"/>
                </a:solidFill>
                <a:latin typeface="Open Sans Bold"/>
                <a:ea typeface="Open Sans Bold"/>
                <a:cs typeface="Open Sans Bold"/>
                <a:sym typeface="Open Sans Bold"/>
              </a:rPr>
              <a:t>1- Escopo Limitado: Diagramas de objetos fornecem apenas um instantâneo do sistema em um momento específico, o que pode dificultar a captura de comportamentos dinâmicos e mudanças ao longo do tempo​. </a:t>
            </a:r>
          </a:p>
          <a:p>
            <a:pPr algn="ctr" marL="0" indent="0" lvl="0">
              <a:lnSpc>
                <a:spcPts val="3666"/>
              </a:lnSpc>
              <a:spcBef>
                <a:spcPct val="0"/>
              </a:spcBef>
            </a:pPr>
            <a:r>
              <a:rPr lang="en-US" sz="2618" strike="noStrike" u="none">
                <a:solidFill>
                  <a:srgbClr val="000000"/>
                </a:solidFill>
                <a:latin typeface="Open Sans Bold"/>
                <a:ea typeface="Open Sans Bold"/>
                <a:cs typeface="Open Sans Bold"/>
                <a:sym typeface="Open Sans Bold"/>
              </a:rPr>
              <a:t>2- Complexidade em Sistemas Grandes: Para sistemas grandes com muitos objetos e relacionamentos, os diagramas de objetos podem se tornar complexos e difíceis de gerenciar e entender, potencialmente obscurecendo informações úteis. </a:t>
            </a:r>
          </a:p>
          <a:p>
            <a:pPr algn="ctr" marL="0" indent="0" lvl="0">
              <a:lnSpc>
                <a:spcPts val="3666"/>
              </a:lnSpc>
              <a:spcBef>
                <a:spcPct val="0"/>
              </a:spcBef>
            </a:pPr>
            <a:r>
              <a:rPr lang="en-US" sz="2618" strike="noStrike" u="none">
                <a:solidFill>
                  <a:srgbClr val="000000"/>
                </a:solidFill>
                <a:latin typeface="Open Sans Bold"/>
                <a:ea typeface="Open Sans Bold"/>
                <a:cs typeface="Open Sans Bold"/>
                <a:sym typeface="Open Sans Bold"/>
              </a:rPr>
              <a:t>3- Natureza Estática: Eles oferecem uma visão estática do sistema, faltando a capacidade de representar interações e comportamentos ao longo do tempo, o que limita sua utilidade na modelagem de aspectos dinâmicos dos sistemas​.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3D534C94BE7ACC4B82DB0C57D8B917FB" ma:contentTypeVersion="5" ma:contentTypeDescription="Crie um novo documento." ma:contentTypeScope="" ma:versionID="62a2c0150b63379dfc6dc29281e4e6f5">
  <xsd:schema xmlns:xsd="http://www.w3.org/2001/XMLSchema" xmlns:xs="http://www.w3.org/2001/XMLSchema" xmlns:p="http://schemas.microsoft.com/office/2006/metadata/properties" xmlns:ns2="c71b2e08-5f48-4826-b3b9-729c518ea3db" targetNamespace="http://schemas.microsoft.com/office/2006/metadata/properties" ma:root="true" ma:fieldsID="e31b8c47eae556db8a51ed9dd6ca2eeb" ns2:_="">
    <xsd:import namespace="c71b2e08-5f48-4826-b3b9-729c518ea3db"/>
    <xsd:element name="properties">
      <xsd:complexType>
        <xsd:sequence>
          <xsd:element name="documentManagement">
            <xsd:complexType>
              <xsd:all>
                <xsd:element ref="ns2:ReferenceId" minOccurs="0"/>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71b2e08-5f48-4826-b3b9-729c518ea3db" elementFormDefault="qualified">
    <xsd:import namespace="http://schemas.microsoft.com/office/2006/documentManagement/types"/>
    <xsd:import namespace="http://schemas.microsoft.com/office/infopath/2007/PartnerControls"/>
    <xsd:element name="ReferenceId" ma:index="8" nillable="true" ma:displayName="ReferenceId" ma:indexed="true" ma:internalName="ReferenceId">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226FE22-6C9D-4930-84EB-776FC2FC5A33}"/>
</file>

<file path=customXml/itemProps2.xml><?xml version="1.0" encoding="utf-8"?>
<ds:datastoreItem xmlns:ds="http://schemas.openxmlformats.org/officeDocument/2006/customXml" ds:itemID="{D2585BA4-8168-4900-9BF3-FBB18B7BECB6}"/>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DAGNB0R9Mxc</dc:identifier>
  <dcterms:modified xsi:type="dcterms:W3CDTF">2011-08-01T06:04:30Z</dcterms:modified>
  <cp:revision>1</cp:revision>
  <dc:title>UML</dc:title>
</cp:coreProperties>
</file>