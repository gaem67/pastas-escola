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Garet ExtraBold" charset="1" panose="00000000000000000000"/>
      <p:regular r:id="rId27"/>
    </p:embeddedFont>
    <p:embeddedFont>
      <p:font typeface="Garet ExtraBold Italics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8" Type="http://schemas.openxmlformats.org/officeDocument/2006/relationships/slide" Target="slides/slide3.xml"/><Relationship Id="rId21" Type="http://schemas.openxmlformats.org/officeDocument/2006/relationships/slide" Target="slides/slide16.xml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28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27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30" Type="http://schemas.openxmlformats.org/officeDocument/2006/relationships/customXml" Target="../customXml/item2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jpe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37.png" Type="http://schemas.openxmlformats.org/officeDocument/2006/relationships/image"/><Relationship Id="rId15" Target="../media/image38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18" Target="../media/image3.png" Type="http://schemas.openxmlformats.org/officeDocument/2006/relationships/image"/><Relationship Id="rId19" Target="../media/image4.sv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267140">
            <a:off x="-1511208" y="7341216"/>
            <a:ext cx="4879280" cy="5131174"/>
          </a:xfrm>
          <a:custGeom>
            <a:avLst/>
            <a:gdLst/>
            <a:ahLst/>
            <a:cxnLst/>
            <a:rect r="r" b="b" t="t" l="l"/>
            <a:pathLst>
              <a:path h="5131174" w="4879280">
                <a:moveTo>
                  <a:pt x="0" y="0"/>
                </a:moveTo>
                <a:lnTo>
                  <a:pt x="4879280" y="0"/>
                </a:lnTo>
                <a:lnTo>
                  <a:pt x="4879280" y="5131174"/>
                </a:lnTo>
                <a:lnTo>
                  <a:pt x="0" y="513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5400000">
            <a:off x="16593170" y="-399575"/>
            <a:ext cx="878587" cy="3315424"/>
          </a:xfrm>
          <a:custGeom>
            <a:avLst/>
            <a:gdLst/>
            <a:ahLst/>
            <a:cxnLst/>
            <a:rect r="r" b="b" t="t" l="l"/>
            <a:pathLst>
              <a:path h="3315424" w="878587">
                <a:moveTo>
                  <a:pt x="0" y="0"/>
                </a:moveTo>
                <a:lnTo>
                  <a:pt x="878587" y="0"/>
                </a:lnTo>
                <a:lnTo>
                  <a:pt x="878587" y="3315425"/>
                </a:lnTo>
                <a:lnTo>
                  <a:pt x="0" y="331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307858">
            <a:off x="3141350" y="3369867"/>
            <a:ext cx="12510844" cy="2283259"/>
            <a:chOff x="0" y="0"/>
            <a:chExt cx="3070914" cy="5604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70914" cy="560449"/>
            </a:xfrm>
            <a:custGeom>
              <a:avLst/>
              <a:gdLst/>
              <a:ahLst/>
              <a:cxnLst/>
              <a:rect r="r" b="b" t="t" l="l"/>
              <a:pathLst>
                <a:path h="560449" w="3070914">
                  <a:moveTo>
                    <a:pt x="18565" y="0"/>
                  </a:moveTo>
                  <a:lnTo>
                    <a:pt x="3052350" y="0"/>
                  </a:lnTo>
                  <a:cubicBezTo>
                    <a:pt x="3062602" y="0"/>
                    <a:pt x="3070914" y="8312"/>
                    <a:pt x="3070914" y="18565"/>
                  </a:cubicBezTo>
                  <a:lnTo>
                    <a:pt x="3070914" y="541885"/>
                  </a:lnTo>
                  <a:cubicBezTo>
                    <a:pt x="3070914" y="546808"/>
                    <a:pt x="3068958" y="551530"/>
                    <a:pt x="3065477" y="555012"/>
                  </a:cubicBezTo>
                  <a:cubicBezTo>
                    <a:pt x="3061995" y="558493"/>
                    <a:pt x="3057273" y="560449"/>
                    <a:pt x="3052350" y="560449"/>
                  </a:cubicBezTo>
                  <a:lnTo>
                    <a:pt x="18565" y="560449"/>
                  </a:lnTo>
                  <a:cubicBezTo>
                    <a:pt x="13641" y="560449"/>
                    <a:pt x="8919" y="558493"/>
                    <a:pt x="5437" y="555012"/>
                  </a:cubicBezTo>
                  <a:cubicBezTo>
                    <a:pt x="1956" y="551530"/>
                    <a:pt x="0" y="546808"/>
                    <a:pt x="0" y="541885"/>
                  </a:cubicBezTo>
                  <a:lnTo>
                    <a:pt x="0" y="18565"/>
                  </a:lnTo>
                  <a:cubicBezTo>
                    <a:pt x="0" y="13641"/>
                    <a:pt x="1956" y="8919"/>
                    <a:pt x="5437" y="5437"/>
                  </a:cubicBezTo>
                  <a:cubicBezTo>
                    <a:pt x="8919" y="1956"/>
                    <a:pt x="13641" y="0"/>
                    <a:pt x="1856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070914" cy="57949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307858">
            <a:off x="2975364" y="3192248"/>
            <a:ext cx="12510844" cy="2339737"/>
            <a:chOff x="0" y="0"/>
            <a:chExt cx="3070914" cy="5743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70914" cy="574312"/>
            </a:xfrm>
            <a:custGeom>
              <a:avLst/>
              <a:gdLst/>
              <a:ahLst/>
              <a:cxnLst/>
              <a:rect r="r" b="b" t="t" l="l"/>
              <a:pathLst>
                <a:path h="574312" w="3070914">
                  <a:moveTo>
                    <a:pt x="18565" y="0"/>
                  </a:moveTo>
                  <a:lnTo>
                    <a:pt x="3052350" y="0"/>
                  </a:lnTo>
                  <a:cubicBezTo>
                    <a:pt x="3062602" y="0"/>
                    <a:pt x="3070914" y="8312"/>
                    <a:pt x="3070914" y="18565"/>
                  </a:cubicBezTo>
                  <a:lnTo>
                    <a:pt x="3070914" y="555748"/>
                  </a:lnTo>
                  <a:cubicBezTo>
                    <a:pt x="3070914" y="560671"/>
                    <a:pt x="3068958" y="565393"/>
                    <a:pt x="3065477" y="568875"/>
                  </a:cubicBezTo>
                  <a:cubicBezTo>
                    <a:pt x="3061995" y="572356"/>
                    <a:pt x="3057273" y="574312"/>
                    <a:pt x="3052350" y="574312"/>
                  </a:cubicBezTo>
                  <a:lnTo>
                    <a:pt x="18565" y="574312"/>
                  </a:lnTo>
                  <a:cubicBezTo>
                    <a:pt x="13641" y="574312"/>
                    <a:pt x="8919" y="572356"/>
                    <a:pt x="5437" y="568875"/>
                  </a:cubicBezTo>
                  <a:cubicBezTo>
                    <a:pt x="1956" y="565393"/>
                    <a:pt x="0" y="560671"/>
                    <a:pt x="0" y="555748"/>
                  </a:cubicBezTo>
                  <a:lnTo>
                    <a:pt x="0" y="18565"/>
                  </a:lnTo>
                  <a:cubicBezTo>
                    <a:pt x="0" y="13641"/>
                    <a:pt x="1956" y="8919"/>
                    <a:pt x="5437" y="5437"/>
                  </a:cubicBezTo>
                  <a:cubicBezTo>
                    <a:pt x="8919" y="1956"/>
                    <a:pt x="13641" y="0"/>
                    <a:pt x="1856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3070914" cy="593362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307858">
            <a:off x="5828347" y="5406816"/>
            <a:ext cx="7753740" cy="1844014"/>
            <a:chOff x="0" y="0"/>
            <a:chExt cx="1578546" cy="3754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78546" cy="375414"/>
            </a:xfrm>
            <a:custGeom>
              <a:avLst/>
              <a:gdLst/>
              <a:ahLst/>
              <a:cxnLst/>
              <a:rect r="r" b="b" t="t" l="l"/>
              <a:pathLst>
                <a:path h="375414" w="1578546">
                  <a:moveTo>
                    <a:pt x="37887" y="0"/>
                  </a:moveTo>
                  <a:lnTo>
                    <a:pt x="1540659" y="0"/>
                  </a:lnTo>
                  <a:cubicBezTo>
                    <a:pt x="1561583" y="0"/>
                    <a:pt x="1578546" y="16963"/>
                    <a:pt x="1578546" y="37887"/>
                  </a:cubicBezTo>
                  <a:lnTo>
                    <a:pt x="1578546" y="337527"/>
                  </a:lnTo>
                  <a:cubicBezTo>
                    <a:pt x="1578546" y="347575"/>
                    <a:pt x="1574554" y="357212"/>
                    <a:pt x="1567449" y="364317"/>
                  </a:cubicBezTo>
                  <a:cubicBezTo>
                    <a:pt x="1560344" y="371422"/>
                    <a:pt x="1550707" y="375414"/>
                    <a:pt x="1540659" y="375414"/>
                  </a:cubicBezTo>
                  <a:lnTo>
                    <a:pt x="37887" y="375414"/>
                  </a:lnTo>
                  <a:cubicBezTo>
                    <a:pt x="27839" y="375414"/>
                    <a:pt x="18202" y="371422"/>
                    <a:pt x="11097" y="364317"/>
                  </a:cubicBezTo>
                  <a:cubicBezTo>
                    <a:pt x="3992" y="357212"/>
                    <a:pt x="0" y="347575"/>
                    <a:pt x="0" y="337527"/>
                  </a:cubicBezTo>
                  <a:lnTo>
                    <a:pt x="0" y="37887"/>
                  </a:lnTo>
                  <a:cubicBezTo>
                    <a:pt x="0" y="27839"/>
                    <a:pt x="3992" y="18202"/>
                    <a:pt x="11097" y="11097"/>
                  </a:cubicBezTo>
                  <a:cubicBezTo>
                    <a:pt x="18202" y="3992"/>
                    <a:pt x="27839" y="0"/>
                    <a:pt x="37887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578546" cy="394464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307858">
            <a:off x="5567044" y="5197796"/>
            <a:ext cx="7785057" cy="1877903"/>
            <a:chOff x="0" y="0"/>
            <a:chExt cx="1584921" cy="3823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84921" cy="382313"/>
            </a:xfrm>
            <a:custGeom>
              <a:avLst/>
              <a:gdLst/>
              <a:ahLst/>
              <a:cxnLst/>
              <a:rect r="r" b="b" t="t" l="l"/>
              <a:pathLst>
                <a:path h="382313" w="1584921">
                  <a:moveTo>
                    <a:pt x="37735" y="0"/>
                  </a:moveTo>
                  <a:lnTo>
                    <a:pt x="1547187" y="0"/>
                  </a:lnTo>
                  <a:cubicBezTo>
                    <a:pt x="1568027" y="0"/>
                    <a:pt x="1584921" y="16894"/>
                    <a:pt x="1584921" y="37735"/>
                  </a:cubicBezTo>
                  <a:lnTo>
                    <a:pt x="1584921" y="344578"/>
                  </a:lnTo>
                  <a:cubicBezTo>
                    <a:pt x="1584921" y="354586"/>
                    <a:pt x="1580946" y="364184"/>
                    <a:pt x="1573869" y="371261"/>
                  </a:cubicBezTo>
                  <a:cubicBezTo>
                    <a:pt x="1566793" y="378337"/>
                    <a:pt x="1557195" y="382313"/>
                    <a:pt x="1547187" y="382313"/>
                  </a:cubicBezTo>
                  <a:lnTo>
                    <a:pt x="37735" y="382313"/>
                  </a:lnTo>
                  <a:cubicBezTo>
                    <a:pt x="16894" y="382313"/>
                    <a:pt x="0" y="365419"/>
                    <a:pt x="0" y="344578"/>
                  </a:cubicBezTo>
                  <a:lnTo>
                    <a:pt x="0" y="37735"/>
                  </a:lnTo>
                  <a:cubicBezTo>
                    <a:pt x="0" y="27727"/>
                    <a:pt x="3976" y="18129"/>
                    <a:pt x="11052" y="11052"/>
                  </a:cubicBezTo>
                  <a:cubicBezTo>
                    <a:pt x="18129" y="3976"/>
                    <a:pt x="27727" y="0"/>
                    <a:pt x="37735" y="0"/>
                  </a:cubicBezTo>
                  <a:close/>
                </a:path>
              </a:pathLst>
            </a:custGeom>
            <a:solidFill>
              <a:srgbClr val="85CEC3"/>
            </a:solidFill>
            <a:ln w="28575" cap="rnd">
              <a:solidFill>
                <a:srgbClr val="85CEC3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584921" cy="401363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463397">
            <a:off x="4558218" y="6606740"/>
            <a:ext cx="1880902" cy="1974229"/>
          </a:xfrm>
          <a:custGeom>
            <a:avLst/>
            <a:gdLst/>
            <a:ahLst/>
            <a:cxnLst/>
            <a:rect r="r" b="b" t="t" l="l"/>
            <a:pathLst>
              <a:path h="1974229" w="1880902">
                <a:moveTo>
                  <a:pt x="0" y="0"/>
                </a:moveTo>
                <a:lnTo>
                  <a:pt x="1880902" y="0"/>
                </a:lnTo>
                <a:lnTo>
                  <a:pt x="1880902" y="1974229"/>
                </a:lnTo>
                <a:lnTo>
                  <a:pt x="0" y="19742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321975">
            <a:off x="12797405" y="4873672"/>
            <a:ext cx="1570218" cy="1467440"/>
          </a:xfrm>
          <a:custGeom>
            <a:avLst/>
            <a:gdLst/>
            <a:ahLst/>
            <a:cxnLst/>
            <a:rect r="r" b="b" t="t" l="l"/>
            <a:pathLst>
              <a:path h="1467440" w="1570218">
                <a:moveTo>
                  <a:pt x="0" y="0"/>
                </a:moveTo>
                <a:lnTo>
                  <a:pt x="1570217" y="0"/>
                </a:lnTo>
                <a:lnTo>
                  <a:pt x="1570217" y="1467440"/>
                </a:lnTo>
                <a:lnTo>
                  <a:pt x="0" y="14674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2222493" y="2108508"/>
            <a:ext cx="1034022" cy="1079150"/>
          </a:xfrm>
          <a:custGeom>
            <a:avLst/>
            <a:gdLst/>
            <a:ahLst/>
            <a:cxnLst/>
            <a:rect r="r" b="b" t="t" l="l"/>
            <a:pathLst>
              <a:path h="1079150" w="1034022">
                <a:moveTo>
                  <a:pt x="0" y="0"/>
                </a:moveTo>
                <a:lnTo>
                  <a:pt x="1034022" y="0"/>
                </a:lnTo>
                <a:lnTo>
                  <a:pt x="1034022" y="1079151"/>
                </a:lnTo>
                <a:lnTo>
                  <a:pt x="0" y="10791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681722" y="8178178"/>
            <a:ext cx="996936" cy="1040445"/>
          </a:xfrm>
          <a:custGeom>
            <a:avLst/>
            <a:gdLst/>
            <a:ahLst/>
            <a:cxnLst/>
            <a:rect r="r" b="b" t="t" l="l"/>
            <a:pathLst>
              <a:path h="1040445" w="996936">
                <a:moveTo>
                  <a:pt x="0" y="0"/>
                </a:moveTo>
                <a:lnTo>
                  <a:pt x="996936" y="0"/>
                </a:lnTo>
                <a:lnTo>
                  <a:pt x="996936" y="1040445"/>
                </a:lnTo>
                <a:lnTo>
                  <a:pt x="0" y="10404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-307858">
            <a:off x="1144905" y="3168483"/>
            <a:ext cx="16152668" cy="201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89"/>
              </a:lnSpc>
            </a:pPr>
            <a:r>
              <a:rPr lang="en-US" sz="11849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DIAGRAMAS</a:t>
            </a:r>
          </a:p>
        </p:txBody>
      </p:sp>
      <p:sp>
        <p:nvSpPr>
          <p:cNvPr name="TextBox 25" id="25"/>
          <p:cNvSpPr txBox="true"/>
          <p:nvPr/>
        </p:nvSpPr>
        <p:spPr>
          <a:xfrm rot="-307858">
            <a:off x="5351597" y="5298083"/>
            <a:ext cx="8098583" cy="163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05"/>
              </a:lnSpc>
            </a:pPr>
            <a:r>
              <a:rPr lang="en-US" sz="9575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UML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04030" y="2671611"/>
            <a:ext cx="10936606" cy="6684432"/>
            <a:chOff x="0" y="0"/>
            <a:chExt cx="1367148" cy="835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7149" cy="835599"/>
            </a:xfrm>
            <a:custGeom>
              <a:avLst/>
              <a:gdLst/>
              <a:ahLst/>
              <a:cxnLst/>
              <a:rect r="r" b="b" t="t" l="l"/>
              <a:pathLst>
                <a:path h="835599" w="1367149">
                  <a:moveTo>
                    <a:pt x="35395" y="0"/>
                  </a:moveTo>
                  <a:lnTo>
                    <a:pt x="1331754" y="0"/>
                  </a:lnTo>
                  <a:cubicBezTo>
                    <a:pt x="1341141" y="0"/>
                    <a:pt x="1350144" y="3729"/>
                    <a:pt x="1356782" y="10367"/>
                  </a:cubicBezTo>
                  <a:cubicBezTo>
                    <a:pt x="1363419" y="17005"/>
                    <a:pt x="1367149" y="26007"/>
                    <a:pt x="1367149" y="35395"/>
                  </a:cubicBezTo>
                  <a:lnTo>
                    <a:pt x="1367149" y="800204"/>
                  </a:lnTo>
                  <a:cubicBezTo>
                    <a:pt x="1367149" y="809591"/>
                    <a:pt x="1363419" y="818594"/>
                    <a:pt x="1356782" y="825232"/>
                  </a:cubicBezTo>
                  <a:cubicBezTo>
                    <a:pt x="1350144" y="831869"/>
                    <a:pt x="1341141" y="835599"/>
                    <a:pt x="1331754" y="835599"/>
                  </a:cubicBezTo>
                  <a:lnTo>
                    <a:pt x="35395" y="835599"/>
                  </a:lnTo>
                  <a:cubicBezTo>
                    <a:pt x="26007" y="835599"/>
                    <a:pt x="17005" y="831869"/>
                    <a:pt x="10367" y="825232"/>
                  </a:cubicBezTo>
                  <a:cubicBezTo>
                    <a:pt x="3729" y="818594"/>
                    <a:pt x="0" y="809591"/>
                    <a:pt x="0" y="800204"/>
                  </a:cubicBezTo>
                  <a:lnTo>
                    <a:pt x="0" y="35395"/>
                  </a:lnTo>
                  <a:cubicBezTo>
                    <a:pt x="0" y="26007"/>
                    <a:pt x="3729" y="17005"/>
                    <a:pt x="10367" y="10367"/>
                  </a:cubicBezTo>
                  <a:cubicBezTo>
                    <a:pt x="17005" y="3729"/>
                    <a:pt x="26007" y="0"/>
                    <a:pt x="3539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367148" cy="835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90485" y="2159142"/>
            <a:ext cx="10936606" cy="6732128"/>
            <a:chOff x="0" y="0"/>
            <a:chExt cx="1367148" cy="8415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7149" cy="841561"/>
            </a:xfrm>
            <a:custGeom>
              <a:avLst/>
              <a:gdLst/>
              <a:ahLst/>
              <a:cxnLst/>
              <a:rect r="r" b="b" t="t" l="l"/>
              <a:pathLst>
                <a:path h="841561" w="1367149">
                  <a:moveTo>
                    <a:pt x="35395" y="0"/>
                  </a:moveTo>
                  <a:lnTo>
                    <a:pt x="1331754" y="0"/>
                  </a:lnTo>
                  <a:cubicBezTo>
                    <a:pt x="1341141" y="0"/>
                    <a:pt x="1350144" y="3729"/>
                    <a:pt x="1356782" y="10367"/>
                  </a:cubicBezTo>
                  <a:cubicBezTo>
                    <a:pt x="1363419" y="17005"/>
                    <a:pt x="1367149" y="26007"/>
                    <a:pt x="1367149" y="35395"/>
                  </a:cubicBezTo>
                  <a:lnTo>
                    <a:pt x="1367149" y="806166"/>
                  </a:lnTo>
                  <a:cubicBezTo>
                    <a:pt x="1367149" y="815553"/>
                    <a:pt x="1363419" y="824556"/>
                    <a:pt x="1356782" y="831194"/>
                  </a:cubicBezTo>
                  <a:cubicBezTo>
                    <a:pt x="1350144" y="837832"/>
                    <a:pt x="1341141" y="841561"/>
                    <a:pt x="1331754" y="841561"/>
                  </a:cubicBezTo>
                  <a:lnTo>
                    <a:pt x="35395" y="841561"/>
                  </a:lnTo>
                  <a:cubicBezTo>
                    <a:pt x="26007" y="841561"/>
                    <a:pt x="17005" y="837832"/>
                    <a:pt x="10367" y="831194"/>
                  </a:cubicBezTo>
                  <a:cubicBezTo>
                    <a:pt x="3729" y="824556"/>
                    <a:pt x="0" y="815553"/>
                    <a:pt x="0" y="806166"/>
                  </a:cubicBezTo>
                  <a:lnTo>
                    <a:pt x="0" y="35395"/>
                  </a:lnTo>
                  <a:cubicBezTo>
                    <a:pt x="0" y="26007"/>
                    <a:pt x="3729" y="17005"/>
                    <a:pt x="10367" y="10367"/>
                  </a:cubicBezTo>
                  <a:cubicBezTo>
                    <a:pt x="17005" y="3729"/>
                    <a:pt x="26007" y="0"/>
                    <a:pt x="3539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367148" cy="841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307858">
            <a:off x="1175741" y="1645203"/>
            <a:ext cx="6377225" cy="2002101"/>
            <a:chOff x="0" y="0"/>
            <a:chExt cx="1575308" cy="4945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75308" cy="494561"/>
            </a:xfrm>
            <a:custGeom>
              <a:avLst/>
              <a:gdLst/>
              <a:ahLst/>
              <a:cxnLst/>
              <a:rect r="r" b="b" t="t" l="l"/>
              <a:pathLst>
                <a:path h="494561" w="1575308">
                  <a:moveTo>
                    <a:pt x="62294" y="0"/>
                  </a:moveTo>
                  <a:lnTo>
                    <a:pt x="1513014" y="0"/>
                  </a:lnTo>
                  <a:cubicBezTo>
                    <a:pt x="1547418" y="0"/>
                    <a:pt x="1575308" y="27890"/>
                    <a:pt x="1575308" y="62294"/>
                  </a:cubicBezTo>
                  <a:lnTo>
                    <a:pt x="1575308" y="432267"/>
                  </a:lnTo>
                  <a:cubicBezTo>
                    <a:pt x="1575308" y="466671"/>
                    <a:pt x="1547418" y="494561"/>
                    <a:pt x="1513014" y="494561"/>
                  </a:cubicBezTo>
                  <a:lnTo>
                    <a:pt x="62294" y="494561"/>
                  </a:lnTo>
                  <a:cubicBezTo>
                    <a:pt x="27890" y="494561"/>
                    <a:pt x="0" y="466671"/>
                    <a:pt x="0" y="432267"/>
                  </a:cubicBezTo>
                  <a:lnTo>
                    <a:pt x="0" y="62294"/>
                  </a:lnTo>
                  <a:cubicBezTo>
                    <a:pt x="0" y="27890"/>
                    <a:pt x="27890" y="0"/>
                    <a:pt x="62294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75308" cy="532661"/>
            </a:xfrm>
            <a:prstGeom prst="rect">
              <a:avLst/>
            </a:prstGeom>
          </p:spPr>
          <p:txBody>
            <a:bodyPr anchor="ctr" rtlCol="false" tIns="51112" lIns="51112" bIns="51112" rIns="51112"/>
            <a:lstStyle/>
            <a:p>
              <a:pPr algn="ctr">
                <a:lnSpc>
                  <a:spcPts val="267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307858">
            <a:off x="1131298" y="1467301"/>
            <a:ext cx="6421757" cy="2002101"/>
            <a:chOff x="0" y="0"/>
            <a:chExt cx="1586308" cy="4945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86308" cy="494561"/>
            </a:xfrm>
            <a:custGeom>
              <a:avLst/>
              <a:gdLst/>
              <a:ahLst/>
              <a:cxnLst/>
              <a:rect r="r" b="b" t="t" l="l"/>
              <a:pathLst>
                <a:path h="494561" w="1586308">
                  <a:moveTo>
                    <a:pt x="36167" y="0"/>
                  </a:moveTo>
                  <a:lnTo>
                    <a:pt x="1550141" y="0"/>
                  </a:lnTo>
                  <a:cubicBezTo>
                    <a:pt x="1570116" y="0"/>
                    <a:pt x="1586308" y="16193"/>
                    <a:pt x="1586308" y="36167"/>
                  </a:cubicBezTo>
                  <a:lnTo>
                    <a:pt x="1586308" y="458394"/>
                  </a:lnTo>
                  <a:cubicBezTo>
                    <a:pt x="1586308" y="478368"/>
                    <a:pt x="1570116" y="494561"/>
                    <a:pt x="1550141" y="494561"/>
                  </a:cubicBezTo>
                  <a:lnTo>
                    <a:pt x="36167" y="494561"/>
                  </a:lnTo>
                  <a:cubicBezTo>
                    <a:pt x="16193" y="494561"/>
                    <a:pt x="0" y="478368"/>
                    <a:pt x="0" y="458394"/>
                  </a:cubicBezTo>
                  <a:lnTo>
                    <a:pt x="0" y="36167"/>
                  </a:lnTo>
                  <a:cubicBezTo>
                    <a:pt x="0" y="16193"/>
                    <a:pt x="16193" y="0"/>
                    <a:pt x="36167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586308" cy="513611"/>
            </a:xfrm>
            <a:prstGeom prst="rect">
              <a:avLst/>
            </a:prstGeom>
          </p:spPr>
          <p:txBody>
            <a:bodyPr anchor="ctr" rtlCol="false" tIns="51112" lIns="51112" bIns="51112" rIns="51112"/>
            <a:lstStyle/>
            <a:p>
              <a:pPr algn="ctr" marL="0" indent="0" lvl="0">
                <a:lnSpc>
                  <a:spcPts val="19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315592">
            <a:off x="6883897" y="2749213"/>
            <a:ext cx="1796059" cy="1107025"/>
          </a:xfrm>
          <a:custGeom>
            <a:avLst/>
            <a:gdLst/>
            <a:ahLst/>
            <a:cxnLst/>
            <a:rect r="r" b="b" t="t" l="l"/>
            <a:pathLst>
              <a:path h="1107025" w="1796059">
                <a:moveTo>
                  <a:pt x="0" y="0"/>
                </a:moveTo>
                <a:lnTo>
                  <a:pt x="1796059" y="0"/>
                </a:lnTo>
                <a:lnTo>
                  <a:pt x="1796059" y="1107026"/>
                </a:lnTo>
                <a:lnTo>
                  <a:pt x="0" y="1107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928020" y="4383908"/>
            <a:ext cx="1798897" cy="948509"/>
          </a:xfrm>
          <a:custGeom>
            <a:avLst/>
            <a:gdLst/>
            <a:ahLst/>
            <a:cxnLst/>
            <a:rect r="r" b="b" t="t" l="l"/>
            <a:pathLst>
              <a:path h="948509" w="1798897">
                <a:moveTo>
                  <a:pt x="0" y="0"/>
                </a:moveTo>
                <a:lnTo>
                  <a:pt x="1798897" y="0"/>
                </a:lnTo>
                <a:lnTo>
                  <a:pt x="1798897" y="948509"/>
                </a:lnTo>
                <a:lnTo>
                  <a:pt x="0" y="948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2112437" y="4383908"/>
            <a:ext cx="1798897" cy="948509"/>
          </a:xfrm>
          <a:custGeom>
            <a:avLst/>
            <a:gdLst/>
            <a:ahLst/>
            <a:cxnLst/>
            <a:rect r="r" b="b" t="t" l="l"/>
            <a:pathLst>
              <a:path h="948509" w="1798897">
                <a:moveTo>
                  <a:pt x="0" y="0"/>
                </a:moveTo>
                <a:lnTo>
                  <a:pt x="1798897" y="0"/>
                </a:lnTo>
                <a:lnTo>
                  <a:pt x="1798897" y="948509"/>
                </a:lnTo>
                <a:lnTo>
                  <a:pt x="0" y="948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6922715" y="5784183"/>
            <a:ext cx="1798897" cy="948509"/>
          </a:xfrm>
          <a:custGeom>
            <a:avLst/>
            <a:gdLst/>
            <a:ahLst/>
            <a:cxnLst/>
            <a:rect r="r" b="b" t="t" l="l"/>
            <a:pathLst>
              <a:path h="948509" w="1798897">
                <a:moveTo>
                  <a:pt x="0" y="0"/>
                </a:moveTo>
                <a:lnTo>
                  <a:pt x="1798897" y="0"/>
                </a:lnTo>
                <a:lnTo>
                  <a:pt x="1798897" y="948509"/>
                </a:lnTo>
                <a:lnTo>
                  <a:pt x="0" y="948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2107132" y="5784183"/>
            <a:ext cx="1798897" cy="948509"/>
          </a:xfrm>
          <a:custGeom>
            <a:avLst/>
            <a:gdLst/>
            <a:ahLst/>
            <a:cxnLst/>
            <a:rect r="r" b="b" t="t" l="l"/>
            <a:pathLst>
              <a:path h="948509" w="1798897">
                <a:moveTo>
                  <a:pt x="0" y="0"/>
                </a:moveTo>
                <a:lnTo>
                  <a:pt x="1798897" y="0"/>
                </a:lnTo>
                <a:lnTo>
                  <a:pt x="1798897" y="948509"/>
                </a:lnTo>
                <a:lnTo>
                  <a:pt x="0" y="948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6922715" y="7180367"/>
            <a:ext cx="1798897" cy="948509"/>
          </a:xfrm>
          <a:custGeom>
            <a:avLst/>
            <a:gdLst/>
            <a:ahLst/>
            <a:cxnLst/>
            <a:rect r="r" b="b" t="t" l="l"/>
            <a:pathLst>
              <a:path h="948509" w="1798897">
                <a:moveTo>
                  <a:pt x="0" y="0"/>
                </a:moveTo>
                <a:lnTo>
                  <a:pt x="1798897" y="0"/>
                </a:lnTo>
                <a:lnTo>
                  <a:pt x="1798897" y="948509"/>
                </a:lnTo>
                <a:lnTo>
                  <a:pt x="0" y="948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2107132" y="7180367"/>
            <a:ext cx="1798897" cy="948509"/>
          </a:xfrm>
          <a:custGeom>
            <a:avLst/>
            <a:gdLst/>
            <a:ahLst/>
            <a:cxnLst/>
            <a:rect r="r" b="b" t="t" l="l"/>
            <a:pathLst>
              <a:path h="948509" w="1798897">
                <a:moveTo>
                  <a:pt x="0" y="0"/>
                </a:moveTo>
                <a:lnTo>
                  <a:pt x="1798897" y="0"/>
                </a:lnTo>
                <a:lnTo>
                  <a:pt x="1798897" y="948509"/>
                </a:lnTo>
                <a:lnTo>
                  <a:pt x="0" y="948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-463397">
            <a:off x="15585892" y="645028"/>
            <a:ext cx="2034468" cy="2135415"/>
          </a:xfrm>
          <a:custGeom>
            <a:avLst/>
            <a:gdLst/>
            <a:ahLst/>
            <a:cxnLst/>
            <a:rect r="r" b="b" t="t" l="l"/>
            <a:pathLst>
              <a:path h="2135415" w="2034468">
                <a:moveTo>
                  <a:pt x="0" y="0"/>
                </a:moveTo>
                <a:lnTo>
                  <a:pt x="2034467" y="0"/>
                </a:lnTo>
                <a:lnTo>
                  <a:pt x="2034467" y="2135415"/>
                </a:lnTo>
                <a:lnTo>
                  <a:pt x="0" y="2135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028700" y="4795383"/>
            <a:ext cx="1034022" cy="1079150"/>
          </a:xfrm>
          <a:custGeom>
            <a:avLst/>
            <a:gdLst/>
            <a:ahLst/>
            <a:cxnLst/>
            <a:rect r="r" b="b" t="t" l="l"/>
            <a:pathLst>
              <a:path h="1079150" w="1034022">
                <a:moveTo>
                  <a:pt x="0" y="0"/>
                </a:moveTo>
                <a:lnTo>
                  <a:pt x="1034022" y="0"/>
                </a:lnTo>
                <a:lnTo>
                  <a:pt x="1034022" y="1079150"/>
                </a:lnTo>
                <a:lnTo>
                  <a:pt x="0" y="10791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062722" y="6139922"/>
            <a:ext cx="996936" cy="1040445"/>
          </a:xfrm>
          <a:custGeom>
            <a:avLst/>
            <a:gdLst/>
            <a:ahLst/>
            <a:cxnLst/>
            <a:rect r="r" b="b" t="t" l="l"/>
            <a:pathLst>
              <a:path h="1040445" w="996936">
                <a:moveTo>
                  <a:pt x="0" y="0"/>
                </a:moveTo>
                <a:lnTo>
                  <a:pt x="996936" y="0"/>
                </a:lnTo>
                <a:lnTo>
                  <a:pt x="996936" y="1040445"/>
                </a:lnTo>
                <a:lnTo>
                  <a:pt x="0" y="10404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-307858">
            <a:off x="622866" y="1569061"/>
            <a:ext cx="7408535" cy="161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21"/>
              </a:lnSpc>
            </a:pPr>
            <a:r>
              <a:rPr lang="en-US" sz="9444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TÓPICOS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68702" y="4595645"/>
            <a:ext cx="2450007" cy="48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838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Introdução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53119" y="4595645"/>
            <a:ext cx="2738641" cy="980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838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atividade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72284" y="5835899"/>
            <a:ext cx="2900311" cy="980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838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comunic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63397" y="7392104"/>
            <a:ext cx="2450007" cy="980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838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Para que é usado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47814" y="7392104"/>
            <a:ext cx="2450007" cy="482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838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Conclusão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73684" y="4407050"/>
            <a:ext cx="1547860" cy="71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417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01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58100" y="4407050"/>
            <a:ext cx="1547860" cy="71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417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68379" y="5807324"/>
            <a:ext cx="1547860" cy="71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417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52795" y="5807324"/>
            <a:ext cx="1547860" cy="71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417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05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68379" y="7203508"/>
            <a:ext cx="1547860" cy="71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417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52795" y="7203508"/>
            <a:ext cx="1547860" cy="71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1"/>
              </a:lnSpc>
            </a:pPr>
            <a:r>
              <a:rPr lang="en-US" sz="417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06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5400000">
            <a:off x="74755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7" y="0"/>
                </a:lnTo>
                <a:lnTo>
                  <a:pt x="702867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8" id="38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8963397" y="5835899"/>
            <a:ext cx="2450007" cy="980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838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O que é a UML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812952" y="2417505"/>
            <a:ext cx="10662097" cy="527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3"/>
              </a:lnSpc>
            </a:pPr>
          </a:p>
          <a:p>
            <a:pPr algn="ctr">
              <a:lnSpc>
                <a:spcPts val="4203"/>
              </a:lnSpc>
            </a:pPr>
          </a:p>
          <a:p>
            <a:pPr algn="ctr" marL="0" indent="0" lvl="0">
              <a:lnSpc>
                <a:spcPts val="4203"/>
              </a:lnSpc>
            </a:pPr>
            <a:r>
              <a:rPr lang="en-US" sz="1901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A UML (Unified Modeling Language) é uma linguagem de modelagem gráfica que facilita a visualização e organização de projetos de software, adotada oficialmente pela OMG em 1997. Reconhecida por sua estabilidade e independência de linguagem de programação, a UML é composta por 14 diagramas, divididos em estruturais e comportamentais. Esta pesquisa foca em dois diagramas comportamentais: o diagrama de atividade, que organiza ações necessárias para realizar tarefas, e o diagrama de comunicação, que mapeia a troca de mensagens entre instâncias.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900925" y="1723840"/>
            <a:ext cx="6486151" cy="107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6364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INTRODUÇÃO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13462" y="3788381"/>
            <a:ext cx="12336407" cy="36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A UML (Unified Modeling Language) é uma linguagem de modelagem gráfica adotada pela OMG em 1997, usada para visualizar, especificar, construir e documentar sistemas de software. Ela facilita a organização e o planejamento de projetos, criando diagramas que representam a estrutura, comportamento e interações do software, promovendo uma comunicação clara e eficiente entre os desenvolvedores.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900925" y="1723840"/>
            <a:ext cx="6486151" cy="107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6364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O QUE É A UML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14983" y="3078059"/>
            <a:ext cx="12568964" cy="496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5"/>
              </a:lnSpc>
            </a:pPr>
          </a:p>
          <a:p>
            <a:pPr algn="ctr">
              <a:lnSpc>
                <a:spcPts val="4955"/>
              </a:lnSpc>
            </a:pPr>
            <a:r>
              <a:rPr lang="en-US" sz="2242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O diagrama de atividade é um diagrama comportamental que representa graficamente o fluxo de controle das atividades passo a passo. Ele especifica a transformação sequencial e controlada de entradas em saídas, similar a um fluxograma, mas com suporte para atividades simultâneas e paralelas. Esse diagrama descreve uma atividade que pode envolver várias ações, como o agendamento de uma consulta online ou a escolha de um horário.</a:t>
            </a:r>
          </a:p>
          <a:p>
            <a:pPr algn="ctr" marL="0" indent="0" lvl="0">
              <a:lnSpc>
                <a:spcPts val="4955"/>
              </a:lnSpc>
            </a:pP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900925" y="1723840"/>
            <a:ext cx="6486151" cy="107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6364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O QUE É 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84484" y="2818063"/>
            <a:ext cx="5394363" cy="822365"/>
            <a:chOff x="0" y="0"/>
            <a:chExt cx="1670978" cy="2547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0978" cy="254739"/>
            </a:xfrm>
            <a:custGeom>
              <a:avLst/>
              <a:gdLst/>
              <a:ahLst/>
              <a:cxnLst/>
              <a:rect r="r" b="b" t="t" l="l"/>
              <a:pathLst>
                <a:path h="254739" w="1670978">
                  <a:moveTo>
                    <a:pt x="43056" y="0"/>
                  </a:moveTo>
                  <a:lnTo>
                    <a:pt x="1627923" y="0"/>
                  </a:lnTo>
                  <a:cubicBezTo>
                    <a:pt x="1639342" y="0"/>
                    <a:pt x="1650293" y="4536"/>
                    <a:pt x="1658368" y="12611"/>
                  </a:cubicBezTo>
                  <a:cubicBezTo>
                    <a:pt x="1666442" y="20685"/>
                    <a:pt x="1670978" y="31637"/>
                    <a:pt x="1670978" y="43056"/>
                  </a:cubicBezTo>
                  <a:lnTo>
                    <a:pt x="1670978" y="211683"/>
                  </a:lnTo>
                  <a:cubicBezTo>
                    <a:pt x="1670978" y="223102"/>
                    <a:pt x="1666442" y="234054"/>
                    <a:pt x="1658368" y="242128"/>
                  </a:cubicBezTo>
                  <a:cubicBezTo>
                    <a:pt x="1650293" y="250203"/>
                    <a:pt x="1639342" y="254739"/>
                    <a:pt x="1627923" y="254739"/>
                  </a:cubicBezTo>
                  <a:lnTo>
                    <a:pt x="43056" y="254739"/>
                  </a:lnTo>
                  <a:cubicBezTo>
                    <a:pt x="31637" y="254739"/>
                    <a:pt x="20685" y="250203"/>
                    <a:pt x="12611" y="242128"/>
                  </a:cubicBezTo>
                  <a:cubicBezTo>
                    <a:pt x="4536" y="234054"/>
                    <a:pt x="0" y="223102"/>
                    <a:pt x="0" y="211683"/>
                  </a:cubicBezTo>
                  <a:lnTo>
                    <a:pt x="0" y="43056"/>
                  </a:lnTo>
                  <a:cubicBezTo>
                    <a:pt x="0" y="31637"/>
                    <a:pt x="4536" y="20685"/>
                    <a:pt x="12611" y="12611"/>
                  </a:cubicBezTo>
                  <a:cubicBezTo>
                    <a:pt x="20685" y="4536"/>
                    <a:pt x="31637" y="0"/>
                    <a:pt x="43056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670978" cy="27378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258081" y="2956072"/>
            <a:ext cx="6168751" cy="479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278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ATIVIDADE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80451" y="3497553"/>
            <a:ext cx="12336407" cy="486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São estes:</a:t>
            </a: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Nó inicial: Onde a modelagem da atividade começa.</a:t>
            </a: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Aresta / Fluxo: Dita a ordem das ações por meio de setas, ordenando a sequência de atividades. É representado por setas.</a:t>
            </a: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Decisão: Onde há um fluxo de entrada e vários fluxos de saída. Cada fluxo individual nesse caso obedece a uma sentinela (ou guarda) exclusiva, que é uma condição booleana na qual é colocada entre parênteses.</a:t>
            </a:r>
          </a:p>
          <a:p>
            <a:pPr algn="ctr" marL="0" indent="0" lvl="0">
              <a:lnSpc>
                <a:spcPts val="4863"/>
              </a:lnSpc>
            </a:pP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593333" y="1771105"/>
            <a:ext cx="9101334" cy="98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6"/>
              </a:lnSpc>
            </a:pPr>
            <a:r>
              <a:rPr lang="en-US" sz="5740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ELEMENTOS DO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84484" y="2818063"/>
            <a:ext cx="5394363" cy="822365"/>
            <a:chOff x="0" y="0"/>
            <a:chExt cx="1670978" cy="2547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0978" cy="254739"/>
            </a:xfrm>
            <a:custGeom>
              <a:avLst/>
              <a:gdLst/>
              <a:ahLst/>
              <a:cxnLst/>
              <a:rect r="r" b="b" t="t" l="l"/>
              <a:pathLst>
                <a:path h="254739" w="1670978">
                  <a:moveTo>
                    <a:pt x="43056" y="0"/>
                  </a:moveTo>
                  <a:lnTo>
                    <a:pt x="1627923" y="0"/>
                  </a:lnTo>
                  <a:cubicBezTo>
                    <a:pt x="1639342" y="0"/>
                    <a:pt x="1650293" y="4536"/>
                    <a:pt x="1658368" y="12611"/>
                  </a:cubicBezTo>
                  <a:cubicBezTo>
                    <a:pt x="1666442" y="20685"/>
                    <a:pt x="1670978" y="31637"/>
                    <a:pt x="1670978" y="43056"/>
                  </a:cubicBezTo>
                  <a:lnTo>
                    <a:pt x="1670978" y="211683"/>
                  </a:lnTo>
                  <a:cubicBezTo>
                    <a:pt x="1670978" y="223102"/>
                    <a:pt x="1666442" y="234054"/>
                    <a:pt x="1658368" y="242128"/>
                  </a:cubicBezTo>
                  <a:cubicBezTo>
                    <a:pt x="1650293" y="250203"/>
                    <a:pt x="1639342" y="254739"/>
                    <a:pt x="1627923" y="254739"/>
                  </a:cubicBezTo>
                  <a:lnTo>
                    <a:pt x="43056" y="254739"/>
                  </a:lnTo>
                  <a:cubicBezTo>
                    <a:pt x="31637" y="254739"/>
                    <a:pt x="20685" y="250203"/>
                    <a:pt x="12611" y="242128"/>
                  </a:cubicBezTo>
                  <a:cubicBezTo>
                    <a:pt x="4536" y="234054"/>
                    <a:pt x="0" y="223102"/>
                    <a:pt x="0" y="211683"/>
                  </a:cubicBezTo>
                  <a:lnTo>
                    <a:pt x="0" y="43056"/>
                  </a:lnTo>
                  <a:cubicBezTo>
                    <a:pt x="0" y="31637"/>
                    <a:pt x="4536" y="20685"/>
                    <a:pt x="12611" y="12611"/>
                  </a:cubicBezTo>
                  <a:cubicBezTo>
                    <a:pt x="20685" y="4536"/>
                    <a:pt x="31637" y="0"/>
                    <a:pt x="43056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670978" cy="27378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258081" y="2956072"/>
            <a:ext cx="6168751" cy="479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278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ATIVIDADE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80451" y="3660993"/>
            <a:ext cx="12336407" cy="4247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Divergência: Também chamado de </a:t>
            </a:r>
            <a:r>
              <a:rPr lang="en-US" sz="2200">
                <a:solidFill>
                  <a:srgbClr val="000000"/>
                </a:solidFill>
                <a:latin typeface="Garet ExtraBold Italics"/>
                <a:ea typeface="Garet ExtraBold Italics"/>
                <a:cs typeface="Garet ExtraBold Italics"/>
                <a:sym typeface="Garet ExtraBold Italics"/>
              </a:rPr>
              <a:t>fork,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é o ponto no qual duas ou mais ações podem se iniciar em paralelo.</a:t>
            </a: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Convergência: Também chamado de </a:t>
            </a:r>
            <a:r>
              <a:rPr lang="en-US" sz="2200">
                <a:solidFill>
                  <a:srgbClr val="000000"/>
                </a:solidFill>
                <a:latin typeface="Garet ExtraBold Italics"/>
                <a:ea typeface="Garet ExtraBold Italics"/>
                <a:cs typeface="Garet ExtraBold Italics"/>
                <a:sym typeface="Garet ExtraBold Italics"/>
              </a:rPr>
              <a:t>Join,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é o ponto onde duas tarefas paralelas se unem para a para iniciar uma tarefa só.</a:t>
            </a: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Nó final: é onde a atividade é finalizada.</a:t>
            </a: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Partições: Identifica quem é responsável por cada ação ou conjunto de ações.</a:t>
            </a:r>
          </a:p>
          <a:p>
            <a:pPr algn="ctr" marL="0" indent="0" lvl="0">
              <a:lnSpc>
                <a:spcPts val="4863"/>
              </a:lnSpc>
            </a:pP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593333" y="1771105"/>
            <a:ext cx="9101334" cy="98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6"/>
              </a:lnSpc>
            </a:pPr>
            <a:r>
              <a:rPr lang="en-US" sz="5740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ELEMENTOS DO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84484" y="2818063"/>
            <a:ext cx="5394363" cy="822365"/>
            <a:chOff x="0" y="0"/>
            <a:chExt cx="1670978" cy="2547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0978" cy="254739"/>
            </a:xfrm>
            <a:custGeom>
              <a:avLst/>
              <a:gdLst/>
              <a:ahLst/>
              <a:cxnLst/>
              <a:rect r="r" b="b" t="t" l="l"/>
              <a:pathLst>
                <a:path h="254739" w="1670978">
                  <a:moveTo>
                    <a:pt x="43056" y="0"/>
                  </a:moveTo>
                  <a:lnTo>
                    <a:pt x="1627923" y="0"/>
                  </a:lnTo>
                  <a:cubicBezTo>
                    <a:pt x="1639342" y="0"/>
                    <a:pt x="1650293" y="4536"/>
                    <a:pt x="1658368" y="12611"/>
                  </a:cubicBezTo>
                  <a:cubicBezTo>
                    <a:pt x="1666442" y="20685"/>
                    <a:pt x="1670978" y="31637"/>
                    <a:pt x="1670978" y="43056"/>
                  </a:cubicBezTo>
                  <a:lnTo>
                    <a:pt x="1670978" y="211683"/>
                  </a:lnTo>
                  <a:cubicBezTo>
                    <a:pt x="1670978" y="223102"/>
                    <a:pt x="1666442" y="234054"/>
                    <a:pt x="1658368" y="242128"/>
                  </a:cubicBezTo>
                  <a:cubicBezTo>
                    <a:pt x="1650293" y="250203"/>
                    <a:pt x="1639342" y="254739"/>
                    <a:pt x="1627923" y="254739"/>
                  </a:cubicBezTo>
                  <a:lnTo>
                    <a:pt x="43056" y="254739"/>
                  </a:lnTo>
                  <a:cubicBezTo>
                    <a:pt x="31637" y="254739"/>
                    <a:pt x="20685" y="250203"/>
                    <a:pt x="12611" y="242128"/>
                  </a:cubicBezTo>
                  <a:cubicBezTo>
                    <a:pt x="4536" y="234054"/>
                    <a:pt x="0" y="223102"/>
                    <a:pt x="0" y="211683"/>
                  </a:cubicBezTo>
                  <a:lnTo>
                    <a:pt x="0" y="43056"/>
                  </a:lnTo>
                  <a:cubicBezTo>
                    <a:pt x="0" y="31637"/>
                    <a:pt x="4536" y="20685"/>
                    <a:pt x="12611" y="12611"/>
                  </a:cubicBezTo>
                  <a:cubicBezTo>
                    <a:pt x="20685" y="4536"/>
                    <a:pt x="31637" y="0"/>
                    <a:pt x="43056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670978" cy="27378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258081" y="2956072"/>
            <a:ext cx="6168751" cy="479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278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ATIVIDADE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80451" y="3050956"/>
            <a:ext cx="12336407" cy="486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Mensagens/Sinais: Indica o envio ou recebimento de sinais ou mensagens em uma ação.</a:t>
            </a: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Evento Temporal: Representado como uma ampulheta, determina quando uma atividade será realizada.</a:t>
            </a:r>
          </a:p>
          <a:p>
            <a:pPr algn="ctr" marL="0" indent="0" lvl="0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Chamada de Subatividade: Representada por um tridente invertido, indica que uma ação pode conter outras ações, mas ainda é considerada uma única ação no sistema, como a verificação de senha em um login.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593333" y="1771105"/>
            <a:ext cx="9101334" cy="98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6"/>
              </a:lnSpc>
            </a:pPr>
            <a:r>
              <a:rPr lang="en-US" sz="5740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ELEMENTOS DO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84484" y="2818063"/>
            <a:ext cx="5394363" cy="822365"/>
            <a:chOff x="0" y="0"/>
            <a:chExt cx="1670978" cy="2547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0978" cy="254739"/>
            </a:xfrm>
            <a:custGeom>
              <a:avLst/>
              <a:gdLst/>
              <a:ahLst/>
              <a:cxnLst/>
              <a:rect r="r" b="b" t="t" l="l"/>
              <a:pathLst>
                <a:path h="254739" w="1670978">
                  <a:moveTo>
                    <a:pt x="43056" y="0"/>
                  </a:moveTo>
                  <a:lnTo>
                    <a:pt x="1627923" y="0"/>
                  </a:lnTo>
                  <a:cubicBezTo>
                    <a:pt x="1639342" y="0"/>
                    <a:pt x="1650293" y="4536"/>
                    <a:pt x="1658368" y="12611"/>
                  </a:cubicBezTo>
                  <a:cubicBezTo>
                    <a:pt x="1666442" y="20685"/>
                    <a:pt x="1670978" y="31637"/>
                    <a:pt x="1670978" y="43056"/>
                  </a:cubicBezTo>
                  <a:lnTo>
                    <a:pt x="1670978" y="211683"/>
                  </a:lnTo>
                  <a:cubicBezTo>
                    <a:pt x="1670978" y="223102"/>
                    <a:pt x="1666442" y="234054"/>
                    <a:pt x="1658368" y="242128"/>
                  </a:cubicBezTo>
                  <a:cubicBezTo>
                    <a:pt x="1650293" y="250203"/>
                    <a:pt x="1639342" y="254739"/>
                    <a:pt x="1627923" y="254739"/>
                  </a:cubicBezTo>
                  <a:lnTo>
                    <a:pt x="43056" y="254739"/>
                  </a:lnTo>
                  <a:cubicBezTo>
                    <a:pt x="31637" y="254739"/>
                    <a:pt x="20685" y="250203"/>
                    <a:pt x="12611" y="242128"/>
                  </a:cubicBezTo>
                  <a:cubicBezTo>
                    <a:pt x="4536" y="234054"/>
                    <a:pt x="0" y="223102"/>
                    <a:pt x="0" y="211683"/>
                  </a:cubicBezTo>
                  <a:lnTo>
                    <a:pt x="0" y="43056"/>
                  </a:lnTo>
                  <a:cubicBezTo>
                    <a:pt x="0" y="31637"/>
                    <a:pt x="4536" y="20685"/>
                    <a:pt x="12611" y="12611"/>
                  </a:cubicBezTo>
                  <a:cubicBezTo>
                    <a:pt x="20685" y="4536"/>
                    <a:pt x="31637" y="0"/>
                    <a:pt x="43056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670978" cy="27378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258081" y="2956072"/>
            <a:ext cx="6168751" cy="479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278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ATIVIDADE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80451" y="3050956"/>
            <a:ext cx="12336407" cy="116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</a:p>
          <a:p>
            <a:pPr algn="ctr" marL="0" indent="0" lvl="0">
              <a:lnSpc>
                <a:spcPts val="4863"/>
              </a:lnSpc>
            </a:pP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593333" y="1771105"/>
            <a:ext cx="9101334" cy="98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6"/>
              </a:lnSpc>
            </a:pPr>
            <a:r>
              <a:rPr lang="en-US" sz="5740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VANTAGENS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84484" y="2818063"/>
            <a:ext cx="5394363" cy="822365"/>
            <a:chOff x="0" y="0"/>
            <a:chExt cx="1670978" cy="2547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0978" cy="254739"/>
            </a:xfrm>
            <a:custGeom>
              <a:avLst/>
              <a:gdLst/>
              <a:ahLst/>
              <a:cxnLst/>
              <a:rect r="r" b="b" t="t" l="l"/>
              <a:pathLst>
                <a:path h="254739" w="1670978">
                  <a:moveTo>
                    <a:pt x="43056" y="0"/>
                  </a:moveTo>
                  <a:lnTo>
                    <a:pt x="1627923" y="0"/>
                  </a:lnTo>
                  <a:cubicBezTo>
                    <a:pt x="1639342" y="0"/>
                    <a:pt x="1650293" y="4536"/>
                    <a:pt x="1658368" y="12611"/>
                  </a:cubicBezTo>
                  <a:cubicBezTo>
                    <a:pt x="1666442" y="20685"/>
                    <a:pt x="1670978" y="31637"/>
                    <a:pt x="1670978" y="43056"/>
                  </a:cubicBezTo>
                  <a:lnTo>
                    <a:pt x="1670978" y="211683"/>
                  </a:lnTo>
                  <a:cubicBezTo>
                    <a:pt x="1670978" y="223102"/>
                    <a:pt x="1666442" y="234054"/>
                    <a:pt x="1658368" y="242128"/>
                  </a:cubicBezTo>
                  <a:cubicBezTo>
                    <a:pt x="1650293" y="250203"/>
                    <a:pt x="1639342" y="254739"/>
                    <a:pt x="1627923" y="254739"/>
                  </a:cubicBezTo>
                  <a:lnTo>
                    <a:pt x="43056" y="254739"/>
                  </a:lnTo>
                  <a:cubicBezTo>
                    <a:pt x="31637" y="254739"/>
                    <a:pt x="20685" y="250203"/>
                    <a:pt x="12611" y="242128"/>
                  </a:cubicBezTo>
                  <a:cubicBezTo>
                    <a:pt x="4536" y="234054"/>
                    <a:pt x="0" y="223102"/>
                    <a:pt x="0" y="211683"/>
                  </a:cubicBezTo>
                  <a:lnTo>
                    <a:pt x="0" y="43056"/>
                  </a:lnTo>
                  <a:cubicBezTo>
                    <a:pt x="0" y="31637"/>
                    <a:pt x="4536" y="20685"/>
                    <a:pt x="12611" y="12611"/>
                  </a:cubicBezTo>
                  <a:cubicBezTo>
                    <a:pt x="20685" y="4536"/>
                    <a:pt x="31637" y="0"/>
                    <a:pt x="43056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670978" cy="27378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258081" y="2956072"/>
            <a:ext cx="6168751" cy="479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278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ATIVIDADE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80451" y="3602328"/>
            <a:ext cx="12336407" cy="395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24" indent="-302262" lvl="1">
              <a:lnSpc>
                <a:spcPts val="64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Visualização do Fluxo de Trabalho</a:t>
            </a:r>
          </a:p>
          <a:p>
            <a:pPr algn="ctr" marL="604524" indent="-302262" lvl="1">
              <a:lnSpc>
                <a:spcPts val="64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Facilita a Compreensão dos Processos</a:t>
            </a:r>
          </a:p>
          <a:p>
            <a:pPr algn="ctr" marL="604524" indent="-302262" lvl="1">
              <a:lnSpc>
                <a:spcPts val="64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Útil para Modelagem de Processos de Negócio</a:t>
            </a:r>
          </a:p>
          <a:p>
            <a:pPr algn="ctr" marL="604524" indent="-302262" lvl="1">
              <a:lnSpc>
                <a:spcPts val="64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Identificação de Gargalos</a:t>
            </a:r>
          </a:p>
          <a:p>
            <a:pPr algn="ctr" marL="604524" indent="-302262" lvl="1">
              <a:lnSpc>
                <a:spcPts val="64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Flexibilidade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80451" y="3050956"/>
            <a:ext cx="12336407" cy="116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</a:p>
          <a:p>
            <a:pPr algn="ctr" marL="0" indent="0" lvl="0">
              <a:lnSpc>
                <a:spcPts val="4863"/>
              </a:lnSpc>
            </a:pP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593333" y="1771105"/>
            <a:ext cx="9101334" cy="98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6"/>
              </a:lnSpc>
            </a:pPr>
            <a:r>
              <a:rPr lang="en-US" sz="5740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DESVANTAGENS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84484" y="2818063"/>
            <a:ext cx="5394363" cy="822365"/>
            <a:chOff x="0" y="0"/>
            <a:chExt cx="1670978" cy="2547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0978" cy="254739"/>
            </a:xfrm>
            <a:custGeom>
              <a:avLst/>
              <a:gdLst/>
              <a:ahLst/>
              <a:cxnLst/>
              <a:rect r="r" b="b" t="t" l="l"/>
              <a:pathLst>
                <a:path h="254739" w="1670978">
                  <a:moveTo>
                    <a:pt x="43056" y="0"/>
                  </a:moveTo>
                  <a:lnTo>
                    <a:pt x="1627923" y="0"/>
                  </a:lnTo>
                  <a:cubicBezTo>
                    <a:pt x="1639342" y="0"/>
                    <a:pt x="1650293" y="4536"/>
                    <a:pt x="1658368" y="12611"/>
                  </a:cubicBezTo>
                  <a:cubicBezTo>
                    <a:pt x="1666442" y="20685"/>
                    <a:pt x="1670978" y="31637"/>
                    <a:pt x="1670978" y="43056"/>
                  </a:cubicBezTo>
                  <a:lnTo>
                    <a:pt x="1670978" y="211683"/>
                  </a:lnTo>
                  <a:cubicBezTo>
                    <a:pt x="1670978" y="223102"/>
                    <a:pt x="1666442" y="234054"/>
                    <a:pt x="1658368" y="242128"/>
                  </a:cubicBezTo>
                  <a:cubicBezTo>
                    <a:pt x="1650293" y="250203"/>
                    <a:pt x="1639342" y="254739"/>
                    <a:pt x="1627923" y="254739"/>
                  </a:cubicBezTo>
                  <a:lnTo>
                    <a:pt x="43056" y="254739"/>
                  </a:lnTo>
                  <a:cubicBezTo>
                    <a:pt x="31637" y="254739"/>
                    <a:pt x="20685" y="250203"/>
                    <a:pt x="12611" y="242128"/>
                  </a:cubicBezTo>
                  <a:cubicBezTo>
                    <a:pt x="4536" y="234054"/>
                    <a:pt x="0" y="223102"/>
                    <a:pt x="0" y="211683"/>
                  </a:cubicBezTo>
                  <a:lnTo>
                    <a:pt x="0" y="43056"/>
                  </a:lnTo>
                  <a:cubicBezTo>
                    <a:pt x="0" y="31637"/>
                    <a:pt x="4536" y="20685"/>
                    <a:pt x="12611" y="12611"/>
                  </a:cubicBezTo>
                  <a:cubicBezTo>
                    <a:pt x="20685" y="4536"/>
                    <a:pt x="31637" y="0"/>
                    <a:pt x="43056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670978" cy="27378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258081" y="2956072"/>
            <a:ext cx="6168751" cy="479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278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ATIVIDADE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80451" y="3573753"/>
            <a:ext cx="12336407" cy="36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82" indent="-345441" lvl="1">
              <a:lnSpc>
                <a:spcPts val="73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Complexidade em Grandes Processos</a:t>
            </a:r>
          </a:p>
          <a:p>
            <a:pPr algn="ctr" marL="690882" indent="-345441" lvl="1">
              <a:lnSpc>
                <a:spcPts val="73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Ambiguidade em Detalhamento</a:t>
            </a:r>
          </a:p>
          <a:p>
            <a:pPr algn="ctr" marL="690882" indent="-345441" lvl="1">
              <a:lnSpc>
                <a:spcPts val="73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Foco em Sequência, não em Estrutura</a:t>
            </a:r>
          </a:p>
          <a:p>
            <a:pPr algn="ctr" marL="690882" indent="-345441" lvl="1">
              <a:lnSpc>
                <a:spcPts val="73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Dificuldade em Representar Iterações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9244" y="3051479"/>
            <a:ext cx="17060578" cy="7237290"/>
            <a:chOff x="0" y="0"/>
            <a:chExt cx="1969769" cy="835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9769" cy="835599"/>
            </a:xfrm>
            <a:custGeom>
              <a:avLst/>
              <a:gdLst/>
              <a:ahLst/>
              <a:cxnLst/>
              <a:rect r="r" b="b" t="t" l="l"/>
              <a:pathLst>
                <a:path h="835599" w="1969769">
                  <a:moveTo>
                    <a:pt x="22690" y="0"/>
                  </a:moveTo>
                  <a:lnTo>
                    <a:pt x="1947080" y="0"/>
                  </a:lnTo>
                  <a:cubicBezTo>
                    <a:pt x="1953097" y="0"/>
                    <a:pt x="1958869" y="2390"/>
                    <a:pt x="1963124" y="6646"/>
                  </a:cubicBezTo>
                  <a:cubicBezTo>
                    <a:pt x="1967379" y="10901"/>
                    <a:pt x="1969769" y="16672"/>
                    <a:pt x="1969769" y="22690"/>
                  </a:cubicBezTo>
                  <a:lnTo>
                    <a:pt x="1969769" y="812909"/>
                  </a:lnTo>
                  <a:cubicBezTo>
                    <a:pt x="1969769" y="818927"/>
                    <a:pt x="1967379" y="824698"/>
                    <a:pt x="1963124" y="828953"/>
                  </a:cubicBezTo>
                  <a:cubicBezTo>
                    <a:pt x="1958869" y="833208"/>
                    <a:pt x="1953097" y="835599"/>
                    <a:pt x="1947080" y="835599"/>
                  </a:cubicBezTo>
                  <a:lnTo>
                    <a:pt x="22690" y="835599"/>
                  </a:lnTo>
                  <a:cubicBezTo>
                    <a:pt x="16672" y="835599"/>
                    <a:pt x="10901" y="833208"/>
                    <a:pt x="6646" y="828953"/>
                  </a:cubicBezTo>
                  <a:cubicBezTo>
                    <a:pt x="2390" y="824698"/>
                    <a:pt x="0" y="818927"/>
                    <a:pt x="0" y="812909"/>
                  </a:cubicBezTo>
                  <a:lnTo>
                    <a:pt x="0" y="22690"/>
                  </a:lnTo>
                  <a:cubicBezTo>
                    <a:pt x="0" y="16672"/>
                    <a:pt x="2390" y="10901"/>
                    <a:pt x="6646" y="6646"/>
                  </a:cubicBezTo>
                  <a:cubicBezTo>
                    <a:pt x="10901" y="2390"/>
                    <a:pt x="16672" y="0"/>
                    <a:pt x="226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969769" cy="835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8179" y="2496625"/>
            <a:ext cx="17128603" cy="7288931"/>
            <a:chOff x="0" y="0"/>
            <a:chExt cx="1977623" cy="8415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7623" cy="841561"/>
            </a:xfrm>
            <a:custGeom>
              <a:avLst/>
              <a:gdLst/>
              <a:ahLst/>
              <a:cxnLst/>
              <a:rect r="r" b="b" t="t" l="l"/>
              <a:pathLst>
                <a:path h="841561" w="1977623">
                  <a:moveTo>
                    <a:pt x="22599" y="0"/>
                  </a:moveTo>
                  <a:lnTo>
                    <a:pt x="1955024" y="0"/>
                  </a:lnTo>
                  <a:cubicBezTo>
                    <a:pt x="1967505" y="0"/>
                    <a:pt x="1977623" y="10118"/>
                    <a:pt x="1977623" y="22599"/>
                  </a:cubicBezTo>
                  <a:lnTo>
                    <a:pt x="1977623" y="818961"/>
                  </a:lnTo>
                  <a:cubicBezTo>
                    <a:pt x="1977623" y="831443"/>
                    <a:pt x="1967505" y="841561"/>
                    <a:pt x="1955024" y="841561"/>
                  </a:cubicBezTo>
                  <a:lnTo>
                    <a:pt x="22599" y="841561"/>
                  </a:lnTo>
                  <a:cubicBezTo>
                    <a:pt x="10118" y="841561"/>
                    <a:pt x="0" y="831443"/>
                    <a:pt x="0" y="818961"/>
                  </a:cubicBezTo>
                  <a:lnTo>
                    <a:pt x="0" y="22599"/>
                  </a:lnTo>
                  <a:cubicBezTo>
                    <a:pt x="0" y="10118"/>
                    <a:pt x="10118" y="0"/>
                    <a:pt x="2259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977623" cy="841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286772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5382570" y="607170"/>
            <a:ext cx="379370" cy="37937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486304" y="2531898"/>
            <a:ext cx="11315393" cy="7218384"/>
          </a:xfrm>
          <a:custGeom>
            <a:avLst/>
            <a:gdLst/>
            <a:ahLst/>
            <a:cxnLst/>
            <a:rect r="r" b="b" t="t" l="l"/>
            <a:pathLst>
              <a:path h="7218384" w="11315393">
                <a:moveTo>
                  <a:pt x="0" y="0"/>
                </a:moveTo>
                <a:lnTo>
                  <a:pt x="11315392" y="0"/>
                </a:lnTo>
                <a:lnTo>
                  <a:pt x="11315392" y="7218384"/>
                </a:lnTo>
                <a:lnTo>
                  <a:pt x="0" y="7218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47" t="-997" r="0" b="-3311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-307858">
            <a:off x="554377" y="878642"/>
            <a:ext cx="8227094" cy="1652498"/>
            <a:chOff x="0" y="0"/>
            <a:chExt cx="2462211" cy="4945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62211" cy="494561"/>
            </a:xfrm>
            <a:custGeom>
              <a:avLst/>
              <a:gdLst/>
              <a:ahLst/>
              <a:cxnLst/>
              <a:rect r="r" b="b" t="t" l="l"/>
              <a:pathLst>
                <a:path h="494561" w="2462211">
                  <a:moveTo>
                    <a:pt x="28231" y="0"/>
                  </a:moveTo>
                  <a:lnTo>
                    <a:pt x="2433980" y="0"/>
                  </a:lnTo>
                  <a:cubicBezTo>
                    <a:pt x="2449572" y="0"/>
                    <a:pt x="2462211" y="12639"/>
                    <a:pt x="2462211" y="28231"/>
                  </a:cubicBezTo>
                  <a:lnTo>
                    <a:pt x="2462211" y="466330"/>
                  </a:lnTo>
                  <a:cubicBezTo>
                    <a:pt x="2462211" y="481922"/>
                    <a:pt x="2449572" y="494561"/>
                    <a:pt x="2433980" y="494561"/>
                  </a:cubicBezTo>
                  <a:lnTo>
                    <a:pt x="28231" y="494561"/>
                  </a:lnTo>
                  <a:cubicBezTo>
                    <a:pt x="12639" y="494561"/>
                    <a:pt x="0" y="481922"/>
                    <a:pt x="0" y="466330"/>
                  </a:cubicBezTo>
                  <a:lnTo>
                    <a:pt x="0" y="28231"/>
                  </a:lnTo>
                  <a:cubicBezTo>
                    <a:pt x="0" y="12639"/>
                    <a:pt x="12639" y="0"/>
                    <a:pt x="28231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462211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307858">
            <a:off x="446507" y="779193"/>
            <a:ext cx="8227094" cy="1652498"/>
            <a:chOff x="0" y="0"/>
            <a:chExt cx="2462211" cy="4945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62211" cy="494561"/>
            </a:xfrm>
            <a:custGeom>
              <a:avLst/>
              <a:gdLst/>
              <a:ahLst/>
              <a:cxnLst/>
              <a:rect r="r" b="b" t="t" l="l"/>
              <a:pathLst>
                <a:path h="494561" w="2462211">
                  <a:moveTo>
                    <a:pt x="28231" y="0"/>
                  </a:moveTo>
                  <a:lnTo>
                    <a:pt x="2433980" y="0"/>
                  </a:lnTo>
                  <a:cubicBezTo>
                    <a:pt x="2449572" y="0"/>
                    <a:pt x="2462211" y="12639"/>
                    <a:pt x="2462211" y="28231"/>
                  </a:cubicBezTo>
                  <a:lnTo>
                    <a:pt x="2462211" y="466330"/>
                  </a:lnTo>
                  <a:cubicBezTo>
                    <a:pt x="2462211" y="481922"/>
                    <a:pt x="2449572" y="494561"/>
                    <a:pt x="2433980" y="494561"/>
                  </a:cubicBezTo>
                  <a:lnTo>
                    <a:pt x="28231" y="494561"/>
                  </a:lnTo>
                  <a:cubicBezTo>
                    <a:pt x="12639" y="494561"/>
                    <a:pt x="0" y="481922"/>
                    <a:pt x="0" y="466330"/>
                  </a:cubicBezTo>
                  <a:lnTo>
                    <a:pt x="0" y="28231"/>
                  </a:lnTo>
                  <a:cubicBezTo>
                    <a:pt x="0" y="12639"/>
                    <a:pt x="12639" y="0"/>
                    <a:pt x="28231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462211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317300">
            <a:off x="8225835" y="1216600"/>
            <a:ext cx="1393446" cy="1476677"/>
          </a:xfrm>
          <a:custGeom>
            <a:avLst/>
            <a:gdLst/>
            <a:ahLst/>
            <a:cxnLst/>
            <a:rect r="r" b="b" t="t" l="l"/>
            <a:pathLst>
              <a:path h="1476677" w="1393446">
                <a:moveTo>
                  <a:pt x="0" y="0"/>
                </a:moveTo>
                <a:lnTo>
                  <a:pt x="1393447" y="0"/>
                </a:lnTo>
                <a:lnTo>
                  <a:pt x="1393447" y="1476678"/>
                </a:lnTo>
                <a:lnTo>
                  <a:pt x="0" y="1476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-292034">
            <a:off x="503271" y="1370065"/>
            <a:ext cx="7835866" cy="60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1"/>
              </a:lnSpc>
            </a:pPr>
            <a:r>
              <a:rPr lang="en-US" sz="3543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COMUNICAÇÃO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75796" y="3976698"/>
            <a:ext cx="12336407" cy="301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O diagrama de comunicação é um diagrama comportamental que destaca a organização estrutural dos objetos que enviam e recebem mensagens. Ele mostra os papéis dos objetos, suas conexões e as mensagens trocadas, criando uma visão dinâmica e didática do sistema. Além disso, é elaborado dentro de um quadro de interação, que define o tema ou contexto do diagrama.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900925" y="1723840"/>
            <a:ext cx="6486151" cy="107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6364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O QUE É 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645274" y="2834537"/>
            <a:ext cx="5394363" cy="822365"/>
            <a:chOff x="0" y="0"/>
            <a:chExt cx="1670978" cy="2547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0978" cy="254739"/>
            </a:xfrm>
            <a:custGeom>
              <a:avLst/>
              <a:gdLst/>
              <a:ahLst/>
              <a:cxnLst/>
              <a:rect r="r" b="b" t="t" l="l"/>
              <a:pathLst>
                <a:path h="254739" w="1670978">
                  <a:moveTo>
                    <a:pt x="43056" y="0"/>
                  </a:moveTo>
                  <a:lnTo>
                    <a:pt x="1627923" y="0"/>
                  </a:lnTo>
                  <a:cubicBezTo>
                    <a:pt x="1639342" y="0"/>
                    <a:pt x="1650293" y="4536"/>
                    <a:pt x="1658368" y="12611"/>
                  </a:cubicBezTo>
                  <a:cubicBezTo>
                    <a:pt x="1666442" y="20685"/>
                    <a:pt x="1670978" y="31637"/>
                    <a:pt x="1670978" y="43056"/>
                  </a:cubicBezTo>
                  <a:lnTo>
                    <a:pt x="1670978" y="211683"/>
                  </a:lnTo>
                  <a:cubicBezTo>
                    <a:pt x="1670978" y="223102"/>
                    <a:pt x="1666442" y="234054"/>
                    <a:pt x="1658368" y="242128"/>
                  </a:cubicBezTo>
                  <a:cubicBezTo>
                    <a:pt x="1650293" y="250203"/>
                    <a:pt x="1639342" y="254739"/>
                    <a:pt x="1627923" y="254739"/>
                  </a:cubicBezTo>
                  <a:lnTo>
                    <a:pt x="43056" y="254739"/>
                  </a:lnTo>
                  <a:cubicBezTo>
                    <a:pt x="31637" y="254739"/>
                    <a:pt x="20685" y="250203"/>
                    <a:pt x="12611" y="242128"/>
                  </a:cubicBezTo>
                  <a:cubicBezTo>
                    <a:pt x="4536" y="234054"/>
                    <a:pt x="0" y="223102"/>
                    <a:pt x="0" y="211683"/>
                  </a:cubicBezTo>
                  <a:lnTo>
                    <a:pt x="0" y="43056"/>
                  </a:lnTo>
                  <a:cubicBezTo>
                    <a:pt x="0" y="31637"/>
                    <a:pt x="4536" y="20685"/>
                    <a:pt x="12611" y="12611"/>
                  </a:cubicBezTo>
                  <a:cubicBezTo>
                    <a:pt x="20685" y="4536"/>
                    <a:pt x="31637" y="0"/>
                    <a:pt x="43056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670978" cy="27378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645274" y="2992106"/>
            <a:ext cx="5394363" cy="41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43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COMUNICAÇÃO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29032" y="3976698"/>
            <a:ext cx="10229936" cy="301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Uma mensagem em um diagrama UML de comunicação representa a interação entre objetos, transmitindo informações entre instâncias. Ela pode ser uma chamada de operação ou o envio de um sinal, com a operação ou sinal identificando a mensagem. Em mensagens síncronas, há um retorno antes de continuar.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900925" y="1723840"/>
            <a:ext cx="6486151" cy="107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6364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O QUE É UMA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645274" y="2834537"/>
            <a:ext cx="5394363" cy="822365"/>
            <a:chOff x="0" y="0"/>
            <a:chExt cx="1670978" cy="2547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0978" cy="254739"/>
            </a:xfrm>
            <a:custGeom>
              <a:avLst/>
              <a:gdLst/>
              <a:ahLst/>
              <a:cxnLst/>
              <a:rect r="r" b="b" t="t" l="l"/>
              <a:pathLst>
                <a:path h="254739" w="1670978">
                  <a:moveTo>
                    <a:pt x="43056" y="0"/>
                  </a:moveTo>
                  <a:lnTo>
                    <a:pt x="1627923" y="0"/>
                  </a:lnTo>
                  <a:cubicBezTo>
                    <a:pt x="1639342" y="0"/>
                    <a:pt x="1650293" y="4536"/>
                    <a:pt x="1658368" y="12611"/>
                  </a:cubicBezTo>
                  <a:cubicBezTo>
                    <a:pt x="1666442" y="20685"/>
                    <a:pt x="1670978" y="31637"/>
                    <a:pt x="1670978" y="43056"/>
                  </a:cubicBezTo>
                  <a:lnTo>
                    <a:pt x="1670978" y="211683"/>
                  </a:lnTo>
                  <a:cubicBezTo>
                    <a:pt x="1670978" y="223102"/>
                    <a:pt x="1666442" y="234054"/>
                    <a:pt x="1658368" y="242128"/>
                  </a:cubicBezTo>
                  <a:cubicBezTo>
                    <a:pt x="1650293" y="250203"/>
                    <a:pt x="1639342" y="254739"/>
                    <a:pt x="1627923" y="254739"/>
                  </a:cubicBezTo>
                  <a:lnTo>
                    <a:pt x="43056" y="254739"/>
                  </a:lnTo>
                  <a:cubicBezTo>
                    <a:pt x="31637" y="254739"/>
                    <a:pt x="20685" y="250203"/>
                    <a:pt x="12611" y="242128"/>
                  </a:cubicBezTo>
                  <a:cubicBezTo>
                    <a:pt x="4536" y="234054"/>
                    <a:pt x="0" y="223102"/>
                    <a:pt x="0" y="211683"/>
                  </a:cubicBezTo>
                  <a:lnTo>
                    <a:pt x="0" y="43056"/>
                  </a:lnTo>
                  <a:cubicBezTo>
                    <a:pt x="0" y="31637"/>
                    <a:pt x="4536" y="20685"/>
                    <a:pt x="12611" y="12611"/>
                  </a:cubicBezTo>
                  <a:cubicBezTo>
                    <a:pt x="20685" y="4536"/>
                    <a:pt x="31637" y="0"/>
                    <a:pt x="43056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670978" cy="27378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820017" y="2829044"/>
            <a:ext cx="9044877" cy="704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6"/>
              </a:lnSpc>
            </a:pPr>
            <a:r>
              <a:rPr lang="en-US" sz="409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MENSAGEM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046724" y="2697771"/>
            <a:ext cx="12336407" cy="486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</a:p>
          <a:p>
            <a:pPr algn="ctr">
              <a:lnSpc>
                <a:spcPts val="4863"/>
              </a:lnSpc>
            </a:pP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Quadro de Interação: Define o contexto do diagrama e facilita sua leitura.</a:t>
            </a: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Instância: Representa os objetos que interagem no diagrama.</a:t>
            </a: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Linha de Vida: Linhas que mostram as instâncias ao longo do tempo, representando ações e interações.</a:t>
            </a:r>
          </a:p>
          <a:p>
            <a:pPr algn="ctr" marL="0" indent="0" lvl="0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Mensagem: Transmite informações entre instâncias e é essencial para o funcionamento do diagrama.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645274" y="2834537"/>
            <a:ext cx="5394363" cy="822365"/>
            <a:chOff x="0" y="0"/>
            <a:chExt cx="1670978" cy="2547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70978" cy="254739"/>
            </a:xfrm>
            <a:custGeom>
              <a:avLst/>
              <a:gdLst/>
              <a:ahLst/>
              <a:cxnLst/>
              <a:rect r="r" b="b" t="t" l="l"/>
              <a:pathLst>
                <a:path h="254739" w="1670978">
                  <a:moveTo>
                    <a:pt x="43056" y="0"/>
                  </a:moveTo>
                  <a:lnTo>
                    <a:pt x="1627923" y="0"/>
                  </a:lnTo>
                  <a:cubicBezTo>
                    <a:pt x="1639342" y="0"/>
                    <a:pt x="1650293" y="4536"/>
                    <a:pt x="1658368" y="12611"/>
                  </a:cubicBezTo>
                  <a:cubicBezTo>
                    <a:pt x="1666442" y="20685"/>
                    <a:pt x="1670978" y="31637"/>
                    <a:pt x="1670978" y="43056"/>
                  </a:cubicBezTo>
                  <a:lnTo>
                    <a:pt x="1670978" y="211683"/>
                  </a:lnTo>
                  <a:cubicBezTo>
                    <a:pt x="1670978" y="223102"/>
                    <a:pt x="1666442" y="234054"/>
                    <a:pt x="1658368" y="242128"/>
                  </a:cubicBezTo>
                  <a:cubicBezTo>
                    <a:pt x="1650293" y="250203"/>
                    <a:pt x="1639342" y="254739"/>
                    <a:pt x="1627923" y="254739"/>
                  </a:cubicBezTo>
                  <a:lnTo>
                    <a:pt x="43056" y="254739"/>
                  </a:lnTo>
                  <a:cubicBezTo>
                    <a:pt x="31637" y="254739"/>
                    <a:pt x="20685" y="250203"/>
                    <a:pt x="12611" y="242128"/>
                  </a:cubicBezTo>
                  <a:cubicBezTo>
                    <a:pt x="4536" y="234054"/>
                    <a:pt x="0" y="223102"/>
                    <a:pt x="0" y="211683"/>
                  </a:cubicBezTo>
                  <a:lnTo>
                    <a:pt x="0" y="43056"/>
                  </a:lnTo>
                  <a:cubicBezTo>
                    <a:pt x="0" y="31637"/>
                    <a:pt x="4536" y="20685"/>
                    <a:pt x="12611" y="12611"/>
                  </a:cubicBezTo>
                  <a:cubicBezTo>
                    <a:pt x="20685" y="4536"/>
                    <a:pt x="31637" y="0"/>
                    <a:pt x="43056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670978" cy="27378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578241" y="1808880"/>
            <a:ext cx="7131517" cy="91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13"/>
              </a:lnSpc>
            </a:pPr>
            <a:r>
              <a:rPr lang="en-US" sz="5366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ELEMENTOS DO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45274" y="2992106"/>
            <a:ext cx="5394363" cy="41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43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COMUNICAÇÃO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071142" y="3050956"/>
            <a:ext cx="12336407" cy="486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Mensagem de Criação: Representada por "create", indica a criação de uma nova instância.</a:t>
            </a: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Mensagem de Destruição: Representada por "destroy", sinaliza a destruição de uma instância, finalizando sua linha de vida com um "x".</a:t>
            </a:r>
          </a:p>
          <a:p>
            <a:pPr algn="ctr" marL="0" indent="0" lvl="0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Chamada Síncrona: Mensagem enviada de uma linha de vida para outra, bloqueando a origem até receber uma resposta. Indicada por uma seta de ponta fechada.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518840" y="2001772"/>
            <a:ext cx="7076746" cy="720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0"/>
              </a:lnSpc>
            </a:pPr>
            <a:r>
              <a:rPr lang="en-US" sz="4264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TIPOS DE MENSAGEM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645274" y="2834537"/>
            <a:ext cx="5394363" cy="822365"/>
            <a:chOff x="0" y="0"/>
            <a:chExt cx="1670978" cy="2547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0978" cy="254739"/>
            </a:xfrm>
            <a:custGeom>
              <a:avLst/>
              <a:gdLst/>
              <a:ahLst/>
              <a:cxnLst/>
              <a:rect r="r" b="b" t="t" l="l"/>
              <a:pathLst>
                <a:path h="254739" w="1670978">
                  <a:moveTo>
                    <a:pt x="43056" y="0"/>
                  </a:moveTo>
                  <a:lnTo>
                    <a:pt x="1627923" y="0"/>
                  </a:lnTo>
                  <a:cubicBezTo>
                    <a:pt x="1639342" y="0"/>
                    <a:pt x="1650293" y="4536"/>
                    <a:pt x="1658368" y="12611"/>
                  </a:cubicBezTo>
                  <a:cubicBezTo>
                    <a:pt x="1666442" y="20685"/>
                    <a:pt x="1670978" y="31637"/>
                    <a:pt x="1670978" y="43056"/>
                  </a:cubicBezTo>
                  <a:lnTo>
                    <a:pt x="1670978" y="211683"/>
                  </a:lnTo>
                  <a:cubicBezTo>
                    <a:pt x="1670978" y="223102"/>
                    <a:pt x="1666442" y="234054"/>
                    <a:pt x="1658368" y="242128"/>
                  </a:cubicBezTo>
                  <a:cubicBezTo>
                    <a:pt x="1650293" y="250203"/>
                    <a:pt x="1639342" y="254739"/>
                    <a:pt x="1627923" y="254739"/>
                  </a:cubicBezTo>
                  <a:lnTo>
                    <a:pt x="43056" y="254739"/>
                  </a:lnTo>
                  <a:cubicBezTo>
                    <a:pt x="31637" y="254739"/>
                    <a:pt x="20685" y="250203"/>
                    <a:pt x="12611" y="242128"/>
                  </a:cubicBezTo>
                  <a:cubicBezTo>
                    <a:pt x="4536" y="234054"/>
                    <a:pt x="0" y="223102"/>
                    <a:pt x="0" y="211683"/>
                  </a:cubicBezTo>
                  <a:lnTo>
                    <a:pt x="0" y="43056"/>
                  </a:lnTo>
                  <a:cubicBezTo>
                    <a:pt x="0" y="31637"/>
                    <a:pt x="4536" y="20685"/>
                    <a:pt x="12611" y="12611"/>
                  </a:cubicBezTo>
                  <a:cubicBezTo>
                    <a:pt x="20685" y="4536"/>
                    <a:pt x="31637" y="0"/>
                    <a:pt x="43056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670978" cy="27378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645274" y="2992106"/>
            <a:ext cx="5394363" cy="41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43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COMUNICAÇÃO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485068" y="3050956"/>
            <a:ext cx="11508555" cy="486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Chamada Assíncrona: Mensagem que permite continuar outras operações sem bloqueio, representada por uma seta de ponta aberta.</a:t>
            </a:r>
          </a:p>
          <a:p>
            <a:pPr algn="ctr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Sinal Assíncrono: Indica uma interrupção ou erro, não associado a uma operação, criado como uma chamada assíncrona.</a:t>
            </a:r>
          </a:p>
          <a:p>
            <a:pPr algn="ctr" marL="0" indent="0" lvl="0">
              <a:lnSpc>
                <a:spcPts val="4863"/>
              </a:lnSpc>
            </a:pP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• </a:t>
            </a:r>
            <a:r>
              <a:rPr lang="en-US" sz="2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Achados e Perdidos: Mensagens com remetente ou destinatário desconhecido, representadas por uma seta com um círculo em uma das extremidades.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645274" y="2834537"/>
            <a:ext cx="5394363" cy="822365"/>
            <a:chOff x="0" y="0"/>
            <a:chExt cx="1670978" cy="2547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70978" cy="254739"/>
            </a:xfrm>
            <a:custGeom>
              <a:avLst/>
              <a:gdLst/>
              <a:ahLst/>
              <a:cxnLst/>
              <a:rect r="r" b="b" t="t" l="l"/>
              <a:pathLst>
                <a:path h="254739" w="1670978">
                  <a:moveTo>
                    <a:pt x="43056" y="0"/>
                  </a:moveTo>
                  <a:lnTo>
                    <a:pt x="1627923" y="0"/>
                  </a:lnTo>
                  <a:cubicBezTo>
                    <a:pt x="1639342" y="0"/>
                    <a:pt x="1650293" y="4536"/>
                    <a:pt x="1658368" y="12611"/>
                  </a:cubicBezTo>
                  <a:cubicBezTo>
                    <a:pt x="1666442" y="20685"/>
                    <a:pt x="1670978" y="31637"/>
                    <a:pt x="1670978" y="43056"/>
                  </a:cubicBezTo>
                  <a:lnTo>
                    <a:pt x="1670978" y="211683"/>
                  </a:lnTo>
                  <a:cubicBezTo>
                    <a:pt x="1670978" y="223102"/>
                    <a:pt x="1666442" y="234054"/>
                    <a:pt x="1658368" y="242128"/>
                  </a:cubicBezTo>
                  <a:cubicBezTo>
                    <a:pt x="1650293" y="250203"/>
                    <a:pt x="1639342" y="254739"/>
                    <a:pt x="1627923" y="254739"/>
                  </a:cubicBezTo>
                  <a:lnTo>
                    <a:pt x="43056" y="254739"/>
                  </a:lnTo>
                  <a:cubicBezTo>
                    <a:pt x="31637" y="254739"/>
                    <a:pt x="20685" y="250203"/>
                    <a:pt x="12611" y="242128"/>
                  </a:cubicBezTo>
                  <a:cubicBezTo>
                    <a:pt x="4536" y="234054"/>
                    <a:pt x="0" y="223102"/>
                    <a:pt x="0" y="211683"/>
                  </a:cubicBezTo>
                  <a:lnTo>
                    <a:pt x="0" y="43056"/>
                  </a:lnTo>
                  <a:cubicBezTo>
                    <a:pt x="0" y="31637"/>
                    <a:pt x="4536" y="20685"/>
                    <a:pt x="12611" y="12611"/>
                  </a:cubicBezTo>
                  <a:cubicBezTo>
                    <a:pt x="20685" y="4536"/>
                    <a:pt x="31637" y="0"/>
                    <a:pt x="43056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670978" cy="27378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645274" y="2992106"/>
            <a:ext cx="5394363" cy="41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43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COMUNICAÇÃO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18840" y="2001772"/>
            <a:ext cx="7076746" cy="720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0"/>
              </a:lnSpc>
            </a:pPr>
            <a:r>
              <a:rPr lang="en-US" sz="4264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TIPOS DE MENSAGEM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80451" y="3050956"/>
            <a:ext cx="12336407" cy="116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</a:p>
          <a:p>
            <a:pPr algn="ctr" marL="0" indent="0" lvl="0">
              <a:lnSpc>
                <a:spcPts val="4863"/>
              </a:lnSpc>
            </a:pP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593333" y="1771105"/>
            <a:ext cx="9101334" cy="98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6"/>
              </a:lnSpc>
            </a:pPr>
            <a:r>
              <a:rPr lang="en-US" sz="5740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VANTAGENS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84484" y="2818063"/>
            <a:ext cx="5394363" cy="822365"/>
            <a:chOff x="0" y="0"/>
            <a:chExt cx="1670978" cy="2547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0978" cy="254739"/>
            </a:xfrm>
            <a:custGeom>
              <a:avLst/>
              <a:gdLst/>
              <a:ahLst/>
              <a:cxnLst/>
              <a:rect r="r" b="b" t="t" l="l"/>
              <a:pathLst>
                <a:path h="254739" w="1670978">
                  <a:moveTo>
                    <a:pt x="43056" y="0"/>
                  </a:moveTo>
                  <a:lnTo>
                    <a:pt x="1627923" y="0"/>
                  </a:lnTo>
                  <a:cubicBezTo>
                    <a:pt x="1639342" y="0"/>
                    <a:pt x="1650293" y="4536"/>
                    <a:pt x="1658368" y="12611"/>
                  </a:cubicBezTo>
                  <a:cubicBezTo>
                    <a:pt x="1666442" y="20685"/>
                    <a:pt x="1670978" y="31637"/>
                    <a:pt x="1670978" y="43056"/>
                  </a:cubicBezTo>
                  <a:lnTo>
                    <a:pt x="1670978" y="211683"/>
                  </a:lnTo>
                  <a:cubicBezTo>
                    <a:pt x="1670978" y="223102"/>
                    <a:pt x="1666442" y="234054"/>
                    <a:pt x="1658368" y="242128"/>
                  </a:cubicBezTo>
                  <a:cubicBezTo>
                    <a:pt x="1650293" y="250203"/>
                    <a:pt x="1639342" y="254739"/>
                    <a:pt x="1627923" y="254739"/>
                  </a:cubicBezTo>
                  <a:lnTo>
                    <a:pt x="43056" y="254739"/>
                  </a:lnTo>
                  <a:cubicBezTo>
                    <a:pt x="31637" y="254739"/>
                    <a:pt x="20685" y="250203"/>
                    <a:pt x="12611" y="242128"/>
                  </a:cubicBezTo>
                  <a:cubicBezTo>
                    <a:pt x="4536" y="234054"/>
                    <a:pt x="0" y="223102"/>
                    <a:pt x="0" y="211683"/>
                  </a:cubicBezTo>
                  <a:lnTo>
                    <a:pt x="0" y="43056"/>
                  </a:lnTo>
                  <a:cubicBezTo>
                    <a:pt x="0" y="31637"/>
                    <a:pt x="4536" y="20685"/>
                    <a:pt x="12611" y="12611"/>
                  </a:cubicBezTo>
                  <a:cubicBezTo>
                    <a:pt x="20685" y="4536"/>
                    <a:pt x="31637" y="0"/>
                    <a:pt x="43056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670978" cy="27378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258081" y="2965597"/>
            <a:ext cx="6168751" cy="41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43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COMUNICAÇÃO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80451" y="3573753"/>
            <a:ext cx="12336407" cy="36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82" indent="-345441" lvl="1">
              <a:lnSpc>
                <a:spcPts val="73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Clareza na Comunicação entre Objetos</a:t>
            </a:r>
          </a:p>
          <a:p>
            <a:pPr algn="ctr" marL="690882" indent="-345441" lvl="1">
              <a:lnSpc>
                <a:spcPts val="73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Foco nas Interações</a:t>
            </a:r>
          </a:p>
          <a:p>
            <a:pPr algn="ctr" marL="690882" indent="-345441" lvl="1">
              <a:lnSpc>
                <a:spcPts val="73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Identificação de Dependências</a:t>
            </a:r>
          </a:p>
          <a:p>
            <a:pPr algn="ctr" marL="690882" indent="-345441" lvl="1">
              <a:lnSpc>
                <a:spcPts val="73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Suporte a Conformidade com o Modelo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57980" y="2722125"/>
            <a:ext cx="9049570" cy="6334699"/>
          </a:xfrm>
          <a:custGeom>
            <a:avLst/>
            <a:gdLst/>
            <a:ahLst/>
            <a:cxnLst/>
            <a:rect r="r" b="b" t="t" l="l"/>
            <a:pathLst>
              <a:path h="6334699" w="9049570">
                <a:moveTo>
                  <a:pt x="0" y="0"/>
                </a:moveTo>
                <a:lnTo>
                  <a:pt x="9049569" y="0"/>
                </a:lnTo>
                <a:lnTo>
                  <a:pt x="9049569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880451" y="2722125"/>
            <a:ext cx="6525782" cy="6334699"/>
          </a:xfrm>
          <a:custGeom>
            <a:avLst/>
            <a:gdLst/>
            <a:ahLst/>
            <a:cxnLst/>
            <a:rect r="r" b="b" t="t" l="l"/>
            <a:pathLst>
              <a:path h="6334699" w="6525782">
                <a:moveTo>
                  <a:pt x="0" y="0"/>
                </a:moveTo>
                <a:lnTo>
                  <a:pt x="6525782" y="0"/>
                </a:lnTo>
                <a:lnTo>
                  <a:pt x="6525782" y="6334699"/>
                </a:lnTo>
                <a:lnTo>
                  <a:pt x="0" y="6334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867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885545" y="1627812"/>
            <a:ext cx="6792241" cy="1596574"/>
            <a:chOff x="0" y="0"/>
            <a:chExt cx="2103990" cy="494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03345" y="1525567"/>
            <a:ext cx="6792241" cy="1596574"/>
            <a:chOff x="0" y="0"/>
            <a:chExt cx="2103990" cy="494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990" cy="494561"/>
            </a:xfrm>
            <a:custGeom>
              <a:avLst/>
              <a:gdLst/>
              <a:ahLst/>
              <a:cxnLst/>
              <a:rect r="r" b="b" t="t" l="l"/>
              <a:pathLst>
                <a:path h="494561" w="2103990">
                  <a:moveTo>
                    <a:pt x="34195" y="0"/>
                  </a:moveTo>
                  <a:lnTo>
                    <a:pt x="2069795" y="0"/>
                  </a:lnTo>
                  <a:cubicBezTo>
                    <a:pt x="2078864" y="0"/>
                    <a:pt x="2087562" y="3603"/>
                    <a:pt x="2093975" y="10015"/>
                  </a:cubicBezTo>
                  <a:cubicBezTo>
                    <a:pt x="2100387" y="16428"/>
                    <a:pt x="2103990" y="25126"/>
                    <a:pt x="2103990" y="34195"/>
                  </a:cubicBezTo>
                  <a:lnTo>
                    <a:pt x="2103990" y="460366"/>
                  </a:lnTo>
                  <a:cubicBezTo>
                    <a:pt x="2103990" y="479251"/>
                    <a:pt x="2088681" y="494561"/>
                    <a:pt x="2069795" y="494561"/>
                  </a:cubicBezTo>
                  <a:lnTo>
                    <a:pt x="34195" y="494561"/>
                  </a:lnTo>
                  <a:cubicBezTo>
                    <a:pt x="25126" y="494561"/>
                    <a:pt x="16428" y="490958"/>
                    <a:pt x="10015" y="484546"/>
                  </a:cubicBezTo>
                  <a:cubicBezTo>
                    <a:pt x="3603" y="478133"/>
                    <a:pt x="0" y="469435"/>
                    <a:pt x="0" y="460366"/>
                  </a:cubicBezTo>
                  <a:lnTo>
                    <a:pt x="0" y="34195"/>
                  </a:lnTo>
                  <a:cubicBezTo>
                    <a:pt x="0" y="25126"/>
                    <a:pt x="3603" y="16428"/>
                    <a:pt x="10015" y="10015"/>
                  </a:cubicBezTo>
                  <a:cubicBezTo>
                    <a:pt x="16428" y="3603"/>
                    <a:pt x="25126" y="0"/>
                    <a:pt x="34195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03990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234465">
            <a:off x="4869552" y="771274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9" y="0"/>
                </a:lnTo>
                <a:lnTo>
                  <a:pt x="1417379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317243" y="3495894"/>
            <a:ext cx="12050426" cy="4184248"/>
            <a:chOff x="0" y="0"/>
            <a:chExt cx="3173775" cy="11020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3775" cy="1102024"/>
            </a:xfrm>
            <a:custGeom>
              <a:avLst/>
              <a:gdLst/>
              <a:ahLst/>
              <a:cxnLst/>
              <a:rect r="r" b="b" t="t" l="l"/>
              <a:pathLst>
                <a:path h="1102024" w="3173775">
                  <a:moveTo>
                    <a:pt x="0" y="0"/>
                  </a:moveTo>
                  <a:lnTo>
                    <a:pt x="3173775" y="0"/>
                  </a:lnTo>
                  <a:lnTo>
                    <a:pt x="3173775" y="1102024"/>
                  </a:lnTo>
                  <a:lnTo>
                    <a:pt x="0" y="11020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3173775" cy="110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80451" y="3050956"/>
            <a:ext cx="12336407" cy="1161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</a:p>
          <a:p>
            <a:pPr algn="ctr" marL="0" indent="0" lvl="0">
              <a:lnSpc>
                <a:spcPts val="4863"/>
              </a:lnSpc>
            </a:pPr>
          </a:p>
        </p:txBody>
      </p:sp>
      <p:sp>
        <p:nvSpPr>
          <p:cNvPr name="AutoShape 15" id="15"/>
          <p:cNvSpPr/>
          <p:nvPr/>
        </p:nvSpPr>
        <p:spPr>
          <a:xfrm flipV="true">
            <a:off x="15383131" y="3443041"/>
            <a:ext cx="0" cy="437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5400000">
            <a:off x="49358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8" y="0"/>
                </a:lnTo>
                <a:lnTo>
                  <a:pt x="702868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83948" y="745613"/>
            <a:ext cx="1976512" cy="1976512"/>
          </a:xfrm>
          <a:custGeom>
            <a:avLst/>
            <a:gdLst/>
            <a:ahLst/>
            <a:cxnLst/>
            <a:rect r="r" b="b" t="t" l="l"/>
            <a:pathLst>
              <a:path h="1976512" w="1976512">
                <a:moveTo>
                  <a:pt x="0" y="0"/>
                </a:moveTo>
                <a:lnTo>
                  <a:pt x="1976512" y="0"/>
                </a:lnTo>
                <a:lnTo>
                  <a:pt x="1976512" y="1976512"/>
                </a:lnTo>
                <a:lnTo>
                  <a:pt x="0" y="19765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36555">
            <a:off x="12122795" y="2270575"/>
            <a:ext cx="1173928" cy="1273492"/>
          </a:xfrm>
          <a:custGeom>
            <a:avLst/>
            <a:gdLst/>
            <a:ahLst/>
            <a:cxnLst/>
            <a:rect r="r" b="b" t="t" l="l"/>
            <a:pathLst>
              <a:path h="1273492" w="1173928">
                <a:moveTo>
                  <a:pt x="0" y="0"/>
                </a:moveTo>
                <a:lnTo>
                  <a:pt x="1173928" y="0"/>
                </a:lnTo>
                <a:lnTo>
                  <a:pt x="1173928" y="1273492"/>
                </a:lnTo>
                <a:lnTo>
                  <a:pt x="0" y="1273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57359" y="2888152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593333" y="1771105"/>
            <a:ext cx="9101334" cy="98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6"/>
              </a:lnSpc>
            </a:pPr>
            <a:r>
              <a:rPr lang="en-US" sz="5740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DESVANTAGENS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84484" y="2818063"/>
            <a:ext cx="5394363" cy="822365"/>
            <a:chOff x="0" y="0"/>
            <a:chExt cx="1670978" cy="2547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0978" cy="254739"/>
            </a:xfrm>
            <a:custGeom>
              <a:avLst/>
              <a:gdLst/>
              <a:ahLst/>
              <a:cxnLst/>
              <a:rect r="r" b="b" t="t" l="l"/>
              <a:pathLst>
                <a:path h="254739" w="1670978">
                  <a:moveTo>
                    <a:pt x="43056" y="0"/>
                  </a:moveTo>
                  <a:lnTo>
                    <a:pt x="1627923" y="0"/>
                  </a:lnTo>
                  <a:cubicBezTo>
                    <a:pt x="1639342" y="0"/>
                    <a:pt x="1650293" y="4536"/>
                    <a:pt x="1658368" y="12611"/>
                  </a:cubicBezTo>
                  <a:cubicBezTo>
                    <a:pt x="1666442" y="20685"/>
                    <a:pt x="1670978" y="31637"/>
                    <a:pt x="1670978" y="43056"/>
                  </a:cubicBezTo>
                  <a:lnTo>
                    <a:pt x="1670978" y="211683"/>
                  </a:lnTo>
                  <a:cubicBezTo>
                    <a:pt x="1670978" y="223102"/>
                    <a:pt x="1666442" y="234054"/>
                    <a:pt x="1658368" y="242128"/>
                  </a:cubicBezTo>
                  <a:cubicBezTo>
                    <a:pt x="1650293" y="250203"/>
                    <a:pt x="1639342" y="254739"/>
                    <a:pt x="1627923" y="254739"/>
                  </a:cubicBezTo>
                  <a:lnTo>
                    <a:pt x="43056" y="254739"/>
                  </a:lnTo>
                  <a:cubicBezTo>
                    <a:pt x="31637" y="254739"/>
                    <a:pt x="20685" y="250203"/>
                    <a:pt x="12611" y="242128"/>
                  </a:cubicBezTo>
                  <a:cubicBezTo>
                    <a:pt x="4536" y="234054"/>
                    <a:pt x="0" y="223102"/>
                    <a:pt x="0" y="211683"/>
                  </a:cubicBezTo>
                  <a:lnTo>
                    <a:pt x="0" y="43056"/>
                  </a:lnTo>
                  <a:cubicBezTo>
                    <a:pt x="0" y="31637"/>
                    <a:pt x="4536" y="20685"/>
                    <a:pt x="12611" y="12611"/>
                  </a:cubicBezTo>
                  <a:cubicBezTo>
                    <a:pt x="20685" y="4536"/>
                    <a:pt x="31637" y="0"/>
                    <a:pt x="43056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670978" cy="27378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258081" y="2965597"/>
            <a:ext cx="6168751" cy="41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43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COMUNICAÇÃO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80451" y="3573753"/>
            <a:ext cx="12336407" cy="361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82" indent="-345441" lvl="1">
              <a:lnSpc>
                <a:spcPts val="73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Menos Intuitivo para Fluxos Complexos</a:t>
            </a:r>
          </a:p>
          <a:p>
            <a:pPr algn="ctr" marL="690882" indent="-345441" lvl="1">
              <a:lnSpc>
                <a:spcPts val="73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Sobreposição de Informações</a:t>
            </a:r>
          </a:p>
          <a:p>
            <a:pPr algn="ctr" marL="690882" indent="-345441" lvl="1">
              <a:lnSpc>
                <a:spcPts val="73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Dificuldade em Escalar</a:t>
            </a:r>
          </a:p>
          <a:p>
            <a:pPr algn="ctr" marL="690882" indent="-345441" lvl="1">
              <a:lnSpc>
                <a:spcPts val="736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Menor Foco em Fluxo de Dados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6348" y="2671611"/>
            <a:ext cx="15757316" cy="6684432"/>
            <a:chOff x="0" y="0"/>
            <a:chExt cx="1969769" cy="835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9769" cy="835599"/>
            </a:xfrm>
            <a:custGeom>
              <a:avLst/>
              <a:gdLst/>
              <a:ahLst/>
              <a:cxnLst/>
              <a:rect r="r" b="b" t="t" l="l"/>
              <a:pathLst>
                <a:path h="835599" w="1969769">
                  <a:moveTo>
                    <a:pt x="24566" y="0"/>
                  </a:moveTo>
                  <a:lnTo>
                    <a:pt x="1945203" y="0"/>
                  </a:lnTo>
                  <a:cubicBezTo>
                    <a:pt x="1951718" y="0"/>
                    <a:pt x="1957967" y="2588"/>
                    <a:pt x="1962574" y="7195"/>
                  </a:cubicBezTo>
                  <a:cubicBezTo>
                    <a:pt x="1967181" y="11802"/>
                    <a:pt x="1969769" y="18051"/>
                    <a:pt x="1969769" y="24566"/>
                  </a:cubicBezTo>
                  <a:lnTo>
                    <a:pt x="1969769" y="811032"/>
                  </a:lnTo>
                  <a:cubicBezTo>
                    <a:pt x="1969769" y="817548"/>
                    <a:pt x="1967181" y="823796"/>
                    <a:pt x="1962574" y="828403"/>
                  </a:cubicBezTo>
                  <a:cubicBezTo>
                    <a:pt x="1957967" y="833010"/>
                    <a:pt x="1951718" y="835599"/>
                    <a:pt x="1945203" y="835599"/>
                  </a:cubicBezTo>
                  <a:lnTo>
                    <a:pt x="24566" y="835599"/>
                  </a:lnTo>
                  <a:cubicBezTo>
                    <a:pt x="10999" y="835599"/>
                    <a:pt x="0" y="824600"/>
                    <a:pt x="0" y="811032"/>
                  </a:cubicBezTo>
                  <a:lnTo>
                    <a:pt x="0" y="24566"/>
                  </a:lnTo>
                  <a:cubicBezTo>
                    <a:pt x="0" y="10999"/>
                    <a:pt x="10999" y="0"/>
                    <a:pt x="2456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969769" cy="835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72796" y="2159142"/>
            <a:ext cx="15820145" cy="6732128"/>
            <a:chOff x="0" y="0"/>
            <a:chExt cx="1977623" cy="8415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7623" cy="841561"/>
            </a:xfrm>
            <a:custGeom>
              <a:avLst/>
              <a:gdLst/>
              <a:ahLst/>
              <a:cxnLst/>
              <a:rect r="r" b="b" t="t" l="l"/>
              <a:pathLst>
                <a:path h="841561" w="1977623">
                  <a:moveTo>
                    <a:pt x="24469" y="0"/>
                  </a:moveTo>
                  <a:lnTo>
                    <a:pt x="1953155" y="0"/>
                  </a:lnTo>
                  <a:cubicBezTo>
                    <a:pt x="1966668" y="0"/>
                    <a:pt x="1977623" y="10955"/>
                    <a:pt x="1977623" y="24469"/>
                  </a:cubicBezTo>
                  <a:lnTo>
                    <a:pt x="1977623" y="817092"/>
                  </a:lnTo>
                  <a:cubicBezTo>
                    <a:pt x="1977623" y="830606"/>
                    <a:pt x="1966668" y="841561"/>
                    <a:pt x="1953155" y="841561"/>
                  </a:cubicBezTo>
                  <a:lnTo>
                    <a:pt x="24469" y="841561"/>
                  </a:lnTo>
                  <a:cubicBezTo>
                    <a:pt x="10955" y="841561"/>
                    <a:pt x="0" y="830606"/>
                    <a:pt x="0" y="817092"/>
                  </a:cubicBezTo>
                  <a:lnTo>
                    <a:pt x="0" y="24469"/>
                  </a:lnTo>
                  <a:cubicBezTo>
                    <a:pt x="0" y="10955"/>
                    <a:pt x="10955" y="0"/>
                    <a:pt x="2446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977623" cy="8415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307858">
            <a:off x="554377" y="878642"/>
            <a:ext cx="8227094" cy="1652498"/>
            <a:chOff x="0" y="0"/>
            <a:chExt cx="2462211" cy="4945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62211" cy="494561"/>
            </a:xfrm>
            <a:custGeom>
              <a:avLst/>
              <a:gdLst/>
              <a:ahLst/>
              <a:cxnLst/>
              <a:rect r="r" b="b" t="t" l="l"/>
              <a:pathLst>
                <a:path h="494561" w="2462211">
                  <a:moveTo>
                    <a:pt x="28231" y="0"/>
                  </a:moveTo>
                  <a:lnTo>
                    <a:pt x="2433980" y="0"/>
                  </a:lnTo>
                  <a:cubicBezTo>
                    <a:pt x="2449572" y="0"/>
                    <a:pt x="2462211" y="12639"/>
                    <a:pt x="2462211" y="28231"/>
                  </a:cubicBezTo>
                  <a:lnTo>
                    <a:pt x="2462211" y="466330"/>
                  </a:lnTo>
                  <a:cubicBezTo>
                    <a:pt x="2462211" y="481922"/>
                    <a:pt x="2449572" y="494561"/>
                    <a:pt x="2433980" y="494561"/>
                  </a:cubicBezTo>
                  <a:lnTo>
                    <a:pt x="28231" y="494561"/>
                  </a:lnTo>
                  <a:cubicBezTo>
                    <a:pt x="12639" y="494561"/>
                    <a:pt x="0" y="481922"/>
                    <a:pt x="0" y="466330"/>
                  </a:cubicBezTo>
                  <a:lnTo>
                    <a:pt x="0" y="28231"/>
                  </a:lnTo>
                  <a:cubicBezTo>
                    <a:pt x="0" y="12639"/>
                    <a:pt x="12639" y="0"/>
                    <a:pt x="28231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462211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307858">
            <a:off x="446507" y="779193"/>
            <a:ext cx="8227094" cy="1652498"/>
            <a:chOff x="0" y="0"/>
            <a:chExt cx="2462211" cy="4945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62211" cy="494561"/>
            </a:xfrm>
            <a:custGeom>
              <a:avLst/>
              <a:gdLst/>
              <a:ahLst/>
              <a:cxnLst/>
              <a:rect r="r" b="b" t="t" l="l"/>
              <a:pathLst>
                <a:path h="494561" w="2462211">
                  <a:moveTo>
                    <a:pt x="28231" y="0"/>
                  </a:moveTo>
                  <a:lnTo>
                    <a:pt x="2433980" y="0"/>
                  </a:lnTo>
                  <a:cubicBezTo>
                    <a:pt x="2449572" y="0"/>
                    <a:pt x="2462211" y="12639"/>
                    <a:pt x="2462211" y="28231"/>
                  </a:cubicBezTo>
                  <a:lnTo>
                    <a:pt x="2462211" y="466330"/>
                  </a:lnTo>
                  <a:cubicBezTo>
                    <a:pt x="2462211" y="481922"/>
                    <a:pt x="2449572" y="494561"/>
                    <a:pt x="2433980" y="494561"/>
                  </a:cubicBezTo>
                  <a:lnTo>
                    <a:pt x="28231" y="494561"/>
                  </a:lnTo>
                  <a:cubicBezTo>
                    <a:pt x="12639" y="494561"/>
                    <a:pt x="0" y="481922"/>
                    <a:pt x="0" y="466330"/>
                  </a:cubicBezTo>
                  <a:lnTo>
                    <a:pt x="0" y="28231"/>
                  </a:lnTo>
                  <a:cubicBezTo>
                    <a:pt x="0" y="12639"/>
                    <a:pt x="12639" y="0"/>
                    <a:pt x="28231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462211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317300">
            <a:off x="8225835" y="1216600"/>
            <a:ext cx="1393446" cy="1476677"/>
          </a:xfrm>
          <a:custGeom>
            <a:avLst/>
            <a:gdLst/>
            <a:ahLst/>
            <a:cxnLst/>
            <a:rect r="r" b="b" t="t" l="l"/>
            <a:pathLst>
              <a:path h="1476677" w="1393446">
                <a:moveTo>
                  <a:pt x="0" y="0"/>
                </a:moveTo>
                <a:lnTo>
                  <a:pt x="1393447" y="0"/>
                </a:lnTo>
                <a:lnTo>
                  <a:pt x="1393447" y="1476678"/>
                </a:lnTo>
                <a:lnTo>
                  <a:pt x="0" y="14766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286772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15382570" y="607170"/>
            <a:ext cx="379370" cy="37937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495925" y="2561104"/>
            <a:ext cx="9373887" cy="5928205"/>
          </a:xfrm>
          <a:custGeom>
            <a:avLst/>
            <a:gdLst/>
            <a:ahLst/>
            <a:cxnLst/>
            <a:rect r="r" b="b" t="t" l="l"/>
            <a:pathLst>
              <a:path h="5928205" w="9373887">
                <a:moveTo>
                  <a:pt x="0" y="0"/>
                </a:moveTo>
                <a:lnTo>
                  <a:pt x="9373887" y="0"/>
                </a:lnTo>
                <a:lnTo>
                  <a:pt x="9373887" y="5928204"/>
                </a:lnTo>
                <a:lnTo>
                  <a:pt x="0" y="59282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108" r="0" b="-210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-292034">
            <a:off x="503271" y="1370065"/>
            <a:ext cx="7835866" cy="60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1"/>
              </a:lnSpc>
            </a:pPr>
            <a:r>
              <a:rPr lang="en-US" sz="3543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DIAGRAMA DE COMUNICAÇÃO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63397">
            <a:off x="15585892" y="645028"/>
            <a:ext cx="2034468" cy="2135415"/>
          </a:xfrm>
          <a:custGeom>
            <a:avLst/>
            <a:gdLst/>
            <a:ahLst/>
            <a:cxnLst/>
            <a:rect r="r" b="b" t="t" l="l"/>
            <a:pathLst>
              <a:path h="2135415" w="2034468">
                <a:moveTo>
                  <a:pt x="0" y="0"/>
                </a:moveTo>
                <a:lnTo>
                  <a:pt x="2034467" y="0"/>
                </a:lnTo>
                <a:lnTo>
                  <a:pt x="2034467" y="2135415"/>
                </a:lnTo>
                <a:lnTo>
                  <a:pt x="0" y="2135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24345" y="2138584"/>
            <a:ext cx="1034022" cy="1079150"/>
          </a:xfrm>
          <a:custGeom>
            <a:avLst/>
            <a:gdLst/>
            <a:ahLst/>
            <a:cxnLst/>
            <a:rect r="r" b="b" t="t" l="l"/>
            <a:pathLst>
              <a:path h="1079150" w="1034022">
                <a:moveTo>
                  <a:pt x="0" y="0"/>
                </a:moveTo>
                <a:lnTo>
                  <a:pt x="1034022" y="0"/>
                </a:lnTo>
                <a:lnTo>
                  <a:pt x="1034022" y="1079151"/>
                </a:lnTo>
                <a:lnTo>
                  <a:pt x="0" y="1079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85201" y="8386644"/>
            <a:ext cx="996936" cy="1040445"/>
          </a:xfrm>
          <a:custGeom>
            <a:avLst/>
            <a:gdLst/>
            <a:ahLst/>
            <a:cxnLst/>
            <a:rect r="r" b="b" t="t" l="l"/>
            <a:pathLst>
              <a:path h="1040445" w="996936">
                <a:moveTo>
                  <a:pt x="0" y="0"/>
                </a:moveTo>
                <a:lnTo>
                  <a:pt x="996936" y="0"/>
                </a:lnTo>
                <a:lnTo>
                  <a:pt x="996936" y="1040445"/>
                </a:lnTo>
                <a:lnTo>
                  <a:pt x="0" y="1040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747558" y="7932135"/>
            <a:ext cx="702868" cy="2652331"/>
          </a:xfrm>
          <a:custGeom>
            <a:avLst/>
            <a:gdLst/>
            <a:ahLst/>
            <a:cxnLst/>
            <a:rect r="r" b="b" t="t" l="l"/>
            <a:pathLst>
              <a:path h="2652331" w="702868">
                <a:moveTo>
                  <a:pt x="0" y="0"/>
                </a:moveTo>
                <a:lnTo>
                  <a:pt x="702867" y="0"/>
                </a:lnTo>
                <a:lnTo>
                  <a:pt x="702867" y="2652330"/>
                </a:lnTo>
                <a:lnTo>
                  <a:pt x="0" y="2652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58367" y="4026617"/>
            <a:ext cx="14415666" cy="3485970"/>
          </a:xfrm>
          <a:custGeom>
            <a:avLst/>
            <a:gdLst/>
            <a:ahLst/>
            <a:cxnLst/>
            <a:rect r="r" b="b" t="t" l="l"/>
            <a:pathLst>
              <a:path h="3485970" w="14415666">
                <a:moveTo>
                  <a:pt x="0" y="0"/>
                </a:moveTo>
                <a:lnTo>
                  <a:pt x="14415666" y="0"/>
                </a:lnTo>
                <a:lnTo>
                  <a:pt x="14415666" y="3485971"/>
                </a:lnTo>
                <a:lnTo>
                  <a:pt x="0" y="34859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2489380" y="4449495"/>
            <a:ext cx="13309239" cy="1878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2"/>
              </a:lnSpc>
              <a:spcBef>
                <a:spcPct val="0"/>
              </a:spcBef>
            </a:pPr>
            <a:r>
              <a:rPr lang="en-US" sz="1800" spc="-54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A linguagem UML facilita a vida dos desenvolvedores ao fornecer uma estrutura visual para o código, permitindo a compreensão das funcionalidades e interações do sistema. Com diversos diagramas, cada um com funções específicas, destaca-se o **diagrama de atividade**, que organiza ações, e o **diagrama de comunicação**, que representa interações entre objetos. Ambos, como diagramas comportamentais, ajudam a visualizar o sistema de forma eficaz, promovendo um desenvolvimento mais rápido, preciso e organizado.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650923" y="1961499"/>
            <a:ext cx="7214794" cy="1596574"/>
            <a:chOff x="0" y="0"/>
            <a:chExt cx="2234882" cy="4945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4882" cy="494561"/>
            </a:xfrm>
            <a:custGeom>
              <a:avLst/>
              <a:gdLst/>
              <a:ahLst/>
              <a:cxnLst/>
              <a:rect r="r" b="b" t="t" l="l"/>
              <a:pathLst>
                <a:path h="494561" w="2234882">
                  <a:moveTo>
                    <a:pt x="32192" y="0"/>
                  </a:moveTo>
                  <a:lnTo>
                    <a:pt x="2202690" y="0"/>
                  </a:lnTo>
                  <a:cubicBezTo>
                    <a:pt x="2220469" y="0"/>
                    <a:pt x="2234882" y="14413"/>
                    <a:pt x="2234882" y="32192"/>
                  </a:cubicBezTo>
                  <a:lnTo>
                    <a:pt x="2234882" y="462369"/>
                  </a:lnTo>
                  <a:cubicBezTo>
                    <a:pt x="2234882" y="480148"/>
                    <a:pt x="2220469" y="494561"/>
                    <a:pt x="2202690" y="494561"/>
                  </a:cubicBezTo>
                  <a:lnTo>
                    <a:pt x="32192" y="494561"/>
                  </a:lnTo>
                  <a:cubicBezTo>
                    <a:pt x="14413" y="494561"/>
                    <a:pt x="0" y="480148"/>
                    <a:pt x="0" y="462369"/>
                  </a:cubicBezTo>
                  <a:lnTo>
                    <a:pt x="0" y="32192"/>
                  </a:lnTo>
                  <a:cubicBezTo>
                    <a:pt x="0" y="14413"/>
                    <a:pt x="14413" y="0"/>
                    <a:pt x="32192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234882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536603" y="1859254"/>
            <a:ext cx="7214794" cy="1596574"/>
            <a:chOff x="0" y="0"/>
            <a:chExt cx="2234882" cy="4945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4882" cy="494561"/>
            </a:xfrm>
            <a:custGeom>
              <a:avLst/>
              <a:gdLst/>
              <a:ahLst/>
              <a:cxnLst/>
              <a:rect r="r" b="b" t="t" l="l"/>
              <a:pathLst>
                <a:path h="494561" w="2234882">
                  <a:moveTo>
                    <a:pt x="32192" y="0"/>
                  </a:moveTo>
                  <a:lnTo>
                    <a:pt x="2202690" y="0"/>
                  </a:lnTo>
                  <a:cubicBezTo>
                    <a:pt x="2220469" y="0"/>
                    <a:pt x="2234882" y="14413"/>
                    <a:pt x="2234882" y="32192"/>
                  </a:cubicBezTo>
                  <a:lnTo>
                    <a:pt x="2234882" y="462369"/>
                  </a:lnTo>
                  <a:cubicBezTo>
                    <a:pt x="2234882" y="480148"/>
                    <a:pt x="2220469" y="494561"/>
                    <a:pt x="2202690" y="494561"/>
                  </a:cubicBezTo>
                  <a:lnTo>
                    <a:pt x="32192" y="494561"/>
                  </a:lnTo>
                  <a:cubicBezTo>
                    <a:pt x="14413" y="494561"/>
                    <a:pt x="0" y="480148"/>
                    <a:pt x="0" y="462369"/>
                  </a:cubicBezTo>
                  <a:lnTo>
                    <a:pt x="0" y="32192"/>
                  </a:lnTo>
                  <a:cubicBezTo>
                    <a:pt x="0" y="14413"/>
                    <a:pt x="14413" y="0"/>
                    <a:pt x="32192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234882" cy="513611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578241" y="1994537"/>
            <a:ext cx="7131517" cy="119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6"/>
              </a:lnSpc>
            </a:pPr>
            <a:r>
              <a:rPr lang="en-US" sz="6997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CONCLUSÃO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537094" y="-282705"/>
            <a:ext cx="1113829" cy="1109779"/>
          </a:xfrm>
          <a:custGeom>
            <a:avLst/>
            <a:gdLst/>
            <a:ahLst/>
            <a:cxnLst/>
            <a:rect r="r" b="b" t="t" l="l"/>
            <a:pathLst>
              <a:path h="1109779" w="1113829">
                <a:moveTo>
                  <a:pt x="0" y="0"/>
                </a:moveTo>
                <a:lnTo>
                  <a:pt x="1113829" y="0"/>
                </a:lnTo>
                <a:lnTo>
                  <a:pt x="1113829" y="1109779"/>
                </a:lnTo>
                <a:lnTo>
                  <a:pt x="0" y="11097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08706" y="636832"/>
            <a:ext cx="2630479" cy="32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borcelle media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9898" y="646357"/>
            <a:ext cx="646706" cy="2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87"/>
              </a:lnSpc>
            </a:pPr>
            <a:r>
              <a:rPr lang="en-US" sz="1562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bm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1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63218" y="8592338"/>
            <a:ext cx="2748515" cy="1049433"/>
          </a:xfrm>
          <a:custGeom>
            <a:avLst/>
            <a:gdLst/>
            <a:ahLst/>
            <a:cxnLst/>
            <a:rect r="r" b="b" t="t" l="l"/>
            <a:pathLst>
              <a:path h="1049433" w="2748515">
                <a:moveTo>
                  <a:pt x="0" y="0"/>
                </a:moveTo>
                <a:lnTo>
                  <a:pt x="2748515" y="0"/>
                </a:lnTo>
                <a:lnTo>
                  <a:pt x="2748515" y="1049433"/>
                </a:lnTo>
                <a:lnTo>
                  <a:pt x="0" y="1049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307858">
            <a:off x="3640920" y="4084254"/>
            <a:ext cx="11316553" cy="2283259"/>
            <a:chOff x="0" y="0"/>
            <a:chExt cx="2777763" cy="5604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7763" cy="560449"/>
            </a:xfrm>
            <a:custGeom>
              <a:avLst/>
              <a:gdLst/>
              <a:ahLst/>
              <a:cxnLst/>
              <a:rect r="r" b="b" t="t" l="l"/>
              <a:pathLst>
                <a:path h="560449" w="2777763">
                  <a:moveTo>
                    <a:pt x="20524" y="0"/>
                  </a:moveTo>
                  <a:lnTo>
                    <a:pt x="2757239" y="0"/>
                  </a:lnTo>
                  <a:cubicBezTo>
                    <a:pt x="2762683" y="0"/>
                    <a:pt x="2767903" y="2162"/>
                    <a:pt x="2771752" y="6011"/>
                  </a:cubicBezTo>
                  <a:cubicBezTo>
                    <a:pt x="2775601" y="9860"/>
                    <a:pt x="2777763" y="15080"/>
                    <a:pt x="2777763" y="20524"/>
                  </a:cubicBezTo>
                  <a:lnTo>
                    <a:pt x="2777763" y="539925"/>
                  </a:lnTo>
                  <a:cubicBezTo>
                    <a:pt x="2777763" y="545369"/>
                    <a:pt x="2775601" y="550589"/>
                    <a:pt x="2771752" y="554438"/>
                  </a:cubicBezTo>
                  <a:cubicBezTo>
                    <a:pt x="2767903" y="558287"/>
                    <a:pt x="2762683" y="560449"/>
                    <a:pt x="2757239" y="560449"/>
                  </a:cubicBezTo>
                  <a:lnTo>
                    <a:pt x="20524" y="560449"/>
                  </a:lnTo>
                  <a:cubicBezTo>
                    <a:pt x="15080" y="560449"/>
                    <a:pt x="9860" y="558287"/>
                    <a:pt x="6011" y="554438"/>
                  </a:cubicBezTo>
                  <a:cubicBezTo>
                    <a:pt x="2162" y="550589"/>
                    <a:pt x="0" y="545369"/>
                    <a:pt x="0" y="539925"/>
                  </a:cubicBezTo>
                  <a:lnTo>
                    <a:pt x="0" y="20524"/>
                  </a:lnTo>
                  <a:cubicBezTo>
                    <a:pt x="0" y="15080"/>
                    <a:pt x="2162" y="9860"/>
                    <a:pt x="6011" y="6011"/>
                  </a:cubicBezTo>
                  <a:cubicBezTo>
                    <a:pt x="9860" y="2162"/>
                    <a:pt x="15080" y="0"/>
                    <a:pt x="20524" y="0"/>
                  </a:cubicBezTo>
                  <a:close/>
                </a:path>
              </a:pathLst>
            </a:custGeom>
            <a:solidFill>
              <a:srgbClr val="85CEC3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777763" cy="579499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07858">
            <a:off x="3396456" y="3909638"/>
            <a:ext cx="11406623" cy="2339737"/>
            <a:chOff x="0" y="0"/>
            <a:chExt cx="2799872" cy="5743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9872" cy="574312"/>
            </a:xfrm>
            <a:custGeom>
              <a:avLst/>
              <a:gdLst/>
              <a:ahLst/>
              <a:cxnLst/>
              <a:rect r="r" b="b" t="t" l="l"/>
              <a:pathLst>
                <a:path h="574312" w="2799872">
                  <a:moveTo>
                    <a:pt x="20362" y="0"/>
                  </a:moveTo>
                  <a:lnTo>
                    <a:pt x="2779510" y="0"/>
                  </a:lnTo>
                  <a:cubicBezTo>
                    <a:pt x="2784910" y="0"/>
                    <a:pt x="2790089" y="2145"/>
                    <a:pt x="2793908" y="5964"/>
                  </a:cubicBezTo>
                  <a:cubicBezTo>
                    <a:pt x="2797727" y="9782"/>
                    <a:pt x="2799872" y="14961"/>
                    <a:pt x="2799872" y="20362"/>
                  </a:cubicBezTo>
                  <a:lnTo>
                    <a:pt x="2799872" y="553951"/>
                  </a:lnTo>
                  <a:cubicBezTo>
                    <a:pt x="2799872" y="559351"/>
                    <a:pt x="2797727" y="564530"/>
                    <a:pt x="2793908" y="568348"/>
                  </a:cubicBezTo>
                  <a:cubicBezTo>
                    <a:pt x="2790089" y="572167"/>
                    <a:pt x="2784910" y="574312"/>
                    <a:pt x="2779510" y="574312"/>
                  </a:cubicBezTo>
                  <a:lnTo>
                    <a:pt x="20362" y="574312"/>
                  </a:lnTo>
                  <a:cubicBezTo>
                    <a:pt x="9116" y="574312"/>
                    <a:pt x="0" y="565196"/>
                    <a:pt x="0" y="553951"/>
                  </a:cubicBezTo>
                  <a:lnTo>
                    <a:pt x="0" y="20362"/>
                  </a:lnTo>
                  <a:cubicBezTo>
                    <a:pt x="0" y="9116"/>
                    <a:pt x="9116" y="0"/>
                    <a:pt x="20362" y="0"/>
                  </a:cubicBezTo>
                  <a:close/>
                </a:path>
              </a:pathLst>
            </a:custGeom>
            <a:solidFill>
              <a:srgbClr val="000000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799872" cy="593362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-307858">
            <a:off x="3287252" y="3967319"/>
            <a:ext cx="11530942" cy="201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89"/>
              </a:lnSpc>
            </a:pPr>
            <a:r>
              <a:rPr lang="en-US" sz="11849">
                <a:solidFill>
                  <a:srgbClr val="F5F1E1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OBRIGADA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463397">
            <a:off x="1880626" y="3208763"/>
            <a:ext cx="1711637" cy="1796565"/>
          </a:xfrm>
          <a:custGeom>
            <a:avLst/>
            <a:gdLst/>
            <a:ahLst/>
            <a:cxnLst/>
            <a:rect r="r" b="b" t="t" l="l"/>
            <a:pathLst>
              <a:path h="1796565" w="1711637">
                <a:moveTo>
                  <a:pt x="0" y="0"/>
                </a:moveTo>
                <a:lnTo>
                  <a:pt x="1711636" y="0"/>
                </a:lnTo>
                <a:lnTo>
                  <a:pt x="1711636" y="1796565"/>
                </a:lnTo>
                <a:lnTo>
                  <a:pt x="0" y="17965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321975">
            <a:off x="14545961" y="5058831"/>
            <a:ext cx="1570218" cy="1467440"/>
          </a:xfrm>
          <a:custGeom>
            <a:avLst/>
            <a:gdLst/>
            <a:ahLst/>
            <a:cxnLst/>
            <a:rect r="r" b="b" t="t" l="l"/>
            <a:pathLst>
              <a:path h="1467440" w="1570218">
                <a:moveTo>
                  <a:pt x="0" y="0"/>
                </a:moveTo>
                <a:lnTo>
                  <a:pt x="1570218" y="0"/>
                </a:lnTo>
                <a:lnTo>
                  <a:pt x="1570218" y="1467440"/>
                </a:lnTo>
                <a:lnTo>
                  <a:pt x="0" y="14674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50659" y="8001684"/>
            <a:ext cx="1204066" cy="1256616"/>
          </a:xfrm>
          <a:custGeom>
            <a:avLst/>
            <a:gdLst/>
            <a:ahLst/>
            <a:cxnLst/>
            <a:rect r="r" b="b" t="t" l="l"/>
            <a:pathLst>
              <a:path h="1256616" w="1204066">
                <a:moveTo>
                  <a:pt x="0" y="0"/>
                </a:moveTo>
                <a:lnTo>
                  <a:pt x="1204066" y="0"/>
                </a:lnTo>
                <a:lnTo>
                  <a:pt x="1204066" y="1256616"/>
                </a:lnTo>
                <a:lnTo>
                  <a:pt x="0" y="12566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921718" y="1068063"/>
            <a:ext cx="1256574" cy="1311415"/>
          </a:xfrm>
          <a:custGeom>
            <a:avLst/>
            <a:gdLst/>
            <a:ahLst/>
            <a:cxnLst/>
            <a:rect r="r" b="b" t="t" l="l"/>
            <a:pathLst>
              <a:path h="1311415" w="1256574">
                <a:moveTo>
                  <a:pt x="0" y="0"/>
                </a:moveTo>
                <a:lnTo>
                  <a:pt x="1256575" y="0"/>
                </a:lnTo>
                <a:lnTo>
                  <a:pt x="1256575" y="1311416"/>
                </a:lnTo>
                <a:lnTo>
                  <a:pt x="0" y="13114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34465">
            <a:off x="4985277" y="6279770"/>
            <a:ext cx="1417379" cy="1502039"/>
          </a:xfrm>
          <a:custGeom>
            <a:avLst/>
            <a:gdLst/>
            <a:ahLst/>
            <a:cxnLst/>
            <a:rect r="r" b="b" t="t" l="l"/>
            <a:pathLst>
              <a:path h="1502039" w="1417379">
                <a:moveTo>
                  <a:pt x="0" y="0"/>
                </a:moveTo>
                <a:lnTo>
                  <a:pt x="1417378" y="0"/>
                </a:lnTo>
                <a:lnTo>
                  <a:pt x="1417378" y="1502039"/>
                </a:lnTo>
                <a:lnTo>
                  <a:pt x="0" y="15020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436555">
            <a:off x="11692005" y="2511475"/>
            <a:ext cx="1312547" cy="1423867"/>
          </a:xfrm>
          <a:custGeom>
            <a:avLst/>
            <a:gdLst/>
            <a:ahLst/>
            <a:cxnLst/>
            <a:rect r="r" b="b" t="t" l="l"/>
            <a:pathLst>
              <a:path h="1423867" w="1312547">
                <a:moveTo>
                  <a:pt x="0" y="0"/>
                </a:moveTo>
                <a:lnTo>
                  <a:pt x="1312546" y="0"/>
                </a:lnTo>
                <a:lnTo>
                  <a:pt x="1312546" y="1423867"/>
                </a:lnTo>
                <a:lnTo>
                  <a:pt x="0" y="14238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4348797" y="-1881544"/>
            <a:ext cx="3605315" cy="3605315"/>
          </a:xfrm>
          <a:custGeom>
            <a:avLst/>
            <a:gdLst/>
            <a:ahLst/>
            <a:cxnLst/>
            <a:rect r="r" b="b" t="t" l="l"/>
            <a:pathLst>
              <a:path h="3605315" w="3605315">
                <a:moveTo>
                  <a:pt x="0" y="0"/>
                </a:moveTo>
                <a:lnTo>
                  <a:pt x="3605315" y="0"/>
                </a:lnTo>
                <a:lnTo>
                  <a:pt x="3605315" y="3605315"/>
                </a:lnTo>
                <a:lnTo>
                  <a:pt x="0" y="360531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62716" y="533362"/>
            <a:ext cx="527269" cy="571988"/>
          </a:xfrm>
          <a:custGeom>
            <a:avLst/>
            <a:gdLst/>
            <a:ahLst/>
            <a:cxnLst/>
            <a:rect r="r" b="b" t="t" l="l"/>
            <a:pathLst>
              <a:path h="571988" w="527269">
                <a:moveTo>
                  <a:pt x="0" y="0"/>
                </a:moveTo>
                <a:lnTo>
                  <a:pt x="527269" y="0"/>
                </a:lnTo>
                <a:lnTo>
                  <a:pt x="527269" y="571989"/>
                </a:lnTo>
                <a:lnTo>
                  <a:pt x="0" y="57198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8" id="18"/>
          <p:cNvGrpSpPr/>
          <p:nvPr/>
        </p:nvGrpSpPr>
        <p:grpSpPr>
          <a:xfrm rot="0">
            <a:off x="758514" y="607170"/>
            <a:ext cx="379370" cy="37937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1E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7796" lIns="37796" bIns="37796" rIns="37796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08706" y="636832"/>
            <a:ext cx="2630479" cy="32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1929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borcelle media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9898" y="646357"/>
            <a:ext cx="646706" cy="26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87"/>
              </a:lnSpc>
            </a:pPr>
            <a:r>
              <a:rPr lang="en-US" sz="1562">
                <a:solidFill>
                  <a:srgbClr val="000000"/>
                </a:solidFill>
                <a:latin typeface="Garet ExtraBold"/>
                <a:ea typeface="Garet ExtraBold"/>
                <a:cs typeface="Garet ExtraBold"/>
                <a:sym typeface="Garet ExtraBold"/>
              </a:rPr>
              <a:t>bm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162D63-3730-4438-9ABB-5DC5A95C5AC0}"/>
</file>

<file path=customXml/itemProps2.xml><?xml version="1.0" encoding="utf-8"?>
<ds:datastoreItem xmlns:ds="http://schemas.openxmlformats.org/officeDocument/2006/customXml" ds:itemID="{12104454-F8DE-4EED-A403-FE22BA46E2F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DAGNHtWnqfQ</dc:identifier>
  <dcterms:modified xsi:type="dcterms:W3CDTF">2011-08-01T06:04:30Z</dcterms:modified>
  <cp:revision>1</cp:revision>
  <dc:title>Apresentação de brainstorm minimalista verde e preto</dc:title>
</cp:coreProperties>
</file>