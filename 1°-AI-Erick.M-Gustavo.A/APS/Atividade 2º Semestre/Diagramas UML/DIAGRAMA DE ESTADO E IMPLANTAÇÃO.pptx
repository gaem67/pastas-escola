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3"/>
  </p:notesMasterIdLst>
  <p:sldIdLst>
    <p:sldId id="256" r:id="rId3"/>
    <p:sldId id="257" r:id="rId4"/>
    <p:sldId id="309" r:id="rId5"/>
    <p:sldId id="258" r:id="rId6"/>
    <p:sldId id="304" r:id="rId7"/>
    <p:sldId id="305" r:id="rId8"/>
    <p:sldId id="308" r:id="rId9"/>
    <p:sldId id="306" r:id="rId10"/>
    <p:sldId id="307" r:id="rId11"/>
    <p:sldId id="311" r:id="rId12"/>
  </p:sldIdLst>
  <p:sldSz cx="9144000" cy="5143500" type="screen16x9"/>
  <p:notesSz cx="6858000" cy="9144000"/>
  <p:embeddedFontLst>
    <p:embeddedFont>
      <p:font typeface="Barlow Semi Condensed" pitchFamily="2" charset="0"/>
      <p:regular r:id="rId14"/>
      <p:bold r:id="rId15"/>
      <p:italic r:id="rId16"/>
      <p:boldItalic r:id="rId17"/>
    </p:embeddedFont>
    <p:embeddedFont>
      <p:font typeface="Barlow Semi Condensed Medium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15FEF3-56D1-4C76-A84F-9331C796BCD6}">
  <a:tblStyle styleId="{3215FEF3-56D1-4C76-A84F-9331C796BC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customXml" Target="../customXml/item1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821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762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521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424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543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778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877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 /><Relationship Id="rId2" Type="http://schemas.openxmlformats.org/officeDocument/2006/relationships/hyperlink" Target="https://slidesgo.com/" TargetMode="External" /><Relationship Id="rId1" Type="http://schemas.openxmlformats.org/officeDocument/2006/relationships/slideMaster" Target="../slideMasters/slideMaster1.xml" /><Relationship Id="rId5" Type="http://schemas.openxmlformats.org/officeDocument/2006/relationships/hyperlink" Target="https://stories.freepik.com/" TargetMode="External" /><Relationship Id="rId4" Type="http://schemas.openxmlformats.org/officeDocument/2006/relationships/hyperlink" Target="https://www.freepik.com/" TargetMode="Externa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1" name="Google Shape;1621;p32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622" name="Google Shape;1622;p32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 /><Relationship Id="rId1" Type="http://schemas.openxmlformats.org/officeDocument/2006/relationships/slideLayout" Target="../slideLayouts/slideLayout3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4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6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2.xml" /><Relationship Id="rId4" Type="http://schemas.microsoft.com/office/2007/relationships/hdphoto" Target="../media/hdphoto1.wdp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2.xml" /><Relationship Id="rId4" Type="http://schemas.microsoft.com/office/2007/relationships/hdphoto" Target="../media/hdphoto1.wdp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9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6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2.xml" /><Relationship Id="rId5" Type="http://schemas.openxmlformats.org/officeDocument/2006/relationships/image" Target="../media/image12.svg" /><Relationship Id="rId4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2541175" y="252317"/>
            <a:ext cx="4064400" cy="892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5000" dirty="0" err="1"/>
              <a:t>Diagramas</a:t>
            </a:r>
            <a:r>
              <a:rPr lang="en" sz="5000" dirty="0"/>
              <a:t> UML</a:t>
            </a: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2662619" y="985552"/>
            <a:ext cx="3821512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" sz="2300" err="1"/>
              <a:t>Diagrama</a:t>
            </a:r>
            <a:r>
              <a:rPr lang="en" sz="2300" dirty="0"/>
              <a:t> de Estado</a:t>
            </a:r>
            <a:endParaRPr lang="pt-BR" dirty="0"/>
          </a:p>
          <a:p>
            <a:pPr marL="342900" indent="-342900" algn="l">
              <a:buFont typeface="Arial"/>
              <a:buChar char="•"/>
            </a:pPr>
            <a:r>
              <a:rPr lang="en" sz="2300" dirty="0" err="1"/>
              <a:t>Diagrama</a:t>
            </a:r>
            <a:r>
              <a:rPr lang="en" sz="2300" dirty="0"/>
              <a:t> de </a:t>
            </a:r>
            <a:r>
              <a:rPr lang="en" sz="2300" dirty="0" err="1"/>
              <a:t>Implantação</a:t>
            </a:r>
            <a:endParaRPr lang="en" sz="2300" dirty="0" err="1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Arial"/>
              <a:buNone/>
            </a:pPr>
            <a:endParaRPr sz="2300">
              <a:solidFill>
                <a:schemeClr val="accent1"/>
              </a:solidFill>
            </a:endParaRPr>
          </a:p>
          <a:p>
            <a:endParaRPr lang="pt-BR" sz="23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0F5A689-9440-AD8E-CD32-B882872C700C}"/>
              </a:ext>
            </a:extLst>
          </p:cNvPr>
          <p:cNvSpPr txBox="1"/>
          <p:nvPr/>
        </p:nvSpPr>
        <p:spPr>
          <a:xfrm>
            <a:off x="4291828" y="1943687"/>
            <a:ext cx="5164931" cy="31270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 dirty="0">
                <a:solidFill>
                  <a:schemeClr val="tx1"/>
                </a:solidFill>
              </a:rPr>
              <a:t>Bianca Pereira Cunha - 241036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 dirty="0">
                <a:solidFill>
                  <a:schemeClr val="tx1"/>
                </a:solidFill>
              </a:rPr>
              <a:t>Enzo de </a:t>
            </a:r>
            <a:r>
              <a:rPr lang="de-DE" sz="1600" b="1" err="1">
                <a:solidFill>
                  <a:schemeClr val="tx1"/>
                </a:solidFill>
              </a:rPr>
              <a:t>Holanda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err="1">
                <a:solidFill>
                  <a:schemeClr val="tx1"/>
                </a:solidFill>
              </a:rPr>
              <a:t>Souto</a:t>
            </a:r>
            <a:r>
              <a:rPr lang="de-DE" sz="1600" b="1">
                <a:solidFill>
                  <a:schemeClr val="tx1"/>
                </a:solidFill>
              </a:rPr>
              <a:t>  - 241031</a:t>
            </a:r>
            <a:endParaRPr lang="de-DE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 dirty="0">
                <a:solidFill>
                  <a:schemeClr val="tx1"/>
                </a:solidFill>
              </a:rPr>
              <a:t>Guilherme Pereira Santos - 241416</a:t>
            </a: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>
                <a:solidFill>
                  <a:schemeClr val="tx1"/>
                </a:solidFill>
              </a:rPr>
              <a:t>João Vitor Andrade Vieira da Silva - 241026</a:t>
            </a:r>
            <a:endParaRPr lang="en-US" sz="1600" b="1">
              <a:solidFill>
                <a:schemeClr val="tx1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 dirty="0">
                <a:solidFill>
                  <a:schemeClr val="tx1"/>
                </a:solidFill>
              </a:rPr>
              <a:t>Larissa Amaral Rodrigues - 241620</a:t>
            </a: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>
                <a:solidFill>
                  <a:schemeClr val="tx1"/>
                </a:solidFill>
              </a:rPr>
              <a:t>Miguel dos Santos Pedro Oliveira - 241033</a:t>
            </a:r>
            <a:endParaRPr lang="de-DE" sz="16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Char char="•"/>
            </a:pPr>
            <a:r>
              <a:rPr lang="de-DE" sz="1600" b="1" dirty="0">
                <a:solidFill>
                  <a:schemeClr val="tx1"/>
                </a:solidFill>
              </a:rPr>
              <a:t>Thiago </a:t>
            </a:r>
            <a:r>
              <a:rPr lang="de-DE" sz="1600" b="1" dirty="0" err="1">
                <a:solidFill>
                  <a:schemeClr val="tx1"/>
                </a:solidFill>
              </a:rPr>
              <a:t>Cavalcante</a:t>
            </a:r>
            <a:r>
              <a:rPr lang="de-DE" sz="1600" b="1" dirty="0">
                <a:solidFill>
                  <a:schemeClr val="tx1"/>
                </a:solidFill>
              </a:rPr>
              <a:t> Lopes - 241043</a:t>
            </a:r>
          </a:p>
          <a:p>
            <a:pPr algn="l"/>
            <a:endParaRPr lang="pt-BR" dirty="0">
              <a:solidFill>
                <a:schemeClr val="accent1"/>
              </a:solidFill>
            </a:endParaRPr>
          </a:p>
        </p:txBody>
      </p:sp>
      <p:pic>
        <p:nvPicPr>
          <p:cNvPr id="3" name="Imagem 2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D4100227-180E-1AB1-F611-815A4991E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8644" y="578644"/>
            <a:ext cx="5314950" cy="5286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-3143" y="116872"/>
            <a:ext cx="4330387" cy="761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Diagrama</a:t>
            </a:r>
            <a:r>
              <a:rPr lang="en" dirty="0"/>
              <a:t> de Estado</a:t>
            </a:r>
            <a:endParaRPr lang="pt-BR" dirty="0"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490356" y="1283967"/>
            <a:ext cx="3347225" cy="31365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n" dirty="0"/>
              <a:t> 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Um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diagrama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por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vezes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conhecido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como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diagrama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máquina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é um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tipo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diagrama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comportamental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na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Linguagem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modelagem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unificada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(UML) que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mostra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transições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entre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vários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objetos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</a:t>
            </a:r>
            <a:endParaRPr lang="pt-BR" sz="1400" b="1">
              <a:solidFill>
                <a:schemeClr val="tx1">
                  <a:lumMod val="49000"/>
                </a:schemeClr>
              </a:solidFill>
            </a:endParaRPr>
          </a:p>
          <a:p>
            <a:pPr marL="0" indent="0" algn="just">
              <a:buSzPts val="1100"/>
              <a:buNone/>
            </a:pP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  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Diagramas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retratam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principalmente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transições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são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representados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por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retângulos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com cantos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arredondados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rotulados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com o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nome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do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 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As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transições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são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marcadas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com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setas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que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fluem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um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para outro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mostrando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como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mudam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 </a:t>
            </a:r>
            <a:endParaRPr lang="pt-BR" sz="1400" b="1">
              <a:solidFill>
                <a:schemeClr val="tx1">
                  <a:lumMod val="49000"/>
                </a:schemeClr>
              </a:solidFill>
              <a:latin typeface="Barlow Semi Condensed"/>
              <a:ea typeface="Barlow Semi Condensed"/>
              <a:cs typeface="Barlow Semi Condensed"/>
            </a:endParaRPr>
          </a:p>
          <a:p>
            <a:pPr marL="0" indent="0" algn="just">
              <a:buNone/>
            </a:pP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As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principais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aplicações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são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as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seguintes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: 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Descrever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objetos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orientados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a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eventos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um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sistema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reativo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.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Ilustrar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cenários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caso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uso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um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contexto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negócios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.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Descrever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como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um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objeto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se move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por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vários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estados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seu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tempo </a:t>
            </a:r>
            <a:r>
              <a:rPr lang="en" sz="1400" b="1" dirty="0" err="1">
                <a:solidFill>
                  <a:schemeClr val="tx1">
                    <a:lumMod val="49000"/>
                  </a:schemeClr>
                </a:solidFill>
              </a:rPr>
              <a:t>vida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pt-BR" sz="1400" dirty="0">
              <a:solidFill>
                <a:schemeClr val="tx1">
                  <a:lumMod val="49000"/>
                </a:schemeClr>
              </a:solidFill>
            </a:endParaRPr>
          </a:p>
        </p:txBody>
      </p:sp>
      <p:pic>
        <p:nvPicPr>
          <p:cNvPr id="2" name="Imagem 1" descr="Diagrama&#10;&#10;Descrição gerada automaticamente">
            <a:extLst>
              <a:ext uri="{FF2B5EF4-FFF2-40B4-BE49-F238E27FC236}">
                <a16:creationId xmlns:a16="http://schemas.microsoft.com/office/drawing/2014/main" id="{32792C5C-0FE6-ACFD-DB35-8DB13B719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437" y="839539"/>
            <a:ext cx="5260182" cy="3457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-715561" y="-560"/>
            <a:ext cx="4330387" cy="761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Diagrama</a:t>
            </a:r>
            <a:r>
              <a:rPr lang="en" dirty="0"/>
              <a:t> de Estado</a:t>
            </a:r>
            <a:endParaRPr lang="pt-BR" dirty="0"/>
          </a:p>
        </p:txBody>
      </p:sp>
      <p:pic>
        <p:nvPicPr>
          <p:cNvPr id="2" name="Imagem 1" descr="Diagrama&#10;&#10;Descrição gerada automaticamente">
            <a:extLst>
              <a:ext uri="{FF2B5EF4-FFF2-40B4-BE49-F238E27FC236}">
                <a16:creationId xmlns:a16="http://schemas.microsoft.com/office/drawing/2014/main" id="{32792C5C-0FE6-ACFD-DB35-8DB13B719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19" y="438315"/>
            <a:ext cx="8192250" cy="458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1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317310" y="759310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317310" y="1836197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317310" y="2914014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317310" y="3992412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263836" y="42290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Vantagem</a:t>
            </a:r>
            <a:endParaRPr lang="pt-BR" dirty="0" err="1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249871" y="906113"/>
            <a:ext cx="3658087" cy="59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dirty="0"/>
              <a:t>Representa claramente o comportamento de um sistema em resposta a eventos.</a:t>
            </a:r>
            <a:endParaRPr lang="en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" dirty="0"/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249872" y="601217"/>
            <a:ext cx="448676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pt-BR" dirty="0"/>
              <a:t>Clareza na Modelagem do Comportamento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249871" y="1644491"/>
            <a:ext cx="39724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pt-BR" dirty="0"/>
              <a:t>Identificação de Estados e</a:t>
            </a:r>
            <a:r>
              <a:rPr lang="pt-BR" sz="1200" b="1" dirty="0">
                <a:solidFill>
                  <a:srgbClr val="FFFFFF"/>
                </a:solidFill>
              </a:rPr>
              <a:t> </a:t>
            </a:r>
            <a:r>
              <a:rPr lang="pt-BR" dirty="0"/>
              <a:t>Transições:</a:t>
            </a:r>
            <a:endParaRPr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249871" y="1985105"/>
            <a:ext cx="3200887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dirty="0"/>
              <a:t>Detalha todos os estados e transições de um objeto ou sistema.</a:t>
            </a:r>
            <a:endParaRPr lang="en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249871" y="277349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Melhora a Comunicação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249871" y="3064097"/>
            <a:ext cx="3315187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Facilita a comunicação entre stakeholders com uma linguagem visual comum.</a:t>
            </a:r>
            <a:endParaRPr lang="en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249871" y="3852482"/>
            <a:ext cx="30580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Suporte</a:t>
            </a:r>
            <a:r>
              <a:rPr lang="pt-BR" sz="1200" b="1" dirty="0">
                <a:solidFill>
                  <a:srgbClr val="FFFFFF"/>
                </a:solidFill>
              </a:rPr>
              <a:t> </a:t>
            </a:r>
            <a:r>
              <a:rPr lang="pt-BR" dirty="0"/>
              <a:t>a Sistemas Complexos</a:t>
            </a:r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249871" y="4143089"/>
            <a:ext cx="3200887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Útil para modelar sistemas com muitas</a:t>
            </a:r>
            <a:r>
              <a:rPr lang="pt-BR" sz="1200" dirty="0">
                <a:solidFill>
                  <a:srgbClr val="FFFFFF"/>
                </a:solidFill>
              </a:rPr>
              <a:t> </a:t>
            </a:r>
            <a:r>
              <a:rPr lang="pt-BR" dirty="0"/>
              <a:t>transições de estado, evitando ambiguidades.</a:t>
            </a:r>
            <a:endParaRPr lang="en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399479" y="90811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399479" y="198710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399479" y="306609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399479" y="414508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" name="Google Shape;2106;p37">
            <a:extLst>
              <a:ext uri="{FF2B5EF4-FFF2-40B4-BE49-F238E27FC236}">
                <a16:creationId xmlns:a16="http://schemas.microsoft.com/office/drawing/2014/main" id="{0C11B8FA-EA63-0D17-69F3-6AB53B10A36E}"/>
              </a:ext>
            </a:extLst>
          </p:cNvPr>
          <p:cNvGrpSpPr/>
          <p:nvPr/>
        </p:nvGrpSpPr>
        <p:grpSpPr>
          <a:xfrm>
            <a:off x="5317935" y="623577"/>
            <a:ext cx="635100" cy="734640"/>
            <a:chOff x="731647" y="573573"/>
            <a:chExt cx="635100" cy="734640"/>
          </a:xfrm>
        </p:grpSpPr>
        <p:grpSp>
          <p:nvGrpSpPr>
            <p:cNvPr id="3" name="Google Shape;2107;p37">
              <a:extLst>
                <a:ext uri="{FF2B5EF4-FFF2-40B4-BE49-F238E27FC236}">
                  <a16:creationId xmlns:a16="http://schemas.microsoft.com/office/drawing/2014/main" id="{2C675FF6-DA2C-CDF9-281E-E346F9A11A44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8" name="Google Shape;2108;p37">
                <a:extLst>
                  <a:ext uri="{FF2B5EF4-FFF2-40B4-BE49-F238E27FC236}">
                    <a16:creationId xmlns:a16="http://schemas.microsoft.com/office/drawing/2014/main" id="{95187459-6481-A339-F37E-CEB8C0F51A7D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109;p37">
                <a:extLst>
                  <a:ext uri="{FF2B5EF4-FFF2-40B4-BE49-F238E27FC236}">
                    <a16:creationId xmlns:a16="http://schemas.microsoft.com/office/drawing/2014/main" id="{07EDF35C-FC77-DE05-28B4-6E9C7D4E0EF3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2110;p37">
              <a:extLst>
                <a:ext uri="{FF2B5EF4-FFF2-40B4-BE49-F238E27FC236}">
                  <a16:creationId xmlns:a16="http://schemas.microsoft.com/office/drawing/2014/main" id="{EEB92254-A8A5-5C6B-7765-15A3C8A9D773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5" name="Google Shape;2111;p37">
                <a:extLst>
                  <a:ext uri="{FF2B5EF4-FFF2-40B4-BE49-F238E27FC236}">
                    <a16:creationId xmlns:a16="http://schemas.microsoft.com/office/drawing/2014/main" id="{3164C299-51B3-414A-E2E3-BC4C9B990732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6" name="Google Shape;2112;p37">
                <a:extLst>
                  <a:ext uri="{FF2B5EF4-FFF2-40B4-BE49-F238E27FC236}">
                    <a16:creationId xmlns:a16="http://schemas.microsoft.com/office/drawing/2014/main" id="{5D51C93E-8125-338D-CFCA-B509D966824A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7" name="Google Shape;2113;p37">
                <a:extLst>
                  <a:ext uri="{FF2B5EF4-FFF2-40B4-BE49-F238E27FC236}">
                    <a16:creationId xmlns:a16="http://schemas.microsoft.com/office/drawing/2014/main" id="{91F2D452-C5E9-C8A1-5031-EF3AE322036E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1" name="Google Shape;2147;p37">
            <a:extLst>
              <a:ext uri="{FF2B5EF4-FFF2-40B4-BE49-F238E27FC236}">
                <a16:creationId xmlns:a16="http://schemas.microsoft.com/office/drawing/2014/main" id="{AA5A693E-6CB2-DB64-42E2-EAF3397F37EB}"/>
              </a:ext>
            </a:extLst>
          </p:cNvPr>
          <p:cNvSpPr txBox="1">
            <a:spLocks/>
          </p:cNvSpPr>
          <p:nvPr/>
        </p:nvSpPr>
        <p:spPr>
          <a:xfrm>
            <a:off x="5409629" y="796195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3" name="Google Shape;2140;p37">
            <a:extLst>
              <a:ext uri="{FF2B5EF4-FFF2-40B4-BE49-F238E27FC236}">
                <a16:creationId xmlns:a16="http://schemas.microsoft.com/office/drawing/2014/main" id="{52A796EA-E6BC-0AB0-D199-21E9D3F3C13A}"/>
              </a:ext>
            </a:extLst>
          </p:cNvPr>
          <p:cNvSpPr txBox="1">
            <a:spLocks/>
          </p:cNvSpPr>
          <p:nvPr/>
        </p:nvSpPr>
        <p:spPr>
          <a:xfrm>
            <a:off x="5952841" y="696467"/>
            <a:ext cx="4486762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pt-BR" dirty="0"/>
              <a:t>Ferramenta de Documentação:</a:t>
            </a:r>
          </a:p>
        </p:txBody>
      </p:sp>
      <p:sp>
        <p:nvSpPr>
          <p:cNvPr id="17" name="Google Shape;2139;p37">
            <a:extLst>
              <a:ext uri="{FF2B5EF4-FFF2-40B4-BE49-F238E27FC236}">
                <a16:creationId xmlns:a16="http://schemas.microsoft.com/office/drawing/2014/main" id="{5FA9241C-E6F1-3A7E-DD63-0BB4A5A532EC}"/>
              </a:ext>
            </a:extLst>
          </p:cNvPr>
          <p:cNvSpPr txBox="1">
            <a:spLocks/>
          </p:cNvSpPr>
          <p:nvPr/>
        </p:nvSpPr>
        <p:spPr>
          <a:xfrm>
            <a:off x="5950459" y="1127568"/>
            <a:ext cx="2900850" cy="57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pt-BR" dirty="0"/>
              <a:t>Serve como documentação valiosa durante o desenvolvimento e manutenção do sistema.</a:t>
            </a:r>
          </a:p>
          <a:p>
            <a:pPr>
              <a:buSzPts val="1100"/>
            </a:pPr>
            <a:endParaRPr lang="pt-BR" dirty="0"/>
          </a:p>
          <a:p>
            <a:pPr>
              <a:buSzPts val="1100"/>
            </a:pPr>
            <a:endParaRPr lang="en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9E98571-0F70-340B-372E-B57B4B363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5012" y="1983810"/>
            <a:ext cx="3086100" cy="308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317310" y="759310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317310" y="1836197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317310" y="2914014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317310" y="3992412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263836" y="42290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err="1"/>
              <a:t>Desvantagem</a:t>
            </a:r>
            <a:endParaRPr lang="pt-BR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249871" y="906113"/>
            <a:ext cx="3658087" cy="59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dirty="0"/>
              <a:t>Pode se tornar difícil de gerenciar em sistemas grandes com muitos estados e transições.</a:t>
            </a:r>
          </a:p>
          <a:p>
            <a:pPr>
              <a:buSzPts val="1100"/>
            </a:pPr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" dirty="0"/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249872" y="601217"/>
            <a:ext cx="448676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pt-BR" dirty="0"/>
              <a:t>Complexidade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249871" y="1815941"/>
            <a:ext cx="39724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Curva de Aprendizado</a:t>
            </a: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249871" y="2106549"/>
            <a:ext cx="3200887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pt-BR" dirty="0"/>
              <a:t>Requer conhecimento prévio de UML e máquinas de estados.</a:t>
            </a:r>
          </a:p>
          <a:p>
            <a:pPr>
              <a:buSzPts val="1100"/>
            </a:pPr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249871" y="2773490"/>
            <a:ext cx="3508068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Tempo de Desenvolvimento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249871" y="3064097"/>
            <a:ext cx="3315187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Criar e manter diagramas detalhados pode ser demorado.</a:t>
            </a:r>
          </a:p>
          <a:p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249871" y="3852482"/>
            <a:ext cx="30580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Escalabilidade</a:t>
            </a:r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249871" y="4143089"/>
            <a:ext cx="3654955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dirty="0"/>
              <a:t>Diagramas podem se tornar menos legíveis e difíceis de atualizar à medida que o sistema cresce.</a:t>
            </a:r>
          </a:p>
          <a:p>
            <a:endParaRPr lang="pt-BR" dirty="0"/>
          </a:p>
          <a:p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399479" y="90811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399479" y="198710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399479" y="306609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399479" y="414508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" name="Google Shape;2106;p37">
            <a:extLst>
              <a:ext uri="{FF2B5EF4-FFF2-40B4-BE49-F238E27FC236}">
                <a16:creationId xmlns:a16="http://schemas.microsoft.com/office/drawing/2014/main" id="{0C11B8FA-EA63-0D17-69F3-6AB53B10A36E}"/>
              </a:ext>
            </a:extLst>
          </p:cNvPr>
          <p:cNvGrpSpPr/>
          <p:nvPr/>
        </p:nvGrpSpPr>
        <p:grpSpPr>
          <a:xfrm>
            <a:off x="4589860" y="654892"/>
            <a:ext cx="635100" cy="734640"/>
            <a:chOff x="731647" y="573573"/>
            <a:chExt cx="635100" cy="734640"/>
          </a:xfrm>
        </p:grpSpPr>
        <p:grpSp>
          <p:nvGrpSpPr>
            <p:cNvPr id="3" name="Google Shape;2107;p37">
              <a:extLst>
                <a:ext uri="{FF2B5EF4-FFF2-40B4-BE49-F238E27FC236}">
                  <a16:creationId xmlns:a16="http://schemas.microsoft.com/office/drawing/2014/main" id="{2C675FF6-DA2C-CDF9-281E-E346F9A11A44}"/>
                </a:ext>
              </a:extLst>
            </p:cNvPr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8" name="Google Shape;2108;p37">
                <a:extLst>
                  <a:ext uri="{FF2B5EF4-FFF2-40B4-BE49-F238E27FC236}">
                    <a16:creationId xmlns:a16="http://schemas.microsoft.com/office/drawing/2014/main" id="{95187459-6481-A339-F37E-CEB8C0F51A7D}"/>
                  </a:ext>
                </a:extLst>
              </p:cNvPr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109;p37">
                <a:extLst>
                  <a:ext uri="{FF2B5EF4-FFF2-40B4-BE49-F238E27FC236}">
                    <a16:creationId xmlns:a16="http://schemas.microsoft.com/office/drawing/2014/main" id="{07EDF35C-FC77-DE05-28B4-6E9C7D4E0EF3}"/>
                  </a:ext>
                </a:extLst>
              </p:cNvPr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2110;p37">
              <a:extLst>
                <a:ext uri="{FF2B5EF4-FFF2-40B4-BE49-F238E27FC236}">
                  <a16:creationId xmlns:a16="http://schemas.microsoft.com/office/drawing/2014/main" id="{EEB92254-A8A5-5C6B-7765-15A3C8A9D773}"/>
                </a:ext>
              </a:extLst>
            </p:cNvPr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5" name="Google Shape;2111;p37">
                <a:extLst>
                  <a:ext uri="{FF2B5EF4-FFF2-40B4-BE49-F238E27FC236}">
                    <a16:creationId xmlns:a16="http://schemas.microsoft.com/office/drawing/2014/main" id="{3164C299-51B3-414A-E2E3-BC4C9B990732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6" name="Google Shape;2112;p37">
                <a:extLst>
                  <a:ext uri="{FF2B5EF4-FFF2-40B4-BE49-F238E27FC236}">
                    <a16:creationId xmlns:a16="http://schemas.microsoft.com/office/drawing/2014/main" id="{5D51C93E-8125-338D-CFCA-B509D966824A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7" name="Google Shape;2113;p37">
                <a:extLst>
                  <a:ext uri="{FF2B5EF4-FFF2-40B4-BE49-F238E27FC236}">
                    <a16:creationId xmlns:a16="http://schemas.microsoft.com/office/drawing/2014/main" id="{91F2D452-C5E9-C8A1-5031-EF3AE322036E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1" name="Google Shape;2147;p37">
            <a:extLst>
              <a:ext uri="{FF2B5EF4-FFF2-40B4-BE49-F238E27FC236}">
                <a16:creationId xmlns:a16="http://schemas.microsoft.com/office/drawing/2014/main" id="{AA5A693E-6CB2-DB64-42E2-EAF3397F37EB}"/>
              </a:ext>
            </a:extLst>
          </p:cNvPr>
          <p:cNvSpPr txBox="1">
            <a:spLocks/>
          </p:cNvSpPr>
          <p:nvPr/>
        </p:nvSpPr>
        <p:spPr>
          <a:xfrm>
            <a:off x="4681554" y="82751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3" name="Google Shape;2140;p37">
            <a:extLst>
              <a:ext uri="{FF2B5EF4-FFF2-40B4-BE49-F238E27FC236}">
                <a16:creationId xmlns:a16="http://schemas.microsoft.com/office/drawing/2014/main" id="{52A796EA-E6BC-0AB0-D199-21E9D3F3C13A}"/>
              </a:ext>
            </a:extLst>
          </p:cNvPr>
          <p:cNvSpPr txBox="1">
            <a:spLocks/>
          </p:cNvSpPr>
          <p:nvPr/>
        </p:nvSpPr>
        <p:spPr>
          <a:xfrm>
            <a:off x="5224766" y="727782"/>
            <a:ext cx="4486762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>
              <a:lnSpc>
                <a:spcPct val="115000"/>
              </a:lnSpc>
            </a:pPr>
            <a:r>
              <a:rPr lang="pt-BR" dirty="0"/>
              <a:t>Foco em Detalhes Específicos</a:t>
            </a:r>
          </a:p>
        </p:txBody>
      </p:sp>
      <p:sp>
        <p:nvSpPr>
          <p:cNvPr id="17" name="Google Shape;2139;p37">
            <a:extLst>
              <a:ext uri="{FF2B5EF4-FFF2-40B4-BE49-F238E27FC236}">
                <a16:creationId xmlns:a16="http://schemas.microsoft.com/office/drawing/2014/main" id="{5FA9241C-E6F1-3A7E-DD63-0BB4A5A532EC}"/>
              </a:ext>
            </a:extLst>
          </p:cNvPr>
          <p:cNvSpPr txBox="1">
            <a:spLocks/>
          </p:cNvSpPr>
          <p:nvPr/>
        </p:nvSpPr>
        <p:spPr>
          <a:xfrm>
            <a:off x="5222384" y="1080595"/>
            <a:ext cx="3832473" cy="56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pt-BR" dirty="0"/>
              <a:t>Pode desviar o foco dos desenvolvedores para detalhes específicos em detrimento da arquitetura global.</a:t>
            </a:r>
          </a:p>
          <a:p>
            <a:pPr>
              <a:buSzPts val="1100"/>
            </a:pPr>
            <a:endParaRPr lang="pt-BR" dirty="0"/>
          </a:p>
          <a:p>
            <a:pPr>
              <a:buSzPts val="1100"/>
            </a:pPr>
            <a:endParaRPr lang="pt-BR" dirty="0"/>
          </a:p>
          <a:p>
            <a:pPr>
              <a:buSzPts val="1100"/>
            </a:pPr>
            <a:endParaRPr lang="pt-BR" dirty="0"/>
          </a:p>
          <a:p>
            <a:pPr>
              <a:buSzPts val="1100"/>
            </a:pPr>
            <a:endParaRPr lang="en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BA287A5-D2F1-2CA8-CE8A-9BB969B3E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1556" y="2162207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-3143" y="116872"/>
            <a:ext cx="4330387" cy="761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Diagrama</a:t>
            </a:r>
            <a:r>
              <a:rPr lang="en" dirty="0"/>
              <a:t> de </a:t>
            </a:r>
            <a:r>
              <a:rPr lang="en" dirty="0" err="1"/>
              <a:t>Implantação</a:t>
            </a:r>
            <a:endParaRPr lang="pt-BR" dirty="0" err="1"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433206" y="1019649"/>
            <a:ext cx="4083129" cy="35123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just">
              <a:buNone/>
            </a:pP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O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diagrama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implementação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descreve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a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implementação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física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informações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geradas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pelo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programa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software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em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componentes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hardware.  Ele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mostra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componentes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do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seu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programa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(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código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,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bibliotecas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,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arquivos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dados)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serão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organizados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e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distribuídosnos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componentes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de hardware (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como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servidores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,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computadores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, </a:t>
            </a:r>
            <a:r>
              <a:rPr lang="en" sz="1400" b="1" err="1">
                <a:solidFill>
                  <a:schemeClr val="tx1">
                    <a:lumMod val="49000"/>
                  </a:schemeClr>
                </a:solidFill>
              </a:rPr>
              <a:t>dispositivos</a:t>
            </a:r>
            <a:r>
              <a:rPr lang="en" sz="1400" b="1" dirty="0">
                <a:solidFill>
                  <a:schemeClr val="tx1">
                    <a:lumMod val="49000"/>
                  </a:schemeClr>
                </a:solidFill>
              </a:rPr>
              <a:t>).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None/>
            </a:pPr>
            <a:r>
              <a:rPr lang="en" sz="1500" dirty="0">
                <a:solidFill>
                  <a:srgbClr val="282C33"/>
                </a:solidFill>
              </a:rPr>
              <a:t> </a:t>
            </a:r>
            <a:r>
              <a:rPr lang="en" sz="1400" b="1" err="1">
                <a:solidFill>
                  <a:srgbClr val="282C33"/>
                </a:solidFill>
              </a:rPr>
              <a:t>Os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diagramas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podem</a:t>
            </a:r>
            <a:r>
              <a:rPr lang="en" sz="1400" b="1" dirty="0">
                <a:solidFill>
                  <a:srgbClr val="282C33"/>
                </a:solidFill>
              </a:rPr>
              <a:t> ser </a:t>
            </a:r>
            <a:r>
              <a:rPr lang="en" sz="1400" b="1" err="1">
                <a:solidFill>
                  <a:srgbClr val="282C33"/>
                </a:solidFill>
              </a:rPr>
              <a:t>aplicados</a:t>
            </a:r>
            <a:r>
              <a:rPr lang="en" sz="1400" b="1" dirty="0">
                <a:solidFill>
                  <a:srgbClr val="282C33"/>
                </a:solidFill>
              </a:rPr>
              <a:t> para:</a:t>
            </a:r>
            <a:endParaRPr lang="en" sz="1400" b="1">
              <a:solidFill>
                <a:srgbClr val="494949"/>
              </a:solidFill>
            </a:endParaRPr>
          </a:p>
          <a:p>
            <a:pPr marL="342900" indent="-342900" algn="just"/>
            <a:r>
              <a:rPr lang="en" sz="1400" b="1" err="1">
                <a:solidFill>
                  <a:srgbClr val="282C33"/>
                </a:solidFill>
              </a:rPr>
              <a:t>Mostrar</a:t>
            </a:r>
            <a:r>
              <a:rPr lang="en" sz="1400" b="1" dirty="0">
                <a:solidFill>
                  <a:srgbClr val="282C33"/>
                </a:solidFill>
              </a:rPr>
              <a:t> </a:t>
            </a:r>
            <a:r>
              <a:rPr lang="en" sz="1400" b="1" err="1">
                <a:solidFill>
                  <a:srgbClr val="282C33"/>
                </a:solidFill>
              </a:rPr>
              <a:t>quais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elementos</a:t>
            </a:r>
            <a:r>
              <a:rPr lang="en" sz="1400" b="1" dirty="0">
                <a:solidFill>
                  <a:srgbClr val="282C33"/>
                </a:solidFill>
              </a:rPr>
              <a:t> de software </a:t>
            </a:r>
            <a:r>
              <a:rPr lang="en" sz="1400" b="1" err="1">
                <a:solidFill>
                  <a:srgbClr val="282C33"/>
                </a:solidFill>
              </a:rPr>
              <a:t>são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implementados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por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quais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elementos</a:t>
            </a:r>
            <a:r>
              <a:rPr lang="en" sz="1400" b="1" dirty="0">
                <a:solidFill>
                  <a:srgbClr val="282C33"/>
                </a:solidFill>
              </a:rPr>
              <a:t> de hardware.</a:t>
            </a:r>
            <a:endParaRPr lang="en" sz="1400" b="1"/>
          </a:p>
          <a:p>
            <a:pPr marL="342900" indent="-342900" algn="just"/>
            <a:r>
              <a:rPr lang="en" sz="1400" b="1" err="1">
                <a:solidFill>
                  <a:srgbClr val="282C33"/>
                </a:solidFill>
              </a:rPr>
              <a:t>Ilustrar</a:t>
            </a:r>
            <a:r>
              <a:rPr lang="en" sz="1400" b="1" dirty="0">
                <a:solidFill>
                  <a:srgbClr val="282C33"/>
                </a:solidFill>
              </a:rPr>
              <a:t> o </a:t>
            </a:r>
            <a:r>
              <a:rPr lang="en" sz="1400" b="1" err="1">
                <a:solidFill>
                  <a:srgbClr val="282C33"/>
                </a:solidFill>
              </a:rPr>
              <a:t>processamento</a:t>
            </a:r>
            <a:r>
              <a:rPr lang="en" sz="1400" b="1" dirty="0">
                <a:solidFill>
                  <a:srgbClr val="282C33"/>
                </a:solidFill>
              </a:rPr>
              <a:t> do tempo de </a:t>
            </a:r>
            <a:r>
              <a:rPr lang="en" sz="1400" b="1" err="1">
                <a:solidFill>
                  <a:srgbClr val="282C33"/>
                </a:solidFill>
              </a:rPr>
              <a:t>execução</a:t>
            </a:r>
            <a:r>
              <a:rPr lang="en" sz="1400" b="1" dirty="0">
                <a:solidFill>
                  <a:srgbClr val="282C33"/>
                </a:solidFill>
              </a:rPr>
              <a:t> do hardware.</a:t>
            </a:r>
            <a:endParaRPr lang="en" sz="1400" b="1"/>
          </a:p>
          <a:p>
            <a:pPr marL="342900" indent="-342900" algn="just"/>
            <a:r>
              <a:rPr lang="en" sz="1400" b="1" err="1">
                <a:solidFill>
                  <a:srgbClr val="282C33"/>
                </a:solidFill>
              </a:rPr>
              <a:t>Propiciar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uma</a:t>
            </a:r>
            <a:r>
              <a:rPr lang="en" sz="1400" b="1" dirty="0">
                <a:solidFill>
                  <a:srgbClr val="282C33"/>
                </a:solidFill>
              </a:rPr>
              <a:t> </a:t>
            </a:r>
            <a:r>
              <a:rPr lang="en" sz="1400" b="1" err="1">
                <a:solidFill>
                  <a:srgbClr val="282C33"/>
                </a:solidFill>
              </a:rPr>
              <a:t>visão</a:t>
            </a:r>
            <a:r>
              <a:rPr lang="en" sz="1400" b="1" dirty="0">
                <a:solidFill>
                  <a:srgbClr val="282C33"/>
                </a:solidFill>
              </a:rPr>
              <a:t> da </a:t>
            </a:r>
            <a:r>
              <a:rPr lang="en" sz="1400" b="1" err="1">
                <a:solidFill>
                  <a:srgbClr val="282C33"/>
                </a:solidFill>
              </a:rPr>
              <a:t>topologia</a:t>
            </a:r>
            <a:r>
              <a:rPr lang="en" sz="1400" b="1" dirty="0">
                <a:solidFill>
                  <a:srgbClr val="282C33"/>
                </a:solidFill>
              </a:rPr>
              <a:t> do </a:t>
            </a:r>
            <a:r>
              <a:rPr lang="en" sz="1400" b="1" err="1">
                <a:solidFill>
                  <a:srgbClr val="282C33"/>
                </a:solidFill>
              </a:rPr>
              <a:t>sistema</a:t>
            </a:r>
            <a:r>
              <a:rPr lang="en" sz="1400" b="1" dirty="0">
                <a:solidFill>
                  <a:srgbClr val="282C33"/>
                </a:solidFill>
              </a:rPr>
              <a:t> do hardware</a:t>
            </a:r>
            <a:r>
              <a:rPr lang="en" sz="1400" dirty="0">
                <a:solidFill>
                  <a:srgbClr val="282C33"/>
                </a:solidFill>
              </a:rPr>
              <a:t>.</a:t>
            </a:r>
            <a:endParaRPr lang="en" sz="1400"/>
          </a:p>
          <a:p>
            <a:pPr marL="0" indent="0" algn="just">
              <a:buNone/>
            </a:pPr>
            <a:endParaRPr lang="en" sz="1500" dirty="0">
              <a:solidFill>
                <a:srgbClr val="282C33"/>
              </a:solidFill>
            </a:endParaRPr>
          </a:p>
          <a:p>
            <a:pPr marL="0" indent="0">
              <a:buNone/>
            </a:pPr>
            <a:endParaRPr lang="pt-BR" sz="1400"/>
          </a:p>
        </p:txBody>
      </p:sp>
      <p:pic>
        <p:nvPicPr>
          <p:cNvPr id="3" name="Imagem 2" descr="Tutorial de diagramas de implementação - Elementos de diagramas de implementação">
            <a:extLst>
              <a:ext uri="{FF2B5EF4-FFF2-40B4-BE49-F238E27FC236}">
                <a16:creationId xmlns:a16="http://schemas.microsoft.com/office/drawing/2014/main" id="{F733089F-6FF7-B620-1031-AC1BA0854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4654" y="775723"/>
            <a:ext cx="4559473" cy="375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34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-360331" y="-104584"/>
            <a:ext cx="4330387" cy="761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Diagrama</a:t>
            </a:r>
            <a:r>
              <a:rPr lang="en" dirty="0"/>
              <a:t> de </a:t>
            </a:r>
            <a:r>
              <a:rPr lang="en" dirty="0" err="1"/>
              <a:t>Implantação</a:t>
            </a:r>
            <a:endParaRPr lang="pt-BR" dirty="0" err="1"/>
          </a:p>
        </p:txBody>
      </p:sp>
      <p:pic>
        <p:nvPicPr>
          <p:cNvPr id="3" name="Imagem 2" descr="Tutorial de diagramas de implementação - Elementos de diagramas de implementação">
            <a:extLst>
              <a:ext uri="{FF2B5EF4-FFF2-40B4-BE49-F238E27FC236}">
                <a16:creationId xmlns:a16="http://schemas.microsoft.com/office/drawing/2014/main" id="{F733089F-6FF7-B620-1031-AC1BA0854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99113" y="158229"/>
            <a:ext cx="6259685" cy="515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8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317310" y="759310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317310" y="1836197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317310" y="2914014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317310" y="3992412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263836" y="42290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Vantagens</a:t>
            </a:r>
            <a:endParaRPr lang="pt-BR" dirty="0" err="1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249871" y="906113"/>
            <a:ext cx="3971237" cy="512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 dirty="0"/>
              <a:t>É uma linguagem universal para desenvolvedores, facilitando a compreensão de projetos por diferentes profissionais.</a:t>
            </a:r>
          </a:p>
          <a:p>
            <a:br>
              <a:rPr lang="en-US" dirty="0"/>
            </a:b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" dirty="0"/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249872" y="601217"/>
            <a:ext cx="448676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pt-BR" dirty="0"/>
              <a:t>Comunicação</a:t>
            </a:r>
            <a:endParaRPr dirty="0" err="1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249871" y="1707121"/>
            <a:ext cx="39724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pt-BR" dirty="0"/>
              <a:t>Visualização</a:t>
            </a:r>
            <a:endParaRPr dirty="0" err="1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249871" y="1985105"/>
            <a:ext cx="4069880" cy="590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pt-BR" dirty="0"/>
              <a:t>Representam visualmente as relações entre classes e entidades, tornando o código mais fácil de entender e visualizar.</a:t>
            </a:r>
            <a:endParaRPr lang="en" dirty="0"/>
          </a:p>
          <a:p>
            <a:pPr>
              <a:buSzPts val="1100"/>
            </a:pPr>
            <a:br>
              <a:rPr lang="en-US" dirty="0"/>
            </a:b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249871" y="277349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Legibilidade e Reutilização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249871" y="3064097"/>
            <a:ext cx="3910173" cy="528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 dirty="0"/>
              <a:t>Facilita</a:t>
            </a:r>
            <a:r>
              <a:rPr lang="pt-BR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pt-BR" dirty="0"/>
              <a:t>a leitura do código, permitindo identificar redundâncias e reutilizar partes existentes, otimizando o desenvolvimento.</a:t>
            </a:r>
            <a:endParaRPr lang="en" dirty="0"/>
          </a:p>
          <a:p>
            <a:br>
              <a:rPr lang="en-US" dirty="0"/>
            </a:b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249871" y="3852482"/>
            <a:ext cx="30580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Padronização</a:t>
            </a:r>
            <a:endParaRPr lang="pt-BR" dirty="0" err="1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249871" y="4143089"/>
            <a:ext cx="4155996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/>
              <a:t>O uso da UML como padrão garante que projetos sejam facilmente compreendidos por diferentes desenvolvedores, facilitando a colaboração.</a:t>
            </a:r>
          </a:p>
          <a:p>
            <a:br>
              <a:rPr lang="en-US" dirty="0"/>
            </a:b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399479" y="90811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399479" y="198710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399479" y="306609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399479" y="414508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" name="Google Shape;2147;p37">
            <a:extLst>
              <a:ext uri="{FF2B5EF4-FFF2-40B4-BE49-F238E27FC236}">
                <a16:creationId xmlns:a16="http://schemas.microsoft.com/office/drawing/2014/main" id="{AA5A693E-6CB2-DB64-42E2-EAF3397F37EB}"/>
              </a:ext>
            </a:extLst>
          </p:cNvPr>
          <p:cNvSpPr txBox="1">
            <a:spLocks/>
          </p:cNvSpPr>
          <p:nvPr/>
        </p:nvSpPr>
        <p:spPr>
          <a:xfrm>
            <a:off x="5409629" y="796195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05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92DE82E-334F-69A0-460D-3E42342CE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7703" y="1224419"/>
            <a:ext cx="3086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1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317310" y="759310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317310" y="1836197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317310" y="2914014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317310" y="3992412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3263836" y="42290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Desvantagens</a:t>
            </a:r>
            <a:endParaRPr lang="pt-BR" dirty="0" err="1"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101124" y="960914"/>
            <a:ext cx="3658087" cy="590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 dirty="0">
                <a:solidFill>
                  <a:srgbClr val="1E1E1E"/>
                </a:solidFill>
              </a:rPr>
              <a:t>Pode ser considerada complexa e formal para alguns desenvolvedores, que preferem diagramas mais simples.</a:t>
            </a:r>
          </a:p>
          <a:p>
            <a:br>
              <a:rPr lang="en-US" dirty="0">
                <a:solidFill>
                  <a:srgbClr val="1E1E1E"/>
                </a:solidFill>
              </a:rPr>
            </a:br>
            <a:endParaRPr lang="en-US" dirty="0">
              <a:solidFill>
                <a:srgbClr val="1E1E1E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" dirty="0">
              <a:solidFill>
                <a:srgbClr val="1E1E1E"/>
              </a:solidFill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249872" y="616875"/>
            <a:ext cx="448676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Formalidade</a:t>
            </a: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249871" y="1815941"/>
            <a:ext cx="39724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Complexidade</a:t>
            </a:r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249871" y="2106549"/>
            <a:ext cx="3427921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>
                <a:solidFill>
                  <a:srgbClr val="1E1E1E"/>
                </a:solidFill>
              </a:rPr>
              <a:t>Possui diversas notações e diagramas, o </a:t>
            </a:r>
            <a:r>
              <a:rPr lang="pt-BR" dirty="0">
                <a:solidFill>
                  <a:srgbClr val="1E1E1E"/>
                </a:solidFill>
              </a:rPr>
              <a:t>que pode ser intimidador para iniciantes.</a:t>
            </a:r>
          </a:p>
          <a:p>
            <a:br>
              <a:rPr lang="en-US" dirty="0"/>
            </a:br>
            <a:endParaRPr lang="en-US" dirty="0"/>
          </a:p>
          <a:p>
            <a:pPr>
              <a:buSzPts val="1100"/>
            </a:pPr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249871" y="2773490"/>
            <a:ext cx="3508068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Tempo 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249871" y="3064097"/>
            <a:ext cx="3659652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 dirty="0">
                <a:solidFill>
                  <a:srgbClr val="1E1E1E"/>
                </a:solidFill>
              </a:rPr>
              <a:t>A manutenção de diagramas UML exige tempo e esforço para sincronizar com o código, adicionando trabalho ao projeto.</a:t>
            </a:r>
          </a:p>
          <a:p>
            <a:br>
              <a:rPr lang="en-US" dirty="0"/>
            </a:br>
            <a:endParaRPr lang="en-US" dirty="0"/>
          </a:p>
          <a:p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249871" y="3852482"/>
            <a:ext cx="3058012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pt-BR" dirty="0"/>
              <a:t>Diagramas Complexos:</a:t>
            </a:r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249871" y="4143089"/>
            <a:ext cx="3654955" cy="583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pt-BR" dirty="0">
                <a:solidFill>
                  <a:srgbClr val="1E1E1E"/>
                </a:solidFill>
              </a:rPr>
              <a:t>Diagramas UML podem se tornar excessivamente complexos e confusos, dificultando a compreensão do projeto.</a:t>
            </a:r>
          </a:p>
          <a:p>
            <a:br>
              <a:rPr lang="en-US" dirty="0"/>
            </a:br>
            <a:endParaRPr lang="en-US" dirty="0"/>
          </a:p>
          <a:p>
            <a:endParaRPr lang="pt-BR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399479" y="90811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399479" y="198710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399479" y="306609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399479" y="414508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" name="Google Shape;2147;p37">
            <a:extLst>
              <a:ext uri="{FF2B5EF4-FFF2-40B4-BE49-F238E27FC236}">
                <a16:creationId xmlns:a16="http://schemas.microsoft.com/office/drawing/2014/main" id="{AA5A693E-6CB2-DB64-42E2-EAF3397F37EB}"/>
              </a:ext>
            </a:extLst>
          </p:cNvPr>
          <p:cNvSpPr txBox="1">
            <a:spLocks/>
          </p:cNvSpPr>
          <p:nvPr/>
        </p:nvSpPr>
        <p:spPr>
          <a:xfrm>
            <a:off x="4681554" y="82751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Fjalla One"/>
              <a:buNone/>
              <a:defRPr sz="200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" dirty="0"/>
              <a:t>05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BA287A5-D2F1-2CA8-CE8A-9BB969B3E8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2290" y="760857"/>
            <a:ext cx="4142982" cy="464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4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Código QR&#10;&#10;Descrição gerada automaticamente">
            <a:extLst>
              <a:ext uri="{FF2B5EF4-FFF2-40B4-BE49-F238E27FC236}">
                <a16:creationId xmlns:a16="http://schemas.microsoft.com/office/drawing/2014/main" id="{D023E198-86DC-6DB1-A91F-CF519A398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912" y="809494"/>
            <a:ext cx="2703298" cy="3516682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C0FAD8B-93D4-65CF-069F-478FCD04A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3362" y="1748947"/>
            <a:ext cx="3391421" cy="33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D796CB-E452-47D2-B251-9F56705609EB}"/>
</file>

<file path=customXml/itemProps2.xml><?xml version="1.0" encoding="utf-8"?>
<ds:datastoreItem xmlns:ds="http://schemas.openxmlformats.org/officeDocument/2006/customXml" ds:itemID="{A47B1DC8-6F08-417C-A3E1-A91533346B8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10</Slides>
  <Notes>10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Technology Consulting by Slidesgo</vt:lpstr>
      <vt:lpstr>Slidesgo Final Pages</vt:lpstr>
      <vt:lpstr>Diagramas UML</vt:lpstr>
      <vt:lpstr>Diagrama de Estado</vt:lpstr>
      <vt:lpstr>Diagrama de Estado</vt:lpstr>
      <vt:lpstr>Vantagem</vt:lpstr>
      <vt:lpstr>Desvantagem</vt:lpstr>
      <vt:lpstr>Diagrama de Implantação</vt:lpstr>
      <vt:lpstr>Diagrama de Implantação</vt:lpstr>
      <vt:lpstr>Vantagens</vt:lpstr>
      <vt:lpstr>Desvantagens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</dc:title>
  <cp:lastModifiedBy>LARISSA AMARAL RODRIGUES</cp:lastModifiedBy>
  <cp:revision>282</cp:revision>
  <dcterms:modified xsi:type="dcterms:W3CDTF">2024-08-13T23:32:23Z</dcterms:modified>
</cp:coreProperties>
</file>