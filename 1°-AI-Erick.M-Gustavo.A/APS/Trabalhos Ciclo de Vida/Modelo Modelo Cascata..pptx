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chive" panose="020B0604020202020204" charset="0"/>
      <p:regular r:id="rId13"/>
    </p:embeddedFont>
    <p:embeddedFont>
      <p:font typeface="Arial Bold" panose="020B0604020202020204" charset="0"/>
      <p:regular r:id="rId14"/>
    </p:embeddedFont>
    <p:embeddedFont>
      <p:font typeface="Garet Bold" panose="020B0604020202020204" charset="0"/>
      <p:regular r:id="rId15"/>
    </p:embeddedFont>
    <p:embeddedFont>
      <p:font typeface="Lato Bold" panose="020B0604020202020204" charset="0"/>
      <p:regular r:id="rId16"/>
    </p:embeddedFont>
    <p:embeddedFont>
      <p:font typeface="Lato Heavy" panose="020B0604020202020204" charset="0"/>
      <p:regular r:id="rId17"/>
    </p:embeddedFont>
    <p:embeddedFont>
      <p:font typeface="League Spartan Bold" pitchFamily="2" charset="0"/>
      <p:bold r:id="rId18"/>
    </p:embeddedFont>
    <p:embeddedFont>
      <p:font typeface="Open Sans Bold" panose="020B0604020202020204" charset="0"/>
      <p:regular r:id="rId19"/>
    </p:embeddedFont>
    <p:embeddedFont>
      <p:font typeface="Open Sans Extra Bold" panose="020B0604020202020204" charset="0"/>
      <p:regular r:id="rId20"/>
    </p:embeddedFont>
    <p:embeddedFont>
      <p:font typeface="Poppins" panose="00000500000000000000" pitchFamily="2" charset="0"/>
      <p:regular r:id="rId21"/>
    </p:embeddedFont>
    <p:embeddedFont>
      <p:font typeface="Poppins Bold" panose="00000800000000000000" charset="0"/>
      <p:regular r:id="rId22"/>
    </p:embeddedFont>
    <p:embeddedFont>
      <p:font typeface="Poppins Heavy" panose="020B0604020202020204" charset="0"/>
      <p:regular r:id="rId23"/>
    </p:embeddedFont>
    <p:embeddedFont>
      <p:font typeface="Poppins Ultra-Bold" panose="020B0604020202020204" charset="0"/>
      <p:regular r:id="rId24"/>
    </p:embeddedFont>
    <p:embeddedFont>
      <p:font typeface="Roboto Condensed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4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2700000">
            <a:off x="11143419" y="8163269"/>
            <a:ext cx="6164339" cy="6164339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2224837" y="3701213"/>
            <a:ext cx="12616379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499"/>
              </a:lnSpc>
            </a:pPr>
            <a:r>
              <a:rPr lang="en-US" sz="9999" spc="999" dirty="0">
                <a:solidFill>
                  <a:srgbClr val="5271FF"/>
                </a:solidFill>
                <a:latin typeface="Poppins Heavy"/>
              </a:rPr>
              <a:t>MODELO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24837" y="5041183"/>
            <a:ext cx="12616379" cy="178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600"/>
              </a:lnSpc>
            </a:pPr>
            <a:r>
              <a:rPr lang="en-US" sz="12000" spc="600" dirty="0">
                <a:solidFill>
                  <a:srgbClr val="2B4A9D"/>
                </a:solidFill>
                <a:latin typeface="Poppins Bold"/>
              </a:rPr>
              <a:t>CASCATA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77896" y="-162300"/>
            <a:ext cx="10665752" cy="10665752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9537" y="8172754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561907" y="-189376"/>
            <a:ext cx="2725596" cy="11095152"/>
            <a:chOff x="0" y="0"/>
            <a:chExt cx="820409" cy="33396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0409" cy="3339659"/>
            </a:xfrm>
            <a:custGeom>
              <a:avLst/>
              <a:gdLst/>
              <a:ahLst/>
              <a:cxnLst/>
              <a:rect l="l" t="t" r="r" b="b"/>
              <a:pathLst>
                <a:path w="820409" h="3339659">
                  <a:moveTo>
                    <a:pt x="0" y="0"/>
                  </a:moveTo>
                  <a:lnTo>
                    <a:pt x="820409" y="0"/>
                  </a:lnTo>
                  <a:lnTo>
                    <a:pt x="820409" y="3339659"/>
                  </a:lnTo>
                  <a:lnTo>
                    <a:pt x="0" y="3339659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8" name="Group 8"/>
          <p:cNvGrpSpPr/>
          <p:nvPr/>
        </p:nvGrpSpPr>
        <p:grpSpPr>
          <a:xfrm rot="5400000">
            <a:off x="618228" y="566151"/>
            <a:ext cx="1635964" cy="163334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207979" y="1277353"/>
            <a:ext cx="9391358" cy="7712075"/>
            <a:chOff x="0" y="0"/>
            <a:chExt cx="2725765" cy="22383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25765" cy="2238367"/>
            </a:xfrm>
            <a:custGeom>
              <a:avLst/>
              <a:gdLst/>
              <a:ahLst/>
              <a:cxnLst/>
              <a:rect l="l" t="t" r="r" b="b"/>
              <a:pathLst>
                <a:path w="2725765" h="2238367">
                  <a:moveTo>
                    <a:pt x="42043" y="0"/>
                  </a:moveTo>
                  <a:lnTo>
                    <a:pt x="2683722" y="0"/>
                  </a:lnTo>
                  <a:cubicBezTo>
                    <a:pt x="2694873" y="0"/>
                    <a:pt x="2705566" y="4429"/>
                    <a:pt x="2713451" y="12314"/>
                  </a:cubicBezTo>
                  <a:cubicBezTo>
                    <a:pt x="2721335" y="20199"/>
                    <a:pt x="2725765" y="30892"/>
                    <a:pt x="2725765" y="42043"/>
                  </a:cubicBezTo>
                  <a:lnTo>
                    <a:pt x="2725765" y="2196324"/>
                  </a:lnTo>
                  <a:cubicBezTo>
                    <a:pt x="2725765" y="2219544"/>
                    <a:pt x="2706942" y="2238367"/>
                    <a:pt x="2683722" y="2238367"/>
                  </a:cubicBezTo>
                  <a:lnTo>
                    <a:pt x="42043" y="2238367"/>
                  </a:lnTo>
                  <a:cubicBezTo>
                    <a:pt x="30892" y="2238367"/>
                    <a:pt x="20199" y="2233937"/>
                    <a:pt x="12314" y="2226053"/>
                  </a:cubicBezTo>
                  <a:cubicBezTo>
                    <a:pt x="4429" y="2218168"/>
                    <a:pt x="0" y="2207474"/>
                    <a:pt x="0" y="2196324"/>
                  </a:cubicBezTo>
                  <a:lnTo>
                    <a:pt x="0" y="42043"/>
                  </a:lnTo>
                  <a:cubicBezTo>
                    <a:pt x="0" y="30892"/>
                    <a:pt x="4429" y="20199"/>
                    <a:pt x="12314" y="12314"/>
                  </a:cubicBezTo>
                  <a:cubicBezTo>
                    <a:pt x="20199" y="4429"/>
                    <a:pt x="30892" y="0"/>
                    <a:pt x="420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2725765" cy="2314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92282" y="1382824"/>
            <a:ext cx="1995221" cy="1005128"/>
            <a:chOff x="0" y="0"/>
            <a:chExt cx="579097" cy="2917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9097" cy="291730"/>
            </a:xfrm>
            <a:custGeom>
              <a:avLst/>
              <a:gdLst/>
              <a:ahLst/>
              <a:cxnLst/>
              <a:rect l="l" t="t" r="r" b="b"/>
              <a:pathLst>
                <a:path w="579097" h="291730">
                  <a:moveTo>
                    <a:pt x="145865" y="0"/>
                  </a:moveTo>
                  <a:lnTo>
                    <a:pt x="433232" y="0"/>
                  </a:lnTo>
                  <a:cubicBezTo>
                    <a:pt x="471917" y="0"/>
                    <a:pt x="509019" y="15368"/>
                    <a:pt x="536374" y="42723"/>
                  </a:cubicBezTo>
                  <a:cubicBezTo>
                    <a:pt x="563729" y="70078"/>
                    <a:pt x="579097" y="107179"/>
                    <a:pt x="579097" y="145865"/>
                  </a:cubicBezTo>
                  <a:lnTo>
                    <a:pt x="579097" y="145865"/>
                  </a:lnTo>
                  <a:cubicBezTo>
                    <a:pt x="579097" y="184551"/>
                    <a:pt x="563729" y="221652"/>
                    <a:pt x="536374" y="249007"/>
                  </a:cubicBezTo>
                  <a:cubicBezTo>
                    <a:pt x="509019" y="276362"/>
                    <a:pt x="471917" y="291730"/>
                    <a:pt x="433232" y="291730"/>
                  </a:cubicBezTo>
                  <a:lnTo>
                    <a:pt x="145865" y="291730"/>
                  </a:lnTo>
                  <a:cubicBezTo>
                    <a:pt x="107179" y="291730"/>
                    <a:pt x="70078" y="276362"/>
                    <a:pt x="42723" y="249007"/>
                  </a:cubicBezTo>
                  <a:cubicBezTo>
                    <a:pt x="15368" y="221652"/>
                    <a:pt x="0" y="184551"/>
                    <a:pt x="0" y="145865"/>
                  </a:cubicBezTo>
                  <a:lnTo>
                    <a:pt x="0" y="145865"/>
                  </a:lnTo>
                  <a:cubicBezTo>
                    <a:pt x="0" y="107179"/>
                    <a:pt x="15368" y="70078"/>
                    <a:pt x="42723" y="42723"/>
                  </a:cubicBezTo>
                  <a:cubicBezTo>
                    <a:pt x="70078" y="15368"/>
                    <a:pt x="107179" y="0"/>
                    <a:pt x="145865" y="0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579097" cy="367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29787" y="2600606"/>
            <a:ext cx="1909984" cy="1004704"/>
            <a:chOff x="0" y="0"/>
            <a:chExt cx="554357" cy="29160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4357" cy="291607"/>
            </a:xfrm>
            <a:custGeom>
              <a:avLst/>
              <a:gdLst/>
              <a:ahLst/>
              <a:cxnLst/>
              <a:rect l="l" t="t" r="r" b="b"/>
              <a:pathLst>
                <a:path w="554357" h="291607">
                  <a:moveTo>
                    <a:pt x="145804" y="0"/>
                  </a:moveTo>
                  <a:lnTo>
                    <a:pt x="408554" y="0"/>
                  </a:lnTo>
                  <a:cubicBezTo>
                    <a:pt x="489079" y="0"/>
                    <a:pt x="554357" y="65278"/>
                    <a:pt x="554357" y="145804"/>
                  </a:cubicBezTo>
                  <a:lnTo>
                    <a:pt x="554357" y="145804"/>
                  </a:lnTo>
                  <a:cubicBezTo>
                    <a:pt x="554357" y="184473"/>
                    <a:pt x="538996" y="221559"/>
                    <a:pt x="511652" y="248902"/>
                  </a:cubicBezTo>
                  <a:cubicBezTo>
                    <a:pt x="484309" y="276246"/>
                    <a:pt x="447223" y="291607"/>
                    <a:pt x="408554" y="291607"/>
                  </a:cubicBezTo>
                  <a:lnTo>
                    <a:pt x="145804" y="291607"/>
                  </a:lnTo>
                  <a:cubicBezTo>
                    <a:pt x="107134" y="291607"/>
                    <a:pt x="70048" y="276246"/>
                    <a:pt x="42705" y="248902"/>
                  </a:cubicBezTo>
                  <a:cubicBezTo>
                    <a:pt x="15361" y="221559"/>
                    <a:pt x="0" y="184473"/>
                    <a:pt x="0" y="145804"/>
                  </a:cubicBezTo>
                  <a:lnTo>
                    <a:pt x="0" y="145804"/>
                  </a:lnTo>
                  <a:cubicBezTo>
                    <a:pt x="0" y="107134"/>
                    <a:pt x="15361" y="70048"/>
                    <a:pt x="42705" y="42705"/>
                  </a:cubicBezTo>
                  <a:cubicBezTo>
                    <a:pt x="70048" y="15361"/>
                    <a:pt x="107134" y="0"/>
                    <a:pt x="145804" y="0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554357" cy="367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156398" y="3885591"/>
            <a:ext cx="1909984" cy="1004704"/>
            <a:chOff x="0" y="0"/>
            <a:chExt cx="554357" cy="29160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54357" cy="291607"/>
            </a:xfrm>
            <a:custGeom>
              <a:avLst/>
              <a:gdLst/>
              <a:ahLst/>
              <a:cxnLst/>
              <a:rect l="l" t="t" r="r" b="b"/>
              <a:pathLst>
                <a:path w="554357" h="291607">
                  <a:moveTo>
                    <a:pt x="145804" y="0"/>
                  </a:moveTo>
                  <a:lnTo>
                    <a:pt x="408554" y="0"/>
                  </a:lnTo>
                  <a:cubicBezTo>
                    <a:pt x="489079" y="0"/>
                    <a:pt x="554357" y="65278"/>
                    <a:pt x="554357" y="145804"/>
                  </a:cubicBezTo>
                  <a:lnTo>
                    <a:pt x="554357" y="145804"/>
                  </a:lnTo>
                  <a:cubicBezTo>
                    <a:pt x="554357" y="184473"/>
                    <a:pt x="538996" y="221559"/>
                    <a:pt x="511652" y="248902"/>
                  </a:cubicBezTo>
                  <a:cubicBezTo>
                    <a:pt x="484309" y="276246"/>
                    <a:pt x="447223" y="291607"/>
                    <a:pt x="408554" y="291607"/>
                  </a:cubicBezTo>
                  <a:lnTo>
                    <a:pt x="145804" y="291607"/>
                  </a:lnTo>
                  <a:cubicBezTo>
                    <a:pt x="107134" y="291607"/>
                    <a:pt x="70048" y="276246"/>
                    <a:pt x="42705" y="248902"/>
                  </a:cubicBezTo>
                  <a:cubicBezTo>
                    <a:pt x="15361" y="221559"/>
                    <a:pt x="0" y="184473"/>
                    <a:pt x="0" y="145804"/>
                  </a:cubicBezTo>
                  <a:lnTo>
                    <a:pt x="0" y="145804"/>
                  </a:lnTo>
                  <a:cubicBezTo>
                    <a:pt x="0" y="107134"/>
                    <a:pt x="15361" y="70048"/>
                    <a:pt x="42705" y="42705"/>
                  </a:cubicBezTo>
                  <a:cubicBezTo>
                    <a:pt x="70048" y="15361"/>
                    <a:pt x="107134" y="0"/>
                    <a:pt x="145804" y="0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554357" cy="367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508666" y="5170342"/>
            <a:ext cx="1909984" cy="1004704"/>
            <a:chOff x="0" y="0"/>
            <a:chExt cx="554357" cy="29160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54357" cy="291607"/>
            </a:xfrm>
            <a:custGeom>
              <a:avLst/>
              <a:gdLst/>
              <a:ahLst/>
              <a:cxnLst/>
              <a:rect l="l" t="t" r="r" b="b"/>
              <a:pathLst>
                <a:path w="554357" h="291607">
                  <a:moveTo>
                    <a:pt x="145804" y="0"/>
                  </a:moveTo>
                  <a:lnTo>
                    <a:pt x="408554" y="0"/>
                  </a:lnTo>
                  <a:cubicBezTo>
                    <a:pt x="489079" y="0"/>
                    <a:pt x="554357" y="65278"/>
                    <a:pt x="554357" y="145804"/>
                  </a:cubicBezTo>
                  <a:lnTo>
                    <a:pt x="554357" y="145804"/>
                  </a:lnTo>
                  <a:cubicBezTo>
                    <a:pt x="554357" y="184473"/>
                    <a:pt x="538996" y="221559"/>
                    <a:pt x="511652" y="248902"/>
                  </a:cubicBezTo>
                  <a:cubicBezTo>
                    <a:pt x="484309" y="276246"/>
                    <a:pt x="447223" y="291607"/>
                    <a:pt x="408554" y="291607"/>
                  </a:cubicBezTo>
                  <a:lnTo>
                    <a:pt x="145804" y="291607"/>
                  </a:lnTo>
                  <a:cubicBezTo>
                    <a:pt x="107134" y="291607"/>
                    <a:pt x="70048" y="276246"/>
                    <a:pt x="42705" y="248902"/>
                  </a:cubicBezTo>
                  <a:cubicBezTo>
                    <a:pt x="15361" y="221559"/>
                    <a:pt x="0" y="184473"/>
                    <a:pt x="0" y="145804"/>
                  </a:cubicBezTo>
                  <a:lnTo>
                    <a:pt x="0" y="145804"/>
                  </a:lnTo>
                  <a:cubicBezTo>
                    <a:pt x="0" y="107134"/>
                    <a:pt x="15361" y="70048"/>
                    <a:pt x="42705" y="42705"/>
                  </a:cubicBezTo>
                  <a:cubicBezTo>
                    <a:pt x="70048" y="15361"/>
                    <a:pt x="107134" y="0"/>
                    <a:pt x="145804" y="0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554357" cy="367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860933" y="6455327"/>
            <a:ext cx="1909984" cy="1004704"/>
            <a:chOff x="0" y="0"/>
            <a:chExt cx="554357" cy="29160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54357" cy="291607"/>
            </a:xfrm>
            <a:custGeom>
              <a:avLst/>
              <a:gdLst/>
              <a:ahLst/>
              <a:cxnLst/>
              <a:rect l="l" t="t" r="r" b="b"/>
              <a:pathLst>
                <a:path w="554357" h="291607">
                  <a:moveTo>
                    <a:pt x="145804" y="0"/>
                  </a:moveTo>
                  <a:lnTo>
                    <a:pt x="408554" y="0"/>
                  </a:lnTo>
                  <a:cubicBezTo>
                    <a:pt x="489079" y="0"/>
                    <a:pt x="554357" y="65278"/>
                    <a:pt x="554357" y="145804"/>
                  </a:cubicBezTo>
                  <a:lnTo>
                    <a:pt x="554357" y="145804"/>
                  </a:lnTo>
                  <a:cubicBezTo>
                    <a:pt x="554357" y="184473"/>
                    <a:pt x="538996" y="221559"/>
                    <a:pt x="511652" y="248902"/>
                  </a:cubicBezTo>
                  <a:cubicBezTo>
                    <a:pt x="484309" y="276246"/>
                    <a:pt x="447223" y="291607"/>
                    <a:pt x="408554" y="291607"/>
                  </a:cubicBezTo>
                  <a:lnTo>
                    <a:pt x="145804" y="291607"/>
                  </a:lnTo>
                  <a:cubicBezTo>
                    <a:pt x="107134" y="291607"/>
                    <a:pt x="70048" y="276246"/>
                    <a:pt x="42705" y="248902"/>
                  </a:cubicBezTo>
                  <a:cubicBezTo>
                    <a:pt x="15361" y="221559"/>
                    <a:pt x="0" y="184473"/>
                    <a:pt x="0" y="145804"/>
                  </a:cubicBezTo>
                  <a:lnTo>
                    <a:pt x="0" y="145804"/>
                  </a:lnTo>
                  <a:cubicBezTo>
                    <a:pt x="0" y="107134"/>
                    <a:pt x="15361" y="70048"/>
                    <a:pt x="42705" y="42705"/>
                  </a:cubicBezTo>
                  <a:cubicBezTo>
                    <a:pt x="70048" y="15361"/>
                    <a:pt x="107134" y="0"/>
                    <a:pt x="145804" y="0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554357" cy="367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213201" y="7740312"/>
            <a:ext cx="1909984" cy="1004704"/>
            <a:chOff x="0" y="0"/>
            <a:chExt cx="554357" cy="29160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4357" cy="291607"/>
            </a:xfrm>
            <a:custGeom>
              <a:avLst/>
              <a:gdLst/>
              <a:ahLst/>
              <a:cxnLst/>
              <a:rect l="l" t="t" r="r" b="b"/>
              <a:pathLst>
                <a:path w="554357" h="291607">
                  <a:moveTo>
                    <a:pt x="145804" y="0"/>
                  </a:moveTo>
                  <a:lnTo>
                    <a:pt x="408554" y="0"/>
                  </a:lnTo>
                  <a:cubicBezTo>
                    <a:pt x="489079" y="0"/>
                    <a:pt x="554357" y="65278"/>
                    <a:pt x="554357" y="145804"/>
                  </a:cubicBezTo>
                  <a:lnTo>
                    <a:pt x="554357" y="145804"/>
                  </a:lnTo>
                  <a:cubicBezTo>
                    <a:pt x="554357" y="184473"/>
                    <a:pt x="538996" y="221559"/>
                    <a:pt x="511652" y="248902"/>
                  </a:cubicBezTo>
                  <a:cubicBezTo>
                    <a:pt x="484309" y="276246"/>
                    <a:pt x="447223" y="291607"/>
                    <a:pt x="408554" y="291607"/>
                  </a:cubicBezTo>
                  <a:lnTo>
                    <a:pt x="145804" y="291607"/>
                  </a:lnTo>
                  <a:cubicBezTo>
                    <a:pt x="107134" y="291607"/>
                    <a:pt x="70048" y="276246"/>
                    <a:pt x="42705" y="248902"/>
                  </a:cubicBezTo>
                  <a:cubicBezTo>
                    <a:pt x="15361" y="221559"/>
                    <a:pt x="0" y="184473"/>
                    <a:pt x="0" y="145804"/>
                  </a:cubicBezTo>
                  <a:lnTo>
                    <a:pt x="0" y="145804"/>
                  </a:lnTo>
                  <a:cubicBezTo>
                    <a:pt x="0" y="107134"/>
                    <a:pt x="15361" y="70048"/>
                    <a:pt x="42705" y="42705"/>
                  </a:cubicBezTo>
                  <a:cubicBezTo>
                    <a:pt x="70048" y="15361"/>
                    <a:pt x="107134" y="0"/>
                    <a:pt x="145804" y="0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554357" cy="367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287503" y="1858343"/>
            <a:ext cx="794551" cy="782633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639771" y="3102958"/>
            <a:ext cx="794551" cy="782633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066382" y="4387943"/>
            <a:ext cx="794551" cy="782633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418650" y="5672694"/>
            <a:ext cx="794551" cy="782633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770917" y="6957679"/>
            <a:ext cx="794551" cy="782633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619537" y="3923372"/>
            <a:ext cx="7915320" cy="85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3"/>
              </a:lnSpc>
            </a:pPr>
            <a:r>
              <a:rPr lang="en-US" sz="5803" spc="290" dirty="0">
                <a:solidFill>
                  <a:srgbClr val="2B4A9D"/>
                </a:solidFill>
                <a:latin typeface="Poppins Ultra-Bold"/>
              </a:rPr>
              <a:t>MODELO CASCATA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5609" y="5393360"/>
            <a:ext cx="7383176" cy="781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spc="409">
                <a:solidFill>
                  <a:srgbClr val="000000"/>
                </a:solidFill>
                <a:latin typeface="Arial Bold"/>
              </a:rPr>
              <a:t>O que é?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093644" y="1611349"/>
            <a:ext cx="2392497" cy="58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583" dirty="0">
                <a:solidFill>
                  <a:srgbClr val="FFFFFF"/>
                </a:solidFill>
                <a:latin typeface="Arial Bold"/>
              </a:rPr>
              <a:t>Levantamento de requisitos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488530" y="2915641"/>
            <a:ext cx="2392497" cy="3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583" dirty="0">
                <a:solidFill>
                  <a:srgbClr val="FFFFFF"/>
                </a:solidFill>
                <a:latin typeface="Arial Bold"/>
              </a:rPr>
              <a:t>Planejamento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915142" y="4245776"/>
            <a:ext cx="2392497" cy="3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583" dirty="0">
                <a:solidFill>
                  <a:srgbClr val="FFFFFF"/>
                </a:solidFill>
                <a:latin typeface="Arial Bold"/>
              </a:rPr>
              <a:t>Modelagem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267409" y="5485377"/>
            <a:ext cx="2392497" cy="3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583" dirty="0">
                <a:solidFill>
                  <a:srgbClr val="FFFFFF"/>
                </a:solidFill>
                <a:latin typeface="Arial Bold"/>
              </a:rPr>
              <a:t>Desenvolvimento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619677" y="6770362"/>
            <a:ext cx="2392497" cy="3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583">
                <a:solidFill>
                  <a:srgbClr val="FFFFFF"/>
                </a:solidFill>
                <a:latin typeface="Arial Bold"/>
              </a:rPr>
              <a:t>Testes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971945" y="8054637"/>
            <a:ext cx="2392497" cy="3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583">
                <a:solidFill>
                  <a:srgbClr val="FFFFFF"/>
                </a:solidFill>
                <a:latin typeface="Arial Bold"/>
              </a:rPr>
              <a:t>Implantaçâo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2700000">
            <a:off x="11143419" y="8043030"/>
            <a:ext cx="6164339" cy="6164339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id="8" name="Group 8"/>
          <p:cNvGrpSpPr/>
          <p:nvPr/>
        </p:nvGrpSpPr>
        <p:grpSpPr>
          <a:xfrm rot="2700000">
            <a:off x="11143419" y="-3920369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0" y="-1184822"/>
            <a:ext cx="12472548" cy="12656644"/>
          </a:xfrm>
          <a:custGeom>
            <a:avLst/>
            <a:gdLst/>
            <a:ahLst/>
            <a:cxnLst/>
            <a:rect l="l" t="t" r="r" b="b"/>
            <a:pathLst>
              <a:path w="12472548" h="12656644">
                <a:moveTo>
                  <a:pt x="0" y="0"/>
                </a:moveTo>
                <a:lnTo>
                  <a:pt x="12472548" y="0"/>
                </a:lnTo>
                <a:lnTo>
                  <a:pt x="12472548" y="12656644"/>
                </a:lnTo>
                <a:lnTo>
                  <a:pt x="0" y="12656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33346" y="2918686"/>
            <a:ext cx="10674401" cy="484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84"/>
              </a:lnSpc>
            </a:pPr>
            <a:r>
              <a:rPr lang="en-US" sz="3417" spc="341" dirty="0">
                <a:solidFill>
                  <a:srgbClr val="000000"/>
                </a:solidFill>
                <a:latin typeface="Arial Bold"/>
              </a:rPr>
              <a:t>O modelo cascata — também conhecido como processo Waterfall — é uma metodologia de desenvolvimento de software surgida na década de 1970, criada por Winston Walker Royce. Sua principal característica é a divisão das tarefas em etapas predeterminadas, que são executadas de forma sequencial.</a:t>
            </a:r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2013814" y="329129"/>
            <a:ext cx="8444919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Archive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902" y="1238258"/>
            <a:ext cx="9968424" cy="1672540"/>
            <a:chOff x="0" y="0"/>
            <a:chExt cx="3636508" cy="6101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36508" cy="610147"/>
            </a:xfrm>
            <a:custGeom>
              <a:avLst/>
              <a:gdLst/>
              <a:ahLst/>
              <a:cxnLst/>
              <a:rect l="l" t="t" r="r" b="b"/>
              <a:pathLst>
                <a:path w="3636508" h="610147">
                  <a:moveTo>
                    <a:pt x="0" y="0"/>
                  </a:moveTo>
                  <a:lnTo>
                    <a:pt x="3636508" y="0"/>
                  </a:lnTo>
                  <a:lnTo>
                    <a:pt x="3636508" y="610147"/>
                  </a:lnTo>
                  <a:lnTo>
                    <a:pt x="0" y="610147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id="4" name="Group 4"/>
          <p:cNvGrpSpPr/>
          <p:nvPr/>
        </p:nvGrpSpPr>
        <p:grpSpPr>
          <a:xfrm rot="-2700000">
            <a:off x="-3283041" y="-3283041"/>
            <a:ext cx="6566081" cy="6566081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6" name="Group 6"/>
          <p:cNvGrpSpPr/>
          <p:nvPr/>
        </p:nvGrpSpPr>
        <p:grpSpPr>
          <a:xfrm rot="2700000">
            <a:off x="-2926440" y="-2926440"/>
            <a:ext cx="5852880" cy="5852880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 rot="-2700000">
            <a:off x="-3283041" y="7003959"/>
            <a:ext cx="6566081" cy="6566081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2700000">
            <a:off x="-2926440" y="7360560"/>
            <a:ext cx="5852880" cy="5852880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2700000">
            <a:off x="-3283041" y="8117325"/>
            <a:ext cx="6566081" cy="6566081"/>
            <a:chOff x="0" y="0"/>
            <a:chExt cx="1913890" cy="19138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14" name="Group 14"/>
          <p:cNvGrpSpPr/>
          <p:nvPr/>
        </p:nvGrpSpPr>
        <p:grpSpPr>
          <a:xfrm rot="2700000">
            <a:off x="-2926440" y="8473925"/>
            <a:ext cx="5852880" cy="5852880"/>
            <a:chOff x="0" y="0"/>
            <a:chExt cx="1913890" cy="19138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2253656" y="181521"/>
            <a:ext cx="9233976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2B4A9D"/>
                </a:solidFill>
                <a:latin typeface="Poppins Ultra-Bold"/>
              </a:rPr>
              <a:t>FASES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03545" y="1493503"/>
            <a:ext cx="5771668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Poppins Heavy"/>
              </a:rPr>
              <a:t>TEÓRICAS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129326" y="0"/>
            <a:ext cx="8158674" cy="10287000"/>
            <a:chOff x="0" y="0"/>
            <a:chExt cx="2976306" cy="37527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76306" cy="3752726"/>
            </a:xfrm>
            <a:custGeom>
              <a:avLst/>
              <a:gdLst/>
              <a:ahLst/>
              <a:cxnLst/>
              <a:rect l="l" t="t" r="r" b="b"/>
              <a:pathLst>
                <a:path w="2976306" h="3752726">
                  <a:moveTo>
                    <a:pt x="0" y="0"/>
                  </a:moveTo>
                  <a:lnTo>
                    <a:pt x="2976306" y="0"/>
                  </a:lnTo>
                  <a:lnTo>
                    <a:pt x="2976306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487632" y="1400721"/>
            <a:ext cx="5771668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Poppins Heavy"/>
              </a:rPr>
              <a:t>PRÁTICAS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14305" y="3587073"/>
            <a:ext cx="8198142" cy="912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8"/>
              </a:lnSpc>
            </a:pPr>
            <a:r>
              <a:rPr lang="en-US" sz="4741" dirty="0">
                <a:solidFill>
                  <a:srgbClr val="000000"/>
                </a:solidFill>
                <a:latin typeface="Arial Bold"/>
              </a:rPr>
              <a:t>Levantamento de Requisitos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12172" y="4982834"/>
            <a:ext cx="4602409" cy="912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8"/>
              </a:lnSpc>
            </a:pPr>
            <a:r>
              <a:rPr lang="en-US" sz="4741" dirty="0">
                <a:solidFill>
                  <a:srgbClr val="000000"/>
                </a:solidFill>
                <a:latin typeface="Arial Bold"/>
              </a:rPr>
              <a:t>Planejamento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03545" y="6381186"/>
            <a:ext cx="3819662" cy="912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8"/>
              </a:lnSpc>
            </a:pPr>
            <a:r>
              <a:rPr lang="en-US" sz="4741" dirty="0">
                <a:solidFill>
                  <a:srgbClr val="000000"/>
                </a:solidFill>
                <a:latin typeface="Arial Bold"/>
              </a:rPr>
              <a:t>Modelagem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80380" y="3587073"/>
            <a:ext cx="5378920" cy="912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8"/>
              </a:lnSpc>
            </a:pPr>
            <a:r>
              <a:rPr lang="en-US" sz="4741" dirty="0">
                <a:solidFill>
                  <a:srgbClr val="000000"/>
                </a:solidFill>
                <a:latin typeface="Arial Bold"/>
              </a:rPr>
              <a:t>Desenvolvimento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14453" y="4982834"/>
            <a:ext cx="2710773" cy="912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8"/>
              </a:lnSpc>
            </a:pPr>
            <a:r>
              <a:rPr lang="en-US" sz="4741">
                <a:solidFill>
                  <a:srgbClr val="000000"/>
                </a:solidFill>
                <a:latin typeface="Arial Bold"/>
              </a:rPr>
              <a:t>Testes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59444" y="6381186"/>
            <a:ext cx="4020792" cy="912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8"/>
              </a:lnSpc>
            </a:pPr>
            <a:r>
              <a:rPr lang="en-US" sz="4741">
                <a:solidFill>
                  <a:srgbClr val="000000"/>
                </a:solidFill>
                <a:latin typeface="Arial Bold"/>
              </a:rPr>
              <a:t>Implantação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3788" y="4354638"/>
            <a:ext cx="2429662" cy="1495227"/>
            <a:chOff x="0" y="0"/>
            <a:chExt cx="1573234" cy="9681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3234" cy="968177"/>
            </a:xfrm>
            <a:custGeom>
              <a:avLst/>
              <a:gdLst/>
              <a:ahLst/>
              <a:cxnLst/>
              <a:rect l="l" t="t" r="r" b="b"/>
              <a:pathLst>
                <a:path w="1573234" h="968177">
                  <a:moveTo>
                    <a:pt x="1573234" y="484088"/>
                  </a:moveTo>
                  <a:lnTo>
                    <a:pt x="1166834" y="0"/>
                  </a:lnTo>
                  <a:lnTo>
                    <a:pt x="1166834" y="203200"/>
                  </a:lnTo>
                  <a:lnTo>
                    <a:pt x="0" y="203200"/>
                  </a:lnTo>
                  <a:lnTo>
                    <a:pt x="0" y="764977"/>
                  </a:lnTo>
                  <a:lnTo>
                    <a:pt x="1166834" y="764977"/>
                  </a:lnTo>
                  <a:lnTo>
                    <a:pt x="1166834" y="968177"/>
                  </a:lnTo>
                  <a:lnTo>
                    <a:pt x="1573234" y="484088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27000"/>
              <a:ext cx="1471634" cy="637977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1024198" y="3186743"/>
            <a:ext cx="6235102" cy="6235102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7460"/>
            </a:xfrm>
            <a:custGeom>
              <a:avLst/>
              <a:gdLst/>
              <a:ahLst/>
              <a:cxnLst/>
              <a:rect l="l" t="t" r="r" b="b"/>
              <a:pathLst>
                <a:path w="6350000" h="6347460">
                  <a:moveTo>
                    <a:pt x="6350000" y="532130"/>
                  </a:moveTo>
                  <a:cubicBezTo>
                    <a:pt x="6350000" y="463550"/>
                    <a:pt x="6315710" y="402590"/>
                    <a:pt x="6263640" y="367030"/>
                  </a:cubicBezTo>
                  <a:cubicBezTo>
                    <a:pt x="6273800" y="360680"/>
                    <a:pt x="6282690" y="353060"/>
                    <a:pt x="6290310" y="344170"/>
                  </a:cubicBezTo>
                  <a:cubicBezTo>
                    <a:pt x="6328410" y="306070"/>
                    <a:pt x="6350000" y="255270"/>
                    <a:pt x="6350000" y="201930"/>
                  </a:cubicBezTo>
                  <a:cubicBezTo>
                    <a:pt x="6350000" y="148590"/>
                    <a:pt x="6328410" y="96520"/>
                    <a:pt x="6290310" y="59690"/>
                  </a:cubicBezTo>
                  <a:cubicBezTo>
                    <a:pt x="6252210" y="21590"/>
                    <a:pt x="6200140" y="0"/>
                    <a:pt x="6148070" y="0"/>
                  </a:cubicBezTo>
                  <a:cubicBezTo>
                    <a:pt x="6094730" y="0"/>
                    <a:pt x="6042660" y="21590"/>
                    <a:pt x="6005830" y="59690"/>
                  </a:cubicBezTo>
                  <a:cubicBezTo>
                    <a:pt x="5996940" y="68580"/>
                    <a:pt x="5990590" y="77470"/>
                    <a:pt x="5982970" y="86360"/>
                  </a:cubicBezTo>
                  <a:cubicBezTo>
                    <a:pt x="5946140" y="34290"/>
                    <a:pt x="5886450" y="0"/>
                    <a:pt x="5817870" y="0"/>
                  </a:cubicBezTo>
                  <a:cubicBezTo>
                    <a:pt x="5749290" y="0"/>
                    <a:pt x="5689600" y="34290"/>
                    <a:pt x="5652770" y="86360"/>
                  </a:cubicBezTo>
                  <a:cubicBezTo>
                    <a:pt x="5615940" y="34290"/>
                    <a:pt x="5556250" y="0"/>
                    <a:pt x="5487670" y="0"/>
                  </a:cubicBezTo>
                  <a:cubicBezTo>
                    <a:pt x="5419090" y="0"/>
                    <a:pt x="5359400" y="34290"/>
                    <a:pt x="5322570" y="86360"/>
                  </a:cubicBezTo>
                  <a:cubicBezTo>
                    <a:pt x="5285740" y="34290"/>
                    <a:pt x="5226050" y="0"/>
                    <a:pt x="5157470" y="0"/>
                  </a:cubicBezTo>
                  <a:cubicBezTo>
                    <a:pt x="5088890" y="0"/>
                    <a:pt x="5027930" y="34290"/>
                    <a:pt x="4992370" y="86360"/>
                  </a:cubicBezTo>
                  <a:cubicBezTo>
                    <a:pt x="4955540" y="34290"/>
                    <a:pt x="4894580" y="0"/>
                    <a:pt x="4827270" y="0"/>
                  </a:cubicBezTo>
                  <a:cubicBezTo>
                    <a:pt x="4758690" y="0"/>
                    <a:pt x="4699000" y="34290"/>
                    <a:pt x="4662170" y="86360"/>
                  </a:cubicBezTo>
                  <a:cubicBezTo>
                    <a:pt x="4625340" y="34290"/>
                    <a:pt x="4565650" y="0"/>
                    <a:pt x="4497070" y="0"/>
                  </a:cubicBezTo>
                  <a:cubicBezTo>
                    <a:pt x="4428490" y="0"/>
                    <a:pt x="4368800" y="34290"/>
                    <a:pt x="4331970" y="86360"/>
                  </a:cubicBezTo>
                  <a:cubicBezTo>
                    <a:pt x="4295140" y="34290"/>
                    <a:pt x="4235450" y="0"/>
                    <a:pt x="4166870" y="0"/>
                  </a:cubicBezTo>
                  <a:cubicBezTo>
                    <a:pt x="4098290" y="0"/>
                    <a:pt x="4038600" y="34290"/>
                    <a:pt x="4001770" y="86360"/>
                  </a:cubicBezTo>
                  <a:cubicBezTo>
                    <a:pt x="3964940" y="34290"/>
                    <a:pt x="3903980" y="0"/>
                    <a:pt x="3836670" y="0"/>
                  </a:cubicBezTo>
                  <a:cubicBezTo>
                    <a:pt x="3768090" y="0"/>
                    <a:pt x="3707130" y="34290"/>
                    <a:pt x="3671570" y="86360"/>
                  </a:cubicBezTo>
                  <a:cubicBezTo>
                    <a:pt x="3634740" y="34290"/>
                    <a:pt x="3575050" y="0"/>
                    <a:pt x="3506470" y="0"/>
                  </a:cubicBezTo>
                  <a:cubicBezTo>
                    <a:pt x="3437890" y="0"/>
                    <a:pt x="3378200" y="34290"/>
                    <a:pt x="3341370" y="86360"/>
                  </a:cubicBezTo>
                  <a:cubicBezTo>
                    <a:pt x="3304540" y="34290"/>
                    <a:pt x="3244850" y="0"/>
                    <a:pt x="3176270" y="0"/>
                  </a:cubicBezTo>
                  <a:cubicBezTo>
                    <a:pt x="3107690" y="0"/>
                    <a:pt x="3048000" y="34290"/>
                    <a:pt x="3011170" y="86360"/>
                  </a:cubicBezTo>
                  <a:cubicBezTo>
                    <a:pt x="2974340" y="34290"/>
                    <a:pt x="2914650" y="0"/>
                    <a:pt x="2846070" y="0"/>
                  </a:cubicBezTo>
                  <a:cubicBezTo>
                    <a:pt x="2777490" y="0"/>
                    <a:pt x="2716530" y="34290"/>
                    <a:pt x="2680970" y="86360"/>
                  </a:cubicBezTo>
                  <a:cubicBezTo>
                    <a:pt x="2644140" y="34290"/>
                    <a:pt x="2583180" y="0"/>
                    <a:pt x="2515870" y="0"/>
                  </a:cubicBezTo>
                  <a:cubicBezTo>
                    <a:pt x="2447290" y="0"/>
                    <a:pt x="2387600" y="34290"/>
                    <a:pt x="2350770" y="86360"/>
                  </a:cubicBezTo>
                  <a:cubicBezTo>
                    <a:pt x="2313940" y="34290"/>
                    <a:pt x="2254250" y="0"/>
                    <a:pt x="2185670" y="0"/>
                  </a:cubicBezTo>
                  <a:cubicBezTo>
                    <a:pt x="2117090" y="0"/>
                    <a:pt x="2057400" y="34290"/>
                    <a:pt x="2020570" y="86360"/>
                  </a:cubicBezTo>
                  <a:cubicBezTo>
                    <a:pt x="1983740" y="34290"/>
                    <a:pt x="1924050" y="0"/>
                    <a:pt x="1855470" y="0"/>
                  </a:cubicBezTo>
                  <a:cubicBezTo>
                    <a:pt x="1786890" y="0"/>
                    <a:pt x="1727200" y="34290"/>
                    <a:pt x="1690370" y="86360"/>
                  </a:cubicBezTo>
                  <a:cubicBezTo>
                    <a:pt x="1653540" y="34290"/>
                    <a:pt x="1593850" y="0"/>
                    <a:pt x="1525270" y="0"/>
                  </a:cubicBezTo>
                  <a:cubicBezTo>
                    <a:pt x="1456690" y="0"/>
                    <a:pt x="1395730" y="34290"/>
                    <a:pt x="1360170" y="86360"/>
                  </a:cubicBezTo>
                  <a:cubicBezTo>
                    <a:pt x="1324610" y="34290"/>
                    <a:pt x="1263650" y="0"/>
                    <a:pt x="1195070" y="0"/>
                  </a:cubicBezTo>
                  <a:cubicBezTo>
                    <a:pt x="1126490" y="0"/>
                    <a:pt x="1066800" y="34290"/>
                    <a:pt x="1029970" y="86360"/>
                  </a:cubicBezTo>
                  <a:cubicBezTo>
                    <a:pt x="990600" y="34290"/>
                    <a:pt x="930910" y="0"/>
                    <a:pt x="862330" y="0"/>
                  </a:cubicBezTo>
                  <a:cubicBezTo>
                    <a:pt x="793750" y="0"/>
                    <a:pt x="734060" y="34290"/>
                    <a:pt x="697230" y="86360"/>
                  </a:cubicBezTo>
                  <a:cubicBezTo>
                    <a:pt x="660400" y="34290"/>
                    <a:pt x="600710" y="0"/>
                    <a:pt x="532130" y="0"/>
                  </a:cubicBezTo>
                  <a:cubicBezTo>
                    <a:pt x="463550" y="0"/>
                    <a:pt x="402590" y="34290"/>
                    <a:pt x="367030" y="86360"/>
                  </a:cubicBezTo>
                  <a:cubicBezTo>
                    <a:pt x="360680" y="76200"/>
                    <a:pt x="353060" y="67310"/>
                    <a:pt x="344170" y="59690"/>
                  </a:cubicBezTo>
                  <a:cubicBezTo>
                    <a:pt x="306070" y="21590"/>
                    <a:pt x="254000" y="0"/>
                    <a:pt x="201930" y="0"/>
                  </a:cubicBezTo>
                  <a:cubicBezTo>
                    <a:pt x="148590" y="0"/>
                    <a:pt x="96520" y="21590"/>
                    <a:pt x="59690" y="59690"/>
                  </a:cubicBezTo>
                  <a:cubicBezTo>
                    <a:pt x="21590" y="96520"/>
                    <a:pt x="0" y="148590"/>
                    <a:pt x="0" y="201930"/>
                  </a:cubicBezTo>
                  <a:cubicBezTo>
                    <a:pt x="0" y="255270"/>
                    <a:pt x="21590" y="307340"/>
                    <a:pt x="59690" y="344170"/>
                  </a:cubicBezTo>
                  <a:cubicBezTo>
                    <a:pt x="68580" y="353060"/>
                    <a:pt x="77470" y="359410"/>
                    <a:pt x="86360" y="367030"/>
                  </a:cubicBezTo>
                  <a:cubicBezTo>
                    <a:pt x="34290" y="403860"/>
                    <a:pt x="0" y="463550"/>
                    <a:pt x="0" y="532130"/>
                  </a:cubicBezTo>
                  <a:cubicBezTo>
                    <a:pt x="0" y="600710"/>
                    <a:pt x="34290" y="660400"/>
                    <a:pt x="86360" y="697230"/>
                  </a:cubicBezTo>
                  <a:cubicBezTo>
                    <a:pt x="34290" y="734060"/>
                    <a:pt x="0" y="793750"/>
                    <a:pt x="0" y="862330"/>
                  </a:cubicBezTo>
                  <a:cubicBezTo>
                    <a:pt x="0" y="930910"/>
                    <a:pt x="34290" y="990600"/>
                    <a:pt x="86360" y="1027430"/>
                  </a:cubicBezTo>
                  <a:cubicBezTo>
                    <a:pt x="34290" y="1064260"/>
                    <a:pt x="0" y="1123950"/>
                    <a:pt x="0" y="1192530"/>
                  </a:cubicBezTo>
                  <a:cubicBezTo>
                    <a:pt x="0" y="1261110"/>
                    <a:pt x="34290" y="1322070"/>
                    <a:pt x="86360" y="1357630"/>
                  </a:cubicBezTo>
                  <a:cubicBezTo>
                    <a:pt x="34290" y="1393190"/>
                    <a:pt x="0" y="1454150"/>
                    <a:pt x="0" y="1522730"/>
                  </a:cubicBezTo>
                  <a:cubicBezTo>
                    <a:pt x="0" y="1591310"/>
                    <a:pt x="34290" y="1651000"/>
                    <a:pt x="86360" y="1687830"/>
                  </a:cubicBezTo>
                  <a:cubicBezTo>
                    <a:pt x="34290" y="1724660"/>
                    <a:pt x="0" y="1784350"/>
                    <a:pt x="0" y="1852930"/>
                  </a:cubicBezTo>
                  <a:cubicBezTo>
                    <a:pt x="0" y="1921510"/>
                    <a:pt x="34290" y="1981200"/>
                    <a:pt x="86360" y="2018030"/>
                  </a:cubicBezTo>
                  <a:cubicBezTo>
                    <a:pt x="34290" y="2054860"/>
                    <a:pt x="0" y="2114550"/>
                    <a:pt x="0" y="2183130"/>
                  </a:cubicBezTo>
                  <a:cubicBezTo>
                    <a:pt x="0" y="2251710"/>
                    <a:pt x="34290" y="2311400"/>
                    <a:pt x="86360" y="2348230"/>
                  </a:cubicBezTo>
                  <a:cubicBezTo>
                    <a:pt x="34290" y="2385060"/>
                    <a:pt x="0" y="2444750"/>
                    <a:pt x="0" y="2513330"/>
                  </a:cubicBezTo>
                  <a:cubicBezTo>
                    <a:pt x="0" y="2581910"/>
                    <a:pt x="34290" y="2642870"/>
                    <a:pt x="86360" y="2678430"/>
                  </a:cubicBezTo>
                  <a:cubicBezTo>
                    <a:pt x="34290" y="2713990"/>
                    <a:pt x="0" y="2774950"/>
                    <a:pt x="0" y="2843530"/>
                  </a:cubicBezTo>
                  <a:cubicBezTo>
                    <a:pt x="0" y="2912110"/>
                    <a:pt x="34290" y="2971800"/>
                    <a:pt x="86360" y="3008630"/>
                  </a:cubicBezTo>
                  <a:cubicBezTo>
                    <a:pt x="34290" y="3045460"/>
                    <a:pt x="0" y="3105150"/>
                    <a:pt x="0" y="3173730"/>
                  </a:cubicBezTo>
                  <a:cubicBezTo>
                    <a:pt x="0" y="3242310"/>
                    <a:pt x="34290" y="3302000"/>
                    <a:pt x="86360" y="3338830"/>
                  </a:cubicBezTo>
                  <a:cubicBezTo>
                    <a:pt x="34290" y="3375660"/>
                    <a:pt x="0" y="3435350"/>
                    <a:pt x="0" y="3503930"/>
                  </a:cubicBezTo>
                  <a:cubicBezTo>
                    <a:pt x="0" y="3572510"/>
                    <a:pt x="34290" y="3633470"/>
                    <a:pt x="86360" y="3669030"/>
                  </a:cubicBezTo>
                  <a:cubicBezTo>
                    <a:pt x="34290" y="3705860"/>
                    <a:pt x="0" y="3766820"/>
                    <a:pt x="0" y="3834130"/>
                  </a:cubicBezTo>
                  <a:cubicBezTo>
                    <a:pt x="0" y="3901440"/>
                    <a:pt x="34290" y="3962400"/>
                    <a:pt x="86360" y="3999230"/>
                  </a:cubicBezTo>
                  <a:cubicBezTo>
                    <a:pt x="34290" y="4036060"/>
                    <a:pt x="0" y="4095750"/>
                    <a:pt x="0" y="4164330"/>
                  </a:cubicBezTo>
                  <a:cubicBezTo>
                    <a:pt x="0" y="4232910"/>
                    <a:pt x="34290" y="4292600"/>
                    <a:pt x="86360" y="4329430"/>
                  </a:cubicBezTo>
                  <a:cubicBezTo>
                    <a:pt x="34290" y="4366260"/>
                    <a:pt x="0" y="4425950"/>
                    <a:pt x="0" y="4494530"/>
                  </a:cubicBezTo>
                  <a:cubicBezTo>
                    <a:pt x="0" y="4563110"/>
                    <a:pt x="34290" y="4622800"/>
                    <a:pt x="86360" y="4659630"/>
                  </a:cubicBezTo>
                  <a:cubicBezTo>
                    <a:pt x="34290" y="4696460"/>
                    <a:pt x="0" y="4756150"/>
                    <a:pt x="0" y="4824730"/>
                  </a:cubicBezTo>
                  <a:cubicBezTo>
                    <a:pt x="0" y="4893310"/>
                    <a:pt x="34290" y="4954270"/>
                    <a:pt x="86360" y="4989830"/>
                  </a:cubicBezTo>
                  <a:cubicBezTo>
                    <a:pt x="34290" y="5025390"/>
                    <a:pt x="0" y="5086350"/>
                    <a:pt x="0" y="5154930"/>
                  </a:cubicBezTo>
                  <a:cubicBezTo>
                    <a:pt x="0" y="5223510"/>
                    <a:pt x="34290" y="5283200"/>
                    <a:pt x="86360" y="5320030"/>
                  </a:cubicBezTo>
                  <a:cubicBezTo>
                    <a:pt x="34290" y="5356860"/>
                    <a:pt x="0" y="5416550"/>
                    <a:pt x="0" y="5485130"/>
                  </a:cubicBezTo>
                  <a:cubicBezTo>
                    <a:pt x="0" y="5553710"/>
                    <a:pt x="34290" y="5613400"/>
                    <a:pt x="86360" y="5650230"/>
                  </a:cubicBezTo>
                  <a:cubicBezTo>
                    <a:pt x="34290" y="5687060"/>
                    <a:pt x="0" y="5746750"/>
                    <a:pt x="0" y="5815330"/>
                  </a:cubicBezTo>
                  <a:cubicBezTo>
                    <a:pt x="0" y="5883910"/>
                    <a:pt x="34290" y="5944870"/>
                    <a:pt x="86360" y="5980430"/>
                  </a:cubicBezTo>
                  <a:cubicBezTo>
                    <a:pt x="76200" y="5986780"/>
                    <a:pt x="67310" y="5994400"/>
                    <a:pt x="59690" y="6003290"/>
                  </a:cubicBezTo>
                  <a:cubicBezTo>
                    <a:pt x="22860" y="6041390"/>
                    <a:pt x="0" y="6093460"/>
                    <a:pt x="0" y="6145530"/>
                  </a:cubicBezTo>
                  <a:cubicBezTo>
                    <a:pt x="0" y="6198870"/>
                    <a:pt x="20320" y="6249670"/>
                    <a:pt x="59690" y="6287770"/>
                  </a:cubicBezTo>
                  <a:cubicBezTo>
                    <a:pt x="97790" y="6325870"/>
                    <a:pt x="148590" y="6347460"/>
                    <a:pt x="201930" y="6347460"/>
                  </a:cubicBezTo>
                  <a:cubicBezTo>
                    <a:pt x="256540" y="6347460"/>
                    <a:pt x="307340" y="6325870"/>
                    <a:pt x="344170" y="6287770"/>
                  </a:cubicBezTo>
                  <a:cubicBezTo>
                    <a:pt x="353060" y="6278880"/>
                    <a:pt x="359410" y="6269990"/>
                    <a:pt x="367030" y="6261100"/>
                  </a:cubicBezTo>
                  <a:cubicBezTo>
                    <a:pt x="403860" y="6313170"/>
                    <a:pt x="463550" y="6347460"/>
                    <a:pt x="532130" y="6347460"/>
                  </a:cubicBezTo>
                  <a:cubicBezTo>
                    <a:pt x="600710" y="6347460"/>
                    <a:pt x="660400" y="6313170"/>
                    <a:pt x="697230" y="6261100"/>
                  </a:cubicBezTo>
                  <a:cubicBezTo>
                    <a:pt x="734060" y="6313170"/>
                    <a:pt x="793750" y="6347460"/>
                    <a:pt x="862330" y="6347460"/>
                  </a:cubicBezTo>
                  <a:cubicBezTo>
                    <a:pt x="930910" y="6347460"/>
                    <a:pt x="990600" y="6313170"/>
                    <a:pt x="1027430" y="6261100"/>
                  </a:cubicBezTo>
                  <a:cubicBezTo>
                    <a:pt x="1064260" y="6313170"/>
                    <a:pt x="1123950" y="6347460"/>
                    <a:pt x="1192530" y="6347460"/>
                  </a:cubicBezTo>
                  <a:cubicBezTo>
                    <a:pt x="1261110" y="6347460"/>
                    <a:pt x="1320800" y="6313170"/>
                    <a:pt x="1357630" y="6261100"/>
                  </a:cubicBezTo>
                  <a:cubicBezTo>
                    <a:pt x="1394460" y="6313170"/>
                    <a:pt x="1455420" y="6347460"/>
                    <a:pt x="1522730" y="6347460"/>
                  </a:cubicBezTo>
                  <a:cubicBezTo>
                    <a:pt x="1591310" y="6347460"/>
                    <a:pt x="1651000" y="6313170"/>
                    <a:pt x="1687830" y="6261100"/>
                  </a:cubicBezTo>
                  <a:cubicBezTo>
                    <a:pt x="1724660" y="6313170"/>
                    <a:pt x="1784350" y="6347460"/>
                    <a:pt x="1852930" y="6347460"/>
                  </a:cubicBezTo>
                  <a:cubicBezTo>
                    <a:pt x="1921510" y="6347460"/>
                    <a:pt x="1981200" y="6313170"/>
                    <a:pt x="2018030" y="6261100"/>
                  </a:cubicBezTo>
                  <a:cubicBezTo>
                    <a:pt x="2054860" y="6313170"/>
                    <a:pt x="2114550" y="6347460"/>
                    <a:pt x="2183130" y="6347460"/>
                  </a:cubicBezTo>
                  <a:cubicBezTo>
                    <a:pt x="2251710" y="6347460"/>
                    <a:pt x="2311400" y="6313170"/>
                    <a:pt x="2348230" y="6261100"/>
                  </a:cubicBezTo>
                  <a:cubicBezTo>
                    <a:pt x="2385060" y="6313170"/>
                    <a:pt x="2444750" y="6347460"/>
                    <a:pt x="2513330" y="6347460"/>
                  </a:cubicBezTo>
                  <a:cubicBezTo>
                    <a:pt x="2581910" y="6347460"/>
                    <a:pt x="2642870" y="6313170"/>
                    <a:pt x="2678430" y="6261100"/>
                  </a:cubicBezTo>
                  <a:cubicBezTo>
                    <a:pt x="2715260" y="6313170"/>
                    <a:pt x="2776220" y="6347460"/>
                    <a:pt x="2843530" y="6347460"/>
                  </a:cubicBezTo>
                  <a:cubicBezTo>
                    <a:pt x="2912110" y="6347460"/>
                    <a:pt x="2971800" y="6313170"/>
                    <a:pt x="3008630" y="6261100"/>
                  </a:cubicBezTo>
                  <a:cubicBezTo>
                    <a:pt x="3045460" y="6313170"/>
                    <a:pt x="3105150" y="6347460"/>
                    <a:pt x="3173730" y="6347460"/>
                  </a:cubicBezTo>
                  <a:cubicBezTo>
                    <a:pt x="3242310" y="6347460"/>
                    <a:pt x="3302000" y="6313170"/>
                    <a:pt x="3338830" y="6261100"/>
                  </a:cubicBezTo>
                  <a:cubicBezTo>
                    <a:pt x="3375660" y="6313170"/>
                    <a:pt x="3435350" y="6347460"/>
                    <a:pt x="3503930" y="6347460"/>
                  </a:cubicBezTo>
                  <a:cubicBezTo>
                    <a:pt x="3572510" y="6347460"/>
                    <a:pt x="3632200" y="6313170"/>
                    <a:pt x="3669030" y="6261100"/>
                  </a:cubicBezTo>
                  <a:cubicBezTo>
                    <a:pt x="3705860" y="6313170"/>
                    <a:pt x="3765550" y="6347460"/>
                    <a:pt x="3834130" y="6347460"/>
                  </a:cubicBezTo>
                  <a:cubicBezTo>
                    <a:pt x="3902710" y="6347460"/>
                    <a:pt x="3963670" y="6313170"/>
                    <a:pt x="3999230" y="6261100"/>
                  </a:cubicBezTo>
                  <a:cubicBezTo>
                    <a:pt x="4036060" y="6313170"/>
                    <a:pt x="4095750" y="6347460"/>
                    <a:pt x="4164330" y="6347460"/>
                  </a:cubicBezTo>
                  <a:cubicBezTo>
                    <a:pt x="4232910" y="6347460"/>
                    <a:pt x="4292600" y="6313170"/>
                    <a:pt x="4329430" y="6261100"/>
                  </a:cubicBezTo>
                  <a:cubicBezTo>
                    <a:pt x="4366260" y="6313170"/>
                    <a:pt x="4425950" y="6347460"/>
                    <a:pt x="4494530" y="6347460"/>
                  </a:cubicBezTo>
                  <a:cubicBezTo>
                    <a:pt x="4563110" y="6347460"/>
                    <a:pt x="4622800" y="6313170"/>
                    <a:pt x="4659630" y="6261100"/>
                  </a:cubicBezTo>
                  <a:cubicBezTo>
                    <a:pt x="4696460" y="6313170"/>
                    <a:pt x="4756150" y="6347460"/>
                    <a:pt x="4824730" y="6347460"/>
                  </a:cubicBezTo>
                  <a:cubicBezTo>
                    <a:pt x="4893310" y="6347460"/>
                    <a:pt x="4954270" y="6313170"/>
                    <a:pt x="4989830" y="6261100"/>
                  </a:cubicBezTo>
                  <a:cubicBezTo>
                    <a:pt x="5026660" y="6313170"/>
                    <a:pt x="5087620" y="6347460"/>
                    <a:pt x="5154930" y="6347460"/>
                  </a:cubicBezTo>
                  <a:cubicBezTo>
                    <a:pt x="5223510" y="6347460"/>
                    <a:pt x="5283200" y="6313170"/>
                    <a:pt x="5320030" y="6261100"/>
                  </a:cubicBezTo>
                  <a:cubicBezTo>
                    <a:pt x="5356860" y="6313170"/>
                    <a:pt x="5416550" y="6347460"/>
                    <a:pt x="5485130" y="6347460"/>
                  </a:cubicBezTo>
                  <a:cubicBezTo>
                    <a:pt x="5553710" y="6347460"/>
                    <a:pt x="5613400" y="6313170"/>
                    <a:pt x="5650230" y="6261100"/>
                  </a:cubicBezTo>
                  <a:cubicBezTo>
                    <a:pt x="5687060" y="6313170"/>
                    <a:pt x="5746750" y="6347460"/>
                    <a:pt x="5815330" y="6347460"/>
                  </a:cubicBezTo>
                  <a:cubicBezTo>
                    <a:pt x="5883910" y="6347460"/>
                    <a:pt x="5943600" y="6313170"/>
                    <a:pt x="5980430" y="6261100"/>
                  </a:cubicBezTo>
                  <a:cubicBezTo>
                    <a:pt x="5986780" y="6271260"/>
                    <a:pt x="5994400" y="6280150"/>
                    <a:pt x="6003290" y="6287770"/>
                  </a:cubicBezTo>
                  <a:cubicBezTo>
                    <a:pt x="6041390" y="6325870"/>
                    <a:pt x="6092190" y="6347460"/>
                    <a:pt x="6145530" y="6347460"/>
                  </a:cubicBezTo>
                  <a:cubicBezTo>
                    <a:pt x="6198870" y="6347460"/>
                    <a:pt x="6249670" y="6325870"/>
                    <a:pt x="6287770" y="6287770"/>
                  </a:cubicBezTo>
                  <a:cubicBezTo>
                    <a:pt x="6325870" y="6249670"/>
                    <a:pt x="6347460" y="6198870"/>
                    <a:pt x="6347460" y="6145530"/>
                  </a:cubicBezTo>
                  <a:cubicBezTo>
                    <a:pt x="6347460" y="6092190"/>
                    <a:pt x="6325870" y="6040120"/>
                    <a:pt x="6287770" y="6003290"/>
                  </a:cubicBezTo>
                  <a:cubicBezTo>
                    <a:pt x="6278880" y="5994400"/>
                    <a:pt x="6269990" y="5988050"/>
                    <a:pt x="6261100" y="5980430"/>
                  </a:cubicBezTo>
                  <a:cubicBezTo>
                    <a:pt x="6313170" y="5943600"/>
                    <a:pt x="6347460" y="5883910"/>
                    <a:pt x="6347460" y="5815330"/>
                  </a:cubicBezTo>
                  <a:cubicBezTo>
                    <a:pt x="6347460" y="5746750"/>
                    <a:pt x="6313170" y="5687060"/>
                    <a:pt x="6261100" y="5650230"/>
                  </a:cubicBezTo>
                  <a:cubicBezTo>
                    <a:pt x="6313170" y="5613400"/>
                    <a:pt x="6347460" y="5553710"/>
                    <a:pt x="6347460" y="5485130"/>
                  </a:cubicBezTo>
                  <a:cubicBezTo>
                    <a:pt x="6347460" y="5416550"/>
                    <a:pt x="6313170" y="5356860"/>
                    <a:pt x="6261100" y="5320030"/>
                  </a:cubicBezTo>
                  <a:cubicBezTo>
                    <a:pt x="6313170" y="5283200"/>
                    <a:pt x="6347460" y="5223510"/>
                    <a:pt x="6347460" y="5154930"/>
                  </a:cubicBezTo>
                  <a:cubicBezTo>
                    <a:pt x="6347460" y="5086350"/>
                    <a:pt x="6313170" y="5025390"/>
                    <a:pt x="6261100" y="4989830"/>
                  </a:cubicBezTo>
                  <a:cubicBezTo>
                    <a:pt x="6313170" y="4953000"/>
                    <a:pt x="6347460" y="4892040"/>
                    <a:pt x="6347460" y="4824730"/>
                  </a:cubicBezTo>
                  <a:cubicBezTo>
                    <a:pt x="6347460" y="4756150"/>
                    <a:pt x="6313170" y="4696460"/>
                    <a:pt x="6261100" y="4659630"/>
                  </a:cubicBezTo>
                  <a:cubicBezTo>
                    <a:pt x="6313170" y="4622800"/>
                    <a:pt x="6347460" y="4563110"/>
                    <a:pt x="6347460" y="4494530"/>
                  </a:cubicBezTo>
                  <a:cubicBezTo>
                    <a:pt x="6347460" y="4425950"/>
                    <a:pt x="6313170" y="4366260"/>
                    <a:pt x="6261100" y="4329430"/>
                  </a:cubicBezTo>
                  <a:cubicBezTo>
                    <a:pt x="6313170" y="4292600"/>
                    <a:pt x="6347460" y="4232910"/>
                    <a:pt x="6347460" y="4164330"/>
                  </a:cubicBezTo>
                  <a:cubicBezTo>
                    <a:pt x="6347460" y="4095750"/>
                    <a:pt x="6313170" y="4036060"/>
                    <a:pt x="6261100" y="3999230"/>
                  </a:cubicBezTo>
                  <a:cubicBezTo>
                    <a:pt x="6313170" y="3962400"/>
                    <a:pt x="6347460" y="3901440"/>
                    <a:pt x="6347460" y="3834130"/>
                  </a:cubicBezTo>
                  <a:cubicBezTo>
                    <a:pt x="6347460" y="3765550"/>
                    <a:pt x="6313170" y="3704590"/>
                    <a:pt x="6261100" y="3669030"/>
                  </a:cubicBezTo>
                  <a:cubicBezTo>
                    <a:pt x="6313170" y="3632200"/>
                    <a:pt x="6347460" y="3572510"/>
                    <a:pt x="6347460" y="3503930"/>
                  </a:cubicBezTo>
                  <a:cubicBezTo>
                    <a:pt x="6347460" y="3435350"/>
                    <a:pt x="6313170" y="3375660"/>
                    <a:pt x="6261100" y="3338830"/>
                  </a:cubicBezTo>
                  <a:cubicBezTo>
                    <a:pt x="6313170" y="3302000"/>
                    <a:pt x="6347460" y="3242310"/>
                    <a:pt x="6347460" y="3173730"/>
                  </a:cubicBezTo>
                  <a:cubicBezTo>
                    <a:pt x="6347460" y="3105150"/>
                    <a:pt x="6313170" y="3045460"/>
                    <a:pt x="6261100" y="3008630"/>
                  </a:cubicBezTo>
                  <a:cubicBezTo>
                    <a:pt x="6313170" y="2971800"/>
                    <a:pt x="6347460" y="2912110"/>
                    <a:pt x="6347460" y="2843530"/>
                  </a:cubicBezTo>
                  <a:cubicBezTo>
                    <a:pt x="6347460" y="2774950"/>
                    <a:pt x="6313170" y="2713990"/>
                    <a:pt x="6261100" y="2678430"/>
                  </a:cubicBezTo>
                  <a:cubicBezTo>
                    <a:pt x="6313170" y="2641600"/>
                    <a:pt x="6347460" y="2580640"/>
                    <a:pt x="6347460" y="2513330"/>
                  </a:cubicBezTo>
                  <a:cubicBezTo>
                    <a:pt x="6347460" y="2444750"/>
                    <a:pt x="6313170" y="2383790"/>
                    <a:pt x="6261100" y="2348230"/>
                  </a:cubicBezTo>
                  <a:cubicBezTo>
                    <a:pt x="6313170" y="2311400"/>
                    <a:pt x="6347460" y="2251710"/>
                    <a:pt x="6347460" y="2183130"/>
                  </a:cubicBezTo>
                  <a:cubicBezTo>
                    <a:pt x="6347460" y="2114550"/>
                    <a:pt x="6313170" y="2054860"/>
                    <a:pt x="6261100" y="2018030"/>
                  </a:cubicBezTo>
                  <a:cubicBezTo>
                    <a:pt x="6313170" y="1981200"/>
                    <a:pt x="6347460" y="1921510"/>
                    <a:pt x="6347460" y="1852930"/>
                  </a:cubicBezTo>
                  <a:cubicBezTo>
                    <a:pt x="6347460" y="1784350"/>
                    <a:pt x="6313170" y="1724660"/>
                    <a:pt x="6261100" y="1687830"/>
                  </a:cubicBezTo>
                  <a:cubicBezTo>
                    <a:pt x="6313170" y="1651000"/>
                    <a:pt x="6347460" y="1591310"/>
                    <a:pt x="6347460" y="1522730"/>
                  </a:cubicBezTo>
                  <a:cubicBezTo>
                    <a:pt x="6347460" y="1454150"/>
                    <a:pt x="6313170" y="1393190"/>
                    <a:pt x="6261100" y="1357630"/>
                  </a:cubicBezTo>
                  <a:cubicBezTo>
                    <a:pt x="6313170" y="1322070"/>
                    <a:pt x="6347460" y="1261110"/>
                    <a:pt x="6347460" y="1192530"/>
                  </a:cubicBezTo>
                  <a:cubicBezTo>
                    <a:pt x="6347460" y="1123950"/>
                    <a:pt x="6313170" y="1064260"/>
                    <a:pt x="6261100" y="1027430"/>
                  </a:cubicBezTo>
                  <a:cubicBezTo>
                    <a:pt x="6313170" y="990600"/>
                    <a:pt x="6347460" y="930910"/>
                    <a:pt x="6347460" y="862330"/>
                  </a:cubicBezTo>
                  <a:cubicBezTo>
                    <a:pt x="6347460" y="793750"/>
                    <a:pt x="6313170" y="734060"/>
                    <a:pt x="6261100" y="697230"/>
                  </a:cubicBezTo>
                  <a:cubicBezTo>
                    <a:pt x="6315710" y="660400"/>
                    <a:pt x="6350000" y="600710"/>
                    <a:pt x="6350000" y="53213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358140" y="358140"/>
              <a:ext cx="5632450" cy="5633720"/>
            </a:xfrm>
            <a:custGeom>
              <a:avLst/>
              <a:gdLst/>
              <a:ahLst/>
              <a:cxnLst/>
              <a:rect l="l" t="t" r="r" b="b"/>
              <a:pathLst>
                <a:path w="5632450" h="5633720">
                  <a:moveTo>
                    <a:pt x="0" y="0"/>
                  </a:moveTo>
                  <a:lnTo>
                    <a:pt x="5632450" y="0"/>
                  </a:lnTo>
                  <a:lnTo>
                    <a:pt x="5632450" y="5633720"/>
                  </a:lnTo>
                  <a:lnTo>
                    <a:pt x="0" y="5633720"/>
                  </a:lnTo>
                  <a:close/>
                </a:path>
              </a:pathLst>
            </a:custGeom>
            <a:blipFill>
              <a:blip r:embed="rId2"/>
              <a:stretch>
                <a:fillRect l="-27795" r="-2779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878775" y="3546171"/>
            <a:ext cx="6448324" cy="309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63"/>
              </a:lnSpc>
              <a:spcBef>
                <a:spcPct val="0"/>
              </a:spcBef>
            </a:pPr>
            <a:r>
              <a:rPr lang="en-US" sz="3473" dirty="0">
                <a:solidFill>
                  <a:srgbClr val="000000"/>
                </a:solidFill>
                <a:latin typeface="Roboto Condensed Bold"/>
              </a:rPr>
              <a:t>Estudar a fundo e conversar com os stakeholders para saber quais problemas devem ser resolvidos e como o sistema deverá se parecer e funcionar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152605" y="978345"/>
            <a:ext cx="10430714" cy="1524066"/>
            <a:chOff x="0" y="0"/>
            <a:chExt cx="2747184" cy="401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7184" cy="401400"/>
            </a:xfrm>
            <a:custGeom>
              <a:avLst/>
              <a:gdLst/>
              <a:ahLst/>
              <a:cxnLst/>
              <a:rect l="l" t="t" r="r" b="b"/>
              <a:pathLst>
                <a:path w="2747184" h="401400">
                  <a:moveTo>
                    <a:pt x="37853" y="0"/>
                  </a:moveTo>
                  <a:lnTo>
                    <a:pt x="2709331" y="0"/>
                  </a:lnTo>
                  <a:cubicBezTo>
                    <a:pt x="2730236" y="0"/>
                    <a:pt x="2747184" y="16948"/>
                    <a:pt x="2747184" y="37853"/>
                  </a:cubicBezTo>
                  <a:lnTo>
                    <a:pt x="2747184" y="363547"/>
                  </a:lnTo>
                  <a:cubicBezTo>
                    <a:pt x="2747184" y="384453"/>
                    <a:pt x="2730236" y="401400"/>
                    <a:pt x="2709331" y="401400"/>
                  </a:cubicBezTo>
                  <a:lnTo>
                    <a:pt x="37853" y="401400"/>
                  </a:lnTo>
                  <a:cubicBezTo>
                    <a:pt x="16948" y="401400"/>
                    <a:pt x="0" y="384453"/>
                    <a:pt x="0" y="363547"/>
                  </a:cubicBezTo>
                  <a:lnTo>
                    <a:pt x="0" y="37853"/>
                  </a:lnTo>
                  <a:cubicBezTo>
                    <a:pt x="0" y="16948"/>
                    <a:pt x="16948" y="0"/>
                    <a:pt x="3785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47184" cy="43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878775" y="6995383"/>
            <a:ext cx="4489187" cy="242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58"/>
              </a:lnSpc>
              <a:spcBef>
                <a:spcPct val="0"/>
              </a:spcBef>
            </a:pPr>
            <a:r>
              <a:rPr lang="en-US" sz="3470" dirty="0">
                <a:solidFill>
                  <a:srgbClr val="000000"/>
                </a:solidFill>
                <a:latin typeface="Roboto Condensed Bold"/>
              </a:rPr>
              <a:t>Documentar tudo com assinatura do cliente para evitar problemas futuros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87840" y="1397216"/>
            <a:ext cx="10712320" cy="67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9"/>
              </a:lnSpc>
            </a:pPr>
            <a:r>
              <a:rPr lang="en-US" sz="4409" dirty="0">
                <a:solidFill>
                  <a:srgbClr val="FDFDFD"/>
                </a:solidFill>
                <a:latin typeface="Lato Heavy"/>
              </a:rPr>
              <a:t>LEVANTAMENTO DE REQUISITOS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94544" y="806450"/>
            <a:ext cx="6294884" cy="8674100"/>
            <a:chOff x="0" y="0"/>
            <a:chExt cx="1657912" cy="22845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57912" cy="2284537"/>
            </a:xfrm>
            <a:custGeom>
              <a:avLst/>
              <a:gdLst/>
              <a:ahLst/>
              <a:cxnLst/>
              <a:rect l="l" t="t" r="r" b="b"/>
              <a:pathLst>
                <a:path w="1657912" h="2284537">
                  <a:moveTo>
                    <a:pt x="62724" y="0"/>
                  </a:moveTo>
                  <a:lnTo>
                    <a:pt x="1595188" y="0"/>
                  </a:lnTo>
                  <a:cubicBezTo>
                    <a:pt x="1611824" y="0"/>
                    <a:pt x="1627778" y="6608"/>
                    <a:pt x="1639541" y="18371"/>
                  </a:cubicBezTo>
                  <a:cubicBezTo>
                    <a:pt x="1651304" y="30134"/>
                    <a:pt x="1657912" y="46088"/>
                    <a:pt x="1657912" y="62724"/>
                  </a:cubicBezTo>
                  <a:lnTo>
                    <a:pt x="1657912" y="2221813"/>
                  </a:lnTo>
                  <a:cubicBezTo>
                    <a:pt x="1657912" y="2256454"/>
                    <a:pt x="1629830" y="2284537"/>
                    <a:pt x="1595188" y="2284537"/>
                  </a:cubicBezTo>
                  <a:lnTo>
                    <a:pt x="62724" y="2284537"/>
                  </a:lnTo>
                  <a:cubicBezTo>
                    <a:pt x="46088" y="2284537"/>
                    <a:pt x="30134" y="2277928"/>
                    <a:pt x="18371" y="2266165"/>
                  </a:cubicBezTo>
                  <a:cubicBezTo>
                    <a:pt x="6608" y="2254403"/>
                    <a:pt x="0" y="2238448"/>
                    <a:pt x="0" y="2221813"/>
                  </a:cubicBezTo>
                  <a:lnTo>
                    <a:pt x="0" y="62724"/>
                  </a:lnTo>
                  <a:cubicBezTo>
                    <a:pt x="0" y="46088"/>
                    <a:pt x="6608" y="30134"/>
                    <a:pt x="18371" y="18371"/>
                  </a:cubicBezTo>
                  <a:cubicBezTo>
                    <a:pt x="30134" y="6608"/>
                    <a:pt x="46088" y="0"/>
                    <a:pt x="6272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57912" cy="2332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475100" y="673955"/>
            <a:ext cx="8333772" cy="8229600"/>
          </a:xfrm>
          <a:custGeom>
            <a:avLst/>
            <a:gdLst/>
            <a:ahLst/>
            <a:cxnLst/>
            <a:rect l="l" t="t" r="r" b="b"/>
            <a:pathLst>
              <a:path w="8333772" h="8229600">
                <a:moveTo>
                  <a:pt x="0" y="0"/>
                </a:moveTo>
                <a:lnTo>
                  <a:pt x="8333772" y="0"/>
                </a:lnTo>
                <a:lnTo>
                  <a:pt x="833377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2018801" y="2422188"/>
            <a:ext cx="5246370" cy="524637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778860"/>
                  </a:lnTo>
                  <a:cubicBezTo>
                    <a:pt x="812800" y="797604"/>
                    <a:pt x="797604" y="812800"/>
                    <a:pt x="778860" y="812800"/>
                  </a:cubicBezTo>
                  <a:lnTo>
                    <a:pt x="33940" y="812800"/>
                  </a:lnTo>
                  <a:cubicBezTo>
                    <a:pt x="15196" y="812800"/>
                    <a:pt x="0" y="797604"/>
                    <a:pt x="0" y="77886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28700" y="914400"/>
            <a:ext cx="5928956" cy="89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dirty="0">
                <a:solidFill>
                  <a:srgbClr val="000000"/>
                </a:solidFill>
                <a:latin typeface="Lato Bold"/>
              </a:rPr>
              <a:t>PLANEJAMENTO 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098178"/>
            <a:ext cx="7875463" cy="263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4AAD"/>
                </a:solidFill>
                <a:latin typeface="Poppins Bold"/>
              </a:rPr>
              <a:t>Planejamento</a:t>
            </a:r>
            <a:r>
              <a:rPr lang="en-US" sz="2499" dirty="0">
                <a:solidFill>
                  <a:srgbClr val="000000"/>
                </a:solidFill>
                <a:latin typeface="Poppins"/>
              </a:rPr>
              <a:t> - Baseado nos requisitos, determinar quais serão as tarefas e quem na equipe será responsável por cada, o orçamento e recursos necessários e o prazo de cada etapa. Tudo isso deve ser documentado e assinado assim como as etapas anteriores e futuras.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160413"/>
            <a:ext cx="7269894" cy="178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4AAD"/>
                </a:solidFill>
                <a:latin typeface="Arial Bold"/>
              </a:rPr>
              <a:t>Modelagem </a:t>
            </a:r>
            <a:r>
              <a:rPr lang="en-US" sz="2499" dirty="0">
                <a:solidFill>
                  <a:srgbClr val="000000"/>
                </a:solidFill>
                <a:latin typeface="Arial"/>
              </a:rPr>
              <a:t>- Definir a estrutura do sistema, como será a interface, quais linguagens de programação serão utilizadas. Como um mapa para a próxima fase do Desenvolvimento.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726528"/>
            <a:ext cx="4652244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31"/>
              </a:lnSpc>
            </a:pPr>
            <a:r>
              <a:rPr lang="en-US" sz="5308" dirty="0">
                <a:solidFill>
                  <a:srgbClr val="004AAD"/>
                </a:solidFill>
                <a:latin typeface="League Spartan Bold"/>
              </a:rPr>
              <a:t>MODELAGEM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02273" y="-8767"/>
            <a:ext cx="4907787" cy="10295767"/>
          </a:xfrm>
          <a:custGeom>
            <a:avLst/>
            <a:gdLst/>
            <a:ahLst/>
            <a:cxnLst/>
            <a:rect l="l" t="t" r="r" b="b"/>
            <a:pathLst>
              <a:path w="4907787" h="10295767">
                <a:moveTo>
                  <a:pt x="0" y="0"/>
                </a:moveTo>
                <a:lnTo>
                  <a:pt x="4907787" y="0"/>
                </a:lnTo>
                <a:lnTo>
                  <a:pt x="4907787" y="10295767"/>
                </a:lnTo>
                <a:lnTo>
                  <a:pt x="0" y="10295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884" r="-1988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3852968"/>
            <a:ext cx="14586028" cy="5088907"/>
            <a:chOff x="0" y="0"/>
            <a:chExt cx="3841588" cy="13402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41588" cy="1340288"/>
            </a:xfrm>
            <a:custGeom>
              <a:avLst/>
              <a:gdLst/>
              <a:ahLst/>
              <a:cxnLst/>
              <a:rect l="l" t="t" r="r" b="b"/>
              <a:pathLst>
                <a:path w="3841588" h="1340288">
                  <a:moveTo>
                    <a:pt x="9023" y="0"/>
                  </a:moveTo>
                  <a:lnTo>
                    <a:pt x="3832565" y="0"/>
                  </a:lnTo>
                  <a:cubicBezTo>
                    <a:pt x="3837548" y="0"/>
                    <a:pt x="3841588" y="4040"/>
                    <a:pt x="3841588" y="9023"/>
                  </a:cubicBezTo>
                  <a:lnTo>
                    <a:pt x="3841588" y="1331265"/>
                  </a:lnTo>
                  <a:cubicBezTo>
                    <a:pt x="3841588" y="1336248"/>
                    <a:pt x="3837548" y="1340288"/>
                    <a:pt x="3832565" y="1340288"/>
                  </a:cubicBezTo>
                  <a:lnTo>
                    <a:pt x="9023" y="1340288"/>
                  </a:lnTo>
                  <a:cubicBezTo>
                    <a:pt x="4040" y="1340288"/>
                    <a:pt x="0" y="1336248"/>
                    <a:pt x="0" y="1331265"/>
                  </a:cubicBezTo>
                  <a:lnTo>
                    <a:pt x="0" y="9023"/>
                  </a:lnTo>
                  <a:cubicBezTo>
                    <a:pt x="0" y="4040"/>
                    <a:pt x="4040" y="0"/>
                    <a:pt x="9023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841588" cy="1378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4390" y="1328856"/>
            <a:ext cx="9279410" cy="112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247"/>
              </a:lnSpc>
              <a:spcBef>
                <a:spcPct val="0"/>
              </a:spcBef>
            </a:pPr>
            <a:r>
              <a:rPr lang="en-US" sz="6605" dirty="0">
                <a:solidFill>
                  <a:srgbClr val="FDFDFD"/>
                </a:solidFill>
                <a:latin typeface="Open Sans Extra Bold"/>
              </a:rPr>
              <a:t>DESENVOLVIMENTO</a:t>
            </a:r>
          </a:p>
        </p:txBody>
      </p:sp>
      <p:sp>
        <p:nvSpPr>
          <p:cNvPr id="7" name="Freeform 7"/>
          <p:cNvSpPr/>
          <p:nvPr/>
        </p:nvSpPr>
        <p:spPr>
          <a:xfrm>
            <a:off x="4668597" y="4063436"/>
            <a:ext cx="1077227" cy="1247315"/>
          </a:xfrm>
          <a:custGeom>
            <a:avLst/>
            <a:gdLst/>
            <a:ahLst/>
            <a:cxnLst/>
            <a:rect l="l" t="t" r="r" b="b"/>
            <a:pathLst>
              <a:path w="1077227" h="1247315">
                <a:moveTo>
                  <a:pt x="0" y="0"/>
                </a:moveTo>
                <a:lnTo>
                  <a:pt x="1077227" y="0"/>
                </a:lnTo>
                <a:lnTo>
                  <a:pt x="1077227" y="1247316"/>
                </a:lnTo>
                <a:lnTo>
                  <a:pt x="0" y="12473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1902003" y="4160966"/>
            <a:ext cx="1361742" cy="1052255"/>
          </a:xfrm>
          <a:custGeom>
            <a:avLst/>
            <a:gdLst/>
            <a:ahLst/>
            <a:cxnLst/>
            <a:rect l="l" t="t" r="r" b="b"/>
            <a:pathLst>
              <a:path w="1361742" h="1052255">
                <a:moveTo>
                  <a:pt x="0" y="0"/>
                </a:moveTo>
                <a:lnTo>
                  <a:pt x="1361742" y="0"/>
                </a:lnTo>
                <a:lnTo>
                  <a:pt x="1361742" y="1052255"/>
                </a:lnTo>
                <a:lnTo>
                  <a:pt x="0" y="10522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5573718" y="7940477"/>
            <a:ext cx="4693046" cy="469304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988743" y="5215502"/>
            <a:ext cx="5188264" cy="338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48" dirty="0">
                <a:solidFill>
                  <a:srgbClr val="004AAD"/>
                </a:solidFill>
                <a:latin typeface="Arial Bold"/>
              </a:rPr>
              <a:t>A equipe coloca em prática a divisão dos membros e constrói as funcionalidades e os arquivos do projeto. O foco é levantar e desenvolver o sistema em sua completude, atendendo aos pontos que foram identificados anteriormente com o cliente.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9294046" y="4192252"/>
            <a:ext cx="0" cy="4410340"/>
          </a:xfrm>
          <a:prstGeom prst="line">
            <a:avLst/>
          </a:prstGeom>
          <a:ln w="38100" cap="flat">
            <a:solidFill>
              <a:srgbClr val="145D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344390" y="5810689"/>
            <a:ext cx="7725641" cy="212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dirty="0">
                <a:solidFill>
                  <a:srgbClr val="004AAD"/>
                </a:solidFill>
                <a:latin typeface="Arial Bold"/>
              </a:rPr>
              <a:t>Essa aqui é a etapa da mão na massa! Na fase de implementação, o software é de fato codificado em linguagem de programação. Assim, essa etapa, em geral, é a mais demorada e complexa em nível técnico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283153"/>
            <a:ext cx="9802187" cy="7546156"/>
            <a:chOff x="0" y="0"/>
            <a:chExt cx="2744830" cy="2113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4830" cy="2113092"/>
            </a:xfrm>
            <a:custGeom>
              <a:avLst/>
              <a:gdLst/>
              <a:ahLst/>
              <a:cxnLst/>
              <a:rect l="l" t="t" r="r" b="b"/>
              <a:pathLst>
                <a:path w="2744830" h="2113092">
                  <a:moveTo>
                    <a:pt x="0" y="0"/>
                  </a:moveTo>
                  <a:lnTo>
                    <a:pt x="2744830" y="0"/>
                  </a:lnTo>
                  <a:lnTo>
                    <a:pt x="2744830" y="2113092"/>
                  </a:lnTo>
                  <a:lnTo>
                    <a:pt x="0" y="2113092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4830" cy="2151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8829309"/>
            <a:ext cx="9802187" cy="471584"/>
            <a:chOff x="0" y="0"/>
            <a:chExt cx="2744830" cy="1320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4830" cy="132054"/>
            </a:xfrm>
            <a:custGeom>
              <a:avLst/>
              <a:gdLst/>
              <a:ahLst/>
              <a:cxnLst/>
              <a:rect l="l" t="t" r="r" b="b"/>
              <a:pathLst>
                <a:path w="2744830" h="132054">
                  <a:moveTo>
                    <a:pt x="0" y="0"/>
                  </a:moveTo>
                  <a:lnTo>
                    <a:pt x="2744830" y="0"/>
                  </a:lnTo>
                  <a:lnTo>
                    <a:pt x="2744830" y="132054"/>
                  </a:lnTo>
                  <a:lnTo>
                    <a:pt x="0" y="132054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44830" cy="170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39037" y="5319364"/>
            <a:ext cx="7523780" cy="752378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flipH="1">
            <a:off x="12871064" y="2811285"/>
            <a:ext cx="5059726" cy="5320936"/>
          </a:xfrm>
          <a:custGeom>
            <a:avLst/>
            <a:gdLst/>
            <a:ahLst/>
            <a:cxnLst/>
            <a:rect l="l" t="t" r="r" b="b"/>
            <a:pathLst>
              <a:path w="5059726" h="5320936">
                <a:moveTo>
                  <a:pt x="5059726" y="0"/>
                </a:moveTo>
                <a:lnTo>
                  <a:pt x="0" y="0"/>
                </a:lnTo>
                <a:lnTo>
                  <a:pt x="0" y="5320936"/>
                </a:lnTo>
                <a:lnTo>
                  <a:pt x="5059726" y="5320936"/>
                </a:lnTo>
                <a:lnTo>
                  <a:pt x="50597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00267" y="1286043"/>
            <a:ext cx="5471347" cy="1360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15"/>
              </a:lnSpc>
              <a:spcBef>
                <a:spcPct val="0"/>
              </a:spcBef>
            </a:pPr>
            <a:r>
              <a:rPr lang="en-US" sz="7939">
                <a:solidFill>
                  <a:srgbClr val="FDFDFD"/>
                </a:solidFill>
                <a:latin typeface="Open Sans Extra Bold"/>
              </a:rPr>
              <a:t>TESTES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10778" y="3342072"/>
            <a:ext cx="8438031" cy="471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9"/>
              </a:lnSpc>
              <a:spcBef>
                <a:spcPct val="0"/>
              </a:spcBef>
            </a:pPr>
            <a:r>
              <a:rPr lang="en-US" sz="2977" spc="-59" dirty="0">
                <a:solidFill>
                  <a:srgbClr val="FDFDFD"/>
                </a:solidFill>
                <a:latin typeface="Poppins Bold"/>
              </a:rPr>
              <a:t>Esta é a penúltima etapa do processo, </a:t>
            </a:r>
            <a:r>
              <a:rPr lang="en-US" sz="2977" spc="-59" dirty="0" err="1">
                <a:solidFill>
                  <a:srgbClr val="FDFDFD"/>
                </a:solidFill>
                <a:latin typeface="Poppins Bold"/>
              </a:rPr>
              <a:t>sendo</a:t>
            </a:r>
            <a:r>
              <a:rPr lang="en-US" sz="2977" spc="-59" dirty="0">
                <a:solidFill>
                  <a:srgbClr val="FDFDFD"/>
                </a:solidFill>
                <a:latin typeface="Poppins Bold"/>
              </a:rPr>
              <a:t> uma etapa específica para garantir a consistência do sistema com a implementação dos testes. Nesse momento, o sistema é executado com combinações diversas para assegurar sua robustez e encontrar erros, permitindo sua correção, além de confirmar os requisitos iniciais dos clientes.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53698" y="-3930872"/>
            <a:ext cx="6690218" cy="66902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673874" y="229414"/>
            <a:ext cx="6614126" cy="11191589"/>
            <a:chOff x="0" y="0"/>
            <a:chExt cx="586923" cy="9931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6923" cy="993118"/>
            </a:xfrm>
            <a:custGeom>
              <a:avLst/>
              <a:gdLst/>
              <a:ahLst/>
              <a:cxnLst/>
              <a:rect l="l" t="t" r="r" b="b"/>
              <a:pathLst>
                <a:path w="586923" h="993118">
                  <a:moveTo>
                    <a:pt x="195747" y="19070"/>
                  </a:moveTo>
                  <a:cubicBezTo>
                    <a:pt x="225740" y="7556"/>
                    <a:pt x="260045" y="0"/>
                    <a:pt x="293620" y="0"/>
                  </a:cubicBezTo>
                  <a:cubicBezTo>
                    <a:pt x="327195" y="0"/>
                    <a:pt x="359503" y="6476"/>
                    <a:pt x="389276" y="17990"/>
                  </a:cubicBezTo>
                  <a:cubicBezTo>
                    <a:pt x="389910" y="18350"/>
                    <a:pt x="390543" y="18350"/>
                    <a:pt x="391177" y="18710"/>
                  </a:cubicBezTo>
                  <a:cubicBezTo>
                    <a:pt x="502987" y="64765"/>
                    <a:pt x="585340" y="186379"/>
                    <a:pt x="586923" y="332507"/>
                  </a:cubicBezTo>
                  <a:lnTo>
                    <a:pt x="586923" y="993118"/>
                  </a:lnTo>
                  <a:lnTo>
                    <a:pt x="0" y="993118"/>
                  </a:lnTo>
                  <a:lnTo>
                    <a:pt x="0" y="332998"/>
                  </a:lnTo>
                  <a:cubicBezTo>
                    <a:pt x="1584" y="185660"/>
                    <a:pt x="82670" y="64045"/>
                    <a:pt x="195747" y="1907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8900"/>
              <a:ext cx="586923" cy="904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786984" y="5677946"/>
            <a:ext cx="4387906" cy="4387906"/>
          </a:xfrm>
          <a:custGeom>
            <a:avLst/>
            <a:gdLst/>
            <a:ahLst/>
            <a:cxnLst/>
            <a:rect l="l" t="t" r="r" b="b"/>
            <a:pathLst>
              <a:path w="4387906" h="4387906">
                <a:moveTo>
                  <a:pt x="0" y="0"/>
                </a:moveTo>
                <a:lnTo>
                  <a:pt x="4387906" y="0"/>
                </a:lnTo>
                <a:lnTo>
                  <a:pt x="4387906" y="4387906"/>
                </a:lnTo>
                <a:lnTo>
                  <a:pt x="0" y="4387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900845" y="1563146"/>
            <a:ext cx="4160184" cy="4114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613574" y="1439321"/>
            <a:ext cx="7763430" cy="112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051D40"/>
                </a:solidFill>
                <a:latin typeface="Open Sans Extra Bold"/>
              </a:rPr>
              <a:t>IMPLANTAÇÃO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5120" y="3638576"/>
            <a:ext cx="10871884" cy="561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16"/>
              </a:lnSpc>
            </a:pPr>
            <a:r>
              <a:rPr lang="en-US" sz="3583" dirty="0">
                <a:solidFill>
                  <a:srgbClr val="004AAD"/>
                </a:solidFill>
                <a:latin typeface="Open Sans Extra Bold"/>
              </a:rPr>
              <a:t>Com tudo pronto, na última fase o sistema é implantado de fato, retornando ao cliente para que este avalie o resultado final. Assim, caso encontrado erros que passaram despercebidos na fase 4, ou possibilidades de melhorias, há a manutenção do software (que pode inclusive ser realizada novamente pelo método cascata).</a:t>
            </a:r>
          </a:p>
          <a:p>
            <a:pPr>
              <a:lnSpc>
                <a:spcPts val="4842"/>
              </a:lnSpc>
              <a:spcBef>
                <a:spcPct val="0"/>
              </a:spcBef>
            </a:pPr>
            <a:endParaRPr lang="en-US" sz="3583" dirty="0">
              <a:solidFill>
                <a:srgbClr val="004AAD"/>
              </a:solidFill>
              <a:latin typeface="Open Sans Extra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10696804" y="-178347"/>
            <a:ext cx="10198918" cy="10176144"/>
            <a:chOff x="0" y="0"/>
            <a:chExt cx="1918173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8173" cy="1913890"/>
            </a:xfrm>
            <a:custGeom>
              <a:avLst/>
              <a:gdLst/>
              <a:ahLst/>
              <a:cxnLst/>
              <a:rect l="l" t="t" r="r" b="b"/>
              <a:pathLst>
                <a:path w="1918173" h="1913890">
                  <a:moveTo>
                    <a:pt x="0" y="0"/>
                  </a:moveTo>
                  <a:lnTo>
                    <a:pt x="1918173" y="0"/>
                  </a:lnTo>
                  <a:lnTo>
                    <a:pt x="1918173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646583" y="-335821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118782" y="7245782"/>
            <a:ext cx="8867941" cy="6164339"/>
            <a:chOff x="0" y="0"/>
            <a:chExt cx="2753298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53298" cy="1913890"/>
            </a:xfrm>
            <a:custGeom>
              <a:avLst/>
              <a:gdLst/>
              <a:ahLst/>
              <a:cxnLst/>
              <a:rect l="l" t="t" r="r" b="b"/>
              <a:pathLst>
                <a:path w="2753298" h="1913890">
                  <a:moveTo>
                    <a:pt x="0" y="0"/>
                  </a:moveTo>
                  <a:lnTo>
                    <a:pt x="0" y="1913890"/>
                  </a:lnTo>
                  <a:lnTo>
                    <a:pt x="2753298" y="1913890"/>
                  </a:lnTo>
                  <a:lnTo>
                    <a:pt x="2753298" y="0"/>
                  </a:lnTo>
                  <a:lnTo>
                    <a:pt x="0" y="0"/>
                  </a:lnTo>
                  <a:close/>
                  <a:moveTo>
                    <a:pt x="2692338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2692338" y="59690"/>
                  </a:lnTo>
                  <a:lnTo>
                    <a:pt x="2692338" y="185293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771351" y="-886977"/>
            <a:ext cx="6164339" cy="6969574"/>
            <a:chOff x="0" y="0"/>
            <a:chExt cx="1913890" cy="21638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2163898"/>
            </a:xfrm>
            <a:custGeom>
              <a:avLst/>
              <a:gdLst/>
              <a:ahLst/>
              <a:cxnLst/>
              <a:rect l="l" t="t" r="r" b="b"/>
              <a:pathLst>
                <a:path w="1913890" h="2163898">
                  <a:moveTo>
                    <a:pt x="0" y="0"/>
                  </a:moveTo>
                  <a:lnTo>
                    <a:pt x="0" y="2163898"/>
                  </a:lnTo>
                  <a:lnTo>
                    <a:pt x="1913890" y="2163898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2102938"/>
                  </a:moveTo>
                  <a:lnTo>
                    <a:pt x="59690" y="2102938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2102938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GRUPO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554884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2428018" y="3185745"/>
            <a:ext cx="7343333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 spc="300">
                <a:solidFill>
                  <a:srgbClr val="2B4A9D"/>
                </a:solidFill>
                <a:latin typeface="Arial Bold"/>
              </a:rPr>
              <a:t>Bianca Pereira Cunha</a:t>
            </a: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568482" y="3884156"/>
            <a:ext cx="829509" cy="1966473"/>
            <a:chOff x="0" y="0"/>
            <a:chExt cx="2354580" cy="55818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2428018" y="4515017"/>
            <a:ext cx="7343333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 spc="300">
                <a:solidFill>
                  <a:srgbClr val="2B4A9D"/>
                </a:solidFill>
                <a:latin typeface="Arial Bold"/>
              </a:rPr>
              <a:t>Bruno de Abreu Santos</a:t>
            </a:r>
          </a:p>
        </p:txBody>
      </p:sp>
      <p:grpSp>
        <p:nvGrpSpPr>
          <p:cNvPr id="21" name="Group 21"/>
          <p:cNvGrpSpPr/>
          <p:nvPr/>
        </p:nvGrpSpPr>
        <p:grpSpPr>
          <a:xfrm rot="-5400000">
            <a:off x="568482" y="5213428"/>
            <a:ext cx="829509" cy="1966473"/>
            <a:chOff x="0" y="0"/>
            <a:chExt cx="2354580" cy="558188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2428018" y="5844290"/>
            <a:ext cx="7343333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 spc="300">
                <a:solidFill>
                  <a:srgbClr val="2B4A9D"/>
                </a:solidFill>
                <a:latin typeface="Arial Bold"/>
              </a:rPr>
              <a:t>Daniel Ferreira Ramos</a:t>
            </a:r>
          </a:p>
        </p:txBody>
      </p:sp>
      <p:grpSp>
        <p:nvGrpSpPr>
          <p:cNvPr id="24" name="Group 24"/>
          <p:cNvGrpSpPr/>
          <p:nvPr/>
        </p:nvGrpSpPr>
        <p:grpSpPr>
          <a:xfrm rot="-5400000">
            <a:off x="568482" y="6542700"/>
            <a:ext cx="829509" cy="1966473"/>
            <a:chOff x="0" y="0"/>
            <a:chExt cx="2354580" cy="558188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2428018" y="7173562"/>
            <a:ext cx="7343333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 spc="300">
                <a:solidFill>
                  <a:srgbClr val="2B4A9D"/>
                </a:solidFill>
                <a:latin typeface="Arial Bold"/>
              </a:rPr>
              <a:t>Daphne Shayel Gini Benitez</a:t>
            </a:r>
          </a:p>
        </p:txBody>
      </p:sp>
      <p:grpSp>
        <p:nvGrpSpPr>
          <p:cNvPr id="27" name="Group 27"/>
          <p:cNvGrpSpPr/>
          <p:nvPr/>
        </p:nvGrpSpPr>
        <p:grpSpPr>
          <a:xfrm rot="-5400000">
            <a:off x="568482" y="7860309"/>
            <a:ext cx="829509" cy="1966473"/>
            <a:chOff x="0" y="0"/>
            <a:chExt cx="2354580" cy="558188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2428018" y="8507061"/>
            <a:ext cx="7343333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 spc="300">
                <a:solidFill>
                  <a:srgbClr val="2B4A9D"/>
                </a:solidFill>
                <a:latin typeface="Arial Bold"/>
              </a:rPr>
              <a:t>Enzo Catarino Leite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02427" y="3924358"/>
            <a:ext cx="6085573" cy="1457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5200" spc="260">
                <a:solidFill>
                  <a:srgbClr val="FFFFFF"/>
                </a:solidFill>
                <a:latin typeface="Poppins Ultra-Bold"/>
              </a:rPr>
              <a:t>OBRIGADO PELA ATENÇÃO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-1073209" y="4701123"/>
            <a:ext cx="3740209" cy="482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0"/>
              </a:lnSpc>
            </a:pPr>
            <a:r>
              <a:rPr lang="en-US" sz="3514" spc="175" dirty="0">
                <a:solidFill>
                  <a:srgbClr val="FFFFFF"/>
                </a:solidFill>
                <a:latin typeface="Poppins Ultra-Bold"/>
              </a:rPr>
              <a:t>LÍDER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88" b="-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103" y="3525422"/>
            <a:ext cx="18187794" cy="292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53"/>
              </a:lnSpc>
            </a:pPr>
            <a:r>
              <a:rPr lang="en-US" sz="17109">
                <a:solidFill>
                  <a:srgbClr val="FFFFFF"/>
                </a:solidFill>
                <a:latin typeface="Garet Bold"/>
              </a:rPr>
              <a:t>PERGUNTAS?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664971" y="-782737"/>
            <a:ext cx="3744615" cy="374461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5020" y="7356528"/>
            <a:ext cx="2350854" cy="235085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30447" y="8275648"/>
            <a:ext cx="4231886" cy="759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0"/>
              </a:lnSpc>
            </a:pPr>
            <a:endParaRPr lang="en-US" sz="4364" dirty="0">
              <a:solidFill>
                <a:srgbClr val="FFFFFF"/>
              </a:solidFill>
              <a:latin typeface="Open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6D2006-E931-4DF3-9B6C-7A5569FAF5A5}"/>
</file>

<file path=customXml/itemProps2.xml><?xml version="1.0" encoding="utf-8"?>
<ds:datastoreItem xmlns:ds="http://schemas.openxmlformats.org/officeDocument/2006/customXml" ds:itemID="{98AD51B2-B67B-4423-940E-AF3DAAB3C688}"/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418</Words>
  <Application>Microsoft Office PowerPoint</Application>
  <PresentationFormat>Personalizar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7" baseType="lpstr">
      <vt:lpstr>Roboto Condensed Bold</vt:lpstr>
      <vt:lpstr>Archive</vt:lpstr>
      <vt:lpstr>Poppins Bold</vt:lpstr>
      <vt:lpstr>Open Sans Bold</vt:lpstr>
      <vt:lpstr>Lato Bold</vt:lpstr>
      <vt:lpstr>Open Sans Extra Bold</vt:lpstr>
      <vt:lpstr>Arial</vt:lpstr>
      <vt:lpstr>Garet Bold</vt:lpstr>
      <vt:lpstr>League Spartan Bold</vt:lpstr>
      <vt:lpstr>Calibri</vt:lpstr>
      <vt:lpstr>Poppins</vt:lpstr>
      <vt:lpstr>Arial Bold</vt:lpstr>
      <vt:lpstr>Poppins Ultra-Bold</vt:lpstr>
      <vt:lpstr>Poppins Heavy</vt:lpstr>
      <vt:lpstr>Lato Heavy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</dc:title>
  <dc:creator>Bruno de Abreu Santos</dc:creator>
  <cp:lastModifiedBy>Bruno de Abreu Santos</cp:lastModifiedBy>
  <cp:revision>3</cp:revision>
  <dcterms:created xsi:type="dcterms:W3CDTF">2006-08-16T00:00:00Z</dcterms:created>
  <dcterms:modified xsi:type="dcterms:W3CDTF">2024-03-27T02:40:18Z</dcterms:modified>
  <dc:identifier>DAGAdnMkim8</dc:identifier>
</cp:coreProperties>
</file>