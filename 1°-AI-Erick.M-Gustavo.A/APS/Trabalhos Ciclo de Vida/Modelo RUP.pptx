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73" r:id="rId12"/>
    <p:sldId id="270" r:id="rId13"/>
    <p:sldId id="274" r:id="rId14"/>
    <p:sldId id="269" r:id="rId15"/>
    <p:sldId id="271" r:id="rId16"/>
    <p:sldId id="275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BF600A-BB85-F7FE-C5C6-C07A93EBAF9E}" v="1392" dt="2024-03-24T02:22:43.277"/>
    <p1510:client id="{9C6240A0-2033-7312-651A-F65827E19F2F}" v="3" dt="2024-03-25T23:52:33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25.03.2024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n.ufpe.br/~gta/rup-vc/core.base_rup/customcategories/references_56F06DFD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3887" y="1826853"/>
            <a:ext cx="10739886" cy="1697487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rial"/>
                <a:cs typeface="Arial"/>
              </a:rPr>
              <a:t>MODELO DE CICLO DE VIDA ASSOCIADO AO RPU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94604" y="4766604"/>
            <a:ext cx="9144000" cy="139696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sz="2800" dirty="0">
                <a:latin typeface="Arial"/>
                <a:cs typeface="Arial"/>
              </a:rPr>
              <a:t>São Paulo </a:t>
            </a:r>
          </a:p>
          <a:p>
            <a:r>
              <a:rPr lang="de-DE" sz="2800" dirty="0">
                <a:latin typeface="Arial"/>
                <a:cs typeface="Arial"/>
              </a:rPr>
              <a:t>2024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53DB5F-A6E8-1496-FFEF-5B74A71E0158}"/>
              </a:ext>
            </a:extLst>
          </p:cNvPr>
          <p:cNvSpPr txBox="1"/>
          <p:nvPr/>
        </p:nvSpPr>
        <p:spPr>
          <a:xfrm>
            <a:off x="419681" y="124945"/>
            <a:ext cx="1155651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latin typeface="Arial"/>
                <a:cs typeface="Arial"/>
              </a:rPr>
              <a:t>                                                           CENTRO PAULA SOUZA                                   </a:t>
            </a:r>
          </a:p>
          <a:p>
            <a:r>
              <a:rPr lang="pt-BR" sz="2000" dirty="0">
                <a:latin typeface="Arial"/>
                <a:cs typeface="Arial"/>
              </a:rPr>
              <a:t>                        ESCOLA TÉCNICA ESTADUAL PROFESSOR HORÁCIO AUGUSTO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8EB8FD-D86C-6BE6-B643-C6546A04681E}"/>
              </a:ext>
            </a:extLst>
          </p:cNvPr>
          <p:cNvSpPr txBox="1"/>
          <p:nvPr/>
        </p:nvSpPr>
        <p:spPr>
          <a:xfrm>
            <a:off x="3052108" y="3529299"/>
            <a:ext cx="62656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ea typeface="+mn-lt"/>
                <a:cs typeface="+mn-lt"/>
              </a:rPr>
              <a:t>Trabalho solicitado pela disciplina de Análise e Projeto de Sistemas, pelo Professores Adriano Milanez e Lucas Azevedo, como requisito parcial de obtenção de menção bimestral.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63A4F-C0E7-3037-9FAF-12B19860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4" y="-138083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Arial"/>
                <a:cs typeface="Arial"/>
              </a:rPr>
              <a:t>As fases e os marcos de um projeto: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DFDCD9-C1DC-EBAE-76D1-E12B4933B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64" y="14086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latin typeface="Arial"/>
                <a:ea typeface="+mn-lt"/>
                <a:cs typeface="Arial"/>
              </a:rPr>
              <a:t>Do ponto de vista do gerenciamento, o ciclo de vida de software do </a:t>
            </a:r>
            <a:r>
              <a:rPr lang="pt-BR" dirty="0" err="1">
                <a:latin typeface="Arial"/>
                <a:ea typeface="+mn-lt"/>
                <a:cs typeface="Arial"/>
              </a:rPr>
              <a:t>Rational</a:t>
            </a:r>
            <a:r>
              <a:rPr lang="pt-BR" dirty="0">
                <a:latin typeface="Arial"/>
                <a:ea typeface="+mn-lt"/>
                <a:cs typeface="Arial"/>
              </a:rPr>
              <a:t> </a:t>
            </a:r>
            <a:r>
              <a:rPr lang="pt-BR" dirty="0" err="1">
                <a:latin typeface="Arial"/>
                <a:ea typeface="+mn-lt"/>
                <a:cs typeface="Arial"/>
              </a:rPr>
              <a:t>Unified</a:t>
            </a:r>
            <a:r>
              <a:rPr lang="pt-BR" dirty="0">
                <a:latin typeface="Arial"/>
                <a:ea typeface="+mn-lt"/>
                <a:cs typeface="Arial"/>
              </a:rPr>
              <a:t> </a:t>
            </a:r>
            <a:r>
              <a:rPr lang="pt-BR" dirty="0" err="1">
                <a:latin typeface="Arial"/>
                <a:ea typeface="+mn-lt"/>
                <a:cs typeface="Arial"/>
              </a:rPr>
              <a:t>Process</a:t>
            </a:r>
            <a:r>
              <a:rPr lang="pt-BR" dirty="0">
                <a:latin typeface="Arial"/>
                <a:ea typeface="+mn-lt"/>
                <a:cs typeface="Arial"/>
              </a:rPr>
              <a:t> (RUP) é dividido em quatro fases </a:t>
            </a:r>
            <a:r>
              <a:rPr lang="pt-BR" dirty="0" err="1">
                <a:latin typeface="Arial"/>
                <a:ea typeface="+mn-lt"/>
                <a:cs typeface="Arial"/>
              </a:rPr>
              <a:t>seqüenciais</a:t>
            </a:r>
            <a:r>
              <a:rPr lang="pt-BR" dirty="0">
                <a:latin typeface="Arial"/>
                <a:ea typeface="+mn-lt"/>
                <a:cs typeface="Arial"/>
              </a:rPr>
              <a:t>, cada uma concluída por um marco principal, ou seja, cada fase é basicamente um intervalo de tempo entre dois marcos principais. À cada final de fase, uma avaliação é executada para determinar se os objetivos da fase foram alcançados. Uma avaliação satisfatória permite que o projeto passe para a próxima fase.</a:t>
            </a:r>
            <a:endParaRPr lang="pt-BR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77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5EEF0-170C-DD8D-ADCA-32689BEC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9" y="-195592"/>
            <a:ext cx="10515600" cy="1325563"/>
          </a:xfrm>
        </p:spPr>
        <p:txBody>
          <a:bodyPr/>
          <a:lstStyle/>
          <a:p>
            <a:r>
              <a:rPr lang="pt-BR">
                <a:latin typeface="Arial"/>
                <a:cs typeface="Arial"/>
              </a:rPr>
              <a:t>Fases de planejamento</a:t>
            </a:r>
            <a:endParaRPr lang="pt-BR" dirty="0">
              <a:latin typeface="Arial"/>
              <a:cs typeface="Arial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BF82B-3A38-B78B-83D6-67406282B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19" y="1494946"/>
            <a:ext cx="11133825" cy="50414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pt-BR">
                <a:latin typeface="Arial"/>
                <a:ea typeface="+mn-lt"/>
                <a:cs typeface="Arial"/>
              </a:rPr>
              <a:t>As</a:t>
            </a:r>
            <a:r>
              <a:rPr lang="pt-BR" dirty="0">
                <a:latin typeface="Arial"/>
                <a:ea typeface="+mn-lt"/>
                <a:cs typeface="Arial"/>
              </a:rPr>
              <a:t> fases não são idênticas em termos de programação e esforço. Embora isso varie muito de acordo com o projeto, um ciclo de desenvolvimento inicial típico para um projeto de médio tamanho deve prever a seguinte distribuição de esforço e programação: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  </a:t>
            </a:r>
            <a:r>
              <a:rPr lang="pt-BR">
                <a:latin typeface="Arial"/>
                <a:ea typeface="+mn-lt"/>
                <a:cs typeface="Arial"/>
              </a:rPr>
              <a:t>Iniciação</a:t>
            </a:r>
            <a:r>
              <a:rPr lang="pt-BR" dirty="0">
                <a:latin typeface="Arial"/>
                <a:ea typeface="+mn-lt"/>
                <a:cs typeface="Arial"/>
              </a:rPr>
              <a:t> elaboração construção </a:t>
            </a:r>
            <a:r>
              <a:rPr lang="pt-BR">
                <a:latin typeface="Arial"/>
                <a:ea typeface="+mn-lt"/>
                <a:cs typeface="Arial"/>
              </a:rPr>
              <a:t>transição</a:t>
            </a:r>
            <a:endParaRPr lang="pt-BR">
              <a:latin typeface="Arial"/>
              <a:cs typeface="Arial"/>
            </a:endParaRPr>
          </a:p>
          <a:p>
            <a:r>
              <a:rPr lang="pt-BR">
                <a:latin typeface="Arial"/>
                <a:ea typeface="+mn-lt"/>
                <a:cs typeface="Arial"/>
              </a:rPr>
              <a:t>Esforço</a:t>
            </a:r>
            <a:r>
              <a:rPr lang="pt-BR" dirty="0">
                <a:latin typeface="Arial"/>
                <a:ea typeface="+mn-lt"/>
                <a:cs typeface="Arial"/>
              </a:rPr>
              <a:t> ~5 % 20 % 65 % 10</a:t>
            </a:r>
            <a:r>
              <a:rPr lang="pt-BR">
                <a:latin typeface="Arial"/>
                <a:ea typeface="+mn-lt"/>
                <a:cs typeface="Arial"/>
              </a:rPr>
              <a:t>%</a:t>
            </a:r>
            <a:endParaRPr lang="pt-BR">
              <a:latin typeface="Arial"/>
              <a:cs typeface="Arial"/>
            </a:endParaRPr>
          </a:p>
          <a:p>
            <a:r>
              <a:rPr lang="pt-BR">
                <a:latin typeface="Arial"/>
                <a:ea typeface="+mn-lt"/>
                <a:cs typeface="Arial"/>
              </a:rPr>
              <a:t>Cronograma</a:t>
            </a:r>
            <a:r>
              <a:rPr lang="pt-BR" dirty="0">
                <a:latin typeface="Arial"/>
                <a:ea typeface="+mn-lt"/>
                <a:cs typeface="Arial"/>
              </a:rPr>
              <a:t> 10 % 30 % 50 % 10</a:t>
            </a:r>
            <a:r>
              <a:rPr lang="pt-BR">
                <a:latin typeface="Arial"/>
                <a:ea typeface="+mn-lt"/>
                <a:cs typeface="Arial"/>
              </a:rPr>
              <a:t>%</a:t>
            </a:r>
            <a:endParaRPr lang="pt-BR">
              <a:latin typeface="Arial"/>
              <a:cs typeface="Arial"/>
            </a:endParaRPr>
          </a:p>
          <a:p>
            <a:r>
              <a:rPr lang="pt-BR">
                <a:latin typeface="Arial"/>
                <a:ea typeface="+mn-lt"/>
                <a:cs typeface="Arial"/>
              </a:rPr>
              <a:t>Esta</a:t>
            </a:r>
            <a:r>
              <a:rPr lang="pt-BR" dirty="0">
                <a:latin typeface="Arial"/>
                <a:ea typeface="+mn-lt"/>
                <a:cs typeface="Arial"/>
              </a:rPr>
              <a:t> distribuição pode variar. Por exemplo, ferramentas que gerem código e etapas de teste podem diminuir a fase de construção. Além disso, para um ciclo de evolução, as fases de iniciação e de elaboração seriam consideravelmente menores, já que uma visão e arquitetura básicas já estão </a:t>
            </a:r>
            <a:r>
              <a:rPr lang="pt-BR">
                <a:latin typeface="Arial"/>
                <a:ea typeface="+mn-lt"/>
                <a:cs typeface="Arial"/>
              </a:rPr>
              <a:t>estabelecidas</a:t>
            </a:r>
            <a:endParaRPr lang="pt-BR" sz="2600">
              <a:latin typeface="Arial"/>
              <a:ea typeface="+mn-lt"/>
              <a:cs typeface="Arial"/>
            </a:endParaRPr>
          </a:p>
          <a:p>
            <a:r>
              <a:rPr lang="pt-BR" sz="2600">
                <a:latin typeface="Arial"/>
                <a:ea typeface="+mn-lt"/>
                <a:cs typeface="Arial"/>
              </a:rPr>
              <a:t>Que</a:t>
            </a:r>
            <a:r>
              <a:rPr lang="pt-BR" sz="2600" dirty="0">
                <a:latin typeface="Arial"/>
                <a:ea typeface="+mn-lt"/>
                <a:cs typeface="Arial"/>
              </a:rPr>
              <a:t> pode ser descrito graficamente como:</a:t>
            </a:r>
          </a:p>
          <a:p>
            <a:endParaRPr lang="pt-BR" sz="2600" dirty="0">
              <a:latin typeface="Arial"/>
              <a:ea typeface="+mn-lt"/>
              <a:cs typeface="Arial"/>
            </a:endParaRPr>
          </a:p>
          <a:p>
            <a:endParaRPr lang="pt-BR" dirty="0">
              <a:latin typeface="Arial"/>
              <a:cs typeface="Arial"/>
            </a:endParaRPr>
          </a:p>
          <a:p>
            <a:endParaRPr lang="pt-BR" dirty="0">
              <a:latin typeface="Arial"/>
              <a:cs typeface="Arial"/>
            </a:endParaRPr>
          </a:p>
          <a:p>
            <a:endParaRPr lang="pt-BR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938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7A5F2-5E59-A1AD-F464-562024AB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3" y="-66196"/>
            <a:ext cx="10515600" cy="1325563"/>
          </a:xfrm>
        </p:spPr>
        <p:txBody>
          <a:bodyPr/>
          <a:lstStyle/>
          <a:p>
            <a:r>
              <a:rPr lang="pt-BR" dirty="0">
                <a:latin typeface="Arial"/>
                <a:cs typeface="Arial"/>
              </a:rPr>
              <a:t>Fases de planejamento: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07948-FE38-55D9-BA50-2FA87CFF9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400" dirty="0">
              <a:latin typeface="Arial"/>
              <a:cs typeface="Arial"/>
            </a:endParaRPr>
          </a:p>
          <a:p>
            <a:endParaRPr lang="pt-BR" dirty="0">
              <a:latin typeface="Aptos" panose="020B0004020202020204"/>
              <a:cs typeface="Arial"/>
            </a:endParaRPr>
          </a:p>
        </p:txBody>
      </p:sp>
      <p:pic>
        <p:nvPicPr>
          <p:cNvPr id="4" name="Imagem 3" descr="Gráfico, Histograma&#10;&#10;Descrição gerada automaticamente">
            <a:extLst>
              <a:ext uri="{FF2B5EF4-FFF2-40B4-BE49-F238E27FC236}">
                <a16:creationId xmlns:a16="http://schemas.microsoft.com/office/drawing/2014/main" id="{72952B8B-0816-E739-4B6E-48F03655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79" y="2254731"/>
            <a:ext cx="10911335" cy="405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9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E7772-CCC9-FC95-C5D0-76CE9F20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09" y="-12370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Arial"/>
                <a:cs typeface="Arial"/>
              </a:rPr>
              <a:t>Estratégias de planejamento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D5C272-D6AF-1A40-7FE5-381E31E8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09" y="1308040"/>
            <a:ext cx="10515600" cy="47539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600" dirty="0">
                <a:latin typeface="Arial"/>
                <a:cs typeface="Arial"/>
              </a:rPr>
              <a:t>Padrões de ciclo de vida:</a:t>
            </a:r>
          </a:p>
          <a:p>
            <a:r>
              <a:rPr lang="pt-BR" sz="3600" dirty="0">
                <a:latin typeface="Arial"/>
                <a:cs typeface="Arial"/>
              </a:rPr>
              <a:t>Incremental</a:t>
            </a:r>
          </a:p>
          <a:p>
            <a:r>
              <a:rPr lang="pt-BR" sz="3600" dirty="0">
                <a:latin typeface="Arial"/>
                <a:cs typeface="Arial"/>
              </a:rPr>
              <a:t>Evolutivo </a:t>
            </a:r>
          </a:p>
          <a:p>
            <a:r>
              <a:rPr lang="pt-BR" sz="3600" dirty="0">
                <a:latin typeface="Arial"/>
                <a:cs typeface="Arial"/>
              </a:rPr>
              <a:t>Entrega incremental </a:t>
            </a:r>
          </a:p>
          <a:p>
            <a:r>
              <a:rPr lang="pt-BR" sz="3600" dirty="0">
                <a:latin typeface="Arial"/>
                <a:cs typeface="Arial"/>
              </a:rPr>
              <a:t>Design grande </a:t>
            </a:r>
          </a:p>
          <a:p>
            <a:r>
              <a:rPr lang="pt-BR" sz="3600" dirty="0">
                <a:latin typeface="Arial"/>
                <a:cs typeface="Arial"/>
              </a:rPr>
              <a:t>Estratégias híbridas</a:t>
            </a:r>
          </a:p>
          <a:p>
            <a:endParaRPr lang="pt-BR" sz="3600" dirty="0">
              <a:latin typeface="Arial"/>
              <a:cs typeface="Arial"/>
            </a:endParaRPr>
          </a:p>
          <a:p>
            <a:endParaRPr lang="pt-BR"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D779A-134A-AD1A-1FE2-3C7DF377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9" y="-109328"/>
            <a:ext cx="10515600" cy="1325563"/>
          </a:xfrm>
        </p:spPr>
        <p:txBody>
          <a:bodyPr/>
          <a:lstStyle/>
          <a:p>
            <a:r>
              <a:rPr lang="pt-BR" dirty="0">
                <a:latin typeface="Arial"/>
                <a:cs typeface="Arial"/>
              </a:rPr>
              <a:t>Incremental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72D3E-D508-1F8F-F90C-98EB674AC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3" y="905476"/>
            <a:ext cx="11895823" cy="594722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pt-BR" dirty="0">
                <a:latin typeface="Arial"/>
                <a:ea typeface="+mn-lt"/>
                <a:cs typeface="Arial"/>
              </a:rPr>
              <a:t>"A estratégia incremental determina as necessidades do usuário e define os requisitos do sistema e, em seguida, desempenha o restante do desenvolvimento em uma </a:t>
            </a:r>
            <a:r>
              <a:rPr lang="pt-BR" dirty="0" err="1">
                <a:latin typeface="Arial"/>
                <a:ea typeface="+mn-lt"/>
                <a:cs typeface="Arial"/>
              </a:rPr>
              <a:t>seqüência</a:t>
            </a:r>
            <a:r>
              <a:rPr lang="pt-BR" dirty="0">
                <a:latin typeface="Arial"/>
                <a:ea typeface="+mn-lt"/>
                <a:cs typeface="Arial"/>
              </a:rPr>
              <a:t> de construções. A primeira construção incorpora partes dos recursos planejados, a próxima construção inclui mais recursos e assim por diante até o sistema estar completo</a:t>
            </a:r>
            <a:r>
              <a:rPr lang="pt-BR">
                <a:latin typeface="Arial"/>
                <a:ea typeface="+mn-lt"/>
                <a:cs typeface="Arial"/>
              </a:rPr>
              <a:t>".</a:t>
            </a:r>
            <a:endParaRPr lang="pt-BR">
              <a:latin typeface="Arial"/>
              <a:cs typeface="Arial"/>
            </a:endParaRPr>
          </a:p>
          <a:p>
            <a:r>
              <a:rPr lang="pt-BR">
                <a:latin typeface="Arial"/>
                <a:ea typeface="+mn-lt"/>
                <a:cs typeface="Arial"/>
              </a:rPr>
              <a:t>As</a:t>
            </a:r>
            <a:r>
              <a:rPr lang="pt-BR" dirty="0">
                <a:latin typeface="Arial"/>
                <a:ea typeface="+mn-lt"/>
                <a:cs typeface="Arial"/>
              </a:rPr>
              <a:t> seguintes iterações são características: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Uma iteração curta de Iniciação para estabelecer o escopo e a visão, e para definir o caso de negócio.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Uma única iteração de Elaboração, durante a qual os requisitos são definidos e a arquitetura estabelecida.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Várias iterações de Construção durante as quais os casos de uso são realizados e a arquitetura é aprimorada.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Várias iterações de Transição para migrar o produto para a comunidade de usuários.</a:t>
            </a:r>
            <a:endParaRPr lang="pt-BR" dirty="0">
              <a:latin typeface="Arial"/>
              <a:cs typeface="Arial"/>
            </a:endParaRPr>
          </a:p>
          <a:p>
            <a:r>
              <a:rPr lang="pt-BR">
                <a:latin typeface="Arial"/>
                <a:ea typeface="+mn-lt"/>
                <a:cs typeface="Arial"/>
              </a:rPr>
              <a:t>Diagrama</a:t>
            </a:r>
            <a:r>
              <a:rPr lang="pt-BR" dirty="0">
                <a:latin typeface="Arial"/>
                <a:ea typeface="+mn-lt"/>
                <a:cs typeface="Arial"/>
              </a:rPr>
              <a:t> descrito no texto </a:t>
            </a:r>
            <a:r>
              <a:rPr lang="pt-BR">
                <a:latin typeface="Arial"/>
                <a:ea typeface="+mn-lt"/>
                <a:cs typeface="Arial"/>
              </a:rPr>
              <a:t>associado.</a:t>
            </a:r>
            <a:endParaRPr lang="pt-BR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Essa estratégia é apropriada quando:</a:t>
            </a:r>
            <a:endParaRPr lang="pt-BR" dirty="0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O domínio do problema é familiar.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Os riscos são bem entendidos.</a:t>
            </a:r>
            <a:endParaRPr lang="pt-BR" dirty="0">
              <a:latin typeface="Arial"/>
              <a:cs typeface="Arial"/>
            </a:endParaRPr>
          </a:p>
          <a:p>
            <a:r>
              <a:rPr lang="pt-BR" dirty="0">
                <a:latin typeface="Arial"/>
                <a:ea typeface="+mn-lt"/>
                <a:cs typeface="Arial"/>
              </a:rPr>
              <a:t>A equipe do projeto é experiente.</a:t>
            </a:r>
            <a:endParaRPr lang="pt-BR" dirty="0">
              <a:latin typeface="Arial"/>
              <a:cs typeface="Arial"/>
            </a:endParaRPr>
          </a:p>
          <a:p>
            <a:endParaRPr lang="pt-BR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49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O Modelo Incremental. Surgindo como uma melhoria do Modelo em… | by Ricardo  Dias | Contexto Delimitado | Medium">
            <a:extLst>
              <a:ext uri="{FF2B5EF4-FFF2-40B4-BE49-F238E27FC236}">
                <a16:creationId xmlns:a16="http://schemas.microsoft.com/office/drawing/2014/main" id="{718EE795-93BD-D374-B0E1-451264631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477" y="-299"/>
            <a:ext cx="7200780" cy="6852997"/>
          </a:xfrm>
        </p:spPr>
      </p:pic>
    </p:spTree>
    <p:extLst>
      <p:ext uri="{BB962C8B-B14F-4D97-AF65-F5344CB8AC3E}">
        <p14:creationId xmlns:p14="http://schemas.microsoft.com/office/powerpoint/2010/main" val="381815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4ABD9-A1D9-20B6-7FEB-506C1CC45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77" y="5691"/>
            <a:ext cx="10515600" cy="1325563"/>
          </a:xfrm>
        </p:spPr>
        <p:txBody>
          <a:bodyPr/>
          <a:lstStyle/>
          <a:p>
            <a:r>
              <a:rPr lang="pt-BR" dirty="0">
                <a:latin typeface="Arial"/>
                <a:cs typeface="Arial"/>
              </a:rPr>
              <a:t>Evolutivo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8CF095-7F63-6E0D-20E1-AADE885A6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66" y="1221778"/>
            <a:ext cx="11176957" cy="537212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BR" sz="2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"A estratégia evolucionária difere da incremental ao reconhecer que o as necessidades do usuário não são completamente entendidas e todos os requisitos não podem ser definidos imediatamente, eles são refinados em cada construção sucessiva".</a:t>
            </a:r>
            <a:endParaRPr lang="pt-BR" sz="2000" b="0" i="0">
              <a:solidFill>
                <a:srgbClr val="003399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pt-BR"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  <a:r>
              <a:rPr lang="pt-BR" sz="2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seguintes iterações são características:</a:t>
            </a:r>
          </a:p>
          <a:p>
            <a:pPr>
              <a:buFont typeface=""/>
              <a:buChar char="•"/>
            </a:pPr>
            <a:r>
              <a:rPr lang="pt-BR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Uma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iteração curta de Iniciação para estabelecer o escopo e a visão, e para definir o caso de negócio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pt-BR" sz="20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Font typeface=""/>
              <a:buChar char="•"/>
            </a:pPr>
            <a:r>
              <a:rPr lang="pt-BR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Várias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iterações de Elaboração, durante as quais os requisitos são refinados em cada iteração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pt-BR" sz="20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Font typeface=""/>
              <a:buChar char="•"/>
            </a:pPr>
            <a:r>
              <a:rPr lang="pt-BR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Uma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única iteração de Construção, durante a qual os casos de uso são realizados e a arquitetura é expandida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pt-BR" sz="20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buFont typeface=""/>
              <a:buChar char="•"/>
            </a:pPr>
            <a:r>
              <a:rPr lang="pt-BR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Várias</a:t>
            </a:r>
            <a:r>
              <a:rPr lang="pt-BR" sz="2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iterações de Transição para migrar o produto para a comunidade de usuários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pt-BR" sz="20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328865-5D29-68E3-D377-C8AC656E11DF}"/>
              </a:ext>
            </a:extLst>
          </p:cNvPr>
          <p:cNvSpPr txBox="1"/>
          <p:nvPr/>
        </p:nvSpPr>
        <p:spPr>
          <a:xfrm>
            <a:off x="166778" y="4983193"/>
            <a:ext cx="932802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Essa </a:t>
            </a:r>
            <a:r>
              <a:rPr lang="en-US" sz="2000" err="1">
                <a:latin typeface="arial"/>
                <a:cs typeface="arial"/>
              </a:rPr>
              <a:t>estratégia</a:t>
            </a:r>
            <a:r>
              <a:rPr lang="en-US" sz="2000" dirty="0">
                <a:latin typeface="arial"/>
                <a:cs typeface="arial"/>
              </a:rPr>
              <a:t> é </a:t>
            </a:r>
            <a:r>
              <a:rPr lang="en-US" sz="2000" err="1">
                <a:latin typeface="arial"/>
                <a:cs typeface="arial"/>
              </a:rPr>
              <a:t>apropriada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quando</a:t>
            </a:r>
            <a:r>
              <a:rPr lang="en-US" sz="2000" dirty="0">
                <a:latin typeface="arial"/>
                <a:cs typeface="arial"/>
              </a:rPr>
              <a:t>:</a:t>
            </a:r>
          </a:p>
          <a:p>
            <a:pPr>
              <a:buFont typeface=""/>
              <a:buChar char="•"/>
            </a:pPr>
            <a:r>
              <a:rPr lang="en-US" sz="2000" dirty="0">
                <a:latin typeface="arial"/>
                <a:cs typeface="arial"/>
              </a:rPr>
              <a:t>O </a:t>
            </a:r>
            <a:r>
              <a:rPr lang="en-US" sz="2000" err="1">
                <a:latin typeface="arial"/>
                <a:cs typeface="arial"/>
              </a:rPr>
              <a:t>domínio</a:t>
            </a:r>
            <a:r>
              <a:rPr lang="en-US" sz="2000" dirty="0">
                <a:latin typeface="arial"/>
                <a:cs typeface="arial"/>
              </a:rPr>
              <a:t> do </a:t>
            </a:r>
            <a:r>
              <a:rPr lang="en-US" sz="2000" err="1">
                <a:latin typeface="arial"/>
                <a:cs typeface="arial"/>
              </a:rPr>
              <a:t>problema</a:t>
            </a:r>
            <a:r>
              <a:rPr lang="en-US" sz="2000" dirty="0">
                <a:latin typeface="arial"/>
                <a:cs typeface="arial"/>
              </a:rPr>
              <a:t> é novo </a:t>
            </a:r>
            <a:r>
              <a:rPr lang="en-US" sz="2000" err="1">
                <a:latin typeface="arial"/>
                <a:cs typeface="arial"/>
              </a:rPr>
              <a:t>ou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não</a:t>
            </a:r>
            <a:r>
              <a:rPr lang="en-US" sz="2000" dirty="0">
                <a:latin typeface="arial"/>
                <a:cs typeface="arial"/>
              </a:rPr>
              <a:t> é familiar.</a:t>
            </a:r>
          </a:p>
          <a:p>
            <a:pPr>
              <a:buFont typeface=""/>
              <a:buChar char="•"/>
            </a:pPr>
            <a:r>
              <a:rPr lang="en-US" sz="2000" dirty="0">
                <a:latin typeface="arial"/>
                <a:cs typeface="arial"/>
              </a:rPr>
              <a:t>A equipe é </a:t>
            </a:r>
            <a:r>
              <a:rPr lang="en-US" sz="2000" err="1">
                <a:latin typeface="arial"/>
                <a:cs typeface="arial"/>
              </a:rPr>
              <a:t>inexperiente</a:t>
            </a:r>
            <a:r>
              <a:rPr lang="en-US" sz="2000" dirty="0">
                <a:latin typeface="arial"/>
                <a:cs typeface="arial"/>
              </a:rPr>
              <a:t>.</a:t>
            </a:r>
          </a:p>
          <a:p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7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D43A1FF1-4676-6A19-0865-A535EABC1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93" y="58858"/>
            <a:ext cx="10692620" cy="65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7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9CFE3-F29C-9D72-C0CC-16BB343F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3" y="-123705"/>
            <a:ext cx="10515600" cy="1325563"/>
          </a:xfrm>
        </p:spPr>
        <p:txBody>
          <a:bodyPr/>
          <a:lstStyle/>
          <a:p>
            <a:r>
              <a:rPr lang="pt-BR" dirty="0">
                <a:latin typeface="Arial"/>
                <a:cs typeface="Arial"/>
              </a:rPr>
              <a:t>Entrega incremental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4A05F-2272-C277-596E-38C51BA05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3" y="977361"/>
            <a:ext cx="12125863" cy="60334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1800" dirty="0">
                <a:latin typeface="Arial"/>
                <a:cs typeface="Arial"/>
              </a:rPr>
              <a:t>Alguns autores também fizeram em fases as entregas da funcionalidade incremental para o cliente. Isso pode ser necessário quando há pressões de mercado sobre o tempo restrito, onde a liberação antecipada de certos recursos importantes pode render benefícios de negócio significativos.</a:t>
            </a:r>
          </a:p>
          <a:p>
            <a:r>
              <a:rPr lang="pt-BR" sz="1800">
                <a:latin typeface="Arial"/>
                <a:cs typeface="Arial"/>
              </a:rPr>
              <a:t>Em</a:t>
            </a:r>
            <a:r>
              <a:rPr lang="pt-BR" sz="1800" dirty="0">
                <a:latin typeface="Arial"/>
                <a:cs typeface="Arial"/>
              </a:rPr>
              <a:t> termos da abordagem da iteração de fase, a fase de transição começa cedo e tem a maioria das iterações. Essa estratégia requer uma arquitetura bastante estável, que é difícil de se conseguir em um ciclo de desenvolvimento inicial, para um sistema "sem precedentes</a:t>
            </a:r>
            <a:r>
              <a:rPr lang="pt-BR" sz="1800">
                <a:latin typeface="Arial"/>
                <a:cs typeface="Arial"/>
              </a:rPr>
              <a:t>".</a:t>
            </a:r>
          </a:p>
          <a:p>
            <a:r>
              <a:rPr lang="pt-BR" sz="1800">
                <a:latin typeface="Arial"/>
                <a:cs typeface="Arial"/>
              </a:rPr>
              <a:t>As</a:t>
            </a:r>
            <a:r>
              <a:rPr lang="pt-BR" sz="1800" dirty="0">
                <a:latin typeface="Arial"/>
                <a:cs typeface="Arial"/>
              </a:rPr>
              <a:t> seguintes iterações são características:</a:t>
            </a:r>
          </a:p>
          <a:p>
            <a:r>
              <a:rPr lang="pt-BR" sz="1800">
                <a:latin typeface="Arial"/>
                <a:cs typeface="Arial"/>
              </a:rPr>
              <a:t>Uma</a:t>
            </a:r>
            <a:r>
              <a:rPr lang="pt-BR" sz="1800" dirty="0">
                <a:latin typeface="Arial"/>
                <a:cs typeface="Arial"/>
              </a:rPr>
              <a:t> iteração curta de Iniciação para estabelecer o escopo e a visão, e para definir o caso de </a:t>
            </a:r>
            <a:r>
              <a:rPr lang="pt-BR" sz="1800">
                <a:latin typeface="Arial"/>
                <a:cs typeface="Arial"/>
              </a:rPr>
              <a:t>negócio.</a:t>
            </a:r>
            <a:endParaRPr lang="pt-BR" sz="1800" dirty="0">
              <a:latin typeface="Arial"/>
              <a:cs typeface="Arial"/>
            </a:endParaRPr>
          </a:p>
          <a:p>
            <a:r>
              <a:rPr lang="pt-BR" sz="1800">
                <a:latin typeface="Arial"/>
                <a:cs typeface="Arial"/>
              </a:rPr>
              <a:t>Uma</a:t>
            </a:r>
            <a:r>
              <a:rPr lang="pt-BR" sz="1800" dirty="0">
                <a:latin typeface="Arial"/>
                <a:cs typeface="Arial"/>
              </a:rPr>
              <a:t> única iteração de Elaboração, durante a qual é criada uma baseline de arquitetura </a:t>
            </a:r>
            <a:r>
              <a:rPr lang="pt-BR" sz="1800">
                <a:latin typeface="Arial"/>
                <a:cs typeface="Arial"/>
              </a:rPr>
              <a:t>estável.</a:t>
            </a:r>
            <a:endParaRPr lang="pt-BR" sz="1800" dirty="0">
              <a:latin typeface="Arial"/>
              <a:cs typeface="Arial"/>
            </a:endParaRPr>
          </a:p>
          <a:p>
            <a:r>
              <a:rPr lang="pt-BR" sz="1800">
                <a:latin typeface="Arial"/>
                <a:cs typeface="Arial"/>
              </a:rPr>
              <a:t>Uma</a:t>
            </a:r>
            <a:r>
              <a:rPr lang="pt-BR" sz="1800" dirty="0">
                <a:latin typeface="Arial"/>
                <a:cs typeface="Arial"/>
              </a:rPr>
              <a:t> única iteração de Construção, durante a qual os casos de uso são realizados e a arquitetura é </a:t>
            </a:r>
            <a:r>
              <a:rPr lang="pt-BR" sz="1800">
                <a:latin typeface="Arial"/>
                <a:cs typeface="Arial"/>
              </a:rPr>
              <a:t>aprimorada.</a:t>
            </a:r>
            <a:endParaRPr lang="pt-BR" sz="1800" dirty="0">
              <a:latin typeface="Arial"/>
              <a:cs typeface="Arial"/>
            </a:endParaRPr>
          </a:p>
          <a:p>
            <a:r>
              <a:rPr lang="pt-BR" sz="1800">
                <a:latin typeface="Arial"/>
                <a:cs typeface="Arial"/>
              </a:rPr>
              <a:t>Várias</a:t>
            </a:r>
            <a:r>
              <a:rPr lang="pt-BR" sz="1800" dirty="0">
                <a:latin typeface="Arial"/>
                <a:cs typeface="Arial"/>
              </a:rPr>
              <a:t> iterações de Transição para migrar o produto para a comunidade de </a:t>
            </a:r>
            <a:r>
              <a:rPr lang="pt-BR" sz="1800">
                <a:latin typeface="Arial"/>
                <a:cs typeface="Arial"/>
              </a:rPr>
              <a:t>usuários.</a:t>
            </a:r>
            <a:endParaRPr lang="pt-BR" sz="1800" dirty="0">
              <a:latin typeface="Arial"/>
              <a:cs typeface="Arial"/>
            </a:endParaRPr>
          </a:p>
          <a:p>
            <a:r>
              <a:rPr lang="pt-BR" sz="1800">
                <a:latin typeface="Arial"/>
                <a:cs typeface="Arial"/>
              </a:rPr>
              <a:t>Essa</a:t>
            </a:r>
            <a:r>
              <a:rPr lang="pt-BR" sz="1800" dirty="0">
                <a:latin typeface="Arial"/>
                <a:cs typeface="Arial"/>
              </a:rPr>
              <a:t> estratégia é apropriada quando:</a:t>
            </a:r>
          </a:p>
          <a:p>
            <a:r>
              <a:rPr lang="pt-BR" sz="1800">
                <a:latin typeface="Arial"/>
                <a:cs typeface="Arial"/>
              </a:rPr>
              <a:t>O</a:t>
            </a:r>
            <a:r>
              <a:rPr lang="pt-BR" sz="1800" dirty="0">
                <a:latin typeface="Arial"/>
                <a:cs typeface="Arial"/>
              </a:rPr>
              <a:t> domínio do problema é familiar:</a:t>
            </a:r>
          </a:p>
          <a:p>
            <a:pPr lvl="1"/>
            <a:r>
              <a:rPr lang="pt-BR" sz="1800" dirty="0">
                <a:latin typeface="Arial"/>
                <a:cs typeface="Arial"/>
              </a:rPr>
              <a:t>a arquitetura e os requisitos podem ser estabilizados antecipadamente no ciclo de desenvolvimento</a:t>
            </a:r>
          </a:p>
          <a:p>
            <a:pPr lvl="1"/>
            <a:r>
              <a:rPr lang="pt-BR" sz="1800" dirty="0">
                <a:latin typeface="Arial"/>
                <a:cs typeface="Arial"/>
              </a:rPr>
              <a:t>há um baixo grau de novidade no problema</a:t>
            </a:r>
          </a:p>
          <a:p>
            <a:r>
              <a:rPr lang="pt-BR" sz="1800">
                <a:latin typeface="Arial"/>
                <a:cs typeface="Arial"/>
              </a:rPr>
              <a:t>A</a:t>
            </a:r>
            <a:r>
              <a:rPr lang="pt-BR" sz="1800" dirty="0">
                <a:latin typeface="Arial"/>
                <a:cs typeface="Arial"/>
              </a:rPr>
              <a:t> equipe é </a:t>
            </a:r>
            <a:r>
              <a:rPr lang="pt-BR" sz="1800">
                <a:latin typeface="Arial"/>
                <a:cs typeface="Arial"/>
              </a:rPr>
              <a:t>experiente.</a:t>
            </a:r>
          </a:p>
          <a:p>
            <a:r>
              <a:rPr lang="pt-BR" sz="1800">
                <a:latin typeface="Arial"/>
                <a:cs typeface="Arial"/>
              </a:rPr>
              <a:t>Releases</a:t>
            </a:r>
            <a:r>
              <a:rPr lang="pt-BR" sz="1800" dirty="0">
                <a:latin typeface="Arial"/>
                <a:cs typeface="Arial"/>
              </a:rPr>
              <a:t> incrementais de funcionalidade têm alto valor para o cliente.</a:t>
            </a:r>
          </a:p>
          <a:p>
            <a:endParaRPr lang="pt-BR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585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 descrito no texto associado.">
            <a:extLst>
              <a:ext uri="{FF2B5EF4-FFF2-40B4-BE49-F238E27FC236}">
                <a16:creationId xmlns:a16="http://schemas.microsoft.com/office/drawing/2014/main" id="{F05501CF-DE75-58C3-7477-F13AB3DF4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02" y="1124310"/>
            <a:ext cx="11383991" cy="47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1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EBE95-E8E0-ACB3-165B-3B5C41AE6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-123705"/>
            <a:ext cx="10515600" cy="1325563"/>
          </a:xfrm>
        </p:spPr>
        <p:txBody>
          <a:bodyPr/>
          <a:lstStyle/>
          <a:p>
            <a:r>
              <a:rPr lang="pt-BR" dirty="0"/>
              <a:t>Design grande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7EC98-C878-53A4-0198-BD3121429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" y="1207398"/>
            <a:ext cx="12097109" cy="4883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000" dirty="0">
                <a:latin typeface="Arial"/>
                <a:cs typeface="Arial"/>
              </a:rPr>
              <a:t>A abordagem em cascata tradicional pode ser vista como um caso degenerado em que há apenas uma iteração na fase de construção. Chamado "design grande" em [</a:t>
            </a:r>
            <a:r>
              <a:rPr lang="pt-BR" sz="2000" dirty="0">
                <a:solidFill>
                  <a:srgbClr val="003399"/>
                </a:solidFill>
                <a:latin typeface="Arial"/>
                <a:cs typeface="Arial"/>
                <a:hlinkClick r:id="rId2"/>
              </a:rPr>
              <a:t>DOD94</a:t>
            </a:r>
            <a:r>
              <a:rPr lang="pt-BR" sz="2000" dirty="0">
                <a:latin typeface="Arial"/>
                <a:cs typeface="Arial"/>
              </a:rPr>
              <a:t>]. Na prática, é difícil evitar iterações adicionais na fase de transição.</a:t>
            </a:r>
          </a:p>
          <a:p>
            <a:r>
              <a:rPr lang="pt-BR" sz="2000" dirty="0">
                <a:latin typeface="Arial"/>
                <a:cs typeface="Arial"/>
              </a:rPr>
              <a:t>As seguintes iterações são características:</a:t>
            </a:r>
          </a:p>
          <a:p>
            <a:r>
              <a:rPr lang="pt-BR" sz="2000" dirty="0">
                <a:latin typeface="Arial"/>
                <a:cs typeface="Arial"/>
              </a:rPr>
              <a:t>uma iteração curta de Iniciação para estabelecer o escopo e a visão, e para definir o caso de negócio.</a:t>
            </a:r>
          </a:p>
          <a:p>
            <a:r>
              <a:rPr lang="pt-BR" sz="2000" dirty="0">
                <a:latin typeface="Arial"/>
                <a:cs typeface="Arial"/>
              </a:rPr>
              <a:t>uma única iteração muito longa de Construção, durante a qual os casos de uso são realizados e a arquitetura é aprimorada.</a:t>
            </a:r>
          </a:p>
          <a:p>
            <a:r>
              <a:rPr lang="pt-BR" sz="2000" dirty="0">
                <a:latin typeface="Arial"/>
                <a:cs typeface="Arial"/>
              </a:rPr>
              <a:t>várias iterações de Transição para migrar o produto para a comunidade de usuários.</a:t>
            </a:r>
          </a:p>
          <a:p>
            <a:r>
              <a:rPr lang="en-US" sz="2000" dirty="0">
                <a:latin typeface="Arial"/>
                <a:cs typeface="Arial"/>
              </a:rPr>
              <a:t>Essa </a:t>
            </a:r>
            <a:r>
              <a:rPr lang="en-US" sz="2000" dirty="0" err="1">
                <a:latin typeface="Arial"/>
                <a:cs typeface="Arial"/>
              </a:rPr>
              <a:t>estratégia</a:t>
            </a:r>
            <a:r>
              <a:rPr lang="en-US" sz="2000" dirty="0">
                <a:latin typeface="Arial"/>
                <a:cs typeface="Arial"/>
              </a:rPr>
              <a:t> é </a:t>
            </a:r>
            <a:r>
              <a:rPr lang="en-US" sz="2000" dirty="0" err="1">
                <a:latin typeface="Arial"/>
                <a:cs typeface="Arial"/>
              </a:rPr>
              <a:t>apropriada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quando</a:t>
            </a:r>
            <a:r>
              <a:rPr lang="en-US" sz="2000" dirty="0">
                <a:latin typeface="Arial"/>
                <a:cs typeface="Arial"/>
              </a:rPr>
              <a:t>:</a:t>
            </a:r>
          </a:p>
          <a:p>
            <a:r>
              <a:rPr lang="en-US" sz="2000" dirty="0">
                <a:latin typeface="Arial"/>
                <a:cs typeface="Arial"/>
              </a:rPr>
              <a:t>um </a:t>
            </a:r>
            <a:r>
              <a:rPr lang="en-US" sz="2000" dirty="0" err="1">
                <a:latin typeface="Arial"/>
                <a:cs typeface="Arial"/>
              </a:rPr>
              <a:t>pequeno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incremento</a:t>
            </a:r>
            <a:r>
              <a:rPr lang="en-US" sz="2000" dirty="0">
                <a:latin typeface="Arial"/>
                <a:cs typeface="Arial"/>
              </a:rPr>
              <a:t> de </a:t>
            </a:r>
            <a:r>
              <a:rPr lang="en-US" sz="2000" dirty="0" err="1">
                <a:latin typeface="Arial"/>
                <a:cs typeface="Arial"/>
              </a:rPr>
              <a:t>funcionalidade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bem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definida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está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sendo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adicionado</a:t>
            </a:r>
            <a:r>
              <a:rPr lang="en-US" sz="2000" dirty="0">
                <a:latin typeface="Arial"/>
                <a:cs typeface="Arial"/>
              </a:rPr>
              <a:t> a um </a:t>
            </a:r>
            <a:r>
              <a:rPr lang="en-US" sz="2000" dirty="0" err="1">
                <a:latin typeface="Arial"/>
                <a:cs typeface="Arial"/>
              </a:rPr>
              <a:t>produto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muito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estável</a:t>
            </a:r>
            <a:r>
              <a:rPr lang="en-US" sz="2000" dirty="0">
                <a:latin typeface="Arial"/>
                <a:cs typeface="Arial"/>
              </a:rPr>
              <a:t>.</a:t>
            </a:r>
            <a:endParaRPr lang="en-US" sz="2000" dirty="0"/>
          </a:p>
          <a:p>
            <a:r>
              <a:rPr lang="en-US" sz="2000" dirty="0">
                <a:latin typeface="Arial"/>
                <a:cs typeface="Arial"/>
              </a:rPr>
              <a:t>a nova </a:t>
            </a:r>
            <a:r>
              <a:rPr lang="en-US" sz="2000" dirty="0" err="1">
                <a:latin typeface="Arial"/>
                <a:cs typeface="Arial"/>
              </a:rPr>
              <a:t>funcionalidade</a:t>
            </a:r>
            <a:r>
              <a:rPr lang="en-US" sz="2000" dirty="0">
                <a:latin typeface="Arial"/>
                <a:cs typeface="Arial"/>
              </a:rPr>
              <a:t> é </a:t>
            </a:r>
            <a:r>
              <a:rPr lang="en-US" sz="2000" dirty="0" err="1">
                <a:latin typeface="Arial"/>
                <a:cs typeface="Arial"/>
              </a:rPr>
              <a:t>bem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definida</a:t>
            </a:r>
            <a:r>
              <a:rPr lang="en-US" sz="2000" dirty="0">
                <a:latin typeface="Arial"/>
                <a:cs typeface="Arial"/>
              </a:rPr>
              <a:t> e </a:t>
            </a:r>
            <a:r>
              <a:rPr lang="en-US" sz="2000" dirty="0" err="1">
                <a:latin typeface="Arial"/>
                <a:cs typeface="Arial"/>
              </a:rPr>
              <a:t>bem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entendida</a:t>
            </a:r>
            <a:r>
              <a:rPr lang="en-US" sz="2000" dirty="0">
                <a:latin typeface="Arial"/>
                <a:cs typeface="Arial"/>
              </a:rPr>
              <a:t>.</a:t>
            </a:r>
            <a:endParaRPr lang="en-US" sz="2000" dirty="0"/>
          </a:p>
          <a:p>
            <a:r>
              <a:rPr lang="en-US" sz="2000" dirty="0">
                <a:latin typeface="Arial"/>
                <a:cs typeface="Arial"/>
              </a:rPr>
              <a:t>A equipe é </a:t>
            </a:r>
            <a:r>
              <a:rPr lang="en-US" sz="2000" dirty="0" err="1">
                <a:latin typeface="Arial"/>
                <a:cs typeface="Arial"/>
              </a:rPr>
              <a:t>experiente</a:t>
            </a:r>
            <a:r>
              <a:rPr lang="en-US" sz="2000" dirty="0">
                <a:latin typeface="Arial"/>
                <a:cs typeface="Arial"/>
              </a:rPr>
              <a:t>, tanto no </a:t>
            </a:r>
            <a:r>
              <a:rPr lang="en-US" sz="2000" dirty="0" err="1">
                <a:latin typeface="Arial"/>
                <a:cs typeface="Arial"/>
              </a:rPr>
              <a:t>domínio</a:t>
            </a:r>
            <a:r>
              <a:rPr lang="en-US" sz="2000" dirty="0">
                <a:latin typeface="Arial"/>
                <a:cs typeface="Arial"/>
              </a:rPr>
              <a:t> do </a:t>
            </a:r>
            <a:r>
              <a:rPr lang="en-US" sz="2000" dirty="0" err="1">
                <a:latin typeface="Arial"/>
                <a:cs typeface="Arial"/>
              </a:rPr>
              <a:t>problema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quando</a:t>
            </a:r>
            <a:r>
              <a:rPr lang="en-US" sz="2000" dirty="0">
                <a:latin typeface="Arial"/>
                <a:cs typeface="Arial"/>
              </a:rPr>
              <a:t> no </a:t>
            </a:r>
            <a:r>
              <a:rPr lang="en-US" sz="2000" dirty="0" err="1">
                <a:latin typeface="Arial"/>
                <a:cs typeface="Arial"/>
              </a:rPr>
              <a:t>produto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existente</a:t>
            </a:r>
            <a:r>
              <a:rPr lang="en-US" sz="2000" dirty="0">
                <a:latin typeface="Arial"/>
                <a:cs typeface="Arial"/>
              </a:rPr>
              <a:t>.</a:t>
            </a:r>
            <a:endParaRPr lang="en-US" sz="2000" dirty="0"/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331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B97B6442-8DB2-D7CA-9B97-D5D52E7C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34" y="1640188"/>
            <a:ext cx="11463606" cy="42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9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785180F-AECA-9AD6-CCE3-18B4DEA6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3" y="-94951"/>
            <a:ext cx="10515600" cy="1325563"/>
          </a:xfrm>
        </p:spPr>
        <p:txBody>
          <a:bodyPr/>
          <a:lstStyle/>
          <a:p>
            <a:r>
              <a:rPr lang="pt-BR"/>
              <a:t>Estratégias híbridas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06925AC-BF68-68BB-7BAF-A9214E759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4" y="1020494"/>
            <a:ext cx="11291976" cy="57171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 dirty="0">
                <a:latin typeface="Arial"/>
                <a:cs typeface="Arial"/>
              </a:rPr>
              <a:t>Na prática, poucos projetos seguem estritamente uma estratégia. Você </a:t>
            </a:r>
            <a:r>
              <a:rPr lang="pt-BR" sz="2400" dirty="0" err="1">
                <a:latin typeface="Arial"/>
                <a:cs typeface="Arial"/>
              </a:rPr>
              <a:t>freqüentemente</a:t>
            </a:r>
            <a:r>
              <a:rPr lang="pt-BR" sz="2400" dirty="0">
                <a:latin typeface="Arial"/>
                <a:cs typeface="Arial"/>
              </a:rPr>
              <a:t> acaba com uma evolução </a:t>
            </a:r>
            <a:r>
              <a:rPr lang="pt-BR" sz="2400" b="1" dirty="0">
                <a:latin typeface="Arial"/>
                <a:cs typeface="Arial"/>
              </a:rPr>
              <a:t>híbrida</a:t>
            </a:r>
            <a:r>
              <a:rPr lang="pt-BR" sz="2400" dirty="0">
                <a:latin typeface="Arial"/>
                <a:cs typeface="Arial"/>
              </a:rPr>
              <a:t>, no início, uma construção incremental e várias entregas. Uma das vantagens do modelo de iteração de fase é que ele permite acomodar uma abordagem híbrida, simplesmente aumentando o tamanho e o número de iterações em determinadas fases:</a:t>
            </a:r>
          </a:p>
          <a:p>
            <a:r>
              <a:rPr lang="pt-BR" sz="2400" dirty="0">
                <a:latin typeface="Arial"/>
                <a:cs typeface="Arial"/>
              </a:rPr>
              <a:t>Para domínios complexos ou de problemas não familiares, nos quais há um alto grau de exploração: aumente o número de iterações na fase de elaboração e seu comprimento.</a:t>
            </a:r>
          </a:p>
          <a:p>
            <a:r>
              <a:rPr lang="pt-BR" sz="2400" dirty="0">
                <a:latin typeface="Arial"/>
                <a:cs typeface="Arial"/>
              </a:rPr>
              <a:t>Para problemas de desenvolvimento mais complexos, nos quais há complexidade de tradução do design em código: aumente o número de iterações na fase de construção e seu comprimento.</a:t>
            </a:r>
          </a:p>
          <a:p>
            <a:r>
              <a:rPr lang="pt-BR" sz="2400" dirty="0">
                <a:latin typeface="Arial"/>
                <a:cs typeface="Arial"/>
              </a:rPr>
              <a:t>Para entregar software em uma série de releases incrementais: aumente o número de iterações na fase de transição e seu comprimento.</a:t>
            </a:r>
          </a:p>
          <a:p>
            <a:endParaRPr lang="pt-BR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34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3CD50-8186-F8BB-2EC5-F07F325C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3" y="5691"/>
            <a:ext cx="10515600" cy="1325563"/>
          </a:xfrm>
        </p:spPr>
        <p:txBody>
          <a:bodyPr/>
          <a:lstStyle/>
          <a:p>
            <a:r>
              <a:rPr lang="pt-BR" dirty="0"/>
              <a:t>Movendo de um ciclo para o próximo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F44A5-ECB4-9FB2-213E-18D069E25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1135512"/>
            <a:ext cx="12068353" cy="59328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Uma passagem pelas quatro fases é um </a:t>
            </a:r>
            <a:r>
              <a:rPr lang="pt-BR" sz="2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ciclo de desenvolvimento</a:t>
            </a:r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cada passagem pelas quatro fases produz uma </a:t>
            </a:r>
            <a:r>
              <a:rPr lang="pt-BR" sz="2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geração</a:t>
            </a:r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do software. A menos que o produto "desapareça", ele irá se desenvolver na próxima geração, repetindo a mesma </a:t>
            </a:r>
            <a:r>
              <a:rPr lang="pt-BR" sz="2400" b="0" i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seqüência</a:t>
            </a:r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de fases de iniciação, elaboração, construção e transição, mas agora com ênfase diferente nas diversas fases.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Esses ciclos </a:t>
            </a:r>
            <a:r>
              <a:rPr lang="pt-BR" sz="2400" b="0" i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subseqüentes</a:t>
            </a:r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são chamados </a:t>
            </a:r>
            <a:r>
              <a:rPr lang="pt-BR" sz="24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ciclos de evolução</a:t>
            </a:r>
            <a:r>
              <a:rPr lang="pt-BR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À medida que o produto atravessa vários ciclos, são produzidas novas gerações.</a:t>
            </a: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 ciclos de evolução podem ser disparados por melhorias sugeridas pelos usuários, mudanças no contexto do usuário, mudanças na tecnologia subjacente, reação à concorrência e assim por diante. Normalmente, os ciclos de evolução têm fases de Iniciação e Elaboração bem menores, pois a definição e a arquitetura básicas do produto foram determinadas pelos ciclos de desenvolvimento anteriores.    São exceções a essa regra os ciclos de evolução, em que ocorre uma redefinição significativa do produto ou da arquitetura.</a:t>
            </a:r>
            <a:br>
              <a:rPr lang="pt-BR" sz="2400" dirty="0">
                <a:latin typeface="Arial"/>
                <a:ea typeface="arial"/>
                <a:cs typeface="Arial"/>
              </a:rPr>
            </a:br>
            <a:endParaRPr lang="pt-BR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545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Gráfico do Diagrama de Desenvolvimento Inicial">
            <a:extLst>
              <a:ext uri="{FF2B5EF4-FFF2-40B4-BE49-F238E27FC236}">
                <a16:creationId xmlns:a16="http://schemas.microsoft.com/office/drawing/2014/main" id="{14E872E5-61BA-0643-CC87-F533F8AD6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4" y="1567783"/>
            <a:ext cx="11513387" cy="333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535CF86-55E2-809B-6845-287CF416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77" y="-123705"/>
            <a:ext cx="10515600" cy="1325563"/>
          </a:xfrm>
        </p:spPr>
        <p:txBody>
          <a:bodyPr/>
          <a:lstStyle/>
          <a:p>
            <a:r>
              <a:rPr lang="pt-BR" dirty="0"/>
              <a:t>Alunos: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4516A0-3EBD-76DB-5A54-A0316767A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87" y="948606"/>
            <a:ext cx="7453223" cy="574594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Sarah Valério Ferreira</a:t>
            </a:r>
          </a:p>
          <a:p>
            <a:pPr marL="0" indent="0">
              <a:buNone/>
            </a:pPr>
            <a:r>
              <a:rPr lang="pt-BR" dirty="0"/>
              <a:t>RM:241564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Victor Silva Porfírio</a:t>
            </a:r>
          </a:p>
          <a:p>
            <a:pPr marL="0" indent="0">
              <a:buNone/>
            </a:pPr>
            <a:r>
              <a:rPr lang="pt-BR" dirty="0"/>
              <a:t>RM:241042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Thiago Cavalcante Lopes</a:t>
            </a:r>
          </a:p>
          <a:p>
            <a:pPr marL="0" indent="0">
              <a:buNone/>
            </a:pPr>
            <a:r>
              <a:rPr lang="pt-BR" dirty="0"/>
              <a:t>RM:241043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Victor Matheus Silva </a:t>
            </a:r>
            <a:r>
              <a:rPr lang="pt-BR" dirty="0" err="1"/>
              <a:t>Sisnande</a:t>
            </a: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/>
              <a:t>RM:241037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Samuel Lopes dos Santos Lima </a:t>
            </a:r>
          </a:p>
          <a:p>
            <a:pPr marL="0" indent="0">
              <a:buNone/>
            </a:pPr>
            <a:r>
              <a:rPr lang="pt-BR" dirty="0"/>
              <a:t>RM:241534</a:t>
            </a:r>
          </a:p>
        </p:txBody>
      </p:sp>
    </p:spTree>
    <p:extLst>
      <p:ext uri="{BB962C8B-B14F-4D97-AF65-F5344CB8AC3E}">
        <p14:creationId xmlns:p14="http://schemas.microsoft.com/office/powerpoint/2010/main" val="368888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Props1.xml><?xml version="1.0" encoding="utf-8"?>
<ds:datastoreItem xmlns:ds="http://schemas.openxmlformats.org/officeDocument/2006/customXml" ds:itemID="{65E68FC3-4087-490A-B9DC-7428421E69ED}"/>
</file>

<file path=customXml/itemProps2.xml><?xml version="1.0" encoding="utf-8"?>
<ds:datastoreItem xmlns:ds="http://schemas.openxmlformats.org/officeDocument/2006/customXml" ds:itemID="{19D42E20-E195-411C-9040-8ECEC687CB61}"/>
</file>

<file path=customXml/itemProps3.xml><?xml version="1.0" encoding="utf-8"?>
<ds:datastoreItem xmlns:ds="http://schemas.openxmlformats.org/officeDocument/2006/customXml" ds:itemID="{19E4DE06-4B3F-4B4C-AC8B-E4E880E3873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Tema do Office</vt:lpstr>
      <vt:lpstr>MODELO DE CICLO DE VIDA ASSOCIADO AO RPU</vt:lpstr>
      <vt:lpstr>As fases e os marcos de um projeto:</vt:lpstr>
      <vt:lpstr>Fases de planejamento</vt:lpstr>
      <vt:lpstr>Fases de planejamento:</vt:lpstr>
      <vt:lpstr>Estratégias de planejamento</vt:lpstr>
      <vt:lpstr>Incremental</vt:lpstr>
      <vt:lpstr>Apresentação do PowerPoint</vt:lpstr>
      <vt:lpstr>Evolutivo </vt:lpstr>
      <vt:lpstr>Apresentação do PowerPoint</vt:lpstr>
      <vt:lpstr>Entrega incremental</vt:lpstr>
      <vt:lpstr>Apresentação do PowerPoint</vt:lpstr>
      <vt:lpstr>Design grande</vt:lpstr>
      <vt:lpstr>Apresentação do PowerPoint</vt:lpstr>
      <vt:lpstr>Estratégias híbridas</vt:lpstr>
      <vt:lpstr>Movendo de um ciclo para o próximo </vt:lpstr>
      <vt:lpstr>Apresentação do PowerPoint</vt:lpstr>
      <vt:lpstr>Alunos: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672</cp:revision>
  <dcterms:created xsi:type="dcterms:W3CDTF">2024-03-23T21:59:07Z</dcterms:created>
  <dcterms:modified xsi:type="dcterms:W3CDTF">2024-03-25T23:53:01Z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0x0101003D534C94BE7ACC4B82DB0C57D8B917FB</vt:lpwstr>
  </property>
</Properties>
</file>