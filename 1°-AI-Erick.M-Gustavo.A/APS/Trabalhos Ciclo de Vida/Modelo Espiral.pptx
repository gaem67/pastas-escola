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8" r:id="rId9"/>
    <p:sldId id="269" r:id="rId10"/>
    <p:sldId id="277" r:id="rId11"/>
    <p:sldId id="282" r:id="rId12"/>
    <p:sldId id="274" r:id="rId13"/>
    <p:sldId id="283" r:id="rId14"/>
    <p:sldId id="279" r:id="rId15"/>
    <p:sldId id="271" r:id="rId16"/>
    <p:sldId id="284" r:id="rId17"/>
  </p:sldIdLst>
  <p:sldSz cx="12192000" cy="6858000"/>
  <p:notesSz cx="6858000" cy="9144000"/>
  <p:embeddedFontLst>
    <p:embeddedFont>
      <p:font typeface="Abril Fatface" panose="02000503000000020003" pitchFamily="2" charset="0"/>
      <p:regular r:id="rId19"/>
    </p:embeddedFont>
    <p:embeddedFont>
      <p:font typeface="Roboto Mono" panose="00000009000000000000" pitchFamily="49" charset="0"/>
      <p:regular r:id="rId20"/>
      <p:bold r:id="rId21"/>
      <p:italic r:id="rId22"/>
      <p:boldItalic r:id="rId23"/>
    </p:embeddedFont>
    <p:embeddedFont>
      <p:font typeface="Roboto Mono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236"/>
    <a:srgbClr val="484B55"/>
    <a:srgbClr val="B9B9B9"/>
    <a:srgbClr val="FEF1E8"/>
    <a:srgbClr val="365CEF"/>
    <a:srgbClr val="8AC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F6421-1FBC-463B-8304-09A145B7F073}" v="80" dt="2024-03-26T00:24:52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0840" autoAdjust="0"/>
  </p:normalViewPr>
  <p:slideViewPr>
    <p:cSldViewPr snapToGrid="0">
      <p:cViewPr varScale="1">
        <p:scale>
          <a:sx n="77" d="100"/>
          <a:sy n="77" d="100"/>
        </p:scale>
        <p:origin x="89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ocha" userId="c3f097042cc802c5" providerId="LiveId" clId="{5CABEF69-DE2C-4124-A904-930DFB28642F}"/>
    <pc:docChg chg="modSld">
      <pc:chgData name="Matheus Rocha" userId="c3f097042cc802c5" providerId="LiveId" clId="{5CABEF69-DE2C-4124-A904-930DFB28642F}" dt="2024-03-26T00:36:46.114" v="5" actId="2711"/>
      <pc:docMkLst>
        <pc:docMk/>
      </pc:docMkLst>
      <pc:sldChg chg="modSp mod">
        <pc:chgData name="Matheus Rocha" userId="c3f097042cc802c5" providerId="LiveId" clId="{5CABEF69-DE2C-4124-A904-930DFB28642F}" dt="2024-03-26T00:30:38.847" v="1" actId="1076"/>
        <pc:sldMkLst>
          <pc:docMk/>
          <pc:sldMk cId="0" sldId="259"/>
        </pc:sldMkLst>
        <pc:spChg chg="mod">
          <ac:chgData name="Matheus Rocha" userId="c3f097042cc802c5" providerId="LiveId" clId="{5CABEF69-DE2C-4124-A904-930DFB28642F}" dt="2024-03-26T00:30:38.847" v="1" actId="1076"/>
          <ac:spMkLst>
            <pc:docMk/>
            <pc:sldMk cId="0" sldId="259"/>
            <ac:spMk id="504" creationId="{00000000-0000-0000-0000-000000000000}"/>
          </ac:spMkLst>
        </pc:spChg>
      </pc:sldChg>
      <pc:sldChg chg="modSp mod">
        <pc:chgData name="Matheus Rocha" userId="c3f097042cc802c5" providerId="LiveId" clId="{5CABEF69-DE2C-4124-A904-930DFB28642F}" dt="2024-03-26T00:30:43.190" v="3" actId="1076"/>
        <pc:sldMkLst>
          <pc:docMk/>
          <pc:sldMk cId="0" sldId="265"/>
        </pc:sldMkLst>
        <pc:spChg chg="mod">
          <ac:chgData name="Matheus Rocha" userId="c3f097042cc802c5" providerId="LiveId" clId="{5CABEF69-DE2C-4124-A904-930DFB28642F}" dt="2024-03-26T00:30:43.190" v="3" actId="1076"/>
          <ac:spMkLst>
            <pc:docMk/>
            <pc:sldMk cId="0" sldId="265"/>
            <ac:spMk id="573" creationId="{00000000-0000-0000-0000-000000000000}"/>
          </ac:spMkLst>
        </pc:spChg>
      </pc:sldChg>
      <pc:sldChg chg="modSp mod">
        <pc:chgData name="Matheus Rocha" userId="c3f097042cc802c5" providerId="LiveId" clId="{5CABEF69-DE2C-4124-A904-930DFB28642F}" dt="2024-03-26T00:36:46.114" v="5" actId="2711"/>
        <pc:sldMkLst>
          <pc:docMk/>
          <pc:sldMk cId="3512887551" sldId="284"/>
        </pc:sldMkLst>
        <pc:spChg chg="mod">
          <ac:chgData name="Matheus Rocha" userId="c3f097042cc802c5" providerId="LiveId" clId="{5CABEF69-DE2C-4124-A904-930DFB28642F}" dt="2024-03-26T00:36:41.971" v="4" actId="2711"/>
          <ac:spMkLst>
            <pc:docMk/>
            <pc:sldMk cId="3512887551" sldId="284"/>
            <ac:spMk id="2" creationId="{EB9FA04D-8A47-EDED-A36B-B8E83E75FAF5}"/>
          </ac:spMkLst>
        </pc:spChg>
        <pc:spChg chg="mod">
          <ac:chgData name="Matheus Rocha" userId="c3f097042cc802c5" providerId="LiveId" clId="{5CABEF69-DE2C-4124-A904-930DFB28642F}" dt="2024-03-26T00:36:46.114" v="5" actId="2711"/>
          <ac:spMkLst>
            <pc:docMk/>
            <pc:sldMk cId="3512887551" sldId="284"/>
            <ac:spMk id="3" creationId="{79638AB6-646C-3E6C-96D8-43087AF6FBB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5T22:47:26.545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5T22:47:28.470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5T22:47:31.955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5T22:47:33.339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5T22:47:34.182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12c1e80e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12c1e80e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11c3728c1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11c3728c1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11c3728c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111c3728c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111c3728c1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111c3728c1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183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a073618e60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a073618e60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a073618e60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a073618e60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289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a073618e60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a073618e60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a073618e6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a073618e6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466800" y="5813575"/>
            <a:ext cx="77973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9484350" y="581357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9484350" y="4750100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51500" y="470775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291200" y="46542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257700" y="465425"/>
            <a:ext cx="731400" cy="731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2"/>
          <p:cNvCxnSpPr/>
          <p:nvPr/>
        </p:nvCxnSpPr>
        <p:spPr>
          <a:xfrm rot="10800000">
            <a:off x="10057500" y="1242425"/>
            <a:ext cx="0" cy="3110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2"/>
          <p:cNvSpPr/>
          <p:nvPr/>
        </p:nvSpPr>
        <p:spPr>
          <a:xfrm>
            <a:off x="1543000" y="5661175"/>
            <a:ext cx="7797300" cy="731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056525" y="5668100"/>
            <a:ext cx="6775200" cy="7179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545150" y="1535116"/>
            <a:ext cx="7609800" cy="38598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730400" y="1345301"/>
            <a:ext cx="7609800" cy="3859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title"/>
          </p:nvPr>
        </p:nvSpPr>
        <p:spPr>
          <a:xfrm>
            <a:off x="2056525" y="1739802"/>
            <a:ext cx="6775200" cy="28764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9560550" y="566117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9560550" y="4597700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" name="Google Shape;25;p2"/>
          <p:cNvCxnSpPr/>
          <p:nvPr/>
        </p:nvCxnSpPr>
        <p:spPr>
          <a:xfrm>
            <a:off x="10774800" y="5106200"/>
            <a:ext cx="13419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26;p2"/>
          <p:cNvCxnSpPr/>
          <p:nvPr/>
        </p:nvCxnSpPr>
        <p:spPr>
          <a:xfrm>
            <a:off x="75300" y="5106200"/>
            <a:ext cx="13419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2"/>
          <p:cNvCxnSpPr/>
          <p:nvPr/>
        </p:nvCxnSpPr>
        <p:spPr>
          <a:xfrm>
            <a:off x="4392225" y="670025"/>
            <a:ext cx="5168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2"/>
          <p:cNvSpPr/>
          <p:nvPr/>
        </p:nvSpPr>
        <p:spPr>
          <a:xfrm>
            <a:off x="227700" y="318375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367400" y="31302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333900" y="313025"/>
            <a:ext cx="731400" cy="731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>
            <a:off x="9662375" y="343650"/>
            <a:ext cx="737725" cy="887475"/>
            <a:chOff x="4038950" y="1664675"/>
            <a:chExt cx="737725" cy="887475"/>
          </a:xfrm>
        </p:grpSpPr>
        <p:sp>
          <p:nvSpPr>
            <p:cNvPr id="33" name="Google Shape;33;p2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72700" y="2988275"/>
            <a:ext cx="53226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6072725" y="1583975"/>
            <a:ext cx="53226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ldrich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43" name="Google Shape;43;p4"/>
          <p:cNvCxnSpPr/>
          <p:nvPr/>
        </p:nvCxnSpPr>
        <p:spPr>
          <a:xfrm rot="10800000">
            <a:off x="683750" y="1321375"/>
            <a:ext cx="0" cy="4815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4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4"/>
          <p:cNvCxnSpPr/>
          <p:nvPr/>
        </p:nvCxnSpPr>
        <p:spPr>
          <a:xfrm>
            <a:off x="3160913" y="601238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Google Shape;48;p4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1127815" y="603223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788916" y="602847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9193674" y="6028470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54;p4"/>
          <p:cNvCxnSpPr/>
          <p:nvPr/>
        </p:nvCxnSpPr>
        <p:spPr>
          <a:xfrm rot="10800000">
            <a:off x="4604537" y="6221743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4"/>
          <p:cNvSpPr/>
          <p:nvPr/>
        </p:nvSpPr>
        <p:spPr>
          <a:xfrm>
            <a:off x="11179647" y="592506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840748" y="592130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245506" y="5921305"/>
            <a:ext cx="497400" cy="515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540900" y="366575"/>
            <a:ext cx="11110200" cy="731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7575" y="1486249"/>
            <a:ext cx="11110200" cy="42849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0911" y="1286551"/>
            <a:ext cx="11110200" cy="42849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710250" y="4118123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cxnSp>
        <p:nvCxnSpPr>
          <p:cNvPr id="63" name="Google Shape;63;p5"/>
          <p:cNvCxnSpPr/>
          <p:nvPr/>
        </p:nvCxnSpPr>
        <p:spPr>
          <a:xfrm rot="10800000">
            <a:off x="3011250" y="6375425"/>
            <a:ext cx="828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769500" y="370875"/>
            <a:ext cx="10639500" cy="73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2"/>
          </p:nvPr>
        </p:nvSpPr>
        <p:spPr>
          <a:xfrm>
            <a:off x="710250" y="2175436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body" idx="3"/>
          </p:nvPr>
        </p:nvSpPr>
        <p:spPr>
          <a:xfrm>
            <a:off x="4513203" y="2175436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body" idx="4"/>
          </p:nvPr>
        </p:nvSpPr>
        <p:spPr>
          <a:xfrm>
            <a:off x="4513203" y="4118123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title" idx="5"/>
          </p:nvPr>
        </p:nvSpPr>
        <p:spPr>
          <a:xfrm>
            <a:off x="710250" y="1513200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ldrich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 idx="6"/>
          </p:nvPr>
        </p:nvSpPr>
        <p:spPr>
          <a:xfrm>
            <a:off x="4513203" y="1513200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ldrich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title" idx="7"/>
          </p:nvPr>
        </p:nvSpPr>
        <p:spPr>
          <a:xfrm>
            <a:off x="710250" y="3455887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ldrich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8"/>
          </p:nvPr>
        </p:nvSpPr>
        <p:spPr>
          <a:xfrm>
            <a:off x="4513203" y="3455887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ldrich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9"/>
          </p:nvPr>
        </p:nvSpPr>
        <p:spPr>
          <a:xfrm>
            <a:off x="8316156" y="2175436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13"/>
          </p:nvPr>
        </p:nvSpPr>
        <p:spPr>
          <a:xfrm>
            <a:off x="8316156" y="4118123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title" idx="14"/>
          </p:nvPr>
        </p:nvSpPr>
        <p:spPr>
          <a:xfrm>
            <a:off x="8316156" y="1513200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ldrich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title" idx="15"/>
          </p:nvPr>
        </p:nvSpPr>
        <p:spPr>
          <a:xfrm>
            <a:off x="8316156" y="3455887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ldrich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bril Fatface"/>
              <a:buNone/>
              <a:defRPr sz="2600">
                <a:solidFill>
                  <a:schemeClr val="lt2"/>
                </a:solidFill>
                <a:highlight>
                  <a:schemeClr val="accent3"/>
                </a:highlight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987645" y="6162582"/>
            <a:ext cx="566400" cy="432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65409" y="6159429"/>
            <a:ext cx="1038900" cy="432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66218" y="6159429"/>
            <a:ext cx="417000" cy="4320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031087" y="6072767"/>
            <a:ext cx="5664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908850" y="6069614"/>
            <a:ext cx="1038900" cy="43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09659" y="6069614"/>
            <a:ext cx="417000" cy="432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>
            <a:spLocks noGrp="1"/>
          </p:cNvSpPr>
          <p:nvPr>
            <p:ph type="title"/>
          </p:nvPr>
        </p:nvSpPr>
        <p:spPr>
          <a:xfrm>
            <a:off x="4897138" y="1700638"/>
            <a:ext cx="6323400" cy="2066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body" idx="1"/>
          </p:nvPr>
        </p:nvSpPr>
        <p:spPr>
          <a:xfrm>
            <a:off x="4897138" y="4089088"/>
            <a:ext cx="6323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87" name="Google Shape;87;p6"/>
          <p:cNvGrpSpPr/>
          <p:nvPr/>
        </p:nvGrpSpPr>
        <p:grpSpPr>
          <a:xfrm>
            <a:off x="11287175" y="149950"/>
            <a:ext cx="737725" cy="887475"/>
            <a:chOff x="4038950" y="1664675"/>
            <a:chExt cx="737725" cy="887475"/>
          </a:xfrm>
        </p:grpSpPr>
        <p:sp>
          <p:nvSpPr>
            <p:cNvPr id="88" name="Google Shape;88;p6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1" name="Google Shape;91;p6"/>
          <p:cNvCxnSpPr/>
          <p:nvPr/>
        </p:nvCxnSpPr>
        <p:spPr>
          <a:xfrm rot="10800000">
            <a:off x="683750" y="1321375"/>
            <a:ext cx="0" cy="4815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6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5" name="Google Shape;95;p6"/>
          <p:cNvCxnSpPr/>
          <p:nvPr/>
        </p:nvCxnSpPr>
        <p:spPr>
          <a:xfrm>
            <a:off x="3160913" y="601238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6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1127815" y="603223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9788916" y="602847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193674" y="6028470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2" name="Google Shape;102;p6"/>
          <p:cNvCxnSpPr/>
          <p:nvPr/>
        </p:nvCxnSpPr>
        <p:spPr>
          <a:xfrm rot="10800000">
            <a:off x="4604537" y="6221743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6"/>
          <p:cNvSpPr/>
          <p:nvPr/>
        </p:nvSpPr>
        <p:spPr>
          <a:xfrm>
            <a:off x="11179647" y="592506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9840748" y="592130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9245506" y="5921305"/>
            <a:ext cx="497400" cy="515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124" name="Google Shape;124;p8"/>
          <p:cNvGrpSpPr/>
          <p:nvPr/>
        </p:nvGrpSpPr>
        <p:grpSpPr>
          <a:xfrm>
            <a:off x="11287175" y="149950"/>
            <a:ext cx="737725" cy="887475"/>
            <a:chOff x="4038950" y="1664675"/>
            <a:chExt cx="737725" cy="887475"/>
          </a:xfrm>
        </p:grpSpPr>
        <p:sp>
          <p:nvSpPr>
            <p:cNvPr id="125" name="Google Shape;125;p8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8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1" name="Google Shape;131;p8"/>
          <p:cNvCxnSpPr/>
          <p:nvPr/>
        </p:nvCxnSpPr>
        <p:spPr>
          <a:xfrm>
            <a:off x="3160913" y="601238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" name="Google Shape;132;p8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1127815" y="603223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9788916" y="602847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9193674" y="6028470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8" name="Google Shape;138;p8"/>
          <p:cNvCxnSpPr/>
          <p:nvPr/>
        </p:nvCxnSpPr>
        <p:spPr>
          <a:xfrm rot="10800000">
            <a:off x="4604537" y="6221743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8"/>
          <p:cNvSpPr/>
          <p:nvPr/>
        </p:nvSpPr>
        <p:spPr>
          <a:xfrm>
            <a:off x="11179647" y="592506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9840748" y="592130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9245506" y="5921305"/>
            <a:ext cx="497400" cy="515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411275" y="1727000"/>
            <a:ext cx="4458300" cy="237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1"/>
          </p:nvPr>
        </p:nvSpPr>
        <p:spPr>
          <a:xfrm>
            <a:off x="411275" y="5029775"/>
            <a:ext cx="44583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CUSTOM_1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241675" y="666675"/>
            <a:ext cx="11332800" cy="58932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494685" y="392025"/>
            <a:ext cx="11332800" cy="5893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"/>
          <p:cNvSpPr txBox="1">
            <a:spLocks noGrp="1"/>
          </p:cNvSpPr>
          <p:nvPr>
            <p:ph type="subTitle" idx="1"/>
          </p:nvPr>
        </p:nvSpPr>
        <p:spPr>
          <a:xfrm>
            <a:off x="1240925" y="2045838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280" name="Google Shape;280;p15"/>
          <p:cNvSpPr txBox="1">
            <a:spLocks noGrp="1"/>
          </p:cNvSpPr>
          <p:nvPr>
            <p:ph type="subTitle" idx="2"/>
          </p:nvPr>
        </p:nvSpPr>
        <p:spPr>
          <a:xfrm>
            <a:off x="1240925" y="3902562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281" name="Google Shape;281;p15"/>
          <p:cNvSpPr txBox="1">
            <a:spLocks noGrp="1"/>
          </p:cNvSpPr>
          <p:nvPr>
            <p:ph type="subTitle" idx="3"/>
          </p:nvPr>
        </p:nvSpPr>
        <p:spPr>
          <a:xfrm>
            <a:off x="8149857" y="2055218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subTitle" idx="4"/>
          </p:nvPr>
        </p:nvSpPr>
        <p:spPr>
          <a:xfrm>
            <a:off x="4714052" y="2063187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283" name="Google Shape;283;p15"/>
          <p:cNvSpPr txBox="1">
            <a:spLocks noGrp="1"/>
          </p:cNvSpPr>
          <p:nvPr>
            <p:ph type="subTitle" idx="5"/>
          </p:nvPr>
        </p:nvSpPr>
        <p:spPr>
          <a:xfrm>
            <a:off x="4714052" y="3902562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284" name="Google Shape;284;p15"/>
          <p:cNvSpPr txBox="1">
            <a:spLocks noGrp="1"/>
          </p:cNvSpPr>
          <p:nvPr>
            <p:ph type="subTitle" idx="6"/>
          </p:nvPr>
        </p:nvSpPr>
        <p:spPr>
          <a:xfrm>
            <a:off x="8149857" y="3884018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285" name="Google Shape;285;p15"/>
          <p:cNvSpPr txBox="1">
            <a:spLocks noGrp="1"/>
          </p:cNvSpPr>
          <p:nvPr>
            <p:ph type="title"/>
          </p:nvPr>
        </p:nvSpPr>
        <p:spPr>
          <a:xfrm>
            <a:off x="1240925" y="1009013"/>
            <a:ext cx="9840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body" idx="7"/>
          </p:nvPr>
        </p:nvSpPr>
        <p:spPr>
          <a:xfrm>
            <a:off x="4714052" y="2472038"/>
            <a:ext cx="29313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7" name="Google Shape;287;p15"/>
          <p:cNvSpPr txBox="1">
            <a:spLocks noGrp="1"/>
          </p:cNvSpPr>
          <p:nvPr>
            <p:ph type="body" idx="8"/>
          </p:nvPr>
        </p:nvSpPr>
        <p:spPr>
          <a:xfrm>
            <a:off x="8149857" y="4300838"/>
            <a:ext cx="29313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body" idx="9"/>
          </p:nvPr>
        </p:nvSpPr>
        <p:spPr>
          <a:xfrm>
            <a:off x="4714052" y="4300838"/>
            <a:ext cx="29313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9" name="Google Shape;289;p15"/>
          <p:cNvSpPr txBox="1">
            <a:spLocks noGrp="1"/>
          </p:cNvSpPr>
          <p:nvPr>
            <p:ph type="body" idx="13"/>
          </p:nvPr>
        </p:nvSpPr>
        <p:spPr>
          <a:xfrm>
            <a:off x="1240925" y="2472038"/>
            <a:ext cx="29313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4"/>
          </p:nvPr>
        </p:nvSpPr>
        <p:spPr>
          <a:xfrm>
            <a:off x="8149857" y="2472038"/>
            <a:ext cx="29313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body" idx="15"/>
          </p:nvPr>
        </p:nvSpPr>
        <p:spPr>
          <a:xfrm>
            <a:off x="1240925" y="4300838"/>
            <a:ext cx="29313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2" name="Google Shape;292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93" name="Google Shape;293;p15"/>
          <p:cNvCxnSpPr/>
          <p:nvPr/>
        </p:nvCxnSpPr>
        <p:spPr>
          <a:xfrm rot="10800000">
            <a:off x="3358463" y="5911325"/>
            <a:ext cx="828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" name="Google Shape;294;p15"/>
          <p:cNvSpPr/>
          <p:nvPr/>
        </p:nvSpPr>
        <p:spPr>
          <a:xfrm>
            <a:off x="2334858" y="5698482"/>
            <a:ext cx="566400" cy="432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1212621" y="5695329"/>
            <a:ext cx="1038900" cy="432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13430" y="5695329"/>
            <a:ext cx="417000" cy="4320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2378299" y="5608667"/>
            <a:ext cx="5664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1256062" y="5605514"/>
            <a:ext cx="1038900" cy="43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756872" y="5605514"/>
            <a:ext cx="417000" cy="432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15"/>
          <p:cNvGrpSpPr/>
          <p:nvPr/>
        </p:nvGrpSpPr>
        <p:grpSpPr>
          <a:xfrm>
            <a:off x="11439575" y="-2450"/>
            <a:ext cx="737725" cy="887475"/>
            <a:chOff x="4038950" y="1664675"/>
            <a:chExt cx="737725" cy="887475"/>
          </a:xfrm>
        </p:grpSpPr>
        <p:sp>
          <p:nvSpPr>
            <p:cNvPr id="301" name="Google Shape;301;p15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CUSTOM_14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2" name="Google Shape;322;p17"/>
          <p:cNvCxnSpPr/>
          <p:nvPr/>
        </p:nvCxnSpPr>
        <p:spPr>
          <a:xfrm>
            <a:off x="3160913" y="601238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17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11127815" y="603223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9788916" y="602847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9193674" y="6028470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9" name="Google Shape;329;p17"/>
          <p:cNvCxnSpPr/>
          <p:nvPr/>
        </p:nvCxnSpPr>
        <p:spPr>
          <a:xfrm rot="10800000">
            <a:off x="4604537" y="6221743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0" name="Google Shape;330;p17"/>
          <p:cNvSpPr/>
          <p:nvPr/>
        </p:nvSpPr>
        <p:spPr>
          <a:xfrm>
            <a:off x="11179647" y="592506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9840748" y="592130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9245506" y="5921305"/>
            <a:ext cx="497400" cy="515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"/>
          <p:cNvSpPr txBox="1">
            <a:spLocks noGrp="1"/>
          </p:cNvSpPr>
          <p:nvPr>
            <p:ph type="subTitle" idx="1"/>
          </p:nvPr>
        </p:nvSpPr>
        <p:spPr>
          <a:xfrm>
            <a:off x="415600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34" name="Google Shape;334;p17"/>
          <p:cNvSpPr txBox="1">
            <a:spLocks noGrp="1"/>
          </p:cNvSpPr>
          <p:nvPr>
            <p:ph type="subTitle" idx="2"/>
          </p:nvPr>
        </p:nvSpPr>
        <p:spPr>
          <a:xfrm>
            <a:off x="277537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subTitle" idx="3"/>
          </p:nvPr>
        </p:nvSpPr>
        <p:spPr>
          <a:xfrm>
            <a:off x="5135153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ubTitle" idx="4"/>
          </p:nvPr>
        </p:nvSpPr>
        <p:spPr>
          <a:xfrm>
            <a:off x="7494930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subTitle" idx="5"/>
          </p:nvPr>
        </p:nvSpPr>
        <p:spPr>
          <a:xfrm>
            <a:off x="985470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title"/>
          </p:nvPr>
        </p:nvSpPr>
        <p:spPr>
          <a:xfrm>
            <a:off x="415600" y="974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body" idx="6"/>
          </p:nvPr>
        </p:nvSpPr>
        <p:spPr>
          <a:xfrm>
            <a:off x="4156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body" idx="7"/>
          </p:nvPr>
        </p:nvSpPr>
        <p:spPr>
          <a:xfrm>
            <a:off x="277537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body" idx="8"/>
          </p:nvPr>
        </p:nvSpPr>
        <p:spPr>
          <a:xfrm>
            <a:off x="513515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body" idx="9"/>
          </p:nvPr>
        </p:nvSpPr>
        <p:spPr>
          <a:xfrm>
            <a:off x="749492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body" idx="13"/>
          </p:nvPr>
        </p:nvSpPr>
        <p:spPr>
          <a:xfrm>
            <a:off x="98547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4" name="Google Shape;344;p1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345" name="Google Shape;345;p17"/>
          <p:cNvGrpSpPr/>
          <p:nvPr/>
        </p:nvGrpSpPr>
        <p:grpSpPr>
          <a:xfrm>
            <a:off x="11287175" y="149950"/>
            <a:ext cx="737725" cy="887475"/>
            <a:chOff x="4038950" y="1664675"/>
            <a:chExt cx="737725" cy="887475"/>
          </a:xfrm>
        </p:grpSpPr>
        <p:sp>
          <p:nvSpPr>
            <p:cNvPr id="346" name="Google Shape;346;p17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CUSTOM_16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"/>
          <p:cNvSpPr txBox="1">
            <a:spLocks noGrp="1"/>
          </p:cNvSpPr>
          <p:nvPr>
            <p:ph type="title"/>
          </p:nvPr>
        </p:nvSpPr>
        <p:spPr>
          <a:xfrm>
            <a:off x="5978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72" name="Google Shape;372;p19"/>
          <p:cNvSpPr txBox="1">
            <a:spLocks noGrp="1"/>
          </p:cNvSpPr>
          <p:nvPr>
            <p:ph type="body" idx="1"/>
          </p:nvPr>
        </p:nvSpPr>
        <p:spPr>
          <a:xfrm>
            <a:off x="5978300" y="2508425"/>
            <a:ext cx="5581500" cy="310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125075" y="581357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951875" y="4750100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10970525" y="470775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9004025" y="46542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8126825" y="465425"/>
            <a:ext cx="731400" cy="731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9" name="Google Shape;379;p19"/>
          <p:cNvCxnSpPr/>
          <p:nvPr/>
        </p:nvCxnSpPr>
        <p:spPr>
          <a:xfrm rot="10800000">
            <a:off x="1448825" y="1242425"/>
            <a:ext cx="0" cy="3110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0" name="Google Shape;380;p19"/>
          <p:cNvSpPr/>
          <p:nvPr/>
        </p:nvSpPr>
        <p:spPr>
          <a:xfrm>
            <a:off x="201275" y="566117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1028075" y="4597700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2" name="Google Shape;382;p19"/>
          <p:cNvCxnSpPr/>
          <p:nvPr/>
        </p:nvCxnSpPr>
        <p:spPr>
          <a:xfrm rot="10800000">
            <a:off x="75300" y="5106200"/>
            <a:ext cx="486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3" name="Google Shape;383;p19"/>
          <p:cNvCxnSpPr/>
          <p:nvPr/>
        </p:nvCxnSpPr>
        <p:spPr>
          <a:xfrm rot="10800000">
            <a:off x="2631500" y="670025"/>
            <a:ext cx="51684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4" name="Google Shape;384;p19"/>
          <p:cNvSpPr/>
          <p:nvPr/>
        </p:nvSpPr>
        <p:spPr>
          <a:xfrm>
            <a:off x="11046725" y="318375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9080225" y="31302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8203025" y="313025"/>
            <a:ext cx="731400" cy="731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7" name="Google Shape;387;p19"/>
          <p:cNvGrpSpPr/>
          <p:nvPr/>
        </p:nvGrpSpPr>
        <p:grpSpPr>
          <a:xfrm>
            <a:off x="1064500" y="430025"/>
            <a:ext cx="737725" cy="887475"/>
            <a:chOff x="4038950" y="1664675"/>
            <a:chExt cx="737725" cy="887475"/>
          </a:xfrm>
        </p:grpSpPr>
        <p:sp>
          <p:nvSpPr>
            <p:cNvPr id="388" name="Google Shape;388;p19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/>
          <p:nvPr/>
        </p:nvSpPr>
        <p:spPr>
          <a:xfrm>
            <a:off x="532500" y="470775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1672200" y="46542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3638700" y="465425"/>
            <a:ext cx="731400" cy="731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5" name="Google Shape;395;p20"/>
          <p:cNvCxnSpPr/>
          <p:nvPr/>
        </p:nvCxnSpPr>
        <p:spPr>
          <a:xfrm>
            <a:off x="4882825" y="670025"/>
            <a:ext cx="52839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20"/>
          <p:cNvSpPr/>
          <p:nvPr/>
        </p:nvSpPr>
        <p:spPr>
          <a:xfrm>
            <a:off x="608700" y="318375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1748400" y="31302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3714900" y="313025"/>
            <a:ext cx="731400" cy="731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10017750" y="581357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10017750" y="4750100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10093950" y="5661175"/>
            <a:ext cx="1820700" cy="731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10093950" y="4597700"/>
            <a:ext cx="993900" cy="731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3" name="Google Shape;403;p20"/>
          <p:cNvCxnSpPr/>
          <p:nvPr/>
        </p:nvCxnSpPr>
        <p:spPr>
          <a:xfrm rot="10800000">
            <a:off x="10590900" y="1242425"/>
            <a:ext cx="0" cy="3110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20"/>
          <p:cNvCxnSpPr/>
          <p:nvPr/>
        </p:nvCxnSpPr>
        <p:spPr>
          <a:xfrm>
            <a:off x="11308200" y="5106200"/>
            <a:ext cx="735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20"/>
          <p:cNvCxnSpPr/>
          <p:nvPr/>
        </p:nvCxnSpPr>
        <p:spPr>
          <a:xfrm rot="10800000">
            <a:off x="548375" y="6179275"/>
            <a:ext cx="90468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6" name="Google Shape;406;p20"/>
          <p:cNvGrpSpPr/>
          <p:nvPr/>
        </p:nvGrpSpPr>
        <p:grpSpPr>
          <a:xfrm>
            <a:off x="10195775" y="343650"/>
            <a:ext cx="737725" cy="887475"/>
            <a:chOff x="4038950" y="1664675"/>
            <a:chExt cx="737725" cy="887475"/>
          </a:xfrm>
        </p:grpSpPr>
        <p:sp>
          <p:nvSpPr>
            <p:cNvPr id="407" name="Google Shape;407;p20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20"/>
          <p:cNvSpPr txBox="1">
            <a:spLocks noGrp="1"/>
          </p:cNvSpPr>
          <p:nvPr>
            <p:ph type="subTitle" idx="1"/>
          </p:nvPr>
        </p:nvSpPr>
        <p:spPr>
          <a:xfrm>
            <a:off x="608700" y="3389100"/>
            <a:ext cx="7311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title"/>
          </p:nvPr>
        </p:nvSpPr>
        <p:spPr>
          <a:xfrm>
            <a:off x="608700" y="2456250"/>
            <a:ext cx="73119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body" idx="2"/>
          </p:nvPr>
        </p:nvSpPr>
        <p:spPr>
          <a:xfrm>
            <a:off x="608766" y="4253900"/>
            <a:ext cx="73119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ono SemiBold"/>
              <a:buNone/>
              <a:defRPr sz="40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●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○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■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●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○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■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●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Mono"/>
              <a:buChar char="○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Roboto Mono"/>
              <a:buChar char="■"/>
              <a:defRPr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79435" y="6867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9" r:id="rId6"/>
    <p:sldLayoutId id="2147483661" r:id="rId7"/>
    <p:sldLayoutId id="2147483663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customXml" Target="../ink/ink1.xml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42" Type="http://schemas.openxmlformats.org/officeDocument/2006/relationships/customXml" Target="../ink/ink3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29" Type="http://schemas.openxmlformats.org/officeDocument/2006/relationships/image" Target="../media/image29.png"/><Relationship Id="rId41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1.png"/><Relationship Id="rId40" Type="http://schemas.openxmlformats.org/officeDocument/2006/relationships/image" Target="../media/image37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4" Type="http://schemas.openxmlformats.org/officeDocument/2006/relationships/customXml" Target="../ink/ink5.xml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43" Type="http://schemas.openxmlformats.org/officeDocument/2006/relationships/customXml" Target="../ink/ink4.xml"/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6.sv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2.svg"/><Relationship Id="rId4" Type="http://schemas.microsoft.com/office/2007/relationships/hdphoto" Target="../media/hdphoto1.wdp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4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2.svg"/><Relationship Id="rId4" Type="http://schemas.microsoft.com/office/2007/relationships/hdphoto" Target="../media/hdphoto2.wdp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1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hyperlink" Target="https://medium.com/contexto-delimitado/o-modelo-em-espiral-de-boehm-ed1d85b7df" TargetMode="External"/><Relationship Id="rId7" Type="http://schemas.openxmlformats.org/officeDocument/2006/relationships/image" Target="../media/image35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ad.uepg.br/apl/sigma/assets/editais/PS0059E0080.pdf" TargetMode="External"/><Relationship Id="rId11" Type="http://schemas.openxmlformats.org/officeDocument/2006/relationships/image" Target="../media/image1.png"/><Relationship Id="rId5" Type="http://schemas.openxmlformats.org/officeDocument/2006/relationships/hyperlink" Target="https://engsoftwaredpsi.blogspot.com/2008/09/um-modelo-de-processo-uma-representao.html" TargetMode="External"/><Relationship Id="rId10" Type="http://schemas.openxmlformats.org/officeDocument/2006/relationships/image" Target="../media/image34.svg"/><Relationship Id="rId4" Type="http://schemas.openxmlformats.org/officeDocument/2006/relationships/hyperlink" Target="https://www.cin.ufpe.br/~cadcn/files/Monitoria/Monitoria%20-%20Gradua&#231;&#227;o/material%20de%20apoio/esperial.pdf" TargetMode="External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"/>
          <p:cNvSpPr/>
          <p:nvPr/>
        </p:nvSpPr>
        <p:spPr>
          <a:xfrm rot="5400000">
            <a:off x="9889413" y="2286802"/>
            <a:ext cx="2511600" cy="103079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7" name="Google Shape;457;p23"/>
          <p:cNvSpPr/>
          <p:nvPr/>
        </p:nvSpPr>
        <p:spPr>
          <a:xfrm rot="5400000">
            <a:off x="9974636" y="2089754"/>
            <a:ext cx="2587800" cy="1030792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8" name="Google Shape;458;p23"/>
          <p:cNvSpPr txBox="1">
            <a:spLocks noGrp="1"/>
          </p:cNvSpPr>
          <p:nvPr>
            <p:ph type="title"/>
          </p:nvPr>
        </p:nvSpPr>
        <p:spPr>
          <a:xfrm>
            <a:off x="2056525" y="1739802"/>
            <a:ext cx="6775200" cy="2876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  <a:cs typeface="Times New Roman" panose="02020603050405020304" pitchFamily="18" charset="0"/>
              </a:rPr>
              <a:t>Trabalho de APS:</a:t>
            </a:r>
            <a:br>
              <a:rPr lang="en" dirty="0">
                <a:latin typeface="+mj-lt"/>
              </a:rPr>
            </a:br>
            <a:br>
              <a:rPr lang="en" dirty="0">
                <a:latin typeface="+mj-lt"/>
              </a:rPr>
            </a:br>
            <a:r>
              <a:rPr lang="en" dirty="0">
                <a:solidFill>
                  <a:schemeClr val="lt2"/>
                </a:solidFill>
                <a:highlight>
                  <a:schemeClr val="dk1"/>
                </a:highlight>
                <a:latin typeface="+mj-lt"/>
                <a:cs typeface="Times New Roman" panose="02020603050405020304" pitchFamily="18" charset="0"/>
              </a:rPr>
              <a:t>Modelo espiral.</a:t>
            </a:r>
            <a:endParaRPr dirty="0">
              <a:solidFill>
                <a:schemeClr val="lt2"/>
              </a:solidFill>
              <a:highlight>
                <a:schemeClr val="dk1"/>
              </a:highlight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59" name="Google Shape;459;p23"/>
          <p:cNvSpPr txBox="1">
            <a:spLocks noGrp="1"/>
          </p:cNvSpPr>
          <p:nvPr>
            <p:ph type="subTitle" idx="1"/>
          </p:nvPr>
        </p:nvSpPr>
        <p:spPr>
          <a:xfrm>
            <a:off x="2056525" y="5668100"/>
            <a:ext cx="6775200" cy="71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Centro Paula Souza</a:t>
            </a:r>
            <a:endParaRPr dirty="0">
              <a:latin typeface="+mn-lt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10668117" y="869932"/>
            <a:ext cx="1277438" cy="32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err="1">
                <a:solidFill>
                  <a:schemeClr val="dk1"/>
                </a:solidFill>
                <a:latin typeface="+mj-lt"/>
                <a:ea typeface="Roboto Mono"/>
                <a:cs typeface="Times New Roman" panose="02020603050405020304" pitchFamily="18" charset="0"/>
                <a:sym typeface="Roboto Mono"/>
              </a:rPr>
              <a:t>Etec</a:t>
            </a:r>
            <a:endParaRPr lang="pt-BR" sz="1600" b="1" dirty="0">
              <a:solidFill>
                <a:schemeClr val="dk1"/>
              </a:solidFill>
              <a:latin typeface="+mj-lt"/>
              <a:ea typeface="Roboto Mono"/>
              <a:cs typeface="Times New Roman" panose="02020603050405020304" pitchFamily="18" charset="0"/>
              <a:sym typeface="Roboto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+mj-lt"/>
                <a:ea typeface="Roboto Mono"/>
                <a:cs typeface="Times New Roman" panose="02020603050405020304" pitchFamily="18" charset="0"/>
                <a:sym typeface="Roboto Mono"/>
              </a:rPr>
              <a:t>Prof.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+mj-lt"/>
                <a:ea typeface="Roboto Mono"/>
                <a:cs typeface="Times New Roman" panose="02020603050405020304" pitchFamily="18" charset="0"/>
                <a:sym typeface="Roboto Mono"/>
              </a:rPr>
              <a:t>Horácio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+mj-lt"/>
                <a:ea typeface="Roboto Mono"/>
                <a:cs typeface="Times New Roman" panose="02020603050405020304" pitchFamily="18" charset="0"/>
                <a:sym typeface="Roboto Mono"/>
              </a:rPr>
              <a:t>Augusto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+mj-lt"/>
                <a:ea typeface="Roboto Mono"/>
                <a:cs typeface="Times New Roman" panose="02020603050405020304" pitchFamily="18" charset="0"/>
                <a:sym typeface="Roboto Mono"/>
              </a:rPr>
              <a:t>Da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+mj-lt"/>
                <a:ea typeface="Roboto Mono"/>
                <a:cs typeface="Times New Roman" panose="02020603050405020304" pitchFamily="18" charset="0"/>
                <a:sym typeface="Roboto Mono"/>
              </a:rPr>
              <a:t>Silveira</a:t>
            </a:r>
            <a:endParaRPr sz="1600" b="1" dirty="0">
              <a:solidFill>
                <a:schemeClr val="dk1"/>
              </a:solidFill>
              <a:latin typeface="+mj-lt"/>
              <a:ea typeface="Roboto Mono"/>
              <a:cs typeface="Times New Roman" panose="02020603050405020304" pitchFamily="18" charset="0"/>
              <a:sym typeface="Roboto Mono"/>
            </a:endParaRPr>
          </a:p>
        </p:txBody>
      </p:sp>
      <p:sp>
        <p:nvSpPr>
          <p:cNvPr id="461" name="Google Shape;461;p2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FA7B4A46-C984-2464-5B7D-40E0210B1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647662"/>
            <a:ext cx="1341781" cy="1341781"/>
          </a:xfrm>
          <a:prstGeom prst="rect">
            <a:avLst/>
          </a:prstGeom>
        </p:spPr>
      </p:pic>
      <p:sp>
        <p:nvSpPr>
          <p:cNvPr id="6" name="Google Shape;457;p23">
            <a:extLst>
              <a:ext uri="{FF2B5EF4-FFF2-40B4-BE49-F238E27FC236}">
                <a16:creationId xmlns:a16="http://schemas.microsoft.com/office/drawing/2014/main" id="{75E3654E-E691-838E-9BA7-4BDE66B19400}"/>
              </a:ext>
            </a:extLst>
          </p:cNvPr>
          <p:cNvSpPr/>
          <p:nvPr/>
        </p:nvSpPr>
        <p:spPr>
          <a:xfrm rot="1508071">
            <a:off x="9454582" y="442200"/>
            <a:ext cx="1077547" cy="880538"/>
          </a:xfrm>
          <a:prstGeom prst="roundRect">
            <a:avLst>
              <a:gd name="adj" fmla="val 50000"/>
            </a:avLst>
          </a:prstGeom>
          <a:solidFill>
            <a:srgbClr val="1D2236"/>
          </a:solidFill>
          <a:ln w="19050" cap="flat" cmpd="sng">
            <a:solidFill>
              <a:srgbClr val="1D22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457;p23">
            <a:extLst>
              <a:ext uri="{FF2B5EF4-FFF2-40B4-BE49-F238E27FC236}">
                <a16:creationId xmlns:a16="http://schemas.microsoft.com/office/drawing/2014/main" id="{FA4A6E00-021A-D354-09CA-E3926E083AC1}"/>
              </a:ext>
            </a:extLst>
          </p:cNvPr>
          <p:cNvSpPr/>
          <p:nvPr/>
        </p:nvSpPr>
        <p:spPr>
          <a:xfrm rot="1508071">
            <a:off x="9455740" y="293600"/>
            <a:ext cx="1068274" cy="916686"/>
          </a:xfrm>
          <a:prstGeom prst="roundRect">
            <a:avLst>
              <a:gd name="adj" fmla="val 50000"/>
            </a:avLst>
          </a:prstGeom>
          <a:solidFill>
            <a:srgbClr val="365CEF"/>
          </a:solidFill>
          <a:ln w="19050" cap="flat" cmpd="sng">
            <a:solidFill>
              <a:srgbClr val="1D22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D5104D-AB0E-BDDE-7054-48BDB460DE90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/>
          <p:nvPr/>
        </p:nvSpPr>
        <p:spPr>
          <a:xfrm>
            <a:off x="1159850" y="2178946"/>
            <a:ext cx="3149100" cy="31890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1245048" y="2086338"/>
            <a:ext cx="3149100" cy="3189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9" name="Google Shape;469;p24"/>
          <p:cNvSpPr/>
          <p:nvPr/>
        </p:nvSpPr>
        <p:spPr>
          <a:xfrm>
            <a:off x="5050200" y="2013350"/>
            <a:ext cx="6244200" cy="731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4"/>
          <p:cNvSpPr txBox="1">
            <a:spLocks noGrp="1"/>
          </p:cNvSpPr>
          <p:nvPr>
            <p:ph type="title"/>
          </p:nvPr>
        </p:nvSpPr>
        <p:spPr>
          <a:xfrm>
            <a:off x="5481025" y="1885475"/>
            <a:ext cx="6432474" cy="85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D2236"/>
                </a:solidFill>
                <a:latin typeface="+mj-lt"/>
                <a:cs typeface="Times New Roman" panose="02020603050405020304" pitchFamily="18" charset="0"/>
              </a:rPr>
              <a:t>Nós somos o 1</a:t>
            </a:r>
            <a:r>
              <a:rPr lang="pt-BR" b="0" i="0" dirty="0">
                <a:solidFill>
                  <a:srgbClr val="1D2236"/>
                </a:solidFill>
                <a:effectLst/>
                <a:latin typeface="+mj-lt"/>
                <a:cs typeface="Times New Roman" panose="02020603050405020304" pitchFamily="18" charset="0"/>
              </a:rPr>
              <a:t>º AI</a:t>
            </a:r>
            <a:endParaRPr dirty="0">
              <a:solidFill>
                <a:srgbClr val="1D2236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71" name="Google Shape;471;p24"/>
          <p:cNvSpPr txBox="1">
            <a:spLocks noGrp="1"/>
          </p:cNvSpPr>
          <p:nvPr>
            <p:ph type="body" idx="1"/>
          </p:nvPr>
        </p:nvSpPr>
        <p:spPr>
          <a:xfrm>
            <a:off x="5104577" y="2695301"/>
            <a:ext cx="8427675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lt2"/>
                </a:solidFill>
                <a:highlight>
                  <a:schemeClr val="accent3"/>
                </a:highlight>
                <a:latin typeface="+mn-lt"/>
                <a:cs typeface="Times New Roman" panose="02020603050405020304" pitchFamily="18" charset="0"/>
              </a:rPr>
              <a:t>Alunos participantes do trabalho: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b="1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    Matheus Rocha Alves RM: 241038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    Miguel dos Santos Pedro Oliveira RM: 241033</a:t>
            </a:r>
          </a:p>
          <a:p>
            <a:pPr marL="0" indent="0">
              <a:buNone/>
            </a:pPr>
            <a:r>
              <a:rPr lang="pt-BR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   Ricardo Katayama Almeida da Silva RM: 241045</a:t>
            </a:r>
            <a:endParaRPr lang="pt-BR" sz="1800" b="1" dirty="0">
              <a:effectLst/>
              <a:latin typeface="+mn-lt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   </a:t>
            </a:r>
            <a:r>
              <a:rPr lang="pt-BR" sz="1800" b="1" dirty="0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Nickolas</a:t>
            </a:r>
            <a:r>
              <a:rPr lang="pt-BR" sz="1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de Souza Silva  RM: 241044</a:t>
            </a:r>
            <a:endParaRPr lang="pt-BR" sz="1800" b="1" dirty="0">
              <a:effectLst/>
              <a:latin typeface="+mn-lt"/>
              <a:ea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    </a:t>
            </a:r>
            <a:r>
              <a:rPr lang="pt-BR" sz="1800" b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Murilo Rodrigues Luiz Dantas RM: 241536</a:t>
            </a:r>
            <a:endParaRPr lang="pt-BR" sz="1800" b="1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472" name="Google Shape;472;p24"/>
          <p:cNvGrpSpPr/>
          <p:nvPr/>
        </p:nvGrpSpPr>
        <p:grpSpPr>
          <a:xfrm>
            <a:off x="4075525" y="1568350"/>
            <a:ext cx="737725" cy="887475"/>
            <a:chOff x="4038950" y="1664675"/>
            <a:chExt cx="737725" cy="887475"/>
          </a:xfrm>
        </p:grpSpPr>
        <p:sp>
          <p:nvSpPr>
            <p:cNvPr id="473" name="Google Shape;473;p24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4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2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3" name="Gráfico 2" descr="Homem de braços cruzados">
            <a:extLst>
              <a:ext uri="{FF2B5EF4-FFF2-40B4-BE49-F238E27FC236}">
                <a16:creationId xmlns:a16="http://schemas.microsoft.com/office/drawing/2014/main" id="{96B05656-EFF0-A14D-FC6D-33853959E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854" y="3952710"/>
            <a:ext cx="1459119" cy="1415236"/>
          </a:xfrm>
          <a:prstGeom prst="rect">
            <a:avLst/>
          </a:prstGeom>
        </p:spPr>
      </p:pic>
      <p:pic>
        <p:nvPicPr>
          <p:cNvPr id="5" name="Gráfico 4" descr="Homem usando jaqueta">
            <a:extLst>
              <a:ext uri="{FF2B5EF4-FFF2-40B4-BE49-F238E27FC236}">
                <a16:creationId xmlns:a16="http://schemas.microsoft.com/office/drawing/2014/main" id="{71277E86-1767-A256-562E-89848FE333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425" y="2333164"/>
            <a:ext cx="1503002" cy="1459119"/>
          </a:xfrm>
          <a:prstGeom prst="rect">
            <a:avLst/>
          </a:prstGeom>
        </p:spPr>
      </p:pic>
      <p:pic>
        <p:nvPicPr>
          <p:cNvPr id="7" name="Gráfico 6" descr="Homem segurando um laptop">
            <a:extLst>
              <a:ext uri="{FF2B5EF4-FFF2-40B4-BE49-F238E27FC236}">
                <a16:creationId xmlns:a16="http://schemas.microsoft.com/office/drawing/2014/main" id="{324891F7-8B2C-F017-A4F8-A6AC656D2E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03283" y="2315075"/>
            <a:ext cx="1897951" cy="1426206"/>
          </a:xfrm>
          <a:prstGeom prst="rect">
            <a:avLst/>
          </a:prstGeom>
        </p:spPr>
      </p:pic>
      <p:pic>
        <p:nvPicPr>
          <p:cNvPr id="9" name="Gráfico 8" descr="Menino usando um suéter">
            <a:extLst>
              <a:ext uri="{FF2B5EF4-FFF2-40B4-BE49-F238E27FC236}">
                <a16:creationId xmlns:a16="http://schemas.microsoft.com/office/drawing/2014/main" id="{0BB617D6-B4FE-54D7-90B7-754148481E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43598" y="3867305"/>
            <a:ext cx="1634652" cy="1448148"/>
          </a:xfrm>
          <a:prstGeom prst="rect">
            <a:avLst/>
          </a:prstGeom>
        </p:spPr>
      </p:pic>
      <p:pic>
        <p:nvPicPr>
          <p:cNvPr id="11" name="Gráfico 10" descr="Mulher de camiseta">
            <a:extLst>
              <a:ext uri="{FF2B5EF4-FFF2-40B4-BE49-F238E27FC236}">
                <a16:creationId xmlns:a16="http://schemas.microsoft.com/office/drawing/2014/main" id="{065ECDC0-08EA-04C7-20F8-0137E3DB23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69799" y="3914957"/>
            <a:ext cx="1437177" cy="1360381"/>
          </a:xfrm>
          <a:prstGeom prst="rect">
            <a:avLst/>
          </a:prstGeom>
        </p:spPr>
      </p:pic>
      <p:pic>
        <p:nvPicPr>
          <p:cNvPr id="13" name="Gráfico 12" descr="Mulher de cabelo comprido">
            <a:extLst>
              <a:ext uri="{FF2B5EF4-FFF2-40B4-BE49-F238E27FC236}">
                <a16:creationId xmlns:a16="http://schemas.microsoft.com/office/drawing/2014/main" id="{5FA43799-84D9-7CFE-58F9-22DDDEEFD9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12173" y="1711260"/>
            <a:ext cx="952732" cy="1058591"/>
          </a:xfrm>
          <a:prstGeom prst="rect">
            <a:avLst/>
          </a:prstGeom>
        </p:spPr>
      </p:pic>
      <p:pic>
        <p:nvPicPr>
          <p:cNvPr id="15" name="Gráfico 14" descr="Homem com bastante cabelo">
            <a:extLst>
              <a:ext uri="{FF2B5EF4-FFF2-40B4-BE49-F238E27FC236}">
                <a16:creationId xmlns:a16="http://schemas.microsoft.com/office/drawing/2014/main" id="{612F2785-4260-F467-9692-1529CD175A6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6485" y="1670268"/>
            <a:ext cx="788727" cy="864359"/>
          </a:xfrm>
          <a:prstGeom prst="rect">
            <a:avLst/>
          </a:prstGeom>
        </p:spPr>
      </p:pic>
      <p:pic>
        <p:nvPicPr>
          <p:cNvPr id="17" name="Gráfico 16" descr="Homem com cabelo rapado">
            <a:extLst>
              <a:ext uri="{FF2B5EF4-FFF2-40B4-BE49-F238E27FC236}">
                <a16:creationId xmlns:a16="http://schemas.microsoft.com/office/drawing/2014/main" id="{CF2A841F-785D-563C-19C4-8E27B485C4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26888" y="3193482"/>
            <a:ext cx="940158" cy="1006521"/>
          </a:xfrm>
          <a:prstGeom prst="rect">
            <a:avLst/>
          </a:prstGeom>
        </p:spPr>
      </p:pic>
      <p:pic>
        <p:nvPicPr>
          <p:cNvPr id="19" name="Gráfico 18" descr="Um homem com cabelo curto">
            <a:extLst>
              <a:ext uri="{FF2B5EF4-FFF2-40B4-BE49-F238E27FC236}">
                <a16:creationId xmlns:a16="http://schemas.microsoft.com/office/drawing/2014/main" id="{8DE1EEA5-307E-9AFD-C4FC-AF0EE956DA2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47021" y="3282636"/>
            <a:ext cx="703956" cy="833015"/>
          </a:xfrm>
          <a:prstGeom prst="rect">
            <a:avLst/>
          </a:prstGeom>
        </p:spPr>
      </p:pic>
      <p:pic>
        <p:nvPicPr>
          <p:cNvPr id="21" name="Gráfico 20" descr="Criança com cabelo curto">
            <a:extLst>
              <a:ext uri="{FF2B5EF4-FFF2-40B4-BE49-F238E27FC236}">
                <a16:creationId xmlns:a16="http://schemas.microsoft.com/office/drawing/2014/main" id="{1C29A9AC-98F6-79F1-4050-DBD8E16614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21049" y="3277108"/>
            <a:ext cx="724028" cy="842722"/>
          </a:xfrm>
          <a:prstGeom prst="rect">
            <a:avLst/>
          </a:prstGeom>
        </p:spPr>
      </p:pic>
      <p:pic>
        <p:nvPicPr>
          <p:cNvPr id="23" name="Gráfico 22" descr="Um rosto sem boca">
            <a:extLst>
              <a:ext uri="{FF2B5EF4-FFF2-40B4-BE49-F238E27FC236}">
                <a16:creationId xmlns:a16="http://schemas.microsoft.com/office/drawing/2014/main" id="{9939D492-4A59-1C1F-6E55-9F7FB6F23F1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86625" y="3535611"/>
            <a:ext cx="413729" cy="426658"/>
          </a:xfrm>
          <a:prstGeom prst="rect">
            <a:avLst/>
          </a:prstGeom>
        </p:spPr>
      </p:pic>
      <p:pic>
        <p:nvPicPr>
          <p:cNvPr id="25" name="Gráfico 24" descr="Um rosto calmo">
            <a:extLst>
              <a:ext uri="{FF2B5EF4-FFF2-40B4-BE49-F238E27FC236}">
                <a16:creationId xmlns:a16="http://schemas.microsoft.com/office/drawing/2014/main" id="{5466D785-90F3-6FE5-A165-8986AAE0B84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900636" y="2001226"/>
            <a:ext cx="440824" cy="454600"/>
          </a:xfrm>
          <a:prstGeom prst="rect">
            <a:avLst/>
          </a:prstGeom>
        </p:spPr>
      </p:pic>
      <p:pic>
        <p:nvPicPr>
          <p:cNvPr id="27" name="Gráfico 26" descr="Rosto com sobrancelhas grossas">
            <a:extLst>
              <a:ext uri="{FF2B5EF4-FFF2-40B4-BE49-F238E27FC236}">
                <a16:creationId xmlns:a16="http://schemas.microsoft.com/office/drawing/2014/main" id="{E3338EBA-2C68-E57F-6CC7-BC48E3B10D3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750104" y="3645325"/>
            <a:ext cx="449836" cy="399854"/>
          </a:xfrm>
          <a:prstGeom prst="rect">
            <a:avLst/>
          </a:prstGeom>
        </p:spPr>
      </p:pic>
      <p:pic>
        <p:nvPicPr>
          <p:cNvPr id="29" name="Gráfico 28" descr="Um rosto falando">
            <a:extLst>
              <a:ext uri="{FF2B5EF4-FFF2-40B4-BE49-F238E27FC236}">
                <a16:creationId xmlns:a16="http://schemas.microsoft.com/office/drawing/2014/main" id="{9D7FF49B-A21B-1B4D-17DA-1B121DA724C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790520" y="3537997"/>
            <a:ext cx="416764" cy="494908"/>
          </a:xfrm>
          <a:prstGeom prst="rect">
            <a:avLst/>
          </a:prstGeom>
        </p:spPr>
      </p:pic>
      <p:pic>
        <p:nvPicPr>
          <p:cNvPr id="31" name="Gráfico 30" descr="Rosto sem boca">
            <a:extLst>
              <a:ext uri="{FF2B5EF4-FFF2-40B4-BE49-F238E27FC236}">
                <a16:creationId xmlns:a16="http://schemas.microsoft.com/office/drawing/2014/main" id="{2615A086-B558-578C-35BE-7F935741963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248998">
            <a:off x="3562609" y="1971833"/>
            <a:ext cx="356714" cy="467370"/>
          </a:xfrm>
          <a:prstGeom prst="rect">
            <a:avLst/>
          </a:prstGeom>
        </p:spPr>
      </p:pic>
      <p:pic>
        <p:nvPicPr>
          <p:cNvPr id="32" name="Gráfico 31" descr="Voltar com preenchimento sólido">
            <a:extLst>
              <a:ext uri="{FF2B5EF4-FFF2-40B4-BE49-F238E27FC236}">
                <a16:creationId xmlns:a16="http://schemas.microsoft.com/office/drawing/2014/main" id="{89178ADA-98EE-4574-1C93-4B86E99ADA4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294400" y="5957648"/>
            <a:ext cx="437029" cy="437029"/>
          </a:xfrm>
          <a:prstGeom prst="rect">
            <a:avLst/>
          </a:prstGeom>
        </p:spPr>
      </p:pic>
      <p:pic>
        <p:nvPicPr>
          <p:cNvPr id="33" name="Gráfico 32" descr="Voltar com preenchimento sólido">
            <a:extLst>
              <a:ext uri="{FF2B5EF4-FFF2-40B4-BE49-F238E27FC236}">
                <a16:creationId xmlns:a16="http://schemas.microsoft.com/office/drawing/2014/main" id="{151C0610-907E-8C51-1D29-DB5A8734DF6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23434" y="5957647"/>
            <a:ext cx="437029" cy="437029"/>
          </a:xfrm>
          <a:prstGeom prst="rect">
            <a:avLst/>
          </a:prstGeom>
        </p:spPr>
      </p:pic>
      <p:pic>
        <p:nvPicPr>
          <p:cNvPr id="34" name="Gráfico 33" descr="Cursor com preenchimento sólido">
            <a:extLst>
              <a:ext uri="{FF2B5EF4-FFF2-40B4-BE49-F238E27FC236}">
                <a16:creationId xmlns:a16="http://schemas.microsoft.com/office/drawing/2014/main" id="{10580576-A3EB-4623-643E-1BA0091152D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294400" y="5957647"/>
            <a:ext cx="991356" cy="9913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B87A12EA-B066-741F-2C4E-CB34EB2798F5}"/>
                  </a:ext>
                </a:extLst>
              </p14:cNvPr>
              <p14:cNvContentPartPr/>
              <p14:nvPr/>
            </p14:nvContentPartPr>
            <p14:xfrm>
              <a:off x="5406762" y="3647348"/>
              <a:ext cx="360" cy="36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B87A12EA-B066-741F-2C4E-CB34EB2798F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71122" y="361170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6D01FAEE-7B6A-8A9D-1B77-B13C7EDEEEFD}"/>
                  </a:ext>
                </a:extLst>
              </p14:cNvPr>
              <p14:cNvContentPartPr/>
              <p14:nvPr/>
            </p14:nvContentPartPr>
            <p14:xfrm>
              <a:off x="5406762" y="4005188"/>
              <a:ext cx="360" cy="36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6D01FAEE-7B6A-8A9D-1B77-B13C7EDEEEF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71122" y="396954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8E0E8DDA-6422-2D16-9F38-035D57EA0542}"/>
                  </a:ext>
                </a:extLst>
              </p14:cNvPr>
              <p14:cNvContentPartPr/>
              <p14:nvPr/>
            </p14:nvContentPartPr>
            <p14:xfrm>
              <a:off x="5416842" y="4313348"/>
              <a:ext cx="360" cy="360"/>
            </p14:xfrm>
          </p:contentPart>
        </mc:Choice>
        <mc:Fallback xmlns=""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8E0E8DDA-6422-2D16-9F38-035D57EA054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80842" y="427734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B87497A2-8665-BA8E-FB12-0EF46029F806}"/>
                  </a:ext>
                </a:extLst>
              </p14:cNvPr>
              <p14:cNvContentPartPr/>
              <p14:nvPr/>
            </p14:nvContentPartPr>
            <p14:xfrm>
              <a:off x="5386602" y="4661108"/>
              <a:ext cx="360" cy="360"/>
            </p14:xfrm>
          </p:contentPart>
        </mc:Choice>
        <mc:Fallback xmlns=""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B87497A2-8665-BA8E-FB12-0EF46029F80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50962" y="462546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86A0C3DE-0FD7-D093-FB3C-6E7FE30670B2}"/>
                  </a:ext>
                </a:extLst>
              </p14:cNvPr>
              <p14:cNvContentPartPr/>
              <p14:nvPr/>
            </p14:nvContentPartPr>
            <p14:xfrm>
              <a:off x="5397042" y="4959548"/>
              <a:ext cx="360" cy="36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86A0C3DE-0FD7-D093-FB3C-6E7FE30670B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61042" y="4923548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Retângulo 42">
            <a:extLst>
              <a:ext uri="{FF2B5EF4-FFF2-40B4-BE49-F238E27FC236}">
                <a16:creationId xmlns:a16="http://schemas.microsoft.com/office/drawing/2014/main" id="{61741B69-44AA-CE6E-7F6D-8B33903DB392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 decel="10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" grpId="0" animBg="1"/>
      <p:bldP spid="46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"/>
          <p:cNvSpPr txBox="1">
            <a:spLocks noGrp="1"/>
          </p:cNvSpPr>
          <p:nvPr>
            <p:ph type="title"/>
          </p:nvPr>
        </p:nvSpPr>
        <p:spPr>
          <a:xfrm>
            <a:off x="769500" y="370875"/>
            <a:ext cx="10639500" cy="73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Sumário</a:t>
            </a:r>
            <a:endParaRPr dirty="0">
              <a:latin typeface="+mj-lt"/>
            </a:endParaRPr>
          </a:p>
        </p:txBody>
      </p:sp>
      <p:sp>
        <p:nvSpPr>
          <p:cNvPr id="482" name="Google Shape;482;p25"/>
          <p:cNvSpPr txBox="1">
            <a:spLocks noGrp="1"/>
          </p:cNvSpPr>
          <p:nvPr>
            <p:ph type="body" idx="2"/>
          </p:nvPr>
        </p:nvSpPr>
        <p:spPr>
          <a:xfrm>
            <a:off x="3798849" y="2245622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2.1. Planejamento                   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2.2. Análise de Riscos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pt-BR" altLang="pt-BR" sz="18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2.3. Engenharia               2.4. Avaliação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Google Shape;486;p25"/>
          <p:cNvSpPr txBox="1">
            <a:spLocks noGrp="1"/>
          </p:cNvSpPr>
          <p:nvPr>
            <p:ph type="title" idx="5"/>
          </p:nvPr>
        </p:nvSpPr>
        <p:spPr>
          <a:xfrm>
            <a:off x="769500" y="1724373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01 Introdução</a:t>
            </a:r>
            <a:endParaRPr dirty="0">
              <a:latin typeface="+mj-lt"/>
            </a:endParaRPr>
          </a:p>
        </p:txBody>
      </p:sp>
      <p:sp>
        <p:nvSpPr>
          <p:cNvPr id="487" name="Google Shape;487;p25"/>
          <p:cNvSpPr txBox="1">
            <a:spLocks noGrp="1"/>
          </p:cNvSpPr>
          <p:nvPr>
            <p:ph type="title" idx="6"/>
          </p:nvPr>
        </p:nvSpPr>
        <p:spPr>
          <a:xfrm>
            <a:off x="3662599" y="1724373"/>
            <a:ext cx="3438101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02 Características</a:t>
            </a:r>
            <a:endParaRPr dirty="0">
              <a:latin typeface="+mj-lt"/>
            </a:endParaRPr>
          </a:p>
        </p:txBody>
      </p:sp>
      <p:sp>
        <p:nvSpPr>
          <p:cNvPr id="488" name="Google Shape;488;p25"/>
          <p:cNvSpPr txBox="1">
            <a:spLocks noGrp="1"/>
          </p:cNvSpPr>
          <p:nvPr>
            <p:ph type="title" idx="7"/>
          </p:nvPr>
        </p:nvSpPr>
        <p:spPr>
          <a:xfrm>
            <a:off x="2930400" y="3873499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04 Conclusão</a:t>
            </a:r>
            <a:endParaRPr dirty="0">
              <a:latin typeface="+mn-lt"/>
            </a:endParaRPr>
          </a:p>
        </p:txBody>
      </p:sp>
      <p:sp>
        <p:nvSpPr>
          <p:cNvPr id="489" name="Google Shape;489;p25"/>
          <p:cNvSpPr txBox="1">
            <a:spLocks noGrp="1"/>
          </p:cNvSpPr>
          <p:nvPr>
            <p:ph type="title" idx="8"/>
          </p:nvPr>
        </p:nvSpPr>
        <p:spPr>
          <a:xfrm>
            <a:off x="6669569" y="3873499"/>
            <a:ext cx="3165600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05 Referências</a:t>
            </a:r>
            <a:endParaRPr dirty="0">
              <a:latin typeface="+mj-lt"/>
            </a:endParaRPr>
          </a:p>
        </p:txBody>
      </p:sp>
      <p:sp>
        <p:nvSpPr>
          <p:cNvPr id="490" name="Google Shape;490;p25"/>
          <p:cNvSpPr txBox="1">
            <a:spLocks noGrp="1"/>
          </p:cNvSpPr>
          <p:nvPr>
            <p:ph type="body" idx="9"/>
          </p:nvPr>
        </p:nvSpPr>
        <p:spPr>
          <a:xfrm>
            <a:off x="7100699" y="2169386"/>
            <a:ext cx="3165600" cy="1259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latin typeface="+mn-lt"/>
              </a:rPr>
              <a:t>3.1. Vantagens              3.2. Desvantagens</a:t>
            </a:r>
            <a:endParaRPr dirty="0">
              <a:latin typeface="+mn-lt"/>
            </a:endParaRPr>
          </a:p>
        </p:txBody>
      </p:sp>
      <p:sp>
        <p:nvSpPr>
          <p:cNvPr id="492" name="Google Shape;492;p25"/>
          <p:cNvSpPr txBox="1">
            <a:spLocks noGrp="1"/>
          </p:cNvSpPr>
          <p:nvPr>
            <p:ph type="title" idx="14"/>
          </p:nvPr>
        </p:nvSpPr>
        <p:spPr>
          <a:xfrm>
            <a:off x="6964449" y="1720703"/>
            <a:ext cx="4604714" cy="662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+mj-lt"/>
              </a:rPr>
              <a:t>03 Vantagens e Desvantagens</a:t>
            </a:r>
            <a:endParaRPr sz="2400" dirty="0">
              <a:latin typeface="+mj-lt"/>
            </a:endParaRPr>
          </a:p>
        </p:txBody>
      </p:sp>
      <p:sp>
        <p:nvSpPr>
          <p:cNvPr id="494" name="Google Shape;494;p2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7" name="Gráfico 16" descr="Voltar com preenchimento sólido">
            <a:extLst>
              <a:ext uri="{FF2B5EF4-FFF2-40B4-BE49-F238E27FC236}">
                <a16:creationId xmlns:a16="http://schemas.microsoft.com/office/drawing/2014/main" id="{01AD48BF-5D96-A63A-B6FD-604D2B340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7222" y="6050096"/>
            <a:ext cx="437029" cy="437029"/>
          </a:xfrm>
          <a:prstGeom prst="rect">
            <a:avLst/>
          </a:prstGeom>
        </p:spPr>
      </p:pic>
      <p:pic>
        <p:nvPicPr>
          <p:cNvPr id="19" name="Gráfico 18" descr="Voltar com preenchimento sólido">
            <a:extLst>
              <a:ext uri="{FF2B5EF4-FFF2-40B4-BE49-F238E27FC236}">
                <a16:creationId xmlns:a16="http://schemas.microsoft.com/office/drawing/2014/main" id="{A01855F9-A47C-CF52-8690-E4326D8BB5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401" y="6050096"/>
            <a:ext cx="399600" cy="399600"/>
          </a:xfrm>
          <a:prstGeom prst="rect">
            <a:avLst/>
          </a:prstGeom>
        </p:spPr>
      </p:pic>
      <p:pic>
        <p:nvPicPr>
          <p:cNvPr id="21" name="Gráfico 20" descr="Cursor com preenchimento sólido">
            <a:extLst>
              <a:ext uri="{FF2B5EF4-FFF2-40B4-BE49-F238E27FC236}">
                <a16:creationId xmlns:a16="http://schemas.microsoft.com/office/drawing/2014/main" id="{C7B2E42E-D94D-8C43-D302-3C1C692F3C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45846" y="6099956"/>
            <a:ext cx="991356" cy="991356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119574AE-FD38-2D3D-C83B-3FCB08AAB1C9}"/>
              </a:ext>
            </a:extLst>
          </p:cNvPr>
          <p:cNvSpPr/>
          <p:nvPr/>
        </p:nvSpPr>
        <p:spPr>
          <a:xfrm>
            <a:off x="51255" y="5299631"/>
            <a:ext cx="246919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" grpId="0"/>
      <p:bldP spid="482" grpId="0" build="p"/>
      <p:bldP spid="486" grpId="0"/>
      <p:bldP spid="487" grpId="0"/>
      <p:bldP spid="488" grpId="0"/>
      <p:bldP spid="489" grpId="0"/>
      <p:bldP spid="490" grpId="0" build="p"/>
      <p:bldP spid="4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6"/>
          <p:cNvSpPr txBox="1">
            <a:spLocks noGrp="1"/>
          </p:cNvSpPr>
          <p:nvPr>
            <p:ph type="body" idx="1"/>
          </p:nvPr>
        </p:nvSpPr>
        <p:spPr>
          <a:xfrm>
            <a:off x="4517249" y="2862469"/>
            <a:ext cx="6323400" cy="296186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</a:t>
            </a:r>
            <a:r>
              <a:rPr lang="pt-BR" sz="16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 Modelo Espiral do ciclo de vida de um sistema é uma abordagem iterativa e incremental para o desenvolvimento de software, proposta por Barry Boehm em 1986. Ele combina elementos de modelos sequenciais lineares com iterações em espiral para gerenciar riscos e adaptar-se a mudanças nos requisitos do sistema.</a:t>
            </a:r>
          </a:p>
          <a:p>
            <a:pPr marL="0" indent="0">
              <a:spcAft>
                <a:spcPts val="2100"/>
              </a:spcAft>
              <a:buNone/>
            </a:pPr>
            <a:r>
              <a:rPr lang="pt-BR" sz="16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Modelo Espiral é uma ferramenta valiosa para o desenvolvimento de sistemas complexos, mas requer uma gestão cuidadosa para maximizar seus benefícios.</a:t>
            </a:r>
            <a:endParaRPr lang="pt-B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0" name="Google Shape;500;p26"/>
          <p:cNvSpPr txBox="1">
            <a:spLocks noGrp="1"/>
          </p:cNvSpPr>
          <p:nvPr>
            <p:ph type="title"/>
          </p:nvPr>
        </p:nvSpPr>
        <p:spPr>
          <a:xfrm>
            <a:off x="4897138" y="1700638"/>
            <a:ext cx="6323400" cy="1201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0" dirty="0">
                <a:latin typeface="+mj-lt"/>
              </a:rPr>
              <a:t>Introdução</a:t>
            </a:r>
          </a:p>
        </p:txBody>
      </p:sp>
      <p:sp>
        <p:nvSpPr>
          <p:cNvPr id="501" name="Google Shape;501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1123863" y="1905046"/>
            <a:ext cx="3149100" cy="31890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1246006" y="1763973"/>
            <a:ext cx="3149100" cy="3189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2346461" y="2554809"/>
            <a:ext cx="703904" cy="17398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+mj-lt"/>
              </a:rPr>
              <a:t>1</a:t>
            </a:r>
          </a:p>
        </p:txBody>
      </p:sp>
      <p:pic>
        <p:nvPicPr>
          <p:cNvPr id="2" name="Gráfico 1" descr="Voltar com preenchimento sólido">
            <a:extLst>
              <a:ext uri="{FF2B5EF4-FFF2-40B4-BE49-F238E27FC236}">
                <a16:creationId xmlns:a16="http://schemas.microsoft.com/office/drawing/2014/main" id="{8C106A83-15E1-4DAD-C159-A33F1267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7866" y="5896105"/>
            <a:ext cx="437029" cy="437029"/>
          </a:xfrm>
          <a:prstGeom prst="rect">
            <a:avLst/>
          </a:prstGeom>
        </p:spPr>
      </p:pic>
      <p:pic>
        <p:nvPicPr>
          <p:cNvPr id="3" name="Gráfico 2" descr="Voltar com preenchimento sólido">
            <a:extLst>
              <a:ext uri="{FF2B5EF4-FFF2-40B4-BE49-F238E27FC236}">
                <a16:creationId xmlns:a16="http://schemas.microsoft.com/office/drawing/2014/main" id="{F0E8F20D-0090-C122-06BC-7F05BAF741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5502099F-5E72-AD71-7F7E-3856AB7104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82381" y="5999636"/>
            <a:ext cx="858364" cy="85836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B9A63E4-1944-491C-6D15-1494E43713C0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"/>
          <p:cNvSpPr/>
          <p:nvPr/>
        </p:nvSpPr>
        <p:spPr>
          <a:xfrm>
            <a:off x="2364400" y="1674088"/>
            <a:ext cx="6244200" cy="731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7"/>
          <p:cNvSpPr txBox="1">
            <a:spLocks noGrp="1"/>
          </p:cNvSpPr>
          <p:nvPr>
            <p:ph type="title"/>
          </p:nvPr>
        </p:nvSpPr>
        <p:spPr>
          <a:xfrm>
            <a:off x="2593000" y="1602675"/>
            <a:ext cx="51756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Você sabia?</a:t>
            </a:r>
            <a:endParaRPr dirty="0">
              <a:latin typeface="+mj-lt"/>
            </a:endParaRPr>
          </a:p>
        </p:txBody>
      </p:sp>
      <p:sp>
        <p:nvSpPr>
          <p:cNvPr id="512" name="Google Shape;512;p27"/>
          <p:cNvSpPr txBox="1">
            <a:spLocks noGrp="1"/>
          </p:cNvSpPr>
          <p:nvPr>
            <p:ph type="body" idx="2"/>
          </p:nvPr>
        </p:nvSpPr>
        <p:spPr>
          <a:xfrm>
            <a:off x="2199000" y="2711500"/>
            <a:ext cx="7794000" cy="201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desenvolvimento de sistemas de software é uma atividade complexa que exige uma abordagem sistemática para garantir a qualidade e o sucesso do produto final. Dentre as várias metodologias existentes, o Modelo Espiral do ciclo de vida de um sistema destaca-se como uma abordagem iterativa e incremental que visa diminuir riscos e adaptar-se a mudanças nos requisitos ao longo do processo de desenvolvimento. Proposto por Barry Boehm em 1986, o Modelo Espiral combina elementos de modelos sequenciais lineares com iterações em espiral, fornecendo uma estrutura flexível para o desenvolvimento de sistemas complexos.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3" name="Google Shape;513;p2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14" name="Google Shape;514;p27"/>
          <p:cNvSpPr/>
          <p:nvPr/>
        </p:nvSpPr>
        <p:spPr>
          <a:xfrm rot="5400000">
            <a:off x="-874831" y="3619560"/>
            <a:ext cx="3658261" cy="731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/>
          <p:cNvSpPr/>
          <p:nvPr/>
        </p:nvSpPr>
        <p:spPr>
          <a:xfrm rot="5400000">
            <a:off x="-741481" y="3518531"/>
            <a:ext cx="3658262" cy="7314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/>
          <p:cNvSpPr txBox="1"/>
          <p:nvPr/>
        </p:nvSpPr>
        <p:spPr>
          <a:xfrm>
            <a:off x="903040" y="2219231"/>
            <a:ext cx="369220" cy="3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b="1" i="1" dirty="0">
              <a:solidFill>
                <a:schemeClr val="dk1"/>
              </a:solidFill>
              <a:latin typeface="+mj-lt"/>
              <a:ea typeface="Roboto Mono"/>
              <a:cs typeface="Roboto Mono"/>
              <a:sym typeface="Roboto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SP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1" dirty="0">
                <a:solidFill>
                  <a:schemeClr val="dk1"/>
                </a:solidFill>
                <a:latin typeface="+mj-lt"/>
                <a:ea typeface="Roboto Mono"/>
                <a:cs typeface="Roboto Mono"/>
                <a:sym typeface="Roboto Mono"/>
              </a:rPr>
              <a:t>L</a:t>
            </a:r>
            <a:endParaRPr sz="1600" b="1" i="1" dirty="0">
              <a:solidFill>
                <a:schemeClr val="dk1"/>
              </a:solidFill>
              <a:latin typeface="+mj-lt"/>
              <a:ea typeface="Roboto Mono"/>
              <a:cs typeface="Roboto Mono"/>
              <a:sym typeface="Roboto Mono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3DEC0B-5A5D-9464-2A4D-B4B2A858C229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Gráfico 2" descr="Voltar com preenchimento sólido">
            <a:extLst>
              <a:ext uri="{FF2B5EF4-FFF2-40B4-BE49-F238E27FC236}">
                <a16:creationId xmlns:a16="http://schemas.microsoft.com/office/drawing/2014/main" id="{0D2DF197-FD0F-1AD8-C7EF-43DF5DDF3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6" name="Gráfico 5" descr="Cursor com preenchimento sólido">
            <a:extLst>
              <a:ext uri="{FF2B5EF4-FFF2-40B4-BE49-F238E27FC236}">
                <a16:creationId xmlns:a16="http://schemas.microsoft.com/office/drawing/2014/main" id="{21A58856-6A73-FA4D-C811-125A27398B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1065" y="6091677"/>
            <a:ext cx="820935" cy="820935"/>
          </a:xfrm>
          <a:prstGeom prst="rect">
            <a:avLst/>
          </a:prstGeom>
        </p:spPr>
      </p:pic>
      <p:pic>
        <p:nvPicPr>
          <p:cNvPr id="7" name="Gráfico 6" descr="Voltar com preenchimento sólido">
            <a:extLst>
              <a:ext uri="{FF2B5EF4-FFF2-40B4-BE49-F238E27FC236}">
                <a16:creationId xmlns:a16="http://schemas.microsoft.com/office/drawing/2014/main" id="{67FB4187-FAC6-CE3D-EB40-4D08E66797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37866" y="5992183"/>
            <a:ext cx="437029" cy="43702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>
            <a:spLocks noGrp="1"/>
          </p:cNvSpPr>
          <p:nvPr>
            <p:ph type="body" idx="1"/>
          </p:nvPr>
        </p:nvSpPr>
        <p:spPr>
          <a:xfrm>
            <a:off x="3686865" y="2573435"/>
            <a:ext cx="3489187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O Modelo Espiral é caracterizado por sua abordagem iterativa, onde o processo de desenvolvimento é dividido em ciclos ou iterações. Cada iteração consiste em quatro principais atividades: planejamento, análise de riscos, engenharia e avaliação.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9" name="Google Shape;569;p32"/>
          <p:cNvSpPr txBox="1">
            <a:spLocks noGrp="1"/>
          </p:cNvSpPr>
          <p:nvPr>
            <p:ph type="title"/>
          </p:nvPr>
        </p:nvSpPr>
        <p:spPr>
          <a:xfrm>
            <a:off x="3933836" y="1611185"/>
            <a:ext cx="6511907" cy="106827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Características</a:t>
            </a:r>
            <a:endParaRPr dirty="0">
              <a:latin typeface="+mj-lt"/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sp>
        <p:nvSpPr>
          <p:cNvPr id="571" name="Google Shape;571;p32"/>
          <p:cNvSpPr/>
          <p:nvPr/>
        </p:nvSpPr>
        <p:spPr>
          <a:xfrm>
            <a:off x="867828" y="1942286"/>
            <a:ext cx="2736674" cy="2973428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995682" y="1811485"/>
            <a:ext cx="2736674" cy="3050899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1764870" y="2504424"/>
            <a:ext cx="1227854" cy="15557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dirty="0">
                <a:ln>
                  <a:noFill/>
                </a:ln>
                <a:solidFill>
                  <a:schemeClr val="dk1"/>
                </a:solidFill>
                <a:latin typeface="+mj-lt"/>
              </a:rPr>
              <a:t>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7C0EAEB-0809-400F-098D-596895E2C096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Gráfico 2" descr="Voltar com preenchimento sólido">
            <a:extLst>
              <a:ext uri="{FF2B5EF4-FFF2-40B4-BE49-F238E27FC236}">
                <a16:creationId xmlns:a16="http://schemas.microsoft.com/office/drawing/2014/main" id="{CAE271B7-9FC0-1673-9DE0-CE6DD897C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4" name="Gráfico 3" descr="Voltar com preenchimento sólido">
            <a:extLst>
              <a:ext uri="{FF2B5EF4-FFF2-40B4-BE49-F238E27FC236}">
                <a16:creationId xmlns:a16="http://schemas.microsoft.com/office/drawing/2014/main" id="{F49AD2E6-6C8C-1EBE-07A3-8350290A5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7866" y="5992183"/>
            <a:ext cx="437029" cy="437029"/>
          </a:xfrm>
          <a:prstGeom prst="rect">
            <a:avLst/>
          </a:prstGeom>
        </p:spPr>
      </p:pic>
      <p:pic>
        <p:nvPicPr>
          <p:cNvPr id="5" name="Gráfico 4" descr="Cursor com preenchimento sólido">
            <a:extLst>
              <a:ext uri="{FF2B5EF4-FFF2-40B4-BE49-F238E27FC236}">
                <a16:creationId xmlns:a16="http://schemas.microsoft.com/office/drawing/2014/main" id="{BF3A832F-A508-D0AD-B386-6A408535BF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37866" y="6090925"/>
            <a:ext cx="820935" cy="820935"/>
          </a:xfrm>
          <a:prstGeom prst="rect">
            <a:avLst/>
          </a:prstGeom>
        </p:spPr>
      </p:pic>
      <p:sp>
        <p:nvSpPr>
          <p:cNvPr id="6" name="Google Shape;572;p32">
            <a:extLst>
              <a:ext uri="{FF2B5EF4-FFF2-40B4-BE49-F238E27FC236}">
                <a16:creationId xmlns:a16="http://schemas.microsoft.com/office/drawing/2014/main" id="{C6897CB0-2B32-C90D-9866-C6B850743B99}"/>
              </a:ext>
            </a:extLst>
          </p:cNvPr>
          <p:cNvSpPr/>
          <p:nvPr/>
        </p:nvSpPr>
        <p:spPr>
          <a:xfrm>
            <a:off x="7610858" y="2679459"/>
            <a:ext cx="4027864" cy="3050899"/>
          </a:xfrm>
          <a:prstGeom prst="rect">
            <a:avLst/>
          </a:prstGeom>
          <a:solidFill>
            <a:srgbClr val="1D2236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71;p32">
            <a:extLst>
              <a:ext uri="{FF2B5EF4-FFF2-40B4-BE49-F238E27FC236}">
                <a16:creationId xmlns:a16="http://schemas.microsoft.com/office/drawing/2014/main" id="{21CBF281-DD32-0F51-35C0-034101D2615A}"/>
              </a:ext>
            </a:extLst>
          </p:cNvPr>
          <p:cNvSpPr/>
          <p:nvPr/>
        </p:nvSpPr>
        <p:spPr>
          <a:xfrm>
            <a:off x="7207898" y="2573435"/>
            <a:ext cx="4341371" cy="2973428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1D22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50" name="Picture 2" descr="Compartilhando | Modelo Espiral">
            <a:extLst>
              <a:ext uri="{FF2B5EF4-FFF2-40B4-BE49-F238E27FC236}">
                <a16:creationId xmlns:a16="http://schemas.microsoft.com/office/drawing/2014/main" id="{3A3BE09A-5F9F-81FB-D4CE-48DE53D50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625" y="2679459"/>
            <a:ext cx="4036419" cy="270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/>
          <p:cNvSpPr/>
          <p:nvPr/>
        </p:nvSpPr>
        <p:spPr>
          <a:xfrm>
            <a:off x="6650424" y="1852500"/>
            <a:ext cx="4665600" cy="3506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4"/>
          <p:cNvSpPr txBox="1">
            <a:spLocks noGrp="1"/>
          </p:cNvSpPr>
          <p:nvPr>
            <p:ph type="title" idx="4294967295"/>
          </p:nvPr>
        </p:nvSpPr>
        <p:spPr>
          <a:xfrm>
            <a:off x="843225" y="2205686"/>
            <a:ext cx="5322600" cy="200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>
                <a:latin typeface="+mj-lt"/>
              </a:rPr>
              <a:t>2.1. </a:t>
            </a:r>
            <a:r>
              <a:rPr lang="en" sz="57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Planejamento.</a:t>
            </a:r>
            <a:endParaRPr sz="5700" dirty="0">
              <a:solidFill>
                <a:schemeClr val="lt2"/>
              </a:solidFill>
              <a:highlight>
                <a:schemeClr val="accent3"/>
              </a:highlight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700" dirty="0"/>
          </a:p>
        </p:txBody>
      </p:sp>
      <p:sp>
        <p:nvSpPr>
          <p:cNvPr id="596" name="Google Shape;596;p34"/>
          <p:cNvSpPr txBox="1">
            <a:spLocks noGrp="1"/>
          </p:cNvSpPr>
          <p:nvPr>
            <p:ph type="body" idx="4294967295"/>
          </p:nvPr>
        </p:nvSpPr>
        <p:spPr>
          <a:xfrm>
            <a:off x="914900" y="3995325"/>
            <a:ext cx="5322600" cy="144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Durante a fase de planejamento, os objetivos do projeto são estabelecidos e os requisitos são identificados.</a:t>
            </a:r>
            <a:endParaRPr lang="pt-BR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598" name="Google Shape;598;p3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cxnSp>
        <p:nvCxnSpPr>
          <p:cNvPr id="599" name="Google Shape;599;p34"/>
          <p:cNvCxnSpPr/>
          <p:nvPr/>
        </p:nvCxnSpPr>
        <p:spPr>
          <a:xfrm rot="10800000">
            <a:off x="683750" y="1321375"/>
            <a:ext cx="0" cy="4815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0" name="Google Shape;600;p34"/>
          <p:cNvGrpSpPr/>
          <p:nvPr/>
        </p:nvGrpSpPr>
        <p:grpSpPr>
          <a:xfrm>
            <a:off x="4653125" y="1952875"/>
            <a:ext cx="737725" cy="887475"/>
            <a:chOff x="4038950" y="1664675"/>
            <a:chExt cx="737725" cy="887475"/>
          </a:xfrm>
        </p:grpSpPr>
        <p:sp>
          <p:nvSpPr>
            <p:cNvPr id="601" name="Google Shape;601;p34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34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34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7" name="Google Shape;607;p34"/>
          <p:cNvCxnSpPr/>
          <p:nvPr/>
        </p:nvCxnSpPr>
        <p:spPr>
          <a:xfrm>
            <a:off x="3160913" y="601238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8" name="Google Shape;608;p34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4"/>
          <p:cNvSpPr/>
          <p:nvPr/>
        </p:nvSpPr>
        <p:spPr>
          <a:xfrm>
            <a:off x="11127815" y="603223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9788916" y="602847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9193674" y="6028470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4" name="Google Shape;614;p34"/>
          <p:cNvCxnSpPr/>
          <p:nvPr/>
        </p:nvCxnSpPr>
        <p:spPr>
          <a:xfrm rot="10800000">
            <a:off x="4604537" y="6221743"/>
            <a:ext cx="43941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p34"/>
          <p:cNvSpPr/>
          <p:nvPr/>
        </p:nvSpPr>
        <p:spPr>
          <a:xfrm>
            <a:off x="11179647" y="592506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34"/>
          <p:cNvSpPr/>
          <p:nvPr/>
        </p:nvSpPr>
        <p:spPr>
          <a:xfrm>
            <a:off x="9809106" y="5952997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4"/>
          <p:cNvSpPr/>
          <p:nvPr/>
        </p:nvSpPr>
        <p:spPr>
          <a:xfrm>
            <a:off x="9245506" y="5921305"/>
            <a:ext cx="497400" cy="515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8" name="Google Shape;618;p34"/>
          <p:cNvGrpSpPr/>
          <p:nvPr/>
        </p:nvGrpSpPr>
        <p:grpSpPr>
          <a:xfrm>
            <a:off x="11287175" y="149950"/>
            <a:ext cx="737725" cy="887475"/>
            <a:chOff x="4038950" y="1664675"/>
            <a:chExt cx="737725" cy="887475"/>
          </a:xfrm>
        </p:grpSpPr>
        <p:sp>
          <p:nvSpPr>
            <p:cNvPr id="619" name="Google Shape;619;p34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28B5B0C1-9E02-9C7F-F581-8EFFAD016183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150" name="Picture 6" descr="Imagens de planejamento png - Gifs.eco.br">
            <a:extLst>
              <a:ext uri="{FF2B5EF4-FFF2-40B4-BE49-F238E27FC236}">
                <a16:creationId xmlns:a16="http://schemas.microsoft.com/office/drawing/2014/main" id="{A63A9FF5-BB0A-C197-6DDA-D82493019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18" y="2417507"/>
            <a:ext cx="4299865" cy="2450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áfico 10" descr="Voltar com preenchimento sólido">
            <a:extLst>
              <a:ext uri="{FF2B5EF4-FFF2-40B4-BE49-F238E27FC236}">
                <a16:creationId xmlns:a16="http://schemas.microsoft.com/office/drawing/2014/main" id="{FF60162B-9D40-6547-02A2-54B612CC6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12" name="Gráfico 11" descr="Voltar com preenchimento sólido">
            <a:extLst>
              <a:ext uri="{FF2B5EF4-FFF2-40B4-BE49-F238E27FC236}">
                <a16:creationId xmlns:a16="http://schemas.microsoft.com/office/drawing/2014/main" id="{8FF27E8A-4187-1B19-5401-AE618EA94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37866" y="5992183"/>
            <a:ext cx="437029" cy="437029"/>
          </a:xfrm>
          <a:prstGeom prst="rect">
            <a:avLst/>
          </a:prstGeom>
        </p:spPr>
      </p:pic>
      <p:pic>
        <p:nvPicPr>
          <p:cNvPr id="13" name="Gráfico 12" descr="Cursor com preenchimento sólido">
            <a:extLst>
              <a:ext uri="{FF2B5EF4-FFF2-40B4-BE49-F238E27FC236}">
                <a16:creationId xmlns:a16="http://schemas.microsoft.com/office/drawing/2014/main" id="{668378C9-4A84-E9DE-577C-0EAF3E2A59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37866" y="6090925"/>
            <a:ext cx="820935" cy="82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5"/>
          <p:cNvSpPr/>
          <p:nvPr/>
        </p:nvSpPr>
        <p:spPr>
          <a:xfrm>
            <a:off x="484375" y="1341714"/>
            <a:ext cx="5388000" cy="40854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5"/>
          <p:cNvSpPr txBox="1">
            <a:spLocks noGrp="1"/>
          </p:cNvSpPr>
          <p:nvPr>
            <p:ph type="title" idx="4294967295"/>
          </p:nvPr>
        </p:nvSpPr>
        <p:spPr>
          <a:xfrm>
            <a:off x="6137459" y="984271"/>
            <a:ext cx="7577438" cy="1498722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+mj-lt"/>
              </a:rPr>
              <a:t>2.2</a:t>
            </a:r>
            <a:br>
              <a:rPr lang="en-US" sz="5400" dirty="0">
                <a:latin typeface="+mj-lt"/>
              </a:rPr>
            </a:br>
            <a:r>
              <a:rPr lang="en-US" sz="5400" dirty="0" err="1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análise</a:t>
            </a:r>
            <a:r>
              <a:rPr lang="en-US" sz="54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 de </a:t>
            </a:r>
            <a:r>
              <a:rPr lang="en-US" sz="5400" dirty="0" err="1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riscos</a:t>
            </a:r>
            <a:endParaRPr lang="en-US" sz="5400" dirty="0">
              <a:latin typeface="+mj-lt"/>
            </a:endParaRPr>
          </a:p>
        </p:txBody>
      </p:sp>
      <p:sp>
        <p:nvSpPr>
          <p:cNvPr id="629" name="Google Shape;629;p35"/>
          <p:cNvSpPr txBox="1">
            <a:spLocks noGrp="1"/>
          </p:cNvSpPr>
          <p:nvPr>
            <p:ph type="body" idx="4294967295"/>
          </p:nvPr>
        </p:nvSpPr>
        <p:spPr>
          <a:xfrm>
            <a:off x="6096000" y="2719989"/>
            <a:ext cx="4568427" cy="97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Em seguida, ocorre a análise de riscos, onde são identificados e avaliados os potenciais problemas e obstáculos que podem surgir ao longo do desenvolvimento.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0" name="Google Shape;630;p3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631" name="Google Shape;631;p35"/>
          <p:cNvGrpSpPr/>
          <p:nvPr/>
        </p:nvGrpSpPr>
        <p:grpSpPr>
          <a:xfrm>
            <a:off x="11275725" y="156800"/>
            <a:ext cx="737725" cy="887475"/>
            <a:chOff x="4038950" y="1664675"/>
            <a:chExt cx="737725" cy="887475"/>
          </a:xfrm>
        </p:grpSpPr>
        <p:sp>
          <p:nvSpPr>
            <p:cNvPr id="632" name="Google Shape;632;p35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5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5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5" name="Google Shape;635;p35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5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35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8" name="Google Shape;638;p35"/>
          <p:cNvCxnSpPr/>
          <p:nvPr/>
        </p:nvCxnSpPr>
        <p:spPr>
          <a:xfrm>
            <a:off x="3160913" y="601238"/>
            <a:ext cx="270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9" name="Google Shape;639;p35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5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5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BC8D0B-27F2-74D5-9B3C-D7F289078D57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653021A-A39B-41E7-5903-22412EB7E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97" y="1184449"/>
            <a:ext cx="5526862" cy="397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áfico 3" descr="Voltar com preenchimento sólido">
            <a:extLst>
              <a:ext uri="{FF2B5EF4-FFF2-40B4-BE49-F238E27FC236}">
                <a16:creationId xmlns:a16="http://schemas.microsoft.com/office/drawing/2014/main" id="{A9812FA7-66EA-351F-A314-FB739E416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413" y="347675"/>
            <a:ext cx="399600" cy="399600"/>
          </a:xfrm>
          <a:prstGeom prst="rect">
            <a:avLst/>
          </a:prstGeom>
        </p:spPr>
      </p:pic>
      <p:pic>
        <p:nvPicPr>
          <p:cNvPr id="5" name="Gráfico 4" descr="Voltar com preenchimento sólido">
            <a:extLst>
              <a:ext uri="{FF2B5EF4-FFF2-40B4-BE49-F238E27FC236}">
                <a16:creationId xmlns:a16="http://schemas.microsoft.com/office/drawing/2014/main" id="{2760A0C9-DE15-8809-DA56-E548AF45AE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31854" y="328960"/>
            <a:ext cx="437029" cy="437029"/>
          </a:xfrm>
          <a:prstGeom prst="rect">
            <a:avLst/>
          </a:prstGeom>
        </p:spPr>
      </p:pic>
      <p:pic>
        <p:nvPicPr>
          <p:cNvPr id="6" name="Gráfico 5" descr="Cursor com preenchimento sólido">
            <a:extLst>
              <a:ext uri="{FF2B5EF4-FFF2-40B4-BE49-F238E27FC236}">
                <a16:creationId xmlns:a16="http://schemas.microsoft.com/office/drawing/2014/main" id="{2B9B5D81-0517-3528-519C-5BA127885A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8288" y="355521"/>
            <a:ext cx="820935" cy="82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6"/>
          <p:cNvSpPr/>
          <p:nvPr/>
        </p:nvSpPr>
        <p:spPr>
          <a:xfrm>
            <a:off x="6247750" y="677450"/>
            <a:ext cx="5170500" cy="5877000"/>
          </a:xfrm>
          <a:prstGeom prst="rect">
            <a:avLst/>
          </a:prstGeom>
          <a:solidFill>
            <a:srgbClr val="1D2236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6"/>
          <p:cNvSpPr txBox="1">
            <a:spLocks noGrp="1"/>
          </p:cNvSpPr>
          <p:nvPr>
            <p:ph type="title"/>
          </p:nvPr>
        </p:nvSpPr>
        <p:spPr>
          <a:xfrm>
            <a:off x="773750" y="1278527"/>
            <a:ext cx="4851798" cy="160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5700" dirty="0">
                <a:latin typeface="+mj-lt"/>
              </a:rPr>
              <a:t>2.3 </a:t>
            </a:r>
            <a:br>
              <a:rPr lang="en" sz="5700" dirty="0">
                <a:latin typeface="+mj-lt"/>
              </a:rPr>
            </a:br>
            <a:r>
              <a:rPr lang="en" sz="57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Engenharia</a:t>
            </a:r>
            <a:r>
              <a:rPr lang="en" sz="5700" dirty="0">
                <a:latin typeface="+mj-lt"/>
              </a:rPr>
              <a:t> </a:t>
            </a:r>
            <a:endParaRPr sz="5700" dirty="0">
              <a:latin typeface="+mj-lt"/>
            </a:endParaRPr>
          </a:p>
        </p:txBody>
      </p:sp>
      <p:sp>
        <p:nvSpPr>
          <p:cNvPr id="648" name="Google Shape;648;p36"/>
          <p:cNvSpPr txBox="1">
            <a:spLocks noGrp="1"/>
          </p:cNvSpPr>
          <p:nvPr>
            <p:ph type="body" idx="4294967295"/>
          </p:nvPr>
        </p:nvSpPr>
        <p:spPr>
          <a:xfrm>
            <a:off x="650771" y="2975473"/>
            <a:ext cx="5170500" cy="26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fase de engenharia, o sistema é projetado, implementado e testado de acordo com os requisitos definidos.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</a:pPr>
            <a:endParaRPr dirty="0"/>
          </a:p>
        </p:txBody>
      </p:sp>
      <p:sp>
        <p:nvSpPr>
          <p:cNvPr id="650" name="Google Shape;650;p3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cxnSp>
        <p:nvCxnSpPr>
          <p:cNvPr id="651" name="Google Shape;651;p36"/>
          <p:cNvCxnSpPr/>
          <p:nvPr/>
        </p:nvCxnSpPr>
        <p:spPr>
          <a:xfrm rot="10800000">
            <a:off x="683750" y="1321375"/>
            <a:ext cx="0" cy="4815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36"/>
          <p:cNvSpPr/>
          <p:nvPr/>
        </p:nvSpPr>
        <p:spPr>
          <a:xfrm>
            <a:off x="303900" y="411727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6"/>
          <p:cNvSpPr/>
          <p:nvPr/>
        </p:nvSpPr>
        <p:spPr>
          <a:xfrm>
            <a:off x="1079131" y="407965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6"/>
          <p:cNvSpPr/>
          <p:nvPr/>
        </p:nvSpPr>
        <p:spPr>
          <a:xfrm>
            <a:off x="2416758" y="407965"/>
            <a:ext cx="497400" cy="5154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5" name="Google Shape;655;p36"/>
          <p:cNvCxnSpPr/>
          <p:nvPr/>
        </p:nvCxnSpPr>
        <p:spPr>
          <a:xfrm>
            <a:off x="3160913" y="601238"/>
            <a:ext cx="270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6" name="Google Shape;656;p36"/>
          <p:cNvSpPr/>
          <p:nvPr/>
        </p:nvSpPr>
        <p:spPr>
          <a:xfrm>
            <a:off x="355732" y="304562"/>
            <a:ext cx="675900" cy="51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6"/>
          <p:cNvSpPr/>
          <p:nvPr/>
        </p:nvSpPr>
        <p:spPr>
          <a:xfrm>
            <a:off x="1130963" y="300800"/>
            <a:ext cx="1239600" cy="51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36"/>
          <p:cNvSpPr/>
          <p:nvPr/>
        </p:nvSpPr>
        <p:spPr>
          <a:xfrm>
            <a:off x="2468589" y="300800"/>
            <a:ext cx="497400" cy="5154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CA51A04-659A-2BA8-B126-DAC4F0AA43AB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6" name="Picture 2" descr="Engenharia de Software: área da tecnologia é considerada uma das profissões  do futuro - Mundo RH">
            <a:extLst>
              <a:ext uri="{FF2B5EF4-FFF2-40B4-BE49-F238E27FC236}">
                <a16:creationId xmlns:a16="http://schemas.microsoft.com/office/drawing/2014/main" id="{7DEDC90B-ACAC-3159-B26B-16AEAC2CD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837" y="558500"/>
            <a:ext cx="5161295" cy="58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áfico 3" descr="Voltar com preenchimento sólido">
            <a:extLst>
              <a:ext uri="{FF2B5EF4-FFF2-40B4-BE49-F238E27FC236}">
                <a16:creationId xmlns:a16="http://schemas.microsoft.com/office/drawing/2014/main" id="{23193D0E-1091-5118-E701-CBE226630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413" y="347675"/>
            <a:ext cx="399600" cy="399600"/>
          </a:xfrm>
          <a:prstGeom prst="rect">
            <a:avLst/>
          </a:prstGeom>
        </p:spPr>
      </p:pic>
      <p:pic>
        <p:nvPicPr>
          <p:cNvPr id="5" name="Gráfico 4" descr="Voltar com preenchimento sólido">
            <a:extLst>
              <a:ext uri="{FF2B5EF4-FFF2-40B4-BE49-F238E27FC236}">
                <a16:creationId xmlns:a16="http://schemas.microsoft.com/office/drawing/2014/main" id="{BAE407D6-EB9E-21DA-5311-A7FD920537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1854" y="328960"/>
            <a:ext cx="437029" cy="437029"/>
          </a:xfrm>
          <a:prstGeom prst="rect">
            <a:avLst/>
          </a:prstGeom>
        </p:spPr>
      </p:pic>
      <p:pic>
        <p:nvPicPr>
          <p:cNvPr id="6" name="Gráfico 5" descr="Cursor com preenchimento sólido">
            <a:extLst>
              <a:ext uri="{FF2B5EF4-FFF2-40B4-BE49-F238E27FC236}">
                <a16:creationId xmlns:a16="http://schemas.microsoft.com/office/drawing/2014/main" id="{15153E68-4F60-8B1B-5F2D-5A4B4F2277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8288" y="355521"/>
            <a:ext cx="820935" cy="82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44"/>
          <p:cNvSpPr txBox="1">
            <a:spLocks noGrp="1"/>
          </p:cNvSpPr>
          <p:nvPr>
            <p:ph type="title"/>
          </p:nvPr>
        </p:nvSpPr>
        <p:spPr>
          <a:xfrm>
            <a:off x="658396" y="1185110"/>
            <a:ext cx="6308400" cy="173357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latin typeface="+mj-lt"/>
              </a:rPr>
              <a:t>2.4</a:t>
            </a:r>
            <a:br>
              <a:rPr lang="en" sz="5400" dirty="0">
                <a:latin typeface="+mj-lt"/>
              </a:rPr>
            </a:br>
            <a:r>
              <a:rPr lang="en" sz="54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Avaliação</a:t>
            </a:r>
            <a:endParaRPr sz="5400" dirty="0">
              <a:solidFill>
                <a:schemeClr val="lt2"/>
              </a:solidFill>
              <a:highlight>
                <a:schemeClr val="accent3"/>
              </a:highlight>
              <a:latin typeface="+mj-lt"/>
            </a:endParaRPr>
          </a:p>
        </p:txBody>
      </p:sp>
      <p:sp>
        <p:nvSpPr>
          <p:cNvPr id="1055" name="Google Shape;1055;p4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E02258B-A5CF-5E6C-6ABC-849B8DD6107F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0FA011-523A-FC9E-22C3-65ADE1251CF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3205" y="3018476"/>
            <a:ext cx="5003621" cy="1341600"/>
          </a:xfrm>
        </p:spPr>
        <p:txBody>
          <a:bodyPr/>
          <a:lstStyle/>
          <a:p>
            <a:pPr marL="107950" indent="0"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Finalmente, na fase de avaliação, o sistema é revisado e avaliado para garantir sua conformidade com os requisitos e para identificar possíveis melhorias.</a:t>
            </a:r>
            <a:endParaRPr lang="pt-BR" dirty="0"/>
          </a:p>
        </p:txBody>
      </p:sp>
      <p:sp>
        <p:nvSpPr>
          <p:cNvPr id="7" name="Google Shape;646;p36">
            <a:extLst>
              <a:ext uri="{FF2B5EF4-FFF2-40B4-BE49-F238E27FC236}">
                <a16:creationId xmlns:a16="http://schemas.microsoft.com/office/drawing/2014/main" id="{97BEE351-D799-F37D-DBFF-D3D297C996D3}"/>
              </a:ext>
            </a:extLst>
          </p:cNvPr>
          <p:cNvSpPr/>
          <p:nvPr/>
        </p:nvSpPr>
        <p:spPr>
          <a:xfrm>
            <a:off x="5607070" y="1679713"/>
            <a:ext cx="4782970" cy="2828606"/>
          </a:xfrm>
          <a:prstGeom prst="rect">
            <a:avLst/>
          </a:prstGeom>
          <a:solidFill>
            <a:srgbClr val="1D2236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Como avaliar o desempenho do sistema de cobrança? Aprenda aqui! – Blog da  Tactium">
            <a:extLst>
              <a:ext uri="{FF2B5EF4-FFF2-40B4-BE49-F238E27FC236}">
                <a16:creationId xmlns:a16="http://schemas.microsoft.com/office/drawing/2014/main" id="{E004AD53-B844-CDD0-2934-CF64BE9FD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826" y="1356872"/>
            <a:ext cx="4782970" cy="282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áfico 8" descr="Voltar com preenchimento sólido">
            <a:extLst>
              <a:ext uri="{FF2B5EF4-FFF2-40B4-BE49-F238E27FC236}">
                <a16:creationId xmlns:a16="http://schemas.microsoft.com/office/drawing/2014/main" id="{38A15241-FBC2-6B0C-030D-4366DCC93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283" y="327797"/>
            <a:ext cx="653952" cy="653952"/>
          </a:xfrm>
          <a:prstGeom prst="rect">
            <a:avLst/>
          </a:prstGeom>
        </p:spPr>
      </p:pic>
      <p:pic>
        <p:nvPicPr>
          <p:cNvPr id="11" name="Gráfico 10" descr="Voltar com preenchimento sólido">
            <a:extLst>
              <a:ext uri="{FF2B5EF4-FFF2-40B4-BE49-F238E27FC236}">
                <a16:creationId xmlns:a16="http://schemas.microsoft.com/office/drawing/2014/main" id="{56F5DC1F-F9C1-C3D6-3956-6A3836697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8718" y="422533"/>
            <a:ext cx="559216" cy="559216"/>
          </a:xfrm>
          <a:prstGeom prst="rect">
            <a:avLst/>
          </a:prstGeom>
        </p:spPr>
      </p:pic>
      <p:pic>
        <p:nvPicPr>
          <p:cNvPr id="12" name="Gráfico 11" descr="Cursor com preenchimento sólido">
            <a:extLst>
              <a:ext uri="{FF2B5EF4-FFF2-40B4-BE49-F238E27FC236}">
                <a16:creationId xmlns:a16="http://schemas.microsoft.com/office/drawing/2014/main" id="{AAB8DF45-C429-BFC1-3BB3-259B4C8BE9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7466" y="702141"/>
            <a:ext cx="977572" cy="9775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6"/>
          <p:cNvSpPr txBox="1">
            <a:spLocks noGrp="1"/>
          </p:cNvSpPr>
          <p:nvPr>
            <p:ph type="body" idx="1"/>
          </p:nvPr>
        </p:nvSpPr>
        <p:spPr>
          <a:xfrm>
            <a:off x="4517249" y="2862469"/>
            <a:ext cx="6323400" cy="296186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795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Por conta de ser um modelo muito usado ele pode ter tanto suas vantagens quanto suas desvantagens na qual será citada a seguir.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0" name="Google Shape;500;p26"/>
          <p:cNvSpPr txBox="1">
            <a:spLocks noGrp="1"/>
          </p:cNvSpPr>
          <p:nvPr>
            <p:ph type="title"/>
          </p:nvPr>
        </p:nvSpPr>
        <p:spPr>
          <a:xfrm>
            <a:off x="4517249" y="1830099"/>
            <a:ext cx="8898667" cy="1201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dirty="0">
                <a:latin typeface="+mj-lt"/>
              </a:rPr>
              <a:t>Vantagens e Desvantagens</a:t>
            </a:r>
          </a:p>
        </p:txBody>
      </p:sp>
      <p:sp>
        <p:nvSpPr>
          <p:cNvPr id="501" name="Google Shape;501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1123863" y="1905046"/>
            <a:ext cx="3149100" cy="31890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1246006" y="1830233"/>
            <a:ext cx="3149100" cy="3189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2158444" y="2554809"/>
            <a:ext cx="1079938" cy="17398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pt-BR" b="1" i="0" dirty="0">
                <a:ln>
                  <a:noFill/>
                </a:ln>
                <a:solidFill>
                  <a:schemeClr val="dk1"/>
                </a:solidFill>
                <a:latin typeface="+mj-lt"/>
              </a:rPr>
              <a:t>3</a:t>
            </a:r>
            <a:endParaRPr b="1" i="0" dirty="0">
              <a:ln>
                <a:noFill/>
              </a:ln>
              <a:solidFill>
                <a:schemeClr val="dk1"/>
              </a:solidFill>
              <a:latin typeface="+mj-lt"/>
            </a:endParaRPr>
          </a:p>
        </p:txBody>
      </p:sp>
      <p:pic>
        <p:nvPicPr>
          <p:cNvPr id="2" name="Gráfico 1" descr="Voltar com preenchimento sólido">
            <a:extLst>
              <a:ext uri="{FF2B5EF4-FFF2-40B4-BE49-F238E27FC236}">
                <a16:creationId xmlns:a16="http://schemas.microsoft.com/office/drawing/2014/main" id="{8C106A83-15E1-4DAD-C159-A33F1267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7866" y="5896105"/>
            <a:ext cx="437029" cy="437029"/>
          </a:xfrm>
          <a:prstGeom prst="rect">
            <a:avLst/>
          </a:prstGeom>
        </p:spPr>
      </p:pic>
      <p:pic>
        <p:nvPicPr>
          <p:cNvPr id="3" name="Gráfico 2" descr="Voltar com preenchimento sólido">
            <a:extLst>
              <a:ext uri="{FF2B5EF4-FFF2-40B4-BE49-F238E27FC236}">
                <a16:creationId xmlns:a16="http://schemas.microsoft.com/office/drawing/2014/main" id="{F0E8F20D-0090-C122-06BC-7F05BAF741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4" name="Gráfico 3" descr="Cursor com preenchimento sólido">
            <a:extLst>
              <a:ext uri="{FF2B5EF4-FFF2-40B4-BE49-F238E27FC236}">
                <a16:creationId xmlns:a16="http://schemas.microsoft.com/office/drawing/2014/main" id="{5502099F-5E72-AD71-7F7E-3856AB7104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82381" y="5999636"/>
            <a:ext cx="858364" cy="85836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B9A63E4-1944-491C-6D15-1494E43713C0}"/>
              </a:ext>
            </a:extLst>
          </p:cNvPr>
          <p:cNvSpPr/>
          <p:nvPr/>
        </p:nvSpPr>
        <p:spPr>
          <a:xfrm>
            <a:off x="51255" y="5299631"/>
            <a:ext cx="361950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42125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6" name="Google Shape;956;p41"/>
          <p:cNvCxnSpPr/>
          <p:nvPr/>
        </p:nvCxnSpPr>
        <p:spPr>
          <a:xfrm rot="10800000">
            <a:off x="150" y="2500950"/>
            <a:ext cx="12174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7" name="Google Shape;957;p41"/>
          <p:cNvSpPr/>
          <p:nvPr/>
        </p:nvSpPr>
        <p:spPr>
          <a:xfrm>
            <a:off x="415600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1"/>
          <p:cNvSpPr/>
          <p:nvPr/>
        </p:nvSpPr>
        <p:spPr>
          <a:xfrm>
            <a:off x="2775375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41"/>
          <p:cNvSpPr/>
          <p:nvPr/>
        </p:nvSpPr>
        <p:spPr>
          <a:xfrm>
            <a:off x="5135150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41"/>
          <p:cNvSpPr/>
          <p:nvPr/>
        </p:nvSpPr>
        <p:spPr>
          <a:xfrm>
            <a:off x="7494925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1"/>
          <p:cNvSpPr/>
          <p:nvPr/>
        </p:nvSpPr>
        <p:spPr>
          <a:xfrm>
            <a:off x="9854700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41"/>
          <p:cNvSpPr txBox="1">
            <a:spLocks noGrp="1"/>
          </p:cNvSpPr>
          <p:nvPr>
            <p:ph type="subTitle" idx="1"/>
          </p:nvPr>
        </p:nvSpPr>
        <p:spPr>
          <a:xfrm>
            <a:off x="415600" y="2302300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+mj-lt"/>
              </a:rPr>
              <a:t>Adaptação a Mudanas</a:t>
            </a:r>
            <a:endParaRPr sz="1600" dirty="0">
              <a:latin typeface="+mj-lt"/>
            </a:endParaRPr>
          </a:p>
        </p:txBody>
      </p:sp>
      <p:grpSp>
        <p:nvGrpSpPr>
          <p:cNvPr id="963" name="Google Shape;963;p41"/>
          <p:cNvGrpSpPr/>
          <p:nvPr/>
        </p:nvGrpSpPr>
        <p:grpSpPr>
          <a:xfrm>
            <a:off x="410323" y="2975950"/>
            <a:ext cx="1997735" cy="2485631"/>
            <a:chOff x="1426375" y="2044125"/>
            <a:chExt cx="1590300" cy="1562700"/>
          </a:xfrm>
        </p:grpSpPr>
        <p:sp>
          <p:nvSpPr>
            <p:cNvPr id="964" name="Google Shape;964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41"/>
          <p:cNvGrpSpPr/>
          <p:nvPr/>
        </p:nvGrpSpPr>
        <p:grpSpPr>
          <a:xfrm>
            <a:off x="2753726" y="2975950"/>
            <a:ext cx="1997735" cy="2485631"/>
            <a:chOff x="1426375" y="2044125"/>
            <a:chExt cx="1590300" cy="1562700"/>
          </a:xfrm>
        </p:grpSpPr>
        <p:sp>
          <p:nvSpPr>
            <p:cNvPr id="967" name="Google Shape;967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41"/>
          <p:cNvGrpSpPr/>
          <p:nvPr/>
        </p:nvGrpSpPr>
        <p:grpSpPr>
          <a:xfrm>
            <a:off x="5097129" y="2975950"/>
            <a:ext cx="1997735" cy="2485631"/>
            <a:chOff x="1426375" y="2044125"/>
            <a:chExt cx="1590300" cy="1562700"/>
          </a:xfrm>
        </p:grpSpPr>
        <p:sp>
          <p:nvSpPr>
            <p:cNvPr id="970" name="Google Shape;970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2" name="Google Shape;972;p41"/>
          <p:cNvGrpSpPr/>
          <p:nvPr/>
        </p:nvGrpSpPr>
        <p:grpSpPr>
          <a:xfrm>
            <a:off x="7440532" y="2975950"/>
            <a:ext cx="1997735" cy="2485631"/>
            <a:chOff x="1426375" y="2044125"/>
            <a:chExt cx="1590300" cy="1562700"/>
          </a:xfrm>
        </p:grpSpPr>
        <p:sp>
          <p:nvSpPr>
            <p:cNvPr id="973" name="Google Shape;973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41"/>
          <p:cNvGrpSpPr/>
          <p:nvPr/>
        </p:nvGrpSpPr>
        <p:grpSpPr>
          <a:xfrm>
            <a:off x="9783935" y="2975950"/>
            <a:ext cx="1997735" cy="2485631"/>
            <a:chOff x="1426375" y="2044125"/>
            <a:chExt cx="1590300" cy="1562700"/>
          </a:xfrm>
        </p:grpSpPr>
        <p:sp>
          <p:nvSpPr>
            <p:cNvPr id="976" name="Google Shape;976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9" name="Google Shape;979;p41"/>
          <p:cNvSpPr txBox="1">
            <a:spLocks noGrp="1"/>
          </p:cNvSpPr>
          <p:nvPr>
            <p:ph type="body" idx="7"/>
          </p:nvPr>
        </p:nvSpPr>
        <p:spPr>
          <a:xfrm>
            <a:off x="2975745" y="2967905"/>
            <a:ext cx="1753200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Identifica e resolve riscos rapidamente, reduzindo a probabilidade de falhas significativas.</a:t>
            </a:r>
            <a:endParaRPr sz="1400" dirty="0"/>
          </a:p>
        </p:txBody>
      </p:sp>
      <p:sp>
        <p:nvSpPr>
          <p:cNvPr id="980" name="Google Shape;980;p41"/>
          <p:cNvSpPr txBox="1">
            <a:spLocks noGrp="1"/>
          </p:cNvSpPr>
          <p:nvPr>
            <p:ph type="subTitle" idx="2"/>
          </p:nvPr>
        </p:nvSpPr>
        <p:spPr>
          <a:xfrm>
            <a:off x="2775375" y="2302300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+mj-lt"/>
              </a:rPr>
              <a:t>Gestão de Riscos</a:t>
            </a:r>
            <a:endParaRPr sz="1600" dirty="0">
              <a:latin typeface="+mj-lt"/>
            </a:endParaRPr>
          </a:p>
        </p:txBody>
      </p:sp>
      <p:sp>
        <p:nvSpPr>
          <p:cNvPr id="981" name="Google Shape;981;p41"/>
          <p:cNvSpPr txBox="1">
            <a:spLocks noGrp="1"/>
          </p:cNvSpPr>
          <p:nvPr>
            <p:ph type="body" idx="8"/>
          </p:nvPr>
        </p:nvSpPr>
        <p:spPr>
          <a:xfrm>
            <a:off x="5266057" y="2912570"/>
            <a:ext cx="1866793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Permite a incorporação de feedback do usuário e do cliente em estágios iniciais do desenvolvimento.</a:t>
            </a:r>
            <a:endParaRPr sz="1400" dirty="0"/>
          </a:p>
        </p:txBody>
      </p:sp>
      <p:sp>
        <p:nvSpPr>
          <p:cNvPr id="982" name="Google Shape;982;p41"/>
          <p:cNvSpPr txBox="1">
            <a:spLocks noGrp="1"/>
          </p:cNvSpPr>
          <p:nvPr>
            <p:ph type="subTitle" idx="3"/>
          </p:nvPr>
        </p:nvSpPr>
        <p:spPr>
          <a:xfrm>
            <a:off x="5135151" y="2316621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+mj-lt"/>
              </a:rPr>
              <a:t>Feedback Contínuo</a:t>
            </a:r>
            <a:endParaRPr sz="1600" dirty="0">
              <a:latin typeface="+mj-lt"/>
            </a:endParaRPr>
          </a:p>
        </p:txBody>
      </p:sp>
      <p:sp>
        <p:nvSpPr>
          <p:cNvPr id="983" name="Google Shape;983;p41"/>
          <p:cNvSpPr txBox="1">
            <a:spLocks noGrp="1"/>
          </p:cNvSpPr>
          <p:nvPr>
            <p:ph type="body" idx="9"/>
          </p:nvPr>
        </p:nvSpPr>
        <p:spPr>
          <a:xfrm>
            <a:off x="7617942" y="3071323"/>
            <a:ext cx="1753200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Adequado para projetos onde os requisitos não são completamente compreendidos no início.</a:t>
            </a:r>
            <a:endParaRPr sz="1400" dirty="0"/>
          </a:p>
        </p:txBody>
      </p:sp>
      <p:sp>
        <p:nvSpPr>
          <p:cNvPr id="984" name="Google Shape;984;p41"/>
          <p:cNvSpPr txBox="1">
            <a:spLocks noGrp="1"/>
          </p:cNvSpPr>
          <p:nvPr>
            <p:ph type="subTitle" idx="4"/>
          </p:nvPr>
        </p:nvSpPr>
        <p:spPr>
          <a:xfrm>
            <a:off x="7494926" y="2316621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+mj-lt"/>
              </a:rPr>
              <a:t>Flexibilidade</a:t>
            </a:r>
            <a:endParaRPr sz="1600" dirty="0">
              <a:latin typeface="+mj-lt"/>
            </a:endParaRPr>
          </a:p>
        </p:txBody>
      </p:sp>
      <p:sp>
        <p:nvSpPr>
          <p:cNvPr id="985" name="Google Shape;985;p41"/>
          <p:cNvSpPr txBox="1">
            <a:spLocks noGrp="1"/>
          </p:cNvSpPr>
          <p:nvPr>
            <p:ph type="subTitle" idx="5"/>
          </p:nvPr>
        </p:nvSpPr>
        <p:spPr>
          <a:xfrm>
            <a:off x="9831813" y="2333478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latin typeface="+mj-lt"/>
              </a:rPr>
              <a:t>Ciclos de Desenvolvimento Mais Curtos</a:t>
            </a:r>
            <a:endParaRPr sz="1050" dirty="0">
              <a:latin typeface="+mj-lt"/>
            </a:endParaRPr>
          </a:p>
        </p:txBody>
      </p:sp>
      <p:sp>
        <p:nvSpPr>
          <p:cNvPr id="986" name="Google Shape;986;p41"/>
          <p:cNvSpPr txBox="1">
            <a:spLocks noGrp="1"/>
          </p:cNvSpPr>
          <p:nvPr>
            <p:ph type="body" idx="6"/>
          </p:nvPr>
        </p:nvSpPr>
        <p:spPr>
          <a:xfrm>
            <a:off x="443243" y="3052501"/>
            <a:ext cx="1753200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pc="7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Pode lidar eficazmente com requisitos em constante mudança.</a:t>
            </a:r>
            <a:endParaRPr lang="pt-BR" spc="75" dirty="0">
              <a:solidFill>
                <a:srgbClr val="5A5A5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7" name="Google Shape;987;p41"/>
          <p:cNvSpPr txBox="1">
            <a:spLocks noGrp="1"/>
          </p:cNvSpPr>
          <p:nvPr>
            <p:ph type="body" idx="13"/>
          </p:nvPr>
        </p:nvSpPr>
        <p:spPr>
          <a:xfrm>
            <a:off x="9969826" y="3071323"/>
            <a:ext cx="1753200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spc="7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Pode resultar em lançamentos mais rápidos e frequentes do produto.</a:t>
            </a:r>
            <a:endParaRPr lang="pt-BR" sz="1800" spc="75" dirty="0">
              <a:solidFill>
                <a:srgbClr val="5A5A5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8" name="Google Shape;988;p4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060A27F-614D-CFE8-69DB-961AC81BDC7E}"/>
              </a:ext>
            </a:extLst>
          </p:cNvPr>
          <p:cNvSpPr/>
          <p:nvPr/>
        </p:nvSpPr>
        <p:spPr>
          <a:xfrm>
            <a:off x="51255" y="5299631"/>
            <a:ext cx="286675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Google Shape;1046;p44">
            <a:extLst>
              <a:ext uri="{FF2B5EF4-FFF2-40B4-BE49-F238E27FC236}">
                <a16:creationId xmlns:a16="http://schemas.microsoft.com/office/drawing/2014/main" id="{1D102101-4219-B0E9-BFBE-9228DA3446F8}"/>
              </a:ext>
            </a:extLst>
          </p:cNvPr>
          <p:cNvSpPr txBox="1">
            <a:spLocks/>
          </p:cNvSpPr>
          <p:nvPr/>
        </p:nvSpPr>
        <p:spPr>
          <a:xfrm>
            <a:off x="1309542" y="228886"/>
            <a:ext cx="6308400" cy="1573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0" i="0" u="none" strike="noStrike" cap="none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l"/>
            <a:r>
              <a:rPr lang="pt-BR" sz="4400" dirty="0">
                <a:latin typeface="+mj-lt"/>
              </a:rPr>
              <a:t>3.1</a:t>
            </a:r>
            <a:br>
              <a:rPr lang="pt-BR" sz="5400" dirty="0">
                <a:latin typeface="+mj-lt"/>
              </a:rPr>
            </a:br>
            <a:r>
              <a:rPr lang="pt-BR" sz="5400" dirty="0">
                <a:latin typeface="+mj-lt"/>
              </a:rPr>
              <a:t>            </a:t>
            </a:r>
            <a:r>
              <a:rPr lang="pt-BR" sz="54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Vantagens</a:t>
            </a:r>
          </a:p>
        </p:txBody>
      </p:sp>
      <p:pic>
        <p:nvPicPr>
          <p:cNvPr id="6" name="Gráfico 5" descr="Voltar com preenchimento sólido">
            <a:extLst>
              <a:ext uri="{FF2B5EF4-FFF2-40B4-BE49-F238E27FC236}">
                <a16:creationId xmlns:a16="http://schemas.microsoft.com/office/drawing/2014/main" id="{87B5FB8B-ABA4-AE97-CB39-ADAE02539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7" name="Gráfico 6" descr="Voltar com preenchimento sólido">
            <a:extLst>
              <a:ext uri="{FF2B5EF4-FFF2-40B4-BE49-F238E27FC236}">
                <a16:creationId xmlns:a16="http://schemas.microsoft.com/office/drawing/2014/main" id="{29DEA3AC-5CB1-16C2-D6C0-9ED9AE1D9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7866" y="5896105"/>
            <a:ext cx="437029" cy="437029"/>
          </a:xfrm>
          <a:prstGeom prst="rect">
            <a:avLst/>
          </a:prstGeom>
        </p:spPr>
      </p:pic>
      <p:pic>
        <p:nvPicPr>
          <p:cNvPr id="8" name="Gráfico 7" descr="Cursor com preenchimento sólido">
            <a:extLst>
              <a:ext uri="{FF2B5EF4-FFF2-40B4-BE49-F238E27FC236}">
                <a16:creationId xmlns:a16="http://schemas.microsoft.com/office/drawing/2014/main" id="{AB3C4344-9CD6-3B1E-350E-043AAF80F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82381" y="5999636"/>
            <a:ext cx="858364" cy="858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6" name="Google Shape;956;p41"/>
          <p:cNvCxnSpPr/>
          <p:nvPr/>
        </p:nvCxnSpPr>
        <p:spPr>
          <a:xfrm rot="10800000">
            <a:off x="150" y="2500950"/>
            <a:ext cx="12174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7" name="Google Shape;957;p41"/>
          <p:cNvSpPr/>
          <p:nvPr/>
        </p:nvSpPr>
        <p:spPr>
          <a:xfrm>
            <a:off x="415600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1"/>
          <p:cNvSpPr/>
          <p:nvPr/>
        </p:nvSpPr>
        <p:spPr>
          <a:xfrm>
            <a:off x="2775375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41"/>
          <p:cNvSpPr/>
          <p:nvPr/>
        </p:nvSpPr>
        <p:spPr>
          <a:xfrm>
            <a:off x="5135150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41"/>
          <p:cNvSpPr/>
          <p:nvPr/>
        </p:nvSpPr>
        <p:spPr>
          <a:xfrm>
            <a:off x="7494925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1"/>
          <p:cNvSpPr/>
          <p:nvPr/>
        </p:nvSpPr>
        <p:spPr>
          <a:xfrm>
            <a:off x="9854700" y="2232900"/>
            <a:ext cx="1997700" cy="468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41"/>
          <p:cNvSpPr txBox="1">
            <a:spLocks noGrp="1"/>
          </p:cNvSpPr>
          <p:nvPr>
            <p:ph type="subTitle" idx="1"/>
          </p:nvPr>
        </p:nvSpPr>
        <p:spPr>
          <a:xfrm>
            <a:off x="415600" y="2302300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+mj-lt"/>
              </a:rPr>
              <a:t>Complexidade de Gestão</a:t>
            </a:r>
          </a:p>
        </p:txBody>
      </p:sp>
      <p:grpSp>
        <p:nvGrpSpPr>
          <p:cNvPr id="963" name="Google Shape;963;p41"/>
          <p:cNvGrpSpPr/>
          <p:nvPr/>
        </p:nvGrpSpPr>
        <p:grpSpPr>
          <a:xfrm>
            <a:off x="410323" y="2975950"/>
            <a:ext cx="1997735" cy="2485631"/>
            <a:chOff x="1426375" y="2044125"/>
            <a:chExt cx="1590300" cy="1562700"/>
          </a:xfrm>
        </p:grpSpPr>
        <p:sp>
          <p:nvSpPr>
            <p:cNvPr id="964" name="Google Shape;964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41"/>
          <p:cNvGrpSpPr/>
          <p:nvPr/>
        </p:nvGrpSpPr>
        <p:grpSpPr>
          <a:xfrm>
            <a:off x="2753726" y="2975950"/>
            <a:ext cx="1997735" cy="2485631"/>
            <a:chOff x="1426375" y="2044125"/>
            <a:chExt cx="1590300" cy="1562700"/>
          </a:xfrm>
        </p:grpSpPr>
        <p:sp>
          <p:nvSpPr>
            <p:cNvPr id="967" name="Google Shape;967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41"/>
          <p:cNvGrpSpPr/>
          <p:nvPr/>
        </p:nvGrpSpPr>
        <p:grpSpPr>
          <a:xfrm>
            <a:off x="5097129" y="2975950"/>
            <a:ext cx="1997735" cy="2485631"/>
            <a:chOff x="1426375" y="2044125"/>
            <a:chExt cx="1590300" cy="1562700"/>
          </a:xfrm>
        </p:grpSpPr>
        <p:sp>
          <p:nvSpPr>
            <p:cNvPr id="970" name="Google Shape;970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2" name="Google Shape;972;p41"/>
          <p:cNvGrpSpPr/>
          <p:nvPr/>
        </p:nvGrpSpPr>
        <p:grpSpPr>
          <a:xfrm>
            <a:off x="7440532" y="2975950"/>
            <a:ext cx="1997735" cy="2485631"/>
            <a:chOff x="1426375" y="2044125"/>
            <a:chExt cx="1590300" cy="1562700"/>
          </a:xfrm>
        </p:grpSpPr>
        <p:sp>
          <p:nvSpPr>
            <p:cNvPr id="973" name="Google Shape;973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41"/>
          <p:cNvGrpSpPr/>
          <p:nvPr/>
        </p:nvGrpSpPr>
        <p:grpSpPr>
          <a:xfrm>
            <a:off x="9783935" y="2975950"/>
            <a:ext cx="1997735" cy="2485631"/>
            <a:chOff x="1426375" y="2044125"/>
            <a:chExt cx="1590300" cy="1562700"/>
          </a:xfrm>
        </p:grpSpPr>
        <p:sp>
          <p:nvSpPr>
            <p:cNvPr id="976" name="Google Shape;976;p41"/>
            <p:cNvSpPr/>
            <p:nvPr/>
          </p:nvSpPr>
          <p:spPr>
            <a:xfrm>
              <a:off x="1426375" y="2120325"/>
              <a:ext cx="1514100" cy="1486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1502575" y="2044125"/>
              <a:ext cx="1514100" cy="14865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9" name="Google Shape;979;p41"/>
          <p:cNvSpPr txBox="1">
            <a:spLocks noGrp="1"/>
          </p:cNvSpPr>
          <p:nvPr>
            <p:ph type="body" idx="7"/>
          </p:nvPr>
        </p:nvSpPr>
        <p:spPr>
          <a:xfrm>
            <a:off x="2975745" y="2967905"/>
            <a:ext cx="1753200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modelo pode exigir mais recursos devido às iterações adicionais e à gestão de riscos.</a:t>
            </a:r>
            <a:endParaRPr sz="1200" dirty="0"/>
          </a:p>
        </p:txBody>
      </p:sp>
      <p:sp>
        <p:nvSpPr>
          <p:cNvPr id="980" name="Google Shape;980;p41"/>
          <p:cNvSpPr txBox="1">
            <a:spLocks noGrp="1"/>
          </p:cNvSpPr>
          <p:nvPr>
            <p:ph type="subTitle" idx="2"/>
          </p:nvPr>
        </p:nvSpPr>
        <p:spPr>
          <a:xfrm>
            <a:off x="2613348" y="2333478"/>
            <a:ext cx="2321754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+mj-lt"/>
              </a:rPr>
              <a:t>Custos Potencialmente Elevados</a:t>
            </a:r>
            <a:endParaRPr sz="1400" dirty="0">
              <a:latin typeface="+mj-lt"/>
            </a:endParaRPr>
          </a:p>
        </p:txBody>
      </p:sp>
      <p:sp>
        <p:nvSpPr>
          <p:cNvPr id="981" name="Google Shape;981;p41"/>
          <p:cNvSpPr txBox="1">
            <a:spLocks noGrp="1"/>
          </p:cNvSpPr>
          <p:nvPr>
            <p:ph type="body" idx="8"/>
          </p:nvPr>
        </p:nvSpPr>
        <p:spPr>
          <a:xfrm>
            <a:off x="5242369" y="3047206"/>
            <a:ext cx="1866793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Pode resultar em documentação excessiva, se não for controlada adequadamente.</a:t>
            </a:r>
            <a:endParaRPr sz="1200" dirty="0"/>
          </a:p>
        </p:txBody>
      </p:sp>
      <p:sp>
        <p:nvSpPr>
          <p:cNvPr id="982" name="Google Shape;982;p41"/>
          <p:cNvSpPr txBox="1">
            <a:spLocks noGrp="1"/>
          </p:cNvSpPr>
          <p:nvPr>
            <p:ph type="subTitle" idx="3"/>
          </p:nvPr>
        </p:nvSpPr>
        <p:spPr>
          <a:xfrm>
            <a:off x="5135151" y="2316621"/>
            <a:ext cx="199770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+mj-lt"/>
              </a:rPr>
              <a:t>Documentação Excessiva</a:t>
            </a:r>
            <a:endParaRPr sz="1600" dirty="0">
              <a:latin typeface="+mj-lt"/>
            </a:endParaRPr>
          </a:p>
        </p:txBody>
      </p:sp>
      <p:sp>
        <p:nvSpPr>
          <p:cNvPr id="983" name="Google Shape;983;p41"/>
          <p:cNvSpPr txBox="1">
            <a:spLocks noGrp="1"/>
          </p:cNvSpPr>
          <p:nvPr>
            <p:ph type="body" idx="9"/>
          </p:nvPr>
        </p:nvSpPr>
        <p:spPr>
          <a:xfrm>
            <a:off x="7617175" y="3038337"/>
            <a:ext cx="1753200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 iterações e mudanças podem tornar difícil prever com precisão o tempo e o custo total do projeto.</a:t>
            </a:r>
            <a:endParaRPr sz="1200" dirty="0"/>
          </a:p>
        </p:txBody>
      </p:sp>
      <p:sp>
        <p:nvSpPr>
          <p:cNvPr id="984" name="Google Shape;984;p41"/>
          <p:cNvSpPr txBox="1">
            <a:spLocks noGrp="1"/>
          </p:cNvSpPr>
          <p:nvPr>
            <p:ph type="subTitle" idx="4"/>
          </p:nvPr>
        </p:nvSpPr>
        <p:spPr>
          <a:xfrm>
            <a:off x="7332898" y="2314483"/>
            <a:ext cx="2281169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+mj-lt"/>
              </a:rPr>
              <a:t>Dificuldade na Estimativa de Tempo e Custos</a:t>
            </a:r>
            <a:endParaRPr sz="1200" dirty="0">
              <a:latin typeface="+mj-lt"/>
            </a:endParaRPr>
          </a:p>
        </p:txBody>
      </p:sp>
      <p:sp>
        <p:nvSpPr>
          <p:cNvPr id="985" name="Google Shape;985;p41"/>
          <p:cNvSpPr txBox="1">
            <a:spLocks noGrp="1"/>
          </p:cNvSpPr>
          <p:nvPr>
            <p:ph type="subTitle" idx="5"/>
          </p:nvPr>
        </p:nvSpPr>
        <p:spPr>
          <a:xfrm>
            <a:off x="9683644" y="2294084"/>
            <a:ext cx="2374310" cy="327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latin typeface="+mj-lt"/>
              </a:rPr>
              <a:t>Requer uma Equipe Mulidisciplinar e Envolvimento  Constante do Cliente</a:t>
            </a:r>
            <a:endParaRPr sz="1050" dirty="0">
              <a:latin typeface="+mj-lt"/>
            </a:endParaRPr>
          </a:p>
        </p:txBody>
      </p:sp>
      <p:sp>
        <p:nvSpPr>
          <p:cNvPr id="986" name="Google Shape;986;p41"/>
          <p:cNvSpPr txBox="1">
            <a:spLocks noGrp="1"/>
          </p:cNvSpPr>
          <p:nvPr>
            <p:ph type="body" idx="6"/>
          </p:nvPr>
        </p:nvSpPr>
        <p:spPr>
          <a:xfrm>
            <a:off x="481229" y="2896905"/>
            <a:ext cx="1869093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pc="75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Gerenciar múltiplas iterações e atividades pode ser complexo e exigir uma equipe experiente.</a:t>
            </a:r>
            <a:endParaRPr lang="pt-BR" spc="75" dirty="0">
              <a:solidFill>
                <a:srgbClr val="5A5A5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7" name="Google Shape;987;p41"/>
          <p:cNvSpPr txBox="1">
            <a:spLocks noGrp="1"/>
          </p:cNvSpPr>
          <p:nvPr>
            <p:ph type="body" idx="13"/>
          </p:nvPr>
        </p:nvSpPr>
        <p:spPr>
          <a:xfrm>
            <a:off x="9865359" y="3071323"/>
            <a:ext cx="1857667" cy="220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Nem todos os projetos podem garantir isso, o que pode levar a dificuldades de implementação.</a:t>
            </a:r>
            <a:endParaRPr lang="pt-BR" spc="75" dirty="0">
              <a:solidFill>
                <a:srgbClr val="5A5A5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8" name="Google Shape;988;p4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060A27F-614D-CFE8-69DB-961AC81BDC7E}"/>
              </a:ext>
            </a:extLst>
          </p:cNvPr>
          <p:cNvSpPr/>
          <p:nvPr/>
        </p:nvSpPr>
        <p:spPr>
          <a:xfrm>
            <a:off x="51255" y="5299631"/>
            <a:ext cx="286675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Google Shape;1046;p44">
            <a:extLst>
              <a:ext uri="{FF2B5EF4-FFF2-40B4-BE49-F238E27FC236}">
                <a16:creationId xmlns:a16="http://schemas.microsoft.com/office/drawing/2014/main" id="{1D102101-4219-B0E9-BFBE-9228DA3446F8}"/>
              </a:ext>
            </a:extLst>
          </p:cNvPr>
          <p:cNvSpPr txBox="1">
            <a:spLocks/>
          </p:cNvSpPr>
          <p:nvPr/>
        </p:nvSpPr>
        <p:spPr>
          <a:xfrm>
            <a:off x="1234379" y="254013"/>
            <a:ext cx="6842720" cy="1573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 sz="4000" b="0" i="0" u="none" strike="noStrike" cap="none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l"/>
            <a:r>
              <a:rPr lang="pt-BR" sz="4400" dirty="0">
                <a:latin typeface="+mj-lt"/>
              </a:rPr>
              <a:t>3.2</a:t>
            </a:r>
            <a:br>
              <a:rPr lang="pt-BR" sz="5400" dirty="0">
                <a:latin typeface="+mj-lt"/>
              </a:rPr>
            </a:br>
            <a:r>
              <a:rPr lang="pt-BR" sz="5400" dirty="0">
                <a:latin typeface="+mj-lt"/>
              </a:rPr>
              <a:t>         </a:t>
            </a:r>
            <a:r>
              <a:rPr lang="pt-BR" sz="54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Desvantagens</a:t>
            </a:r>
          </a:p>
        </p:txBody>
      </p:sp>
      <p:pic>
        <p:nvPicPr>
          <p:cNvPr id="6" name="Gráfico 5" descr="Voltar com preenchimento sólido">
            <a:extLst>
              <a:ext uri="{FF2B5EF4-FFF2-40B4-BE49-F238E27FC236}">
                <a16:creationId xmlns:a16="http://schemas.microsoft.com/office/drawing/2014/main" id="{87B5FB8B-ABA4-AE97-CB39-ADAE02539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4044" y="5933534"/>
            <a:ext cx="399600" cy="399600"/>
          </a:xfrm>
          <a:prstGeom prst="rect">
            <a:avLst/>
          </a:prstGeom>
        </p:spPr>
      </p:pic>
      <p:pic>
        <p:nvPicPr>
          <p:cNvPr id="7" name="Gráfico 6" descr="Voltar com preenchimento sólido">
            <a:extLst>
              <a:ext uri="{FF2B5EF4-FFF2-40B4-BE49-F238E27FC236}">
                <a16:creationId xmlns:a16="http://schemas.microsoft.com/office/drawing/2014/main" id="{29DEA3AC-5CB1-16C2-D6C0-9ED9AE1D9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7866" y="5896105"/>
            <a:ext cx="437029" cy="437029"/>
          </a:xfrm>
          <a:prstGeom prst="rect">
            <a:avLst/>
          </a:prstGeom>
        </p:spPr>
      </p:pic>
      <p:pic>
        <p:nvPicPr>
          <p:cNvPr id="8" name="Gráfico 7" descr="Cursor com preenchimento sólido">
            <a:extLst>
              <a:ext uri="{FF2B5EF4-FFF2-40B4-BE49-F238E27FC236}">
                <a16:creationId xmlns:a16="http://schemas.microsoft.com/office/drawing/2014/main" id="{AB3C4344-9CD6-3B1E-350E-043AAF80F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82381" y="5999636"/>
            <a:ext cx="858364" cy="85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1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46"/>
          <p:cNvSpPr txBox="1">
            <a:spLocks noGrp="1"/>
          </p:cNvSpPr>
          <p:nvPr>
            <p:ph type="title"/>
          </p:nvPr>
        </p:nvSpPr>
        <p:spPr>
          <a:xfrm>
            <a:off x="1894208" y="908723"/>
            <a:ext cx="7318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dirty="0">
                <a:solidFill>
                  <a:schemeClr val="lt2"/>
                </a:solidFill>
                <a:highlight>
                  <a:schemeClr val="accent3"/>
                </a:highlight>
                <a:latin typeface="+mj-lt"/>
              </a:rPr>
              <a:t>Conclusão</a:t>
            </a:r>
            <a:endParaRPr sz="5100" dirty="0">
              <a:solidFill>
                <a:schemeClr val="lt2"/>
              </a:solidFill>
              <a:highlight>
                <a:schemeClr val="accent3"/>
              </a:highlight>
              <a:latin typeface="+mj-lt"/>
            </a:endParaRPr>
          </a:p>
        </p:txBody>
      </p:sp>
      <p:sp>
        <p:nvSpPr>
          <p:cNvPr id="1077" name="Google Shape;1077;p46"/>
          <p:cNvSpPr txBox="1">
            <a:spLocks noGrp="1"/>
          </p:cNvSpPr>
          <p:nvPr>
            <p:ph type="body" idx="1"/>
          </p:nvPr>
        </p:nvSpPr>
        <p:spPr>
          <a:xfrm>
            <a:off x="2311650" y="1474406"/>
            <a:ext cx="8829038" cy="310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pt-BR" sz="18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Em resumo, o Modelo Espiral do ciclo de vida de um sistema é uma abordagem importante para o desenvolvimento de sistemas de software complexos, especialmente em projetos onde os requisitos não estão completamente definidos desde o início ou onde existe muita incerteza. </a:t>
            </a:r>
          </a:p>
          <a:p>
            <a:pPr marL="0" indent="0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Sua capacidade de adaptação a mudanças, gestão eficaz de riscos e ênfase no feedback contínuo contribuem para a entrega de sistemas de alta qualidade que atendam às necessidades dos usuários finais. No entanto, é importante reconhecer e diminuir as possíveis desvantagens associadas ao modelo, como a complexidade de gestão e os custos adicionais.</a:t>
            </a:r>
          </a:p>
          <a:p>
            <a:pPr marL="0" indent="0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18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Então, o sucesso do Modelo Espiral depende da habilidade da equipe de projeto em gerenciar eficazmente as iterações e responder de forma ágil às mudanças ao longo do processo de desenvolvimento.</a:t>
            </a:r>
            <a:endParaRPr lang="pt-BR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1078" name="Google Shape;1078;p4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8622EC-912F-C1B3-4A8F-EDDC2B93047F}"/>
              </a:ext>
            </a:extLst>
          </p:cNvPr>
          <p:cNvSpPr/>
          <p:nvPr/>
        </p:nvSpPr>
        <p:spPr>
          <a:xfrm>
            <a:off x="51255" y="5299631"/>
            <a:ext cx="77954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16F25-CE61-A682-B39A-E9E1A98C7341}"/>
              </a:ext>
            </a:extLst>
          </p:cNvPr>
          <p:cNvSpPr txBox="1"/>
          <p:nvPr/>
        </p:nvSpPr>
        <p:spPr>
          <a:xfrm>
            <a:off x="1894208" y="154925"/>
            <a:ext cx="27771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latin typeface="+mj-lt"/>
              </a:rPr>
              <a:t>4</a:t>
            </a:r>
          </a:p>
        </p:txBody>
      </p:sp>
      <p:pic>
        <p:nvPicPr>
          <p:cNvPr id="4" name="Gráfico 3" descr="Voltar com preenchimento sólido">
            <a:extLst>
              <a:ext uri="{FF2B5EF4-FFF2-40B4-BE49-F238E27FC236}">
                <a16:creationId xmlns:a16="http://schemas.microsoft.com/office/drawing/2014/main" id="{0AEC3726-1FB1-F7E5-0148-CA723CCDE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9644" y="509123"/>
            <a:ext cx="399600" cy="399600"/>
          </a:xfrm>
          <a:prstGeom prst="rect">
            <a:avLst/>
          </a:prstGeom>
        </p:spPr>
      </p:pic>
      <p:pic>
        <p:nvPicPr>
          <p:cNvPr id="5" name="Gráfico 4" descr="Voltar com preenchimento sólido">
            <a:extLst>
              <a:ext uri="{FF2B5EF4-FFF2-40B4-BE49-F238E27FC236}">
                <a16:creationId xmlns:a16="http://schemas.microsoft.com/office/drawing/2014/main" id="{E23DAF27-9AFE-8743-B212-79DAC1B909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7866" y="471694"/>
            <a:ext cx="608969" cy="608969"/>
          </a:xfrm>
          <a:prstGeom prst="rect">
            <a:avLst/>
          </a:prstGeom>
        </p:spPr>
      </p:pic>
      <p:pic>
        <p:nvPicPr>
          <p:cNvPr id="7" name="Gráfico 6" descr="Cursor com preenchimento sólido">
            <a:extLst>
              <a:ext uri="{FF2B5EF4-FFF2-40B4-BE49-F238E27FC236}">
                <a16:creationId xmlns:a16="http://schemas.microsoft.com/office/drawing/2014/main" id="{09B98139-B891-2053-F241-BE853C3916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49589" y="689043"/>
            <a:ext cx="858364" cy="85836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8"/>
          <p:cNvSpPr/>
          <p:nvPr/>
        </p:nvSpPr>
        <p:spPr>
          <a:xfrm>
            <a:off x="1241085" y="885025"/>
            <a:ext cx="9840000" cy="731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8"/>
          <p:cNvSpPr txBox="1">
            <a:spLocks noGrp="1"/>
          </p:cNvSpPr>
          <p:nvPr>
            <p:ph type="title"/>
          </p:nvPr>
        </p:nvSpPr>
        <p:spPr>
          <a:xfrm>
            <a:off x="1445900" y="869875"/>
            <a:ext cx="9139500" cy="73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Referências</a:t>
            </a:r>
            <a:endParaRPr dirty="0">
              <a:latin typeface="+mj-lt"/>
            </a:endParaRPr>
          </a:p>
        </p:txBody>
      </p:sp>
      <p:sp>
        <p:nvSpPr>
          <p:cNvPr id="678" name="Google Shape;678;p38"/>
          <p:cNvSpPr txBox="1">
            <a:spLocks noGrp="1"/>
          </p:cNvSpPr>
          <p:nvPr>
            <p:ph type="subTitle" idx="1"/>
          </p:nvPr>
        </p:nvSpPr>
        <p:spPr>
          <a:xfrm>
            <a:off x="653299" y="2070075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latin typeface="+mj-lt"/>
              </a:rPr>
              <a:t>1.</a:t>
            </a:r>
            <a:endParaRPr dirty="0">
              <a:latin typeface="+mj-lt"/>
            </a:endParaRPr>
          </a:p>
        </p:txBody>
      </p:sp>
      <p:sp>
        <p:nvSpPr>
          <p:cNvPr id="681" name="Google Shape;681;p38"/>
          <p:cNvSpPr txBox="1">
            <a:spLocks noGrp="1"/>
          </p:cNvSpPr>
          <p:nvPr>
            <p:ph type="body" idx="13"/>
          </p:nvPr>
        </p:nvSpPr>
        <p:spPr>
          <a:xfrm>
            <a:off x="653299" y="2511133"/>
            <a:ext cx="3898823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DIAS, Ricardo</a:t>
            </a:r>
            <a:r>
              <a:rPr lang="pt-BR" sz="14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</a:t>
            </a:r>
            <a:r>
              <a:rPr lang="pt-BR" sz="14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 Modelo em Espiral de Boehm</a:t>
            </a:r>
            <a:r>
              <a:rPr lang="pt-B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Medium.com, 2019. Disponível em: </a:t>
            </a:r>
            <a:r>
              <a:rPr lang="pt-BR" sz="14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 tooltip="https://medium.com/contexto-delimitado/o-modelo-em-espiral-de-boehm-ed1d85b7df"/>
              </a:rPr>
              <a:t>https://medium.com/</a:t>
            </a:r>
            <a:r>
              <a:rPr lang="pt-BR" sz="1400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3" tooltip="https://medium.com/contexto-delimitado/o-modelo-em-espiral-de-boehm-ed1d85b7df"/>
              </a:rPr>
              <a:t>contexto-delimitado</a:t>
            </a:r>
            <a:r>
              <a:rPr lang="pt-BR" sz="14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 tooltip="https://medium.com/contexto-delimitado/o-modelo-em-espiral-de-boehm-ed1d85b7df"/>
              </a:rPr>
              <a:t>/o-modelo-em-espiral-de-boehm-ed1d85b7df</a:t>
            </a:r>
            <a:r>
              <a:rPr lang="pt-B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Acesso em: 23 mar, 2024</a:t>
            </a:r>
            <a:r>
              <a:rPr lang="pt-BR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sz="1400" dirty="0"/>
          </a:p>
        </p:txBody>
      </p:sp>
      <p:sp>
        <p:nvSpPr>
          <p:cNvPr id="682" name="Google Shape;682;p38"/>
          <p:cNvSpPr txBox="1">
            <a:spLocks noGrp="1"/>
          </p:cNvSpPr>
          <p:nvPr>
            <p:ph type="subTitle" idx="3"/>
          </p:nvPr>
        </p:nvSpPr>
        <p:spPr>
          <a:xfrm>
            <a:off x="1035108" y="3936391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latin typeface="+mj-lt"/>
              </a:rPr>
              <a:t>3.</a:t>
            </a:r>
            <a:endParaRPr dirty="0">
              <a:latin typeface="+mj-lt"/>
            </a:endParaRPr>
          </a:p>
        </p:txBody>
      </p:sp>
      <p:sp>
        <p:nvSpPr>
          <p:cNvPr id="684" name="Google Shape;684;p38"/>
          <p:cNvSpPr txBox="1">
            <a:spLocks noGrp="1"/>
          </p:cNvSpPr>
          <p:nvPr>
            <p:ph type="subTitle" idx="4"/>
          </p:nvPr>
        </p:nvSpPr>
        <p:spPr>
          <a:xfrm>
            <a:off x="4820357" y="2070075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latin typeface="+mj-lt"/>
              </a:rPr>
              <a:t>2.</a:t>
            </a:r>
            <a:endParaRPr dirty="0">
              <a:latin typeface="+mj-lt"/>
            </a:endParaRPr>
          </a:p>
        </p:txBody>
      </p:sp>
      <p:sp>
        <p:nvSpPr>
          <p:cNvPr id="685" name="Google Shape;685;p38"/>
          <p:cNvSpPr txBox="1">
            <a:spLocks noGrp="1"/>
          </p:cNvSpPr>
          <p:nvPr>
            <p:ph type="subTitle" idx="5"/>
          </p:nvPr>
        </p:nvSpPr>
        <p:spPr>
          <a:xfrm>
            <a:off x="7119322" y="3936299"/>
            <a:ext cx="29313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en" dirty="0">
                <a:latin typeface="+mj-lt"/>
              </a:rPr>
              <a:t>4.</a:t>
            </a:r>
            <a:endParaRPr dirty="0">
              <a:latin typeface="+mj-lt"/>
            </a:endParaRPr>
          </a:p>
        </p:txBody>
      </p:sp>
      <p:sp>
        <p:nvSpPr>
          <p:cNvPr id="687" name="Google Shape;687;p38"/>
          <p:cNvSpPr txBox="1">
            <a:spLocks noGrp="1"/>
          </p:cNvSpPr>
          <p:nvPr>
            <p:ph type="body" idx="7"/>
          </p:nvPr>
        </p:nvSpPr>
        <p:spPr>
          <a:xfrm>
            <a:off x="4695746" y="2568134"/>
            <a:ext cx="5581315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Universidade do Algarve, Faculdade de Ciência e Tecnologia, Engenharia de Programação</a:t>
            </a:r>
            <a:r>
              <a:rPr lang="pt-BR" sz="1400" b="1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pt-BR" sz="1400" b="1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Modelo em Espiral</a:t>
            </a:r>
            <a:r>
              <a:rPr lang="pt-BR" sz="14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Cin.ufpe.br, 2017. Disponível em: </a:t>
            </a:r>
            <a:r>
              <a:rPr lang="pt-BR" sz="14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https://www.cin.ufpe.br/~</a:t>
            </a:r>
            <a:r>
              <a:rPr lang="pt-BR" sz="1400" u="sng" dirty="0" err="1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cadcn</a:t>
            </a:r>
            <a:r>
              <a:rPr lang="pt-BR" sz="14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/files/Monitoria/Monitoria%20-%20Graduação/material%20de%20apoio/esperial.pdf</a:t>
            </a:r>
            <a:r>
              <a:rPr lang="pt-BR" sz="14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. Acesso em: 23 mar, 2024.</a:t>
            </a:r>
            <a:endParaRPr lang="pt-BR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8" name="Google Shape;688;p38"/>
          <p:cNvSpPr txBox="1">
            <a:spLocks noGrp="1"/>
          </p:cNvSpPr>
          <p:nvPr>
            <p:ph type="body" idx="9"/>
          </p:nvPr>
        </p:nvSpPr>
        <p:spPr>
          <a:xfrm>
            <a:off x="6994634" y="4300549"/>
            <a:ext cx="4291467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Modelo em Espiral.</a:t>
            </a:r>
            <a:r>
              <a:rPr lang="pt-BR" sz="14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engsoftwaredpsi.blogspot.com, 2008. Disponível em: </a:t>
            </a:r>
            <a:r>
              <a:rPr lang="pt-BR" sz="14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https://engsoftwaredpsi.blogspot.com/2008/09/um-modelo-de-processo-uma-representao.html</a:t>
            </a:r>
            <a:r>
              <a:rPr lang="pt-BR" sz="14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. Acesso em: 24 mar, 2024.</a:t>
            </a:r>
            <a:endParaRPr lang="pt-BR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2100"/>
              </a:spcBef>
              <a:spcAft>
                <a:spcPts val="2100"/>
              </a:spcAft>
              <a:buNone/>
            </a:pPr>
            <a:endParaRPr dirty="0"/>
          </a:p>
        </p:txBody>
      </p:sp>
      <p:sp>
        <p:nvSpPr>
          <p:cNvPr id="689" name="Google Shape;689;p38"/>
          <p:cNvSpPr txBox="1">
            <a:spLocks noGrp="1"/>
          </p:cNvSpPr>
          <p:nvPr>
            <p:ph type="body" idx="14"/>
          </p:nvPr>
        </p:nvSpPr>
        <p:spPr>
          <a:xfrm>
            <a:off x="905899" y="4300549"/>
            <a:ext cx="596204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70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ORIVALDO, Rafael. ORIVALDO, Edson.</a:t>
            </a:r>
            <a:r>
              <a:rPr lang="pt-BR" sz="1400" b="1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1400" b="1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Modelos de Processos de Engenharia de Software</a:t>
            </a:r>
            <a:r>
              <a:rPr lang="pt-BR" sz="14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ead.uepg.br, 2007. Disponível em: </a:t>
            </a:r>
            <a:r>
              <a:rPr lang="pt-BR" sz="14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6" tooltip="https://ead.uepg.br/apl/sigma/assets/editais/PS0059E0080.pdf"/>
              </a:rPr>
              <a:t>https://ead.uepg.br/</a:t>
            </a:r>
            <a:r>
              <a:rPr lang="pt-BR" sz="1400" u="sng" dirty="0" err="1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6" tooltip="https://ead.uepg.br/apl/sigma/assets/editais/PS0059E0080.pdf"/>
              </a:rPr>
              <a:t>apl</a:t>
            </a:r>
            <a:r>
              <a:rPr lang="pt-BR" sz="14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6" tooltip="https://ead.uepg.br/apl/sigma/assets/editais/PS0059E0080.pdf"/>
              </a:rPr>
              <a:t>/sigma/</a:t>
            </a:r>
            <a:r>
              <a:rPr lang="pt-BR" sz="1400" u="sng" dirty="0" err="1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6" tooltip="https://ead.uepg.br/apl/sigma/assets/editais/PS0059E0080.pdf"/>
              </a:rPr>
              <a:t>assets</a:t>
            </a:r>
            <a:r>
              <a:rPr lang="pt-BR" sz="14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6" tooltip="https://ead.uepg.br/apl/sigma/assets/editais/PS0059E0080.pdf"/>
              </a:rPr>
              <a:t>/editais/PS0059E0080.pdf</a:t>
            </a:r>
            <a:r>
              <a:rPr lang="pt-BR" sz="14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Acesso em: 24 mar, 2024.</a:t>
            </a:r>
            <a:endParaRPr lang="pt-BR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06E110-E715-B9D4-9BC4-300D5218E7FF}"/>
              </a:ext>
            </a:extLst>
          </p:cNvPr>
          <p:cNvSpPr/>
          <p:nvPr/>
        </p:nvSpPr>
        <p:spPr>
          <a:xfrm>
            <a:off x="51255" y="5299631"/>
            <a:ext cx="147528" cy="1454838"/>
          </a:xfrm>
          <a:prstGeom prst="rect">
            <a:avLst/>
          </a:prstGeom>
          <a:solidFill>
            <a:srgbClr val="FEF1E8"/>
          </a:solidFill>
          <a:ln>
            <a:solidFill>
              <a:srgbClr val="FEF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1" name="Gráfico 10" descr="Voltar com preenchimento sólido">
            <a:extLst>
              <a:ext uri="{FF2B5EF4-FFF2-40B4-BE49-F238E27FC236}">
                <a16:creationId xmlns:a16="http://schemas.microsoft.com/office/drawing/2014/main" id="{35AFCD39-4F48-C475-7F40-80DE250F1D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473" y="5627450"/>
            <a:ext cx="401807" cy="401807"/>
          </a:xfrm>
          <a:prstGeom prst="rect">
            <a:avLst/>
          </a:prstGeom>
        </p:spPr>
      </p:pic>
      <p:pic>
        <p:nvPicPr>
          <p:cNvPr id="12" name="Gráfico 11" descr="Voltar com preenchimento sólido">
            <a:extLst>
              <a:ext uri="{FF2B5EF4-FFF2-40B4-BE49-F238E27FC236}">
                <a16:creationId xmlns:a16="http://schemas.microsoft.com/office/drawing/2014/main" id="{A5D7EF12-8D7F-FF06-336E-C283388D66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12527" y="5571168"/>
            <a:ext cx="531269" cy="531269"/>
          </a:xfrm>
          <a:prstGeom prst="rect">
            <a:avLst/>
          </a:prstGeom>
        </p:spPr>
      </p:pic>
      <p:pic>
        <p:nvPicPr>
          <p:cNvPr id="13" name="Gráfico 12" descr="Cursor com preenchimento sólido">
            <a:extLst>
              <a:ext uri="{FF2B5EF4-FFF2-40B4-BE49-F238E27FC236}">
                <a16:creationId xmlns:a16="http://schemas.microsoft.com/office/drawing/2014/main" id="{AC46EFAA-2A9A-E278-C5BD-365DDEE486A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12527" y="5680692"/>
            <a:ext cx="858364" cy="858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FA04D-8A47-EDED-A36B-B8E83E75F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122" y="1408766"/>
            <a:ext cx="5581500" cy="763500"/>
          </a:xfrm>
        </p:spPr>
        <p:txBody>
          <a:bodyPr/>
          <a:lstStyle/>
          <a:p>
            <a:r>
              <a:rPr lang="pt-BR" sz="8800" dirty="0">
                <a:latin typeface="+mj-lt"/>
              </a:rPr>
              <a:t>FIM.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638AB6-646C-3E6C-96D8-43087AF6F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8300" y="3343312"/>
            <a:ext cx="5869143" cy="672097"/>
          </a:xfrm>
        </p:spPr>
        <p:txBody>
          <a:bodyPr/>
          <a:lstStyle/>
          <a:p>
            <a:pPr marL="107950" indent="0">
              <a:buNone/>
            </a:pPr>
            <a:r>
              <a:rPr lang="pt-BR" sz="3200" dirty="0">
                <a:latin typeface="+mn-lt"/>
              </a:rPr>
              <a:t>Obrigado pela atenção!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C2ECB-6C75-DE42-F4DC-F255E4626E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887551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1D2236"/>
      </a:dk1>
      <a:lt1>
        <a:srgbClr val="FEF1E8"/>
      </a:lt1>
      <a:dk2>
        <a:srgbClr val="434343"/>
      </a:dk2>
      <a:lt2>
        <a:srgbClr val="FFFFFF"/>
      </a:lt2>
      <a:accent1>
        <a:srgbClr val="365CEF"/>
      </a:accent1>
      <a:accent2>
        <a:srgbClr val="8ACAF6"/>
      </a:accent2>
      <a:accent3>
        <a:srgbClr val="1D2236"/>
      </a:accent3>
      <a:accent4>
        <a:srgbClr val="FFFFFF"/>
      </a:accent4>
      <a:accent5>
        <a:srgbClr val="FFFFFF"/>
      </a:accent5>
      <a:accent6>
        <a:srgbClr val="FFFFFF"/>
      </a:accent6>
      <a:hlink>
        <a:srgbClr val="1F48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Props1.xml><?xml version="1.0" encoding="utf-8"?>
<ds:datastoreItem xmlns:ds="http://schemas.openxmlformats.org/officeDocument/2006/customXml" ds:itemID="{4DAE6B36-7C62-4208-9472-09F7C1E593E7}"/>
</file>

<file path=customXml/itemProps2.xml><?xml version="1.0" encoding="utf-8"?>
<ds:datastoreItem xmlns:ds="http://schemas.openxmlformats.org/officeDocument/2006/customXml" ds:itemID="{DD656D12-D160-4224-A3DB-5E219C7BDE54}"/>
</file>

<file path=customXml/itemProps3.xml><?xml version="1.0" encoding="utf-8"?>
<ds:datastoreItem xmlns:ds="http://schemas.openxmlformats.org/officeDocument/2006/customXml" ds:itemID="{3E5F3EF2-B402-4FE5-9B62-07642D8BDA80}"/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1034</Words>
  <Application>Microsoft Office PowerPoint</Application>
  <PresentationFormat>Widescreen</PresentationFormat>
  <Paragraphs>111</Paragraphs>
  <Slides>16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Roboto Mono SemiBold</vt:lpstr>
      <vt:lpstr>Roboto Mono</vt:lpstr>
      <vt:lpstr>Calibri</vt:lpstr>
      <vt:lpstr>Abril Fatface</vt:lpstr>
      <vt:lpstr>Arial</vt:lpstr>
      <vt:lpstr>Aldrich</vt:lpstr>
      <vt:lpstr>SlidesMania</vt:lpstr>
      <vt:lpstr>Trabalho de APS:  Modelo espiral.</vt:lpstr>
      <vt:lpstr>Nós somos o 1º AI</vt:lpstr>
      <vt:lpstr>Sumário</vt:lpstr>
      <vt:lpstr>Introdução</vt:lpstr>
      <vt:lpstr>Você sabia?</vt:lpstr>
      <vt:lpstr>Características</vt:lpstr>
      <vt:lpstr>2.1. Planejamento. </vt:lpstr>
      <vt:lpstr>2.2 análise de riscos</vt:lpstr>
      <vt:lpstr>2.3  Engenharia </vt:lpstr>
      <vt:lpstr>2.4 Avaliação</vt:lpstr>
      <vt:lpstr>Vantagens e Desvantagens</vt:lpstr>
      <vt:lpstr>Apresentação do PowerPoint</vt:lpstr>
      <vt:lpstr>Apresentação do PowerPoint</vt:lpstr>
      <vt:lpstr>Conclusão</vt:lpstr>
      <vt:lpstr>Referências</vt:lpstr>
      <vt:lpstr>FIM.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de APS:  Modelo espiral.</dc:title>
  <dc:creator>Matheus Rocha</dc:creator>
  <cp:lastModifiedBy>Matheus Rocha</cp:lastModifiedBy>
  <cp:revision>2</cp:revision>
  <dcterms:modified xsi:type="dcterms:W3CDTF">2024-03-26T00:36:47Z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0x0101003D534C94BE7ACC4B82DB0C57D8B917FB</vt:lpwstr>
  </property>
</Properties>
</file>