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3"/>
  </p:sldMasterIdLst>
  <p:sldIdLst>
    <p:sldId id="256" r:id="rId4"/>
    <p:sldId id="257" r:id="rId5"/>
    <p:sldId id="258" r:id="rId6"/>
    <p:sldId id="259" r:id="rId7"/>
    <p:sldId id="260" r:id="rId8"/>
    <p:sldId id="261" r:id="rId9"/>
    <p:sldId id="262" r:id="rId10"/>
    <p:sldId id="263" r:id="rId11"/>
    <p:sldId id="264" r:id="rId12"/>
    <p:sldId id="265" r:id="rId13"/>
  </p:sldIdLst>
  <p:sldSz cx="18288000" cy="10287000"/>
  <p:notesSz cx="6858000" cy="9144000"/>
  <p:embeddedFontLst>
    <p:embeddedFont>
      <p:font typeface="Active Heart" panose="020B0604020202020204" charset="-128"/>
      <p:regular r:id="rId14"/>
    </p:embeddedFont>
    <p:embeddedFont>
      <p:font typeface="Balloon Small Caps Extra Bold" panose="020B0604020202020204" charset="0"/>
      <p:regular r:id="rId15"/>
    </p:embeddedFont>
    <p:embeddedFont>
      <p:font typeface="Colo Pro" panose="020B0604020202020204" charset="0"/>
      <p:regular r:id="rId16"/>
    </p:embeddedFont>
    <p:embeddedFont>
      <p:font typeface="Moonjelly" panose="020B0604020202020204" charset="0"/>
      <p:regular r:id="rId17"/>
    </p:embeddedFont>
    <p:embeddedFont>
      <p:font typeface="Moonjelly Bold"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23FEF8-6888-4DF1-ADA6-44B4197A3826}" v="19" dt="2024-03-26T23:59:13.2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25" d="100"/>
          <a:sy n="25" d="100"/>
        </p:scale>
        <p:origin x="2386" y="92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font" Target="fonts/font5.fntdata"/><Relationship Id="rId3" Type="http://schemas.openxmlformats.org/officeDocument/2006/relationships/slideMaster" Target="slideMasters/slideMaster1.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font" Target="fonts/font4.fntdata"/><Relationship Id="rId2" Type="http://schemas.openxmlformats.org/officeDocument/2006/relationships/customXml" Target="../customXml/item2.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microsoft.com/office/2015/10/relationships/revisionInfo" Target="revisionInfo.xml"/><Relationship Id="rId5" Type="http://schemas.openxmlformats.org/officeDocument/2006/relationships/slide" Target="slides/slide2.xml"/><Relationship Id="rId15" Type="http://schemas.openxmlformats.org/officeDocument/2006/relationships/font" Target="fonts/font2.fntdata"/><Relationship Id="rId23" Type="http://schemas.microsoft.com/office/2016/11/relationships/changesInfo" Target="changesInfos/changesInfo1.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font" Target="fonts/font1.fntdata"/><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NA ESTRELA PALMA" userId="S::marina.palma@etec.sp.gov.br::fd567ac1-f903-486b-8951-655c156220df" providerId="AD" clId="Web-{1B23FEF8-6888-4DF1-ADA6-44B4197A3826}"/>
    <pc:docChg chg="modSld">
      <pc:chgData name="MARINA ESTRELA PALMA" userId="S::marina.palma@etec.sp.gov.br::fd567ac1-f903-486b-8951-655c156220df" providerId="AD" clId="Web-{1B23FEF8-6888-4DF1-ADA6-44B4197A3826}" dt="2024-03-26T23:59:13.225" v="12" actId="20577"/>
      <pc:docMkLst>
        <pc:docMk/>
      </pc:docMkLst>
      <pc:sldChg chg="modSp">
        <pc:chgData name="MARINA ESTRELA PALMA" userId="S::marina.palma@etec.sp.gov.br::fd567ac1-f903-486b-8951-655c156220df" providerId="AD" clId="Web-{1B23FEF8-6888-4DF1-ADA6-44B4197A3826}" dt="2024-03-26T23:59:13.225" v="12" actId="20577"/>
        <pc:sldMkLst>
          <pc:docMk/>
          <pc:sldMk cId="0" sldId="259"/>
        </pc:sldMkLst>
        <pc:spChg chg="mod">
          <ac:chgData name="MARINA ESTRELA PALMA" userId="S::marina.palma@etec.sp.gov.br::fd567ac1-f903-486b-8951-655c156220df" providerId="AD" clId="Web-{1B23FEF8-6888-4DF1-ADA6-44B4197A3826}" dt="2024-03-26T23:59:13.225" v="12" actId="20577"/>
          <ac:spMkLst>
            <pc:docMk/>
            <pc:sldMk cId="0" sldId="259"/>
            <ac:spMk id="7"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sv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190094" cy="10287000"/>
          </a:xfrm>
          <a:custGeom>
            <a:avLst/>
            <a:gdLst/>
            <a:ahLst/>
            <a:cxnLst/>
            <a:rect l="l" t="t" r="r" b="b"/>
            <a:pathLst>
              <a:path w="18190094" h="18167356">
                <a:moveTo>
                  <a:pt x="0" y="0"/>
                </a:moveTo>
                <a:lnTo>
                  <a:pt x="18190094" y="0"/>
                </a:lnTo>
                <a:lnTo>
                  <a:pt x="18190094" y="18167356"/>
                </a:lnTo>
                <a:lnTo>
                  <a:pt x="0" y="18167356"/>
                </a:lnTo>
                <a:lnTo>
                  <a:pt x="0" y="0"/>
                </a:lnTo>
                <a:close/>
              </a:path>
            </a:pathLst>
          </a:custGeom>
          <a:blipFill>
            <a:blip r:embed="rId2"/>
            <a:stretch>
              <a:fillRect t="-22162" b="-54442"/>
            </a:stretch>
          </a:blipFill>
        </p:spPr>
        <p:txBody>
          <a:bodyPr/>
          <a:lstStyle/>
          <a:p>
            <a:endParaRPr lang="pt-BR"/>
          </a:p>
        </p:txBody>
      </p:sp>
      <p:sp>
        <p:nvSpPr>
          <p:cNvPr id="3" name="Freeform 3"/>
          <p:cNvSpPr/>
          <p:nvPr/>
        </p:nvSpPr>
        <p:spPr>
          <a:xfrm>
            <a:off x="2287794" y="3878649"/>
            <a:ext cx="5755418" cy="5850489"/>
          </a:xfrm>
          <a:custGeom>
            <a:avLst/>
            <a:gdLst/>
            <a:ahLst/>
            <a:cxnLst/>
            <a:rect l="l" t="t" r="r" b="b"/>
            <a:pathLst>
              <a:path w="5755418" h="5850489">
                <a:moveTo>
                  <a:pt x="0" y="0"/>
                </a:moveTo>
                <a:lnTo>
                  <a:pt x="5755418" y="0"/>
                </a:lnTo>
                <a:lnTo>
                  <a:pt x="5755418" y="5850489"/>
                </a:lnTo>
                <a:lnTo>
                  <a:pt x="0" y="58504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pt-BR"/>
          </a:p>
        </p:txBody>
      </p:sp>
      <p:sp>
        <p:nvSpPr>
          <p:cNvPr id="4" name="TextBox 4"/>
          <p:cNvSpPr txBox="1"/>
          <p:nvPr/>
        </p:nvSpPr>
        <p:spPr>
          <a:xfrm>
            <a:off x="-202640" y="666750"/>
            <a:ext cx="18490640" cy="3084553"/>
          </a:xfrm>
          <a:prstGeom prst="rect">
            <a:avLst/>
          </a:prstGeom>
        </p:spPr>
        <p:txBody>
          <a:bodyPr lIns="0" tIns="0" rIns="0" bIns="0" rtlCol="0" anchor="t">
            <a:spAutoFit/>
          </a:bodyPr>
          <a:lstStyle/>
          <a:p>
            <a:pPr algn="ctr">
              <a:lnSpc>
                <a:spcPts val="25010"/>
              </a:lnSpc>
              <a:spcBef>
                <a:spcPct val="0"/>
              </a:spcBef>
            </a:pPr>
            <a:r>
              <a:rPr lang="en-US" sz="17864" dirty="0">
                <a:solidFill>
                  <a:srgbClr val="FFD501"/>
                </a:solidFill>
                <a:latin typeface="Colo Pro"/>
              </a:rPr>
              <a:t>PROTOTIPAGEM</a:t>
            </a:r>
          </a:p>
        </p:txBody>
      </p:sp>
      <p:sp>
        <p:nvSpPr>
          <p:cNvPr id="5" name="TextBox 5"/>
          <p:cNvSpPr txBox="1"/>
          <p:nvPr/>
        </p:nvSpPr>
        <p:spPr>
          <a:xfrm>
            <a:off x="8212619" y="4474636"/>
            <a:ext cx="8832367" cy="6413674"/>
          </a:xfrm>
          <a:prstGeom prst="rect">
            <a:avLst/>
          </a:prstGeom>
        </p:spPr>
        <p:txBody>
          <a:bodyPr lIns="0" tIns="0" rIns="0" bIns="0" rtlCol="0" anchor="t">
            <a:spAutoFit/>
          </a:bodyPr>
          <a:lstStyle/>
          <a:p>
            <a:pPr algn="ctr">
              <a:lnSpc>
                <a:spcPts val="6322"/>
              </a:lnSpc>
            </a:pPr>
            <a:r>
              <a:rPr lang="en-US" sz="4515">
                <a:solidFill>
                  <a:srgbClr val="FFD501"/>
                </a:solidFill>
                <a:latin typeface="Active Heart"/>
              </a:rPr>
              <a:t>1ºAI</a:t>
            </a:r>
          </a:p>
          <a:p>
            <a:pPr marL="974987" lvl="1" indent="-487494">
              <a:lnSpc>
                <a:spcPts val="6322"/>
              </a:lnSpc>
              <a:buFont typeface="Arial"/>
              <a:buChar char="•"/>
            </a:pPr>
            <a:r>
              <a:rPr lang="en-US" sz="4515">
                <a:solidFill>
                  <a:srgbClr val="FFD501"/>
                </a:solidFill>
                <a:latin typeface="Active Heart"/>
              </a:rPr>
              <a:t>LARISSA AMARAL RODRIGUES </a:t>
            </a:r>
          </a:p>
          <a:p>
            <a:pPr marL="974987" lvl="1" indent="-487494">
              <a:lnSpc>
                <a:spcPts val="6322"/>
              </a:lnSpc>
              <a:buFont typeface="Arial"/>
              <a:buChar char="•"/>
            </a:pPr>
            <a:r>
              <a:rPr lang="en-US" sz="4515">
                <a:solidFill>
                  <a:srgbClr val="FFD501"/>
                </a:solidFill>
                <a:latin typeface="Active Heart"/>
              </a:rPr>
              <a:t> Luigih Ragauske Martins Reis </a:t>
            </a:r>
          </a:p>
          <a:p>
            <a:pPr marL="974987" lvl="1" indent="-487494">
              <a:lnSpc>
                <a:spcPts val="6322"/>
              </a:lnSpc>
              <a:buFont typeface="Arial"/>
              <a:buChar char="•"/>
            </a:pPr>
            <a:r>
              <a:rPr lang="en-US" sz="4515">
                <a:solidFill>
                  <a:srgbClr val="FFD501"/>
                </a:solidFill>
                <a:latin typeface="Active Heart"/>
              </a:rPr>
              <a:t>Marina Estrela Palma </a:t>
            </a:r>
          </a:p>
          <a:p>
            <a:pPr marL="974987" lvl="1" indent="-487494">
              <a:lnSpc>
                <a:spcPts val="6322"/>
              </a:lnSpc>
              <a:buFont typeface="Arial"/>
              <a:buChar char="•"/>
            </a:pPr>
            <a:r>
              <a:rPr lang="en-US" sz="4515">
                <a:solidFill>
                  <a:srgbClr val="FFD501"/>
                </a:solidFill>
                <a:latin typeface="Active Heart"/>
              </a:rPr>
              <a:t>Matheus Aurichio Baptista </a:t>
            </a:r>
          </a:p>
          <a:p>
            <a:pPr marL="974987" lvl="1" indent="-487494">
              <a:lnSpc>
                <a:spcPts val="6322"/>
              </a:lnSpc>
              <a:buFont typeface="Arial"/>
              <a:buChar char="•"/>
            </a:pPr>
            <a:r>
              <a:rPr lang="en-US" sz="4515">
                <a:solidFill>
                  <a:srgbClr val="FFD501"/>
                </a:solidFill>
                <a:latin typeface="Active Heart"/>
              </a:rPr>
              <a:t>Matheus Guerino da Silva </a:t>
            </a:r>
          </a:p>
          <a:p>
            <a:pPr>
              <a:lnSpc>
                <a:spcPts val="6322"/>
              </a:lnSpc>
            </a:pPr>
            <a:r>
              <a:rPr lang="en-US" sz="4515">
                <a:solidFill>
                  <a:srgbClr val="FFD501"/>
                </a:solidFill>
                <a:latin typeface="Colo Pro"/>
              </a:rPr>
              <a:t> </a:t>
            </a:r>
          </a:p>
          <a:p>
            <a:pPr>
              <a:lnSpc>
                <a:spcPts val="6322"/>
              </a:lnSpc>
              <a:spcBef>
                <a:spcPct val="0"/>
              </a:spcBef>
            </a:pPr>
            <a:endParaRPr lang="en-US" sz="4515">
              <a:solidFill>
                <a:srgbClr val="FFD501"/>
              </a:solidFill>
              <a:latin typeface="Colo Pr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33491" y="-67939"/>
            <a:ext cx="17621018" cy="10354940"/>
          </a:xfrm>
          <a:custGeom>
            <a:avLst/>
            <a:gdLst/>
            <a:ahLst/>
            <a:cxnLst/>
            <a:rect l="l" t="t" r="r" b="b"/>
            <a:pathLst>
              <a:path w="17621018" h="17598991">
                <a:moveTo>
                  <a:pt x="0" y="0"/>
                </a:moveTo>
                <a:lnTo>
                  <a:pt x="17621018" y="0"/>
                </a:lnTo>
                <a:lnTo>
                  <a:pt x="17621018" y="17598991"/>
                </a:lnTo>
                <a:lnTo>
                  <a:pt x="0" y="17598991"/>
                </a:lnTo>
                <a:lnTo>
                  <a:pt x="0" y="0"/>
                </a:lnTo>
                <a:close/>
              </a:path>
            </a:pathLst>
          </a:custGeom>
          <a:blipFill>
            <a:blip r:embed="rId2"/>
            <a:stretch>
              <a:fillRect t="-30901" b="-39057"/>
            </a:stretch>
          </a:blipFill>
        </p:spPr>
        <p:txBody>
          <a:bodyPr/>
          <a:lstStyle/>
          <a:p>
            <a:endParaRPr lang="pt-BR"/>
          </a:p>
        </p:txBody>
      </p:sp>
      <p:sp>
        <p:nvSpPr>
          <p:cNvPr id="3" name="Freeform 3"/>
          <p:cNvSpPr/>
          <p:nvPr/>
        </p:nvSpPr>
        <p:spPr>
          <a:xfrm>
            <a:off x="1028700" y="1475902"/>
            <a:ext cx="4137036" cy="8111835"/>
          </a:xfrm>
          <a:custGeom>
            <a:avLst/>
            <a:gdLst/>
            <a:ahLst/>
            <a:cxnLst/>
            <a:rect l="l" t="t" r="r" b="b"/>
            <a:pathLst>
              <a:path w="4137036" h="8111835">
                <a:moveTo>
                  <a:pt x="0" y="0"/>
                </a:moveTo>
                <a:lnTo>
                  <a:pt x="4137036" y="0"/>
                </a:lnTo>
                <a:lnTo>
                  <a:pt x="4137036" y="8111835"/>
                </a:lnTo>
                <a:lnTo>
                  <a:pt x="0" y="811183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pt-BR"/>
          </a:p>
        </p:txBody>
      </p:sp>
      <p:sp>
        <p:nvSpPr>
          <p:cNvPr id="4" name="TextBox 4"/>
          <p:cNvSpPr txBox="1"/>
          <p:nvPr/>
        </p:nvSpPr>
        <p:spPr>
          <a:xfrm>
            <a:off x="1028614" y="-67940"/>
            <a:ext cx="6743786" cy="1602875"/>
          </a:xfrm>
          <a:prstGeom prst="rect">
            <a:avLst/>
          </a:prstGeom>
        </p:spPr>
        <p:txBody>
          <a:bodyPr wrap="square" lIns="0" tIns="0" rIns="0" bIns="0" rtlCol="0" anchor="t">
            <a:spAutoFit/>
          </a:bodyPr>
          <a:lstStyle/>
          <a:p>
            <a:pPr algn="ctr">
              <a:lnSpc>
                <a:spcPts val="13343"/>
              </a:lnSpc>
              <a:spcBef>
                <a:spcPct val="0"/>
              </a:spcBef>
            </a:pPr>
            <a:r>
              <a:rPr lang="en-US" sz="9531" u="sng" dirty="0">
                <a:solidFill>
                  <a:srgbClr val="FFED00"/>
                </a:solidFill>
                <a:latin typeface="Balloon Small Caps Extra Bold"/>
              </a:rPr>
              <a:t>INTRODUÇÃO</a:t>
            </a:r>
          </a:p>
        </p:txBody>
      </p:sp>
      <p:sp>
        <p:nvSpPr>
          <p:cNvPr id="5" name="TextBox 5"/>
          <p:cNvSpPr txBox="1"/>
          <p:nvPr/>
        </p:nvSpPr>
        <p:spPr>
          <a:xfrm>
            <a:off x="5568570" y="2176828"/>
            <a:ext cx="11475943" cy="5556433"/>
          </a:xfrm>
          <a:prstGeom prst="rect">
            <a:avLst/>
          </a:prstGeom>
        </p:spPr>
        <p:txBody>
          <a:bodyPr lIns="0" tIns="0" rIns="0" bIns="0" rtlCol="0" anchor="t">
            <a:spAutoFit/>
          </a:bodyPr>
          <a:lstStyle/>
          <a:p>
            <a:pPr marL="0" lvl="0" indent="0" algn="just">
              <a:lnSpc>
                <a:spcPts val="4014"/>
              </a:lnSpc>
              <a:spcBef>
                <a:spcPct val="0"/>
              </a:spcBef>
            </a:pPr>
            <a:r>
              <a:rPr lang="en-US" sz="2867" strike="noStrike">
                <a:solidFill>
                  <a:srgbClr val="FFFFFF"/>
                </a:solidFill>
                <a:latin typeface="Moonjelly"/>
              </a:rPr>
              <a:t>Nesse trabalho falaremos sobre prototipagem, uma etapa crucial no processo de desenvolvimento de softwares. Em termos práticos, prototipar é criar uma versão modelo do produto final de um projeto voltado para a etapa de aprovação e validação. Além do desenvolvimento de softwares, esse processo também pode ser utilizado em diversos setores, como na indústria automotiva, construção civil, arquitetura, moda e etc. </a:t>
            </a:r>
          </a:p>
          <a:p>
            <a:pPr marL="0" lvl="0" indent="0" algn="just">
              <a:lnSpc>
                <a:spcPts val="4014"/>
              </a:lnSpc>
              <a:spcBef>
                <a:spcPct val="0"/>
              </a:spcBef>
            </a:pPr>
            <a:endParaRPr lang="en-US" sz="2867" strike="noStrike">
              <a:solidFill>
                <a:srgbClr val="FFFFFF"/>
              </a:solidFill>
              <a:latin typeface="Moonjelly"/>
            </a:endParaRPr>
          </a:p>
          <a:p>
            <a:pPr marL="0" lvl="0" indent="0" algn="just">
              <a:lnSpc>
                <a:spcPts val="4014"/>
              </a:lnSpc>
              <a:spcBef>
                <a:spcPct val="0"/>
              </a:spcBef>
            </a:pPr>
            <a:r>
              <a:rPr lang="en-US" sz="2867" u="sng" strike="noStrike">
                <a:solidFill>
                  <a:srgbClr val="FFED00"/>
                </a:solidFill>
                <a:latin typeface="Moonjelly"/>
              </a:rPr>
              <a:t>Objetivo do Trabalho :</a:t>
            </a:r>
            <a:r>
              <a:rPr lang="en-US" sz="2867" strike="noStrike">
                <a:solidFill>
                  <a:srgbClr val="FFFFFF"/>
                </a:solidFill>
                <a:latin typeface="Moonjelly"/>
              </a:rPr>
              <a:t> Buscar o maior entendimento sobre o processo de prototipagem. O que é, como é criado, quais são seus tipos, como, quando e onde pode ser utilizado e etc.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33491" y="1"/>
            <a:ext cx="17621018" cy="10287000"/>
          </a:xfrm>
          <a:custGeom>
            <a:avLst/>
            <a:gdLst/>
            <a:ahLst/>
            <a:cxnLst/>
            <a:rect l="l" t="t" r="r" b="b"/>
            <a:pathLst>
              <a:path w="17621018" h="17598991">
                <a:moveTo>
                  <a:pt x="0" y="0"/>
                </a:moveTo>
                <a:lnTo>
                  <a:pt x="17621018" y="0"/>
                </a:lnTo>
                <a:lnTo>
                  <a:pt x="17621018" y="17598991"/>
                </a:lnTo>
                <a:lnTo>
                  <a:pt x="0" y="17598991"/>
                </a:lnTo>
                <a:lnTo>
                  <a:pt x="0" y="0"/>
                </a:lnTo>
                <a:close/>
              </a:path>
            </a:pathLst>
          </a:custGeom>
          <a:blipFill>
            <a:blip r:embed="rId2"/>
            <a:stretch>
              <a:fillRect t="-31763" b="-39315"/>
            </a:stretch>
          </a:blipFill>
        </p:spPr>
        <p:txBody>
          <a:bodyPr/>
          <a:lstStyle/>
          <a:p>
            <a:endParaRPr lang="pt-BR"/>
          </a:p>
        </p:txBody>
      </p:sp>
      <p:sp>
        <p:nvSpPr>
          <p:cNvPr id="3" name="Freeform 3"/>
          <p:cNvSpPr/>
          <p:nvPr/>
        </p:nvSpPr>
        <p:spPr>
          <a:xfrm>
            <a:off x="9269850" y="139059"/>
            <a:ext cx="5958074" cy="5516735"/>
          </a:xfrm>
          <a:custGeom>
            <a:avLst/>
            <a:gdLst/>
            <a:ahLst/>
            <a:cxnLst/>
            <a:rect l="l" t="t" r="r" b="b"/>
            <a:pathLst>
              <a:path w="5958074" h="5516735">
                <a:moveTo>
                  <a:pt x="0" y="0"/>
                </a:moveTo>
                <a:lnTo>
                  <a:pt x="5958074" y="0"/>
                </a:lnTo>
                <a:lnTo>
                  <a:pt x="5958074" y="5516735"/>
                </a:lnTo>
                <a:lnTo>
                  <a:pt x="0" y="5516735"/>
                </a:lnTo>
                <a:lnTo>
                  <a:pt x="0" y="0"/>
                </a:lnTo>
                <a:close/>
              </a:path>
            </a:pathLst>
          </a:custGeom>
          <a:blipFill>
            <a:blip r:embed="rId3"/>
            <a:stretch>
              <a:fillRect/>
            </a:stretch>
          </a:blipFill>
        </p:spPr>
        <p:txBody>
          <a:bodyPr/>
          <a:lstStyle/>
          <a:p>
            <a:endParaRPr lang="pt-BR"/>
          </a:p>
        </p:txBody>
      </p:sp>
      <p:sp>
        <p:nvSpPr>
          <p:cNvPr id="4" name="TextBox 4"/>
          <p:cNvSpPr txBox="1"/>
          <p:nvPr/>
        </p:nvSpPr>
        <p:spPr>
          <a:xfrm>
            <a:off x="1028700" y="5853109"/>
            <a:ext cx="16482301" cy="5227320"/>
          </a:xfrm>
          <a:prstGeom prst="rect">
            <a:avLst/>
          </a:prstGeom>
        </p:spPr>
        <p:txBody>
          <a:bodyPr lIns="0" tIns="0" rIns="0" bIns="0" rtlCol="0" anchor="t">
            <a:spAutoFit/>
          </a:bodyPr>
          <a:lstStyle/>
          <a:p>
            <a:pPr algn="just">
              <a:lnSpc>
                <a:spcPts val="3779"/>
              </a:lnSpc>
            </a:pPr>
            <a:r>
              <a:rPr lang="en-US" sz="2700">
                <a:solidFill>
                  <a:srgbClr val="FFFFFF"/>
                </a:solidFill>
                <a:latin typeface="Moonjelly"/>
              </a:rPr>
              <a:t> O termo Protótipo vem do grego </a:t>
            </a:r>
            <a:r>
              <a:rPr lang="en-US" sz="2700" u="sng">
                <a:solidFill>
                  <a:srgbClr val="FFFFFF"/>
                </a:solidFill>
                <a:latin typeface="Moonjelly"/>
              </a:rPr>
              <a:t>prótos (primeiro) e typos (tipo</a:t>
            </a:r>
            <a:r>
              <a:rPr lang="en-US" sz="2700">
                <a:solidFill>
                  <a:srgbClr val="FFFFFF"/>
                </a:solidFill>
                <a:latin typeface="Moonjelly"/>
              </a:rPr>
              <a:t>), o que, numa tradução quase literal, significa primeiro tipo ou primeiro modelo. </a:t>
            </a:r>
          </a:p>
          <a:p>
            <a:pPr algn="just">
              <a:lnSpc>
                <a:spcPts val="3779"/>
              </a:lnSpc>
            </a:pPr>
            <a:r>
              <a:rPr lang="en-US" sz="2700">
                <a:solidFill>
                  <a:srgbClr val="FFFFFF"/>
                </a:solidFill>
                <a:latin typeface="Moonjelly"/>
              </a:rPr>
              <a:t>É uma abordagem iterativa (física ou digital) e colaborativa, que permite nós visualizarmos, avliarmos explorarmos uma versão simplificada do produto final antes de investir recursos na produção em larga escala (normalmente como fase inicial de um projeto, mas pode também acontecer durante o processo conforme as ideias são apresentadas para que possam ser testadas e, após aprovações e ajustes, implementadas). Nesse nosso universo “tangível”, é possível medir o verdadeiro impacto da criação em seus usuários, por mais inédita e incrível que uma solução aparente ser, sempre existira algum risco maior ou menor de ela não ser tão bem recebida.  </a:t>
            </a:r>
          </a:p>
          <a:p>
            <a:pPr algn="just">
              <a:lnSpc>
                <a:spcPts val="3779"/>
              </a:lnSpc>
            </a:pPr>
            <a:r>
              <a:rPr lang="en-US" sz="2700">
                <a:solidFill>
                  <a:srgbClr val="FFED00"/>
                </a:solidFill>
                <a:latin typeface="Moonjelly"/>
              </a:rPr>
              <a:t> </a:t>
            </a:r>
          </a:p>
          <a:p>
            <a:pPr algn="just">
              <a:lnSpc>
                <a:spcPts val="3779"/>
              </a:lnSpc>
              <a:spcBef>
                <a:spcPct val="0"/>
              </a:spcBef>
            </a:pPr>
            <a:endParaRPr lang="en-US" sz="2700">
              <a:solidFill>
                <a:srgbClr val="FFED00"/>
              </a:solidFill>
              <a:latin typeface="Moonjelly"/>
            </a:endParaRPr>
          </a:p>
        </p:txBody>
      </p:sp>
      <p:sp>
        <p:nvSpPr>
          <p:cNvPr id="5" name="TextBox 5"/>
          <p:cNvSpPr txBox="1"/>
          <p:nvPr/>
        </p:nvSpPr>
        <p:spPr>
          <a:xfrm>
            <a:off x="3034338" y="1804036"/>
            <a:ext cx="5119062" cy="1602875"/>
          </a:xfrm>
          <a:prstGeom prst="rect">
            <a:avLst/>
          </a:prstGeom>
        </p:spPr>
        <p:txBody>
          <a:bodyPr wrap="square" lIns="0" tIns="0" rIns="0" bIns="0" rtlCol="0" anchor="t">
            <a:spAutoFit/>
          </a:bodyPr>
          <a:lstStyle/>
          <a:p>
            <a:pPr algn="ctr">
              <a:lnSpc>
                <a:spcPts val="13343"/>
              </a:lnSpc>
              <a:spcBef>
                <a:spcPct val="0"/>
              </a:spcBef>
            </a:pPr>
            <a:r>
              <a:rPr lang="en-US" sz="9531" u="sng" dirty="0">
                <a:solidFill>
                  <a:srgbClr val="FFED00"/>
                </a:solidFill>
                <a:latin typeface="Balloon Small Caps Extra Bold"/>
              </a:rPr>
              <a:t>O QUE É</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33491" y="1"/>
            <a:ext cx="17621018" cy="10287000"/>
          </a:xfrm>
          <a:custGeom>
            <a:avLst/>
            <a:gdLst/>
            <a:ahLst/>
            <a:cxnLst/>
            <a:rect l="l" t="t" r="r" b="b"/>
            <a:pathLst>
              <a:path w="17621018" h="17598991">
                <a:moveTo>
                  <a:pt x="0" y="0"/>
                </a:moveTo>
                <a:lnTo>
                  <a:pt x="17621018" y="0"/>
                </a:lnTo>
                <a:lnTo>
                  <a:pt x="17621018" y="17598991"/>
                </a:lnTo>
                <a:lnTo>
                  <a:pt x="0" y="17598991"/>
                </a:lnTo>
                <a:lnTo>
                  <a:pt x="0" y="0"/>
                </a:lnTo>
                <a:close/>
              </a:path>
            </a:pathLst>
          </a:custGeom>
          <a:blipFill>
            <a:blip r:embed="rId2"/>
            <a:stretch>
              <a:fillRect t="-31763" b="-39315"/>
            </a:stretch>
          </a:blipFill>
        </p:spPr>
        <p:txBody>
          <a:bodyPr/>
          <a:lstStyle/>
          <a:p>
            <a:endParaRPr lang="pt-BR"/>
          </a:p>
        </p:txBody>
      </p:sp>
      <p:sp>
        <p:nvSpPr>
          <p:cNvPr id="3" name="Freeform 3"/>
          <p:cNvSpPr/>
          <p:nvPr/>
        </p:nvSpPr>
        <p:spPr>
          <a:xfrm>
            <a:off x="12644434" y="167868"/>
            <a:ext cx="2493320" cy="2846768"/>
          </a:xfrm>
          <a:custGeom>
            <a:avLst/>
            <a:gdLst/>
            <a:ahLst/>
            <a:cxnLst/>
            <a:rect l="l" t="t" r="r" b="b"/>
            <a:pathLst>
              <a:path w="2493320" h="2846768">
                <a:moveTo>
                  <a:pt x="0" y="0"/>
                </a:moveTo>
                <a:lnTo>
                  <a:pt x="2493319" y="0"/>
                </a:lnTo>
                <a:lnTo>
                  <a:pt x="2493319" y="2846768"/>
                </a:lnTo>
                <a:lnTo>
                  <a:pt x="0" y="2846768"/>
                </a:lnTo>
                <a:lnTo>
                  <a:pt x="0" y="0"/>
                </a:lnTo>
                <a:close/>
              </a:path>
            </a:pathLst>
          </a:custGeom>
          <a:blipFill>
            <a:blip r:embed="rId3"/>
            <a:stretch>
              <a:fillRect l="-37057" r="-34206"/>
            </a:stretch>
          </a:blipFill>
        </p:spPr>
        <p:txBody>
          <a:bodyPr/>
          <a:lstStyle/>
          <a:p>
            <a:endParaRPr lang="pt-BR"/>
          </a:p>
        </p:txBody>
      </p:sp>
      <p:sp>
        <p:nvSpPr>
          <p:cNvPr id="4" name="Freeform 4"/>
          <p:cNvSpPr/>
          <p:nvPr/>
        </p:nvSpPr>
        <p:spPr>
          <a:xfrm>
            <a:off x="10900807" y="3226440"/>
            <a:ext cx="5980572" cy="3438829"/>
          </a:xfrm>
          <a:custGeom>
            <a:avLst/>
            <a:gdLst/>
            <a:ahLst/>
            <a:cxnLst/>
            <a:rect l="l" t="t" r="r" b="b"/>
            <a:pathLst>
              <a:path w="5980572" h="3438829">
                <a:moveTo>
                  <a:pt x="0" y="0"/>
                </a:moveTo>
                <a:lnTo>
                  <a:pt x="5980572" y="0"/>
                </a:lnTo>
                <a:lnTo>
                  <a:pt x="5980572" y="3438829"/>
                </a:lnTo>
                <a:lnTo>
                  <a:pt x="0" y="3438829"/>
                </a:lnTo>
                <a:lnTo>
                  <a:pt x="0" y="0"/>
                </a:lnTo>
                <a:close/>
              </a:path>
            </a:pathLst>
          </a:custGeom>
          <a:blipFill>
            <a:blip r:embed="rId4"/>
            <a:stretch>
              <a:fillRect/>
            </a:stretch>
          </a:blipFill>
        </p:spPr>
        <p:txBody>
          <a:bodyPr/>
          <a:lstStyle/>
          <a:p>
            <a:endParaRPr lang="pt-BR"/>
          </a:p>
        </p:txBody>
      </p:sp>
      <p:sp>
        <p:nvSpPr>
          <p:cNvPr id="5" name="Freeform 5"/>
          <p:cNvSpPr/>
          <p:nvPr/>
        </p:nvSpPr>
        <p:spPr>
          <a:xfrm>
            <a:off x="11141672" y="6874819"/>
            <a:ext cx="5498844" cy="3409927"/>
          </a:xfrm>
          <a:custGeom>
            <a:avLst/>
            <a:gdLst/>
            <a:ahLst/>
            <a:cxnLst/>
            <a:rect l="l" t="t" r="r" b="b"/>
            <a:pathLst>
              <a:path w="5498844" h="3409927">
                <a:moveTo>
                  <a:pt x="0" y="0"/>
                </a:moveTo>
                <a:lnTo>
                  <a:pt x="5498843" y="0"/>
                </a:lnTo>
                <a:lnTo>
                  <a:pt x="5498843" y="3409927"/>
                </a:lnTo>
                <a:lnTo>
                  <a:pt x="0" y="3409927"/>
                </a:lnTo>
                <a:lnTo>
                  <a:pt x="0" y="0"/>
                </a:lnTo>
                <a:close/>
              </a:path>
            </a:pathLst>
          </a:custGeom>
          <a:blipFill>
            <a:blip r:embed="rId5"/>
            <a:stretch>
              <a:fillRect/>
            </a:stretch>
          </a:blipFill>
        </p:spPr>
        <p:txBody>
          <a:bodyPr/>
          <a:lstStyle/>
          <a:p>
            <a:endParaRPr lang="pt-BR"/>
          </a:p>
        </p:txBody>
      </p:sp>
      <p:sp>
        <p:nvSpPr>
          <p:cNvPr id="6" name="TextBox 6"/>
          <p:cNvSpPr txBox="1"/>
          <p:nvPr/>
        </p:nvSpPr>
        <p:spPr>
          <a:xfrm>
            <a:off x="702792" y="106012"/>
            <a:ext cx="10283561" cy="1088874"/>
          </a:xfrm>
          <a:prstGeom prst="rect">
            <a:avLst/>
          </a:prstGeom>
        </p:spPr>
        <p:txBody>
          <a:bodyPr lIns="0" tIns="0" rIns="0" bIns="0" rtlCol="0" anchor="t">
            <a:spAutoFit/>
          </a:bodyPr>
          <a:lstStyle/>
          <a:p>
            <a:pPr algn="ctr">
              <a:lnSpc>
                <a:spcPts val="7950"/>
              </a:lnSpc>
              <a:spcBef>
                <a:spcPct val="0"/>
              </a:spcBef>
            </a:pPr>
            <a:r>
              <a:rPr lang="en-US" sz="5678" u="sng">
                <a:solidFill>
                  <a:srgbClr val="FFED00"/>
                </a:solidFill>
                <a:latin typeface="Balloon Small Caps Extra Bold"/>
              </a:rPr>
              <a:t>DESENVOLVIMENTO DO PROTÓTIPO</a:t>
            </a:r>
          </a:p>
        </p:txBody>
      </p:sp>
      <p:sp>
        <p:nvSpPr>
          <p:cNvPr id="7" name="TextBox 7"/>
          <p:cNvSpPr txBox="1"/>
          <p:nvPr/>
        </p:nvSpPr>
        <p:spPr>
          <a:xfrm>
            <a:off x="1028700" y="1157444"/>
            <a:ext cx="9494412" cy="9258945"/>
          </a:xfrm>
          <a:prstGeom prst="rect">
            <a:avLst/>
          </a:prstGeom>
        </p:spPr>
        <p:txBody>
          <a:bodyPr lIns="0" tIns="0" rIns="0" bIns="0" rtlCol="0" anchor="t">
            <a:spAutoFit/>
          </a:bodyPr>
          <a:lstStyle/>
          <a:p>
            <a:pPr algn="just">
              <a:lnSpc>
                <a:spcPts val="3779"/>
              </a:lnSpc>
            </a:pPr>
            <a:r>
              <a:rPr lang="en-US" sz="2700" dirty="0" err="1">
                <a:solidFill>
                  <a:srgbClr val="FDE403"/>
                </a:solidFill>
                <a:latin typeface="Moonjelly"/>
              </a:rPr>
              <a:t>Prototipagem</a:t>
            </a:r>
            <a:r>
              <a:rPr lang="en-US" sz="2700" dirty="0">
                <a:solidFill>
                  <a:srgbClr val="FDE403"/>
                </a:solidFill>
                <a:latin typeface="Moonjelly"/>
              </a:rPr>
              <a:t> de Papel:</a:t>
            </a:r>
            <a:r>
              <a:rPr lang="en-US" sz="2700" dirty="0">
                <a:solidFill>
                  <a:srgbClr val="FFFFFF"/>
                </a:solidFill>
                <a:latin typeface="Moonjelly"/>
              </a:rPr>
              <a:t> A </a:t>
            </a:r>
            <a:r>
              <a:rPr lang="en-US" sz="2700" dirty="0" err="1">
                <a:solidFill>
                  <a:srgbClr val="FFFFFF"/>
                </a:solidFill>
                <a:latin typeface="Moonjelly"/>
              </a:rPr>
              <a:t>mais</a:t>
            </a:r>
            <a:r>
              <a:rPr lang="en-US" sz="2700" dirty="0">
                <a:solidFill>
                  <a:srgbClr val="FFFFFF"/>
                </a:solidFill>
                <a:latin typeface="Moonjelly"/>
              </a:rPr>
              <a:t> simples forma de </a:t>
            </a:r>
            <a:r>
              <a:rPr lang="en-US" sz="2700" dirty="0" err="1">
                <a:solidFill>
                  <a:srgbClr val="FFFFFF"/>
                </a:solidFill>
                <a:latin typeface="Moonjelly"/>
              </a:rPr>
              <a:t>prototipar</a:t>
            </a:r>
            <a:r>
              <a:rPr lang="en-US" sz="2700" dirty="0">
                <a:solidFill>
                  <a:srgbClr val="FFFFFF"/>
                </a:solidFill>
                <a:latin typeface="Moonjelly"/>
              </a:rPr>
              <a:t> </a:t>
            </a:r>
            <a:r>
              <a:rPr lang="en-US" sz="2700" dirty="0" err="1">
                <a:solidFill>
                  <a:srgbClr val="FFFFFF"/>
                </a:solidFill>
                <a:latin typeface="Moonjelly"/>
              </a:rPr>
              <a:t>focando</a:t>
            </a:r>
            <a:r>
              <a:rPr lang="en-US" sz="2700" dirty="0">
                <a:solidFill>
                  <a:srgbClr val="FFFFFF"/>
                </a:solidFill>
                <a:latin typeface="Moonjelly"/>
              </a:rPr>
              <a:t> </a:t>
            </a:r>
            <a:r>
              <a:rPr lang="en-US" sz="2700" dirty="0" err="1">
                <a:solidFill>
                  <a:srgbClr val="FFFFFF"/>
                </a:solidFill>
                <a:latin typeface="Moonjelly"/>
              </a:rPr>
              <a:t>na</a:t>
            </a:r>
            <a:r>
              <a:rPr lang="en-US" sz="2700" dirty="0">
                <a:solidFill>
                  <a:srgbClr val="FFFFFF"/>
                </a:solidFill>
                <a:latin typeface="Moonjelly"/>
              </a:rPr>
              <a:t> </a:t>
            </a:r>
            <a:r>
              <a:rPr lang="en-US" sz="2700" dirty="0" err="1">
                <a:solidFill>
                  <a:srgbClr val="FFFFFF"/>
                </a:solidFill>
                <a:latin typeface="Moonjelly"/>
              </a:rPr>
              <a:t>necessidade</a:t>
            </a:r>
            <a:r>
              <a:rPr lang="en-US" sz="2700" dirty="0">
                <a:solidFill>
                  <a:srgbClr val="FFFFFF"/>
                </a:solidFill>
                <a:latin typeface="Moonjelly"/>
              </a:rPr>
              <a:t> a ser </a:t>
            </a:r>
            <a:r>
              <a:rPr lang="en-US" sz="2700" dirty="0" err="1">
                <a:solidFill>
                  <a:srgbClr val="FFFFFF"/>
                </a:solidFill>
                <a:latin typeface="Moonjelly"/>
              </a:rPr>
              <a:t>atendida</a:t>
            </a:r>
            <a:r>
              <a:rPr lang="en-US" sz="2700" dirty="0">
                <a:solidFill>
                  <a:srgbClr val="FFFFFF"/>
                </a:solidFill>
                <a:latin typeface="Moonjelly"/>
              </a:rPr>
              <a:t>, </a:t>
            </a:r>
            <a:r>
              <a:rPr lang="en-US" sz="2700" dirty="0" err="1">
                <a:solidFill>
                  <a:srgbClr val="FFFFFF"/>
                </a:solidFill>
                <a:latin typeface="Moonjelly"/>
              </a:rPr>
              <a:t>fazendo</a:t>
            </a:r>
            <a:r>
              <a:rPr lang="en-US" sz="2700" dirty="0">
                <a:solidFill>
                  <a:srgbClr val="FFFFFF"/>
                </a:solidFill>
                <a:latin typeface="Moonjelly"/>
              </a:rPr>
              <a:t> </a:t>
            </a:r>
            <a:r>
              <a:rPr lang="en-US" sz="2700" dirty="0" err="1">
                <a:solidFill>
                  <a:srgbClr val="FFFFFF"/>
                </a:solidFill>
                <a:latin typeface="Moonjelly"/>
              </a:rPr>
              <a:t>esquemas</a:t>
            </a:r>
            <a:r>
              <a:rPr lang="en-US" sz="2700" dirty="0">
                <a:solidFill>
                  <a:srgbClr val="FFFFFF"/>
                </a:solidFill>
                <a:latin typeface="Moonjelly"/>
              </a:rPr>
              <a:t>/</a:t>
            </a:r>
            <a:r>
              <a:rPr lang="en-US" sz="2700" dirty="0" err="1">
                <a:solidFill>
                  <a:srgbClr val="FFFFFF"/>
                </a:solidFill>
                <a:latin typeface="Moonjelly"/>
              </a:rPr>
              <a:t>desenhos</a:t>
            </a:r>
            <a:r>
              <a:rPr lang="en-US" sz="2700" dirty="0">
                <a:solidFill>
                  <a:srgbClr val="FFFFFF"/>
                </a:solidFill>
                <a:latin typeface="Moonjelly"/>
              </a:rPr>
              <a:t> da </a:t>
            </a:r>
            <a:r>
              <a:rPr lang="en-US" sz="2700" dirty="0" err="1">
                <a:solidFill>
                  <a:srgbClr val="FFFFFF"/>
                </a:solidFill>
                <a:latin typeface="Moonjelly"/>
              </a:rPr>
              <a:t>sua</a:t>
            </a:r>
            <a:r>
              <a:rPr lang="en-US" sz="2700" dirty="0">
                <a:solidFill>
                  <a:srgbClr val="FFFFFF"/>
                </a:solidFill>
                <a:latin typeface="Moonjelly"/>
              </a:rPr>
              <a:t> </a:t>
            </a:r>
            <a:r>
              <a:rPr lang="en-US" sz="2700" dirty="0" err="1">
                <a:solidFill>
                  <a:srgbClr val="FFFFFF"/>
                </a:solidFill>
                <a:latin typeface="Moonjelly"/>
              </a:rPr>
              <a:t>ideia</a:t>
            </a:r>
            <a:r>
              <a:rPr lang="en-US" sz="2700" dirty="0">
                <a:solidFill>
                  <a:srgbClr val="FFFFFF"/>
                </a:solidFill>
                <a:latin typeface="Moonjelly"/>
              </a:rPr>
              <a:t> de forma com que </a:t>
            </a:r>
            <a:r>
              <a:rPr lang="en-US" sz="2700" dirty="0" err="1">
                <a:solidFill>
                  <a:srgbClr val="FFFFFF"/>
                </a:solidFill>
                <a:latin typeface="Moonjelly"/>
              </a:rPr>
              <a:t>você</a:t>
            </a:r>
            <a:r>
              <a:rPr lang="en-US" sz="2700" dirty="0">
                <a:solidFill>
                  <a:srgbClr val="FFFFFF"/>
                </a:solidFill>
                <a:latin typeface="Moonjelly"/>
              </a:rPr>
              <a:t> e </a:t>
            </a:r>
            <a:r>
              <a:rPr lang="en-US" sz="2700" dirty="0" err="1">
                <a:solidFill>
                  <a:srgbClr val="FFFFFF"/>
                </a:solidFill>
                <a:latin typeface="Moonjelly"/>
              </a:rPr>
              <a:t>os</a:t>
            </a:r>
            <a:r>
              <a:rPr lang="en-US" sz="2700" dirty="0">
                <a:solidFill>
                  <a:srgbClr val="FFFFFF"/>
                </a:solidFill>
                <a:latin typeface="Moonjelly"/>
              </a:rPr>
              <a:t> outros </a:t>
            </a:r>
            <a:r>
              <a:rPr lang="en-US" sz="2700" dirty="0" err="1">
                <a:solidFill>
                  <a:srgbClr val="FFFFFF"/>
                </a:solidFill>
                <a:latin typeface="Moonjelly"/>
              </a:rPr>
              <a:t>possam</a:t>
            </a:r>
            <a:r>
              <a:rPr lang="en-US" sz="2700" dirty="0">
                <a:solidFill>
                  <a:srgbClr val="FFFFFF"/>
                </a:solidFill>
                <a:latin typeface="Moonjelly"/>
              </a:rPr>
              <a:t> </a:t>
            </a:r>
            <a:r>
              <a:rPr lang="en-US" sz="2700" dirty="0" err="1">
                <a:solidFill>
                  <a:srgbClr val="FFFFFF"/>
                </a:solidFill>
                <a:latin typeface="Moonjelly"/>
              </a:rPr>
              <a:t>interagir</a:t>
            </a:r>
            <a:r>
              <a:rPr lang="en-US" sz="2700" dirty="0">
                <a:solidFill>
                  <a:srgbClr val="FFFFFF"/>
                </a:solidFill>
                <a:latin typeface="Moonjelly"/>
              </a:rPr>
              <a:t> e </a:t>
            </a:r>
            <a:r>
              <a:rPr lang="en-US" sz="2700" dirty="0" err="1">
                <a:solidFill>
                  <a:srgbClr val="FFFFFF"/>
                </a:solidFill>
                <a:latin typeface="Moonjelly"/>
              </a:rPr>
              <a:t>ao</a:t>
            </a:r>
            <a:r>
              <a:rPr lang="en-US" sz="2700" dirty="0">
                <a:solidFill>
                  <a:srgbClr val="FFFFFF"/>
                </a:solidFill>
                <a:latin typeface="Moonjelly"/>
              </a:rPr>
              <a:t> final de </a:t>
            </a:r>
            <a:r>
              <a:rPr lang="en-US" sz="2700" dirty="0" err="1">
                <a:solidFill>
                  <a:srgbClr val="FFFFFF"/>
                </a:solidFill>
                <a:latin typeface="Moonjelly"/>
              </a:rPr>
              <a:t>algumas</a:t>
            </a:r>
            <a:r>
              <a:rPr lang="en-US" sz="2700" dirty="0">
                <a:solidFill>
                  <a:srgbClr val="FFFFFF"/>
                </a:solidFill>
                <a:latin typeface="Moonjelly"/>
              </a:rPr>
              <a:t> horas </a:t>
            </a:r>
            <a:r>
              <a:rPr lang="en-US" sz="2700" dirty="0" err="1">
                <a:solidFill>
                  <a:srgbClr val="FFFFFF"/>
                </a:solidFill>
                <a:latin typeface="Moonjelly"/>
              </a:rPr>
              <a:t>ter</a:t>
            </a:r>
            <a:r>
              <a:rPr lang="en-US" sz="2700" dirty="0">
                <a:solidFill>
                  <a:srgbClr val="FFFFFF"/>
                </a:solidFill>
                <a:latin typeface="Moonjelly"/>
              </a:rPr>
              <a:t> </a:t>
            </a:r>
            <a:r>
              <a:rPr lang="en-US" sz="2700" dirty="0" err="1">
                <a:solidFill>
                  <a:srgbClr val="FFFFFF"/>
                </a:solidFill>
                <a:latin typeface="Moonjelly"/>
              </a:rPr>
              <a:t>sua</a:t>
            </a:r>
            <a:r>
              <a:rPr lang="en-US" sz="2700" dirty="0">
                <a:solidFill>
                  <a:srgbClr val="FFFFFF"/>
                </a:solidFill>
                <a:latin typeface="Moonjelly"/>
              </a:rPr>
              <a:t> </a:t>
            </a:r>
            <a:r>
              <a:rPr lang="en-US" sz="2700" dirty="0" err="1">
                <a:solidFill>
                  <a:srgbClr val="FFFFFF"/>
                </a:solidFill>
                <a:latin typeface="Moonjelly"/>
              </a:rPr>
              <a:t>ideia</a:t>
            </a:r>
            <a:r>
              <a:rPr lang="en-US" sz="2700" dirty="0">
                <a:solidFill>
                  <a:srgbClr val="FFFFFF"/>
                </a:solidFill>
                <a:latin typeface="Moonjelly"/>
              </a:rPr>
              <a:t> </a:t>
            </a:r>
            <a:r>
              <a:rPr lang="en-US" sz="2700" dirty="0" err="1">
                <a:solidFill>
                  <a:srgbClr val="FFFFFF"/>
                </a:solidFill>
                <a:latin typeface="Moonjelly"/>
              </a:rPr>
              <a:t>validada</a:t>
            </a:r>
            <a:r>
              <a:rPr lang="en-US" sz="2700" dirty="0">
                <a:solidFill>
                  <a:srgbClr val="FFFFFF"/>
                </a:solidFill>
                <a:latin typeface="Moonjelly"/>
              </a:rPr>
              <a:t>.</a:t>
            </a:r>
          </a:p>
          <a:p>
            <a:pPr algn="just">
              <a:lnSpc>
                <a:spcPts val="3779"/>
              </a:lnSpc>
            </a:pPr>
            <a:r>
              <a:rPr lang="en-US" sz="2700" dirty="0" err="1">
                <a:solidFill>
                  <a:srgbClr val="FDE403"/>
                </a:solidFill>
                <a:latin typeface="Moonjelly"/>
              </a:rPr>
              <a:t>Prototipagem</a:t>
            </a:r>
            <a:r>
              <a:rPr lang="en-US" sz="2700" dirty="0">
                <a:solidFill>
                  <a:srgbClr val="FDE403"/>
                </a:solidFill>
                <a:latin typeface="Moonjelly"/>
              </a:rPr>
              <a:t> Digital:</a:t>
            </a:r>
          </a:p>
          <a:p>
            <a:pPr marL="582930" lvl="1" indent="-291465" algn="just">
              <a:lnSpc>
                <a:spcPts val="3779"/>
              </a:lnSpc>
              <a:buFont typeface="Arial"/>
              <a:buChar char="•"/>
            </a:pPr>
            <a:r>
              <a:rPr lang="en-US" sz="2700" err="1">
                <a:solidFill>
                  <a:srgbClr val="FDE403"/>
                </a:solidFill>
                <a:latin typeface="Moonjelly"/>
              </a:rPr>
              <a:t>InvisionApp</a:t>
            </a:r>
            <a:r>
              <a:rPr lang="en-US" sz="2700" dirty="0">
                <a:solidFill>
                  <a:srgbClr val="FDE403"/>
                </a:solidFill>
                <a:latin typeface="Moonjelly"/>
              </a:rPr>
              <a:t>:</a:t>
            </a:r>
            <a:r>
              <a:rPr lang="en-US" sz="2700" dirty="0">
                <a:solidFill>
                  <a:srgbClr val="FFFFFF"/>
                </a:solidFill>
                <a:latin typeface="Moonjelly"/>
              </a:rPr>
              <a:t> </a:t>
            </a:r>
            <a:r>
              <a:rPr lang="en-US" sz="2700" err="1">
                <a:solidFill>
                  <a:srgbClr val="FFFFFF"/>
                </a:solidFill>
                <a:latin typeface="Moonjelly"/>
              </a:rPr>
              <a:t>Oferece</a:t>
            </a:r>
            <a:r>
              <a:rPr lang="en-US" sz="2700" dirty="0">
                <a:solidFill>
                  <a:srgbClr val="FFFFFF"/>
                </a:solidFill>
                <a:latin typeface="Moonjelly"/>
              </a:rPr>
              <a:t> </a:t>
            </a:r>
            <a:r>
              <a:rPr lang="en-US" sz="2700" err="1">
                <a:solidFill>
                  <a:srgbClr val="FFFFFF"/>
                </a:solidFill>
                <a:latin typeface="Moonjelly"/>
              </a:rPr>
              <a:t>uma</a:t>
            </a:r>
            <a:r>
              <a:rPr lang="en-US" sz="2700" dirty="0">
                <a:solidFill>
                  <a:srgbClr val="FFFFFF"/>
                </a:solidFill>
                <a:latin typeface="Moonjelly"/>
              </a:rPr>
              <a:t> </a:t>
            </a:r>
            <a:r>
              <a:rPr lang="en-US" sz="2700" err="1">
                <a:solidFill>
                  <a:srgbClr val="FFFFFF"/>
                </a:solidFill>
                <a:latin typeface="Moonjelly"/>
              </a:rPr>
              <a:t>versão</a:t>
            </a:r>
            <a:r>
              <a:rPr lang="en-US" sz="2700" dirty="0">
                <a:solidFill>
                  <a:srgbClr val="FFFFFF"/>
                </a:solidFill>
                <a:latin typeface="Moonjelly"/>
              </a:rPr>
              <a:t> </a:t>
            </a:r>
            <a:r>
              <a:rPr lang="en-US" sz="2700" err="1">
                <a:solidFill>
                  <a:srgbClr val="FFFFFF"/>
                </a:solidFill>
                <a:latin typeface="Moonjelly"/>
              </a:rPr>
              <a:t>gratuita</a:t>
            </a:r>
            <a:r>
              <a:rPr lang="en-US" sz="2700" dirty="0">
                <a:solidFill>
                  <a:srgbClr val="FFFFFF"/>
                </a:solidFill>
                <a:latin typeface="Moonjelly"/>
              </a:rPr>
              <a:t>, que </a:t>
            </a:r>
            <a:r>
              <a:rPr lang="en-US" sz="2700" err="1">
                <a:solidFill>
                  <a:srgbClr val="FFFFFF"/>
                </a:solidFill>
                <a:latin typeface="Moonjelly"/>
              </a:rPr>
              <a:t>possibilita</a:t>
            </a:r>
            <a:r>
              <a:rPr lang="en-US" sz="2700" dirty="0">
                <a:solidFill>
                  <a:srgbClr val="FFFFFF"/>
                </a:solidFill>
                <a:latin typeface="Moonjelly"/>
              </a:rPr>
              <a:t> </a:t>
            </a:r>
            <a:r>
              <a:rPr lang="en-US" sz="2700" err="1">
                <a:solidFill>
                  <a:srgbClr val="FFFFFF"/>
                </a:solidFill>
                <a:latin typeface="Moonjelly"/>
              </a:rPr>
              <a:t>construir</a:t>
            </a:r>
            <a:r>
              <a:rPr lang="en-US" sz="2700" dirty="0">
                <a:solidFill>
                  <a:srgbClr val="FFFFFF"/>
                </a:solidFill>
                <a:latin typeface="Moonjelly"/>
              </a:rPr>
              <a:t> algo </a:t>
            </a:r>
            <a:r>
              <a:rPr lang="en-US" sz="2700" err="1">
                <a:solidFill>
                  <a:srgbClr val="FFFFFF"/>
                </a:solidFill>
                <a:latin typeface="Moonjelly"/>
              </a:rPr>
              <a:t>rápido</a:t>
            </a:r>
            <a:r>
              <a:rPr lang="en-US" sz="2700" dirty="0">
                <a:solidFill>
                  <a:srgbClr val="FFFFFF"/>
                </a:solidFill>
                <a:latin typeface="Moonjelly"/>
              </a:rPr>
              <a:t> e </a:t>
            </a:r>
            <a:r>
              <a:rPr lang="en-US" sz="2700" err="1">
                <a:solidFill>
                  <a:srgbClr val="FFFFFF"/>
                </a:solidFill>
                <a:latin typeface="Moonjelly"/>
              </a:rPr>
              <a:t>próximo</a:t>
            </a:r>
            <a:r>
              <a:rPr lang="en-US" sz="2700" dirty="0">
                <a:solidFill>
                  <a:srgbClr val="FFFFFF"/>
                </a:solidFill>
                <a:latin typeface="Moonjelly"/>
              </a:rPr>
              <a:t> </a:t>
            </a:r>
            <a:r>
              <a:rPr lang="en-US" sz="2700" err="1">
                <a:solidFill>
                  <a:srgbClr val="FFFFFF"/>
                </a:solidFill>
                <a:latin typeface="Moonjelly"/>
              </a:rPr>
              <a:t>ao</a:t>
            </a:r>
            <a:r>
              <a:rPr lang="en-US" sz="2700" dirty="0">
                <a:solidFill>
                  <a:srgbClr val="FFFFFF"/>
                </a:solidFill>
                <a:latin typeface="Moonjelly"/>
              </a:rPr>
              <a:t> produto final, com links, </a:t>
            </a:r>
            <a:r>
              <a:rPr lang="en-US" sz="2700" err="1">
                <a:solidFill>
                  <a:srgbClr val="FFFFFF"/>
                </a:solidFill>
                <a:latin typeface="Moonjelly"/>
              </a:rPr>
              <a:t>transições</a:t>
            </a:r>
            <a:r>
              <a:rPr lang="en-US" sz="2700" dirty="0">
                <a:solidFill>
                  <a:srgbClr val="FFFFFF"/>
                </a:solidFill>
                <a:latin typeface="Moonjelly"/>
              </a:rPr>
              <a:t> e </a:t>
            </a:r>
            <a:r>
              <a:rPr lang="en-US" sz="2700" err="1">
                <a:solidFill>
                  <a:srgbClr val="FFFFFF"/>
                </a:solidFill>
                <a:latin typeface="Moonjelly"/>
              </a:rPr>
              <a:t>animações</a:t>
            </a:r>
            <a:r>
              <a:rPr lang="en-US" sz="2700" dirty="0">
                <a:solidFill>
                  <a:srgbClr val="FFFFFF"/>
                </a:solidFill>
                <a:latin typeface="Moonjelly"/>
              </a:rPr>
              <a:t> </a:t>
            </a:r>
            <a:r>
              <a:rPr lang="en-US" sz="2700" err="1">
                <a:solidFill>
                  <a:srgbClr val="FFFFFF"/>
                </a:solidFill>
                <a:latin typeface="Moonjelly"/>
              </a:rPr>
              <a:t>transformando</a:t>
            </a:r>
            <a:r>
              <a:rPr lang="en-US" sz="2700" dirty="0">
                <a:solidFill>
                  <a:srgbClr val="FFFFFF"/>
                </a:solidFill>
                <a:latin typeface="Moonjelly"/>
              </a:rPr>
              <a:t> o </a:t>
            </a:r>
            <a:r>
              <a:rPr lang="en-US" sz="2700" err="1">
                <a:solidFill>
                  <a:srgbClr val="FFFFFF"/>
                </a:solidFill>
                <a:latin typeface="Moonjelly"/>
              </a:rPr>
              <a:t>arquivo</a:t>
            </a:r>
            <a:r>
              <a:rPr lang="en-US" sz="2700" dirty="0">
                <a:solidFill>
                  <a:srgbClr val="FFFFFF"/>
                </a:solidFill>
                <a:latin typeface="Moonjelly"/>
              </a:rPr>
              <a:t> </a:t>
            </a:r>
            <a:r>
              <a:rPr lang="en-US" sz="2700" err="1">
                <a:solidFill>
                  <a:srgbClr val="FFFFFF"/>
                </a:solidFill>
                <a:latin typeface="Moonjelly"/>
              </a:rPr>
              <a:t>em</a:t>
            </a:r>
            <a:r>
              <a:rPr lang="en-US" sz="2700" dirty="0">
                <a:solidFill>
                  <a:srgbClr val="FFFFFF"/>
                </a:solidFill>
                <a:latin typeface="Moonjelly"/>
              </a:rPr>
              <a:t> um </a:t>
            </a:r>
            <a:r>
              <a:rPr lang="en-US" sz="2700" err="1">
                <a:solidFill>
                  <a:srgbClr val="FFFFFF"/>
                </a:solidFill>
                <a:latin typeface="Moonjelly"/>
              </a:rPr>
              <a:t>protótipo</a:t>
            </a:r>
            <a:r>
              <a:rPr lang="en-US" sz="2700" dirty="0">
                <a:solidFill>
                  <a:srgbClr val="FFFFFF"/>
                </a:solidFill>
                <a:latin typeface="Moonjelly"/>
              </a:rPr>
              <a:t> </a:t>
            </a:r>
            <a:r>
              <a:rPr lang="en-US" sz="2700" err="1">
                <a:solidFill>
                  <a:srgbClr val="FFFFFF"/>
                </a:solidFill>
                <a:latin typeface="Moonjelly"/>
              </a:rPr>
              <a:t>clicável</a:t>
            </a:r>
            <a:r>
              <a:rPr lang="en-US" sz="2700" dirty="0">
                <a:solidFill>
                  <a:srgbClr val="FFFFFF"/>
                </a:solidFill>
                <a:latin typeface="Moonjelly"/>
              </a:rPr>
              <a:t>.</a:t>
            </a:r>
          </a:p>
          <a:p>
            <a:pPr marL="582930" lvl="1" indent="-291465" algn="just">
              <a:lnSpc>
                <a:spcPts val="3779"/>
              </a:lnSpc>
              <a:buFont typeface="Arial"/>
              <a:buChar char="•"/>
            </a:pPr>
            <a:r>
              <a:rPr lang="en-US" sz="2700" dirty="0">
                <a:solidFill>
                  <a:srgbClr val="FDE403"/>
                </a:solidFill>
                <a:latin typeface="Moonjelly"/>
              </a:rPr>
              <a:t>Sketch: </a:t>
            </a:r>
            <a:r>
              <a:rPr lang="en-US" sz="2700" dirty="0" err="1">
                <a:solidFill>
                  <a:srgbClr val="FFFFFF"/>
                </a:solidFill>
                <a:latin typeface="Moonjelly"/>
                <a:ea typeface="Moonjelly"/>
              </a:rPr>
              <a:t>Ferramen﻿ta</a:t>
            </a:r>
            <a:r>
              <a:rPr lang="en-US" sz="2700" dirty="0">
                <a:solidFill>
                  <a:srgbClr val="FFFFFF"/>
                </a:solidFill>
                <a:latin typeface="Moonjelly"/>
                <a:ea typeface="Moonjelly"/>
              </a:rPr>
              <a:t> </a:t>
            </a:r>
            <a:r>
              <a:rPr lang="en-US" sz="2700" dirty="0" err="1">
                <a:solidFill>
                  <a:srgbClr val="FFFFFF"/>
                </a:solidFill>
                <a:latin typeface="Moonjelly"/>
                <a:ea typeface="Moonjelly"/>
              </a:rPr>
              <a:t>baseada</a:t>
            </a:r>
            <a:r>
              <a:rPr lang="en-US" sz="2700" dirty="0">
                <a:solidFill>
                  <a:srgbClr val="FFFFFF"/>
                </a:solidFill>
                <a:latin typeface="Moonjelly"/>
                <a:ea typeface="Moonjelly"/>
              </a:rPr>
              <a:t> </a:t>
            </a:r>
            <a:r>
              <a:rPr lang="en-US" sz="2700" dirty="0" err="1">
                <a:solidFill>
                  <a:srgbClr val="FFFFFF"/>
                </a:solidFill>
                <a:latin typeface="Moonjelly"/>
                <a:ea typeface="Moonjelly"/>
              </a:rPr>
              <a:t>em</a:t>
            </a:r>
            <a:r>
              <a:rPr lang="en-US" sz="2700" dirty="0">
                <a:solidFill>
                  <a:srgbClr val="FFFFFF"/>
                </a:solidFill>
                <a:latin typeface="Moonjelly"/>
                <a:ea typeface="Moonjelly"/>
              </a:rPr>
              <a:t> </a:t>
            </a:r>
            <a:r>
              <a:rPr lang="en-US" sz="2700" dirty="0" err="1">
                <a:solidFill>
                  <a:srgbClr val="FFFFFF"/>
                </a:solidFill>
                <a:latin typeface="Moonjelly"/>
                <a:ea typeface="Moonjelly"/>
              </a:rPr>
              <a:t>vetor</a:t>
            </a:r>
            <a:r>
              <a:rPr lang="en-US" sz="2700" dirty="0">
                <a:solidFill>
                  <a:srgbClr val="FFFFFF"/>
                </a:solidFill>
                <a:latin typeface="Moonjelly"/>
                <a:ea typeface="Moonjelly"/>
              </a:rPr>
              <a:t> para </a:t>
            </a:r>
            <a:r>
              <a:rPr lang="en-US" sz="2700" dirty="0" err="1">
                <a:solidFill>
                  <a:srgbClr val="FFFFFF"/>
                </a:solidFill>
                <a:latin typeface="Moonjelly"/>
                <a:ea typeface="Moonjelly"/>
              </a:rPr>
              <a:t>construir</a:t>
            </a:r>
            <a:r>
              <a:rPr lang="en-US" sz="2700" dirty="0">
                <a:solidFill>
                  <a:srgbClr val="FFFFFF"/>
                </a:solidFill>
                <a:latin typeface="Moonjelly"/>
                <a:ea typeface="Moonjelly"/>
              </a:rPr>
              <a:t> </a:t>
            </a:r>
            <a:r>
              <a:rPr lang="en-US" sz="2700" dirty="0" err="1">
                <a:solidFill>
                  <a:srgbClr val="FFFFFF"/>
                </a:solidFill>
                <a:latin typeface="Moonjelly"/>
                <a:ea typeface="Moonjelly"/>
              </a:rPr>
              <a:t>protótipos</a:t>
            </a:r>
            <a:r>
              <a:rPr lang="en-US" sz="2700" dirty="0">
                <a:solidFill>
                  <a:srgbClr val="FFFFFF"/>
                </a:solidFill>
                <a:latin typeface="Moonjelly"/>
                <a:ea typeface="Moonjelly"/>
              </a:rPr>
              <a:t> com </a:t>
            </a:r>
            <a:r>
              <a:rPr lang="en-US" sz="2700" dirty="0" err="1">
                <a:solidFill>
                  <a:srgbClr val="FFFFFF"/>
                </a:solidFill>
                <a:latin typeface="Moonjelly"/>
                <a:ea typeface="Moonjelly"/>
              </a:rPr>
              <a:t>maior</a:t>
            </a:r>
            <a:r>
              <a:rPr lang="en-US" sz="2700" dirty="0">
                <a:solidFill>
                  <a:srgbClr val="FFFFFF"/>
                </a:solidFill>
                <a:latin typeface="Moonjelly"/>
                <a:ea typeface="Moonjelly"/>
              </a:rPr>
              <a:t> </a:t>
            </a:r>
            <a:r>
              <a:rPr lang="en-US" sz="2700" dirty="0" err="1">
                <a:solidFill>
                  <a:srgbClr val="FFFFFF"/>
                </a:solidFill>
                <a:latin typeface="Moonjelly"/>
                <a:ea typeface="Moonjelly"/>
              </a:rPr>
              <a:t>fidelidade</a:t>
            </a:r>
            <a:r>
              <a:rPr lang="en-US" sz="2700" dirty="0">
                <a:solidFill>
                  <a:srgbClr val="FFFFFF"/>
                </a:solidFill>
                <a:latin typeface="Moonjelly"/>
                <a:ea typeface="Moonjelly"/>
              </a:rPr>
              <a:t> e para </a:t>
            </a:r>
            <a:r>
              <a:rPr lang="en-US" sz="2700" dirty="0" err="1">
                <a:solidFill>
                  <a:srgbClr val="FFFFFF"/>
                </a:solidFill>
                <a:latin typeface="Moonjelly"/>
                <a:ea typeface="Moonjelly"/>
              </a:rPr>
              <a:t>diferentes</a:t>
            </a:r>
            <a:r>
              <a:rPr lang="en-US" sz="2700" dirty="0">
                <a:solidFill>
                  <a:srgbClr val="FFFFFF"/>
                </a:solidFill>
                <a:latin typeface="Moonjelly"/>
                <a:ea typeface="Moonjelly"/>
              </a:rPr>
              <a:t> </a:t>
            </a:r>
            <a:r>
              <a:rPr lang="en-US" sz="2700" dirty="0" err="1">
                <a:solidFill>
                  <a:srgbClr val="FFFFFF"/>
                </a:solidFill>
                <a:latin typeface="Moonjelly"/>
                <a:ea typeface="Moonjelly"/>
              </a:rPr>
              <a:t>plataformas</a:t>
            </a:r>
            <a:r>
              <a:rPr lang="en-US" sz="2700" dirty="0">
                <a:solidFill>
                  <a:srgbClr val="FFFFFF"/>
                </a:solidFill>
                <a:latin typeface="Moonjelly"/>
                <a:ea typeface="Moonjelly"/>
              </a:rPr>
              <a:t>/</a:t>
            </a:r>
            <a:r>
              <a:rPr lang="en-US" sz="2700" dirty="0" err="1">
                <a:solidFill>
                  <a:srgbClr val="FFFFFF"/>
                </a:solidFill>
                <a:latin typeface="Moonjelly"/>
                <a:ea typeface="Moonjelly"/>
              </a:rPr>
              <a:t>dispositivos</a:t>
            </a:r>
            <a:r>
              <a:rPr lang="en-US" sz="2700" dirty="0">
                <a:solidFill>
                  <a:srgbClr val="FFFFFF"/>
                </a:solidFill>
                <a:latin typeface="Moonjelly"/>
                <a:ea typeface="Moonjelly"/>
              </a:rPr>
              <a:t> (</a:t>
            </a:r>
            <a:r>
              <a:rPr lang="en-US" sz="2700" dirty="0" err="1">
                <a:solidFill>
                  <a:srgbClr val="FFFFFF"/>
                </a:solidFill>
                <a:latin typeface="Moonjelly"/>
                <a:ea typeface="Moonjelly"/>
              </a:rPr>
              <a:t>há</a:t>
            </a:r>
            <a:r>
              <a:rPr lang="en-US" sz="2700" dirty="0">
                <a:solidFill>
                  <a:srgbClr val="FFFFFF"/>
                </a:solidFill>
                <a:latin typeface="Moonjelly"/>
                <a:ea typeface="Moonjelly"/>
              </a:rPr>
              <a:t> </a:t>
            </a:r>
            <a:r>
              <a:rPr lang="en-US" sz="2700" dirty="0" err="1">
                <a:solidFill>
                  <a:srgbClr val="FFFFFF"/>
                </a:solidFill>
                <a:latin typeface="Moonjelly"/>
                <a:ea typeface="Moonjelly"/>
              </a:rPr>
              <a:t>também</a:t>
            </a:r>
            <a:r>
              <a:rPr lang="en-US" sz="2700" dirty="0">
                <a:solidFill>
                  <a:srgbClr val="FFFFFF"/>
                </a:solidFill>
                <a:latin typeface="Moonjelly"/>
                <a:ea typeface="Moonjelly"/>
              </a:rPr>
              <a:t> </a:t>
            </a:r>
            <a:r>
              <a:rPr lang="en-US" sz="2700" dirty="0" err="1">
                <a:solidFill>
                  <a:srgbClr val="FFFFFF"/>
                </a:solidFill>
                <a:latin typeface="Moonjelly"/>
                <a:ea typeface="Moonjelly"/>
              </a:rPr>
              <a:t>tutoriais</a:t>
            </a:r>
            <a:r>
              <a:rPr lang="en-US" sz="2700" dirty="0">
                <a:solidFill>
                  <a:srgbClr val="FFFFFF"/>
                </a:solidFill>
                <a:latin typeface="Moonjelly"/>
                <a:ea typeface="Moonjelly"/>
              </a:rPr>
              <a:t> </a:t>
            </a:r>
            <a:r>
              <a:rPr lang="en-US" sz="2700" dirty="0" err="1">
                <a:solidFill>
                  <a:srgbClr val="FFFFFF"/>
                </a:solidFill>
                <a:latin typeface="Moonjelly"/>
                <a:ea typeface="Moonjelly"/>
              </a:rPr>
              <a:t>explicando</a:t>
            </a:r>
            <a:r>
              <a:rPr lang="en-US" sz="2700" dirty="0">
                <a:solidFill>
                  <a:srgbClr val="FFFFFF"/>
                </a:solidFill>
                <a:latin typeface="Moonjelly"/>
                <a:ea typeface="Moonjelly"/>
              </a:rPr>
              <a:t> </a:t>
            </a:r>
            <a:r>
              <a:rPr lang="en-US" sz="2700" dirty="0" err="1">
                <a:solidFill>
                  <a:srgbClr val="FFFFFF"/>
                </a:solidFill>
                <a:latin typeface="Moonjelly"/>
                <a:ea typeface="Moonjelly"/>
              </a:rPr>
              <a:t>diversas</a:t>
            </a:r>
            <a:r>
              <a:rPr lang="en-US" sz="2700" dirty="0">
                <a:solidFill>
                  <a:srgbClr val="FFFFFF"/>
                </a:solidFill>
                <a:latin typeface="Moonjelly"/>
                <a:ea typeface="Moonjelly"/>
              </a:rPr>
              <a:t> </a:t>
            </a:r>
            <a:r>
              <a:rPr lang="en-US" sz="2700" dirty="0" err="1">
                <a:solidFill>
                  <a:srgbClr val="FFFFFF"/>
                </a:solidFill>
                <a:latin typeface="Moonjelly"/>
                <a:ea typeface="Moonjelly"/>
              </a:rPr>
              <a:t>funcionalidades</a:t>
            </a:r>
            <a:r>
              <a:rPr lang="en-US" sz="2700" dirty="0">
                <a:solidFill>
                  <a:srgbClr val="FFFFFF"/>
                </a:solidFill>
                <a:latin typeface="Moonjelly"/>
                <a:ea typeface="Moonjelly"/>
              </a:rPr>
              <a:t> da ferramenta). Para </a:t>
            </a:r>
            <a:r>
              <a:rPr lang="en-US" sz="2700" dirty="0" err="1">
                <a:solidFill>
                  <a:srgbClr val="FFFFFF"/>
                </a:solidFill>
                <a:latin typeface="Moonjelly"/>
                <a:ea typeface="Moonjelly"/>
              </a:rPr>
              <a:t>muitos</a:t>
            </a:r>
            <a:r>
              <a:rPr lang="en-US" sz="2700" dirty="0">
                <a:solidFill>
                  <a:srgbClr val="FFFFFF"/>
                </a:solidFill>
                <a:latin typeface="Moonjelly"/>
                <a:ea typeface="Moonjelly"/>
              </a:rPr>
              <a:t> </a:t>
            </a:r>
            <a:r>
              <a:rPr lang="en-US" sz="2700" dirty="0" err="1">
                <a:solidFill>
                  <a:srgbClr val="FFFFFF"/>
                </a:solidFill>
                <a:latin typeface="Moonjelly"/>
                <a:ea typeface="Moonjelly"/>
              </a:rPr>
              <a:t>webdesigners</a:t>
            </a:r>
            <a:r>
              <a:rPr lang="en-US" sz="2700" dirty="0">
                <a:solidFill>
                  <a:srgbClr val="FFFFFF"/>
                </a:solidFill>
                <a:latin typeface="Moonjelly"/>
                <a:ea typeface="Moonjelly"/>
              </a:rPr>
              <a:t>, A </a:t>
            </a:r>
            <a:r>
              <a:rPr lang="en-US" sz="2700" dirty="0" err="1">
                <a:solidFill>
                  <a:srgbClr val="FFFFFF"/>
                </a:solidFill>
                <a:latin typeface="Moonjelly"/>
                <a:ea typeface="Moonjelly"/>
              </a:rPr>
              <a:t>desvantagem</a:t>
            </a:r>
            <a:r>
              <a:rPr lang="en-US" sz="2700" dirty="0">
                <a:solidFill>
                  <a:srgbClr val="FFFFFF"/>
                </a:solidFill>
                <a:latin typeface="Moonjelly"/>
                <a:ea typeface="Moonjelly"/>
              </a:rPr>
              <a:t> é </a:t>
            </a:r>
            <a:r>
              <a:rPr lang="en-US" sz="2700" dirty="0" err="1">
                <a:solidFill>
                  <a:srgbClr val="FFFFFF"/>
                </a:solidFill>
                <a:latin typeface="Moonjelly"/>
                <a:ea typeface="Moonjelly"/>
              </a:rPr>
              <a:t>ela</a:t>
            </a:r>
            <a:r>
              <a:rPr lang="en-US" sz="2700" dirty="0">
                <a:solidFill>
                  <a:srgbClr val="FFFFFF"/>
                </a:solidFill>
                <a:latin typeface="Moonjelly"/>
                <a:ea typeface="Moonjelly"/>
              </a:rPr>
              <a:t> ser </a:t>
            </a:r>
            <a:r>
              <a:rPr lang="en-US" sz="2700" dirty="0" err="1">
                <a:solidFill>
                  <a:srgbClr val="FFFFFF"/>
                </a:solidFill>
                <a:latin typeface="Moonjelly"/>
                <a:ea typeface="Moonjelly"/>
              </a:rPr>
              <a:t>exclusiva</a:t>
            </a:r>
            <a:r>
              <a:rPr lang="en-US" sz="2700" dirty="0">
                <a:solidFill>
                  <a:srgbClr val="FFFFFF"/>
                </a:solidFill>
                <a:latin typeface="Moonjelly"/>
                <a:ea typeface="Moonjelly"/>
              </a:rPr>
              <a:t> para o </a:t>
            </a:r>
            <a:r>
              <a:rPr lang="en-US" sz="2700" dirty="0" err="1">
                <a:solidFill>
                  <a:srgbClr val="FFFFFF"/>
                </a:solidFill>
                <a:latin typeface="Moonjelly"/>
                <a:ea typeface="Moonjelly"/>
              </a:rPr>
              <a:t>sistema</a:t>
            </a:r>
            <a:r>
              <a:rPr lang="en-US" sz="2700" dirty="0">
                <a:solidFill>
                  <a:srgbClr val="FFFFFF"/>
                </a:solidFill>
                <a:latin typeface="Moonjelly"/>
                <a:ea typeface="Moonjelly"/>
              </a:rPr>
              <a:t> </a:t>
            </a:r>
            <a:r>
              <a:rPr lang="en-US" sz="2700" dirty="0" err="1">
                <a:solidFill>
                  <a:srgbClr val="FFFFFF"/>
                </a:solidFill>
                <a:latin typeface="Moonjelly"/>
                <a:ea typeface="Moonjelly"/>
              </a:rPr>
              <a:t>operacional</a:t>
            </a:r>
            <a:r>
              <a:rPr lang="en-US" sz="2700" dirty="0">
                <a:solidFill>
                  <a:srgbClr val="FFFFFF"/>
                </a:solidFill>
                <a:latin typeface="Moonjelly"/>
                <a:ea typeface="Moonjelly"/>
              </a:rPr>
              <a:t> OS e </a:t>
            </a:r>
            <a:r>
              <a:rPr lang="en-US" sz="2700" dirty="0" err="1">
                <a:solidFill>
                  <a:srgbClr val="FFFFFF"/>
                </a:solidFill>
                <a:latin typeface="Moonjelly"/>
                <a:ea typeface="Moonjelly"/>
              </a:rPr>
              <a:t>exigir</a:t>
            </a:r>
            <a:r>
              <a:rPr lang="en-US" sz="2700" dirty="0">
                <a:solidFill>
                  <a:srgbClr val="FFFFFF"/>
                </a:solidFill>
                <a:latin typeface="Moonjelly"/>
                <a:ea typeface="Moonjelly"/>
              </a:rPr>
              <a:t> um </a:t>
            </a:r>
            <a:r>
              <a:rPr lang="en-US" sz="2700" dirty="0" err="1">
                <a:solidFill>
                  <a:srgbClr val="FFFFFF"/>
                </a:solidFill>
                <a:latin typeface="Moonjelly"/>
                <a:ea typeface="Moonjelly"/>
              </a:rPr>
              <a:t>custo</a:t>
            </a:r>
            <a:r>
              <a:rPr lang="en-US" sz="2700" dirty="0">
                <a:solidFill>
                  <a:srgbClr val="FFFFFF"/>
                </a:solidFill>
                <a:latin typeface="Moonjelly"/>
                <a:ea typeface="Moonjelly"/>
              </a:rPr>
              <a:t> de </a:t>
            </a:r>
            <a:r>
              <a:rPr lang="en-US" sz="2700" dirty="0" err="1">
                <a:solidFill>
                  <a:srgbClr val="FFFFFF"/>
                </a:solidFill>
                <a:latin typeface="Moonjelly"/>
                <a:ea typeface="Moonjelly"/>
              </a:rPr>
              <a:t>aproximadamente</a:t>
            </a:r>
            <a:r>
              <a:rPr lang="en-US" sz="2700" dirty="0">
                <a:solidFill>
                  <a:srgbClr val="FFFFFF"/>
                </a:solidFill>
                <a:latin typeface="Moonjelly"/>
                <a:ea typeface="Moonjelly"/>
              </a:rPr>
              <a:t> R$397(US$99), </a:t>
            </a:r>
            <a:r>
              <a:rPr lang="en-US" sz="2700" dirty="0" err="1">
                <a:solidFill>
                  <a:srgbClr val="FFFFFF"/>
                </a:solidFill>
                <a:latin typeface="Moonjelly"/>
                <a:ea typeface="Moonjelly"/>
              </a:rPr>
              <a:t>podendo</a:t>
            </a:r>
            <a:r>
              <a:rPr lang="en-US" sz="2700" dirty="0">
                <a:solidFill>
                  <a:srgbClr val="FFFFFF"/>
                </a:solidFill>
                <a:latin typeface="Moonjelly"/>
                <a:ea typeface="Moonjelly"/>
              </a:rPr>
              <a:t> </a:t>
            </a:r>
            <a:r>
              <a:rPr lang="en-US" sz="2700" dirty="0" err="1">
                <a:solidFill>
                  <a:srgbClr val="FFFFFF"/>
                </a:solidFill>
                <a:latin typeface="Moonjelly"/>
                <a:ea typeface="Moonjelly"/>
              </a:rPr>
              <a:t>experimentá</a:t>
            </a:r>
            <a:r>
              <a:rPr lang="en-US" sz="2700" dirty="0">
                <a:solidFill>
                  <a:srgbClr val="FFFFFF"/>
                </a:solidFill>
                <a:latin typeface="Moonjelly"/>
                <a:ea typeface="Moonjelly"/>
              </a:rPr>
              <a:t>-lo </a:t>
            </a:r>
            <a:r>
              <a:rPr lang="en-US" sz="2700" dirty="0" err="1">
                <a:solidFill>
                  <a:srgbClr val="FFFFFF"/>
                </a:solidFill>
                <a:latin typeface="Moonjelly"/>
                <a:ea typeface="Moonjelly"/>
              </a:rPr>
              <a:t>gratuitamente</a:t>
            </a:r>
            <a:r>
              <a:rPr lang="en-US" sz="2700" dirty="0">
                <a:solidFill>
                  <a:srgbClr val="FFFFFF"/>
                </a:solidFill>
                <a:latin typeface="Moonjelly"/>
                <a:ea typeface="Moonjelly"/>
              </a:rPr>
              <a:t> </a:t>
            </a:r>
            <a:r>
              <a:rPr lang="en-US" sz="2700" dirty="0" err="1">
                <a:solidFill>
                  <a:srgbClr val="FFFFFF"/>
                </a:solidFill>
                <a:latin typeface="Moonjelly"/>
                <a:ea typeface="Moonjelly"/>
              </a:rPr>
              <a:t>por</a:t>
            </a:r>
            <a:r>
              <a:rPr lang="en-US" sz="2700" dirty="0">
                <a:solidFill>
                  <a:srgbClr val="FFFFFF"/>
                </a:solidFill>
                <a:latin typeface="Moonjelly"/>
                <a:ea typeface="Moonjelly"/>
              </a:rPr>
              <a:t> 30 </a:t>
            </a:r>
            <a:r>
              <a:rPr lang="en-US" sz="2700" dirty="0" err="1">
                <a:solidFill>
                  <a:srgbClr val="FFFFFF"/>
                </a:solidFill>
                <a:latin typeface="Moonjelly"/>
                <a:ea typeface="Moonjelly"/>
              </a:rPr>
              <a:t>dias</a:t>
            </a:r>
            <a:r>
              <a:rPr lang="en-US" sz="2700" dirty="0">
                <a:solidFill>
                  <a:srgbClr val="FFFFFF"/>
                </a:solidFill>
                <a:latin typeface="Moonjelly"/>
                <a:ea typeface="Moonjelly"/>
              </a:rPr>
              <a:t>. </a:t>
            </a:r>
          </a:p>
          <a:p>
            <a:pPr algn="just">
              <a:lnSpc>
                <a:spcPts val="3779"/>
              </a:lnSpc>
              <a:spcBef>
                <a:spcPct val="0"/>
              </a:spcBef>
            </a:pPr>
            <a:endParaRPr lang="en-US" sz="2700" dirty="0">
              <a:solidFill>
                <a:srgbClr val="FFFFFF"/>
              </a:solidFill>
              <a:latin typeface="Moonjelly"/>
              <a:ea typeface="Moonjelly"/>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33491" y="-65303"/>
            <a:ext cx="17621018" cy="10352304"/>
          </a:xfrm>
          <a:custGeom>
            <a:avLst/>
            <a:gdLst/>
            <a:ahLst/>
            <a:cxnLst/>
            <a:rect l="l" t="t" r="r" b="b"/>
            <a:pathLst>
              <a:path w="17621018" h="17598991">
                <a:moveTo>
                  <a:pt x="0" y="0"/>
                </a:moveTo>
                <a:lnTo>
                  <a:pt x="17621018" y="0"/>
                </a:lnTo>
                <a:lnTo>
                  <a:pt x="17621018" y="17598991"/>
                </a:lnTo>
                <a:lnTo>
                  <a:pt x="0" y="17598991"/>
                </a:lnTo>
                <a:lnTo>
                  <a:pt x="0" y="0"/>
                </a:lnTo>
                <a:close/>
              </a:path>
            </a:pathLst>
          </a:custGeom>
          <a:blipFill>
            <a:blip r:embed="rId2"/>
            <a:stretch>
              <a:fillRect t="-30934" b="-39067"/>
            </a:stretch>
          </a:blipFill>
        </p:spPr>
        <p:txBody>
          <a:bodyPr/>
          <a:lstStyle/>
          <a:p>
            <a:endParaRPr lang="pt-BR"/>
          </a:p>
        </p:txBody>
      </p:sp>
      <p:sp>
        <p:nvSpPr>
          <p:cNvPr id="3" name="Freeform 3"/>
          <p:cNvSpPr/>
          <p:nvPr/>
        </p:nvSpPr>
        <p:spPr>
          <a:xfrm>
            <a:off x="10660660" y="903844"/>
            <a:ext cx="6598640" cy="2639456"/>
          </a:xfrm>
          <a:custGeom>
            <a:avLst/>
            <a:gdLst/>
            <a:ahLst/>
            <a:cxnLst/>
            <a:rect l="l" t="t" r="r" b="b"/>
            <a:pathLst>
              <a:path w="6598640" h="2639456">
                <a:moveTo>
                  <a:pt x="0" y="0"/>
                </a:moveTo>
                <a:lnTo>
                  <a:pt x="6598640" y="0"/>
                </a:lnTo>
                <a:lnTo>
                  <a:pt x="6598640" y="2639456"/>
                </a:lnTo>
                <a:lnTo>
                  <a:pt x="0" y="2639456"/>
                </a:lnTo>
                <a:lnTo>
                  <a:pt x="0" y="0"/>
                </a:lnTo>
                <a:close/>
              </a:path>
            </a:pathLst>
          </a:custGeom>
          <a:blipFill>
            <a:blip r:embed="rId3"/>
            <a:stretch>
              <a:fillRect/>
            </a:stretch>
          </a:blipFill>
        </p:spPr>
        <p:txBody>
          <a:bodyPr/>
          <a:lstStyle/>
          <a:p>
            <a:endParaRPr lang="pt-BR"/>
          </a:p>
        </p:txBody>
      </p:sp>
      <p:sp>
        <p:nvSpPr>
          <p:cNvPr id="4" name="Freeform 4"/>
          <p:cNvSpPr/>
          <p:nvPr/>
        </p:nvSpPr>
        <p:spPr>
          <a:xfrm>
            <a:off x="1422917" y="5624475"/>
            <a:ext cx="7569908" cy="4508301"/>
          </a:xfrm>
          <a:custGeom>
            <a:avLst/>
            <a:gdLst/>
            <a:ahLst/>
            <a:cxnLst/>
            <a:rect l="l" t="t" r="r" b="b"/>
            <a:pathLst>
              <a:path w="7569908" h="4508301">
                <a:moveTo>
                  <a:pt x="0" y="0"/>
                </a:moveTo>
                <a:lnTo>
                  <a:pt x="7569908" y="0"/>
                </a:lnTo>
                <a:lnTo>
                  <a:pt x="7569908" y="4508301"/>
                </a:lnTo>
                <a:lnTo>
                  <a:pt x="0" y="4508301"/>
                </a:lnTo>
                <a:lnTo>
                  <a:pt x="0" y="0"/>
                </a:lnTo>
                <a:close/>
              </a:path>
            </a:pathLst>
          </a:custGeom>
          <a:blipFill>
            <a:blip r:embed="rId4"/>
            <a:stretch>
              <a:fillRect/>
            </a:stretch>
          </a:blipFill>
          <a:ln w="28575" cap="sq">
            <a:solidFill>
              <a:srgbClr val="F5F5F5"/>
            </a:solidFill>
            <a:prstDash val="solid"/>
            <a:miter/>
          </a:ln>
        </p:spPr>
        <p:txBody>
          <a:bodyPr/>
          <a:lstStyle/>
          <a:p>
            <a:endParaRPr lang="pt-BR"/>
          </a:p>
        </p:txBody>
      </p:sp>
      <p:sp>
        <p:nvSpPr>
          <p:cNvPr id="5" name="Freeform 5"/>
          <p:cNvSpPr/>
          <p:nvPr/>
        </p:nvSpPr>
        <p:spPr>
          <a:xfrm>
            <a:off x="9511528" y="5518547"/>
            <a:ext cx="7747772" cy="4614229"/>
          </a:xfrm>
          <a:custGeom>
            <a:avLst/>
            <a:gdLst/>
            <a:ahLst/>
            <a:cxnLst/>
            <a:rect l="l" t="t" r="r" b="b"/>
            <a:pathLst>
              <a:path w="7747772" h="4614229">
                <a:moveTo>
                  <a:pt x="0" y="0"/>
                </a:moveTo>
                <a:lnTo>
                  <a:pt x="7747772" y="0"/>
                </a:lnTo>
                <a:lnTo>
                  <a:pt x="7747772" y="4614229"/>
                </a:lnTo>
                <a:lnTo>
                  <a:pt x="0" y="4614229"/>
                </a:lnTo>
                <a:lnTo>
                  <a:pt x="0" y="0"/>
                </a:lnTo>
                <a:close/>
              </a:path>
            </a:pathLst>
          </a:custGeom>
          <a:blipFill>
            <a:blip r:embed="rId5"/>
            <a:stretch>
              <a:fillRect/>
            </a:stretch>
          </a:blipFill>
          <a:ln w="47625" cap="sq">
            <a:solidFill>
              <a:srgbClr val="F5F5F5"/>
            </a:solidFill>
            <a:prstDash val="solid"/>
            <a:miter/>
          </a:ln>
        </p:spPr>
        <p:txBody>
          <a:bodyPr/>
          <a:lstStyle/>
          <a:p>
            <a:endParaRPr lang="pt-BR"/>
          </a:p>
        </p:txBody>
      </p:sp>
      <p:sp>
        <p:nvSpPr>
          <p:cNvPr id="6" name="TextBox 6"/>
          <p:cNvSpPr txBox="1"/>
          <p:nvPr/>
        </p:nvSpPr>
        <p:spPr>
          <a:xfrm>
            <a:off x="1028700" y="1173480"/>
            <a:ext cx="9211770" cy="2369820"/>
          </a:xfrm>
          <a:prstGeom prst="rect">
            <a:avLst/>
          </a:prstGeom>
        </p:spPr>
        <p:txBody>
          <a:bodyPr lIns="0" tIns="0" rIns="0" bIns="0" rtlCol="0" anchor="t">
            <a:spAutoFit/>
          </a:bodyPr>
          <a:lstStyle/>
          <a:p>
            <a:pPr algn="just">
              <a:lnSpc>
                <a:spcPts val="3779"/>
              </a:lnSpc>
              <a:spcBef>
                <a:spcPct val="0"/>
              </a:spcBef>
            </a:pPr>
            <a:r>
              <a:rPr lang="en-US" sz="2700">
                <a:solidFill>
                  <a:srgbClr val="FFED00"/>
                </a:solidFill>
                <a:latin typeface="Moonjelly"/>
              </a:rPr>
              <a:t>Prototipação de baixa fidelidade: </a:t>
            </a:r>
            <a:r>
              <a:rPr lang="en-US" sz="2700">
                <a:solidFill>
                  <a:srgbClr val="FFFFFF"/>
                </a:solidFill>
                <a:latin typeface="Moonjelly"/>
              </a:rPr>
              <a:t> É simples e bem diferente do produto final, com baixo nível de detalhes, porém, representa as funcionalidades e visa como seria a interação do usuário com o projeto. É muito barato e rápido de fazer, além de ser facilmente descartável.</a:t>
            </a:r>
          </a:p>
        </p:txBody>
      </p:sp>
      <p:sp>
        <p:nvSpPr>
          <p:cNvPr id="7" name="TextBox 7"/>
          <p:cNvSpPr txBox="1"/>
          <p:nvPr/>
        </p:nvSpPr>
        <p:spPr>
          <a:xfrm>
            <a:off x="1028700" y="-65304"/>
            <a:ext cx="5899785" cy="1094004"/>
          </a:xfrm>
          <a:prstGeom prst="rect">
            <a:avLst/>
          </a:prstGeom>
        </p:spPr>
        <p:txBody>
          <a:bodyPr lIns="0" tIns="0" rIns="0" bIns="0" rtlCol="0" anchor="t">
            <a:spAutoFit/>
          </a:bodyPr>
          <a:lstStyle/>
          <a:p>
            <a:pPr marL="0" lvl="0" indent="0" algn="ctr">
              <a:lnSpc>
                <a:spcPts val="7950"/>
              </a:lnSpc>
              <a:spcBef>
                <a:spcPct val="0"/>
              </a:spcBef>
            </a:pPr>
            <a:r>
              <a:rPr lang="en-US" sz="5678" u="sng" strike="noStrike">
                <a:solidFill>
                  <a:srgbClr val="FFED00"/>
                </a:solidFill>
                <a:latin typeface="Balloon Small Caps Extra Bold"/>
              </a:rPr>
              <a:t>Tipos de prototipagem</a:t>
            </a:r>
          </a:p>
        </p:txBody>
      </p:sp>
      <p:sp>
        <p:nvSpPr>
          <p:cNvPr id="8" name="TextBox 8"/>
          <p:cNvSpPr txBox="1"/>
          <p:nvPr/>
        </p:nvSpPr>
        <p:spPr>
          <a:xfrm>
            <a:off x="1028700" y="4101227"/>
            <a:ext cx="16230600" cy="1417320"/>
          </a:xfrm>
          <a:prstGeom prst="rect">
            <a:avLst/>
          </a:prstGeom>
        </p:spPr>
        <p:txBody>
          <a:bodyPr lIns="0" tIns="0" rIns="0" bIns="0" rtlCol="0" anchor="t">
            <a:spAutoFit/>
          </a:bodyPr>
          <a:lstStyle/>
          <a:p>
            <a:pPr marL="0" lvl="0" indent="0" algn="just">
              <a:lnSpc>
                <a:spcPts val="3779"/>
              </a:lnSpc>
              <a:spcBef>
                <a:spcPct val="0"/>
              </a:spcBef>
            </a:pPr>
            <a:r>
              <a:rPr lang="en-US" sz="2700" strike="noStrike">
                <a:solidFill>
                  <a:srgbClr val="FDE403"/>
                </a:solidFill>
                <a:latin typeface="Moonjelly"/>
              </a:rPr>
              <a:t>Prototipação de alta fidelidade: </a:t>
            </a:r>
            <a:r>
              <a:rPr lang="en-US" sz="2700" strike="noStrike">
                <a:solidFill>
                  <a:srgbClr val="FFFFFF"/>
                </a:solidFill>
                <a:latin typeface="Moonjelly"/>
              </a:rPr>
              <a:t>É bem próxima do produto final, apresentado da forma mais fiel possível. O foco maior é nos aspectos visuais e de experiência do usuário, assim, permite também que o usuário navegue como se já fosse o produto final.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11581" y="2203122"/>
            <a:ext cx="15264839" cy="6425215"/>
          </a:xfrm>
          <a:prstGeom prst="rect">
            <a:avLst/>
          </a:prstGeom>
        </p:spPr>
        <p:txBody>
          <a:bodyPr lIns="0" tIns="0" rIns="0" bIns="0" rtlCol="0" anchor="t">
            <a:spAutoFit/>
          </a:bodyPr>
          <a:lstStyle/>
          <a:p>
            <a:pPr algn="just">
              <a:lnSpc>
                <a:spcPts val="3379"/>
              </a:lnSpc>
            </a:pPr>
            <a:endParaRPr/>
          </a:p>
          <a:p>
            <a:pPr algn="just">
              <a:lnSpc>
                <a:spcPts val="3379"/>
              </a:lnSpc>
            </a:pPr>
            <a:endParaRPr/>
          </a:p>
          <a:p>
            <a:pPr algn="just">
              <a:lnSpc>
                <a:spcPts val="3379"/>
              </a:lnSpc>
            </a:pPr>
            <a:r>
              <a:rPr lang="en-US" sz="2413" u="sng">
                <a:solidFill>
                  <a:srgbClr val="FFED00"/>
                </a:solidFill>
                <a:latin typeface="Moonjelly Bold"/>
              </a:rPr>
              <a:t>PROTOTIPAÇÃO EVOLUTIVA:</a:t>
            </a:r>
            <a:r>
              <a:rPr lang="en-US" sz="2413">
                <a:solidFill>
                  <a:srgbClr val="FFFFFF"/>
                </a:solidFill>
                <a:latin typeface="Moonjelly"/>
              </a:rPr>
              <a:t> O PROTÓTIPO EVOLUTIVO PASSARÁ POR DIVERSAS TRANSFORMAÇÕES ATÉ CHEGAR NA VERSÃO FINAL. OU SEJA, O PROTÓTIPO SERÁ REUTILIZADO AO LONGO DO PROCESSO DE DESENVOLVIMENTO.</a:t>
            </a:r>
          </a:p>
          <a:p>
            <a:pPr algn="just">
              <a:lnSpc>
                <a:spcPts val="3379"/>
              </a:lnSpc>
            </a:pPr>
            <a:r>
              <a:rPr lang="en-US" sz="2413">
                <a:solidFill>
                  <a:srgbClr val="FFFFFF"/>
                </a:solidFill>
                <a:latin typeface="Moonjelly"/>
              </a:rPr>
              <a:t>O PROTÓTIPO PASSARÁ DE UM PROTÓTIPO PARA SER A PRÓPRIA VERSÃO FINAL. ISSO ACONTECE QUANDO A PROTOTIPAÇÃO É FEITA ATRAVÉS DE UMA FERRAMENTA DE DESENVOLVIMENTO.</a:t>
            </a:r>
          </a:p>
          <a:p>
            <a:pPr algn="just">
              <a:lnSpc>
                <a:spcPts val="3379"/>
              </a:lnSpc>
            </a:pPr>
            <a:endParaRPr lang="en-US" sz="2413">
              <a:solidFill>
                <a:srgbClr val="FFFFFF"/>
              </a:solidFill>
              <a:latin typeface="Moonjelly"/>
            </a:endParaRPr>
          </a:p>
          <a:p>
            <a:pPr algn="just">
              <a:lnSpc>
                <a:spcPts val="3379"/>
              </a:lnSpc>
            </a:pPr>
            <a:r>
              <a:rPr lang="en-US" sz="2413" u="sng">
                <a:solidFill>
                  <a:srgbClr val="FFED00"/>
                </a:solidFill>
                <a:latin typeface="Moonjelly Bold"/>
              </a:rPr>
              <a:t>PROTOTIPAÇÃO DESCARTÁVEL:</a:t>
            </a:r>
            <a:r>
              <a:rPr lang="en-US" sz="2413">
                <a:solidFill>
                  <a:srgbClr val="FFFFFF"/>
                </a:solidFill>
                <a:latin typeface="Moonjelly"/>
              </a:rPr>
              <a:t> É A PROTOTIPAÇÃO MAIS COMUM ENTRE TODAS, PORQUE GERALMENTE O PROTÓTIPO É USADO APENAS PARA VISUALIZAR O PRODUTO, DEPOIS É DESCARTADO.</a:t>
            </a:r>
          </a:p>
          <a:p>
            <a:pPr algn="just">
              <a:lnSpc>
                <a:spcPts val="3379"/>
              </a:lnSpc>
            </a:pPr>
            <a:endParaRPr lang="en-US" sz="2413">
              <a:solidFill>
                <a:srgbClr val="FFFFFF"/>
              </a:solidFill>
              <a:latin typeface="Moonjelly"/>
            </a:endParaRPr>
          </a:p>
          <a:p>
            <a:pPr algn="just">
              <a:lnSpc>
                <a:spcPts val="3379"/>
              </a:lnSpc>
            </a:pPr>
            <a:endParaRPr lang="en-US" sz="2413">
              <a:solidFill>
                <a:srgbClr val="FFFFFF"/>
              </a:solidFill>
              <a:latin typeface="Moonjelly"/>
            </a:endParaRPr>
          </a:p>
          <a:p>
            <a:pPr algn="just">
              <a:lnSpc>
                <a:spcPts val="3379"/>
              </a:lnSpc>
            </a:pPr>
            <a:endParaRPr lang="en-US" sz="2413">
              <a:solidFill>
                <a:srgbClr val="FFFFFF"/>
              </a:solidFill>
              <a:latin typeface="Moonjelly"/>
            </a:endParaRPr>
          </a:p>
          <a:p>
            <a:pPr algn="just">
              <a:lnSpc>
                <a:spcPts val="3379"/>
              </a:lnSpc>
            </a:pPr>
            <a:endParaRPr lang="en-US" sz="2413">
              <a:solidFill>
                <a:srgbClr val="FFFFFF"/>
              </a:solidFill>
              <a:latin typeface="Moonjelly"/>
            </a:endParaRPr>
          </a:p>
          <a:p>
            <a:pPr algn="just">
              <a:lnSpc>
                <a:spcPts val="3379"/>
              </a:lnSpc>
              <a:spcBef>
                <a:spcPct val="0"/>
              </a:spcBef>
            </a:pPr>
            <a:endParaRPr lang="en-US" sz="2413">
              <a:solidFill>
                <a:srgbClr val="FFFFFF"/>
              </a:solidFill>
              <a:latin typeface="Moonjelly"/>
            </a:endParaRPr>
          </a:p>
        </p:txBody>
      </p:sp>
      <p:sp>
        <p:nvSpPr>
          <p:cNvPr id="3" name="Freeform 3"/>
          <p:cNvSpPr/>
          <p:nvPr/>
        </p:nvSpPr>
        <p:spPr>
          <a:xfrm>
            <a:off x="333491" y="1"/>
            <a:ext cx="17621018" cy="10287000"/>
          </a:xfrm>
          <a:custGeom>
            <a:avLst/>
            <a:gdLst/>
            <a:ahLst/>
            <a:cxnLst/>
            <a:rect l="l" t="t" r="r" b="b"/>
            <a:pathLst>
              <a:path w="17621018" h="17598991">
                <a:moveTo>
                  <a:pt x="0" y="0"/>
                </a:moveTo>
                <a:lnTo>
                  <a:pt x="17621018" y="0"/>
                </a:lnTo>
                <a:lnTo>
                  <a:pt x="17621018" y="17598991"/>
                </a:lnTo>
                <a:lnTo>
                  <a:pt x="0" y="17598991"/>
                </a:lnTo>
                <a:lnTo>
                  <a:pt x="0" y="0"/>
                </a:lnTo>
                <a:close/>
              </a:path>
            </a:pathLst>
          </a:custGeom>
          <a:blipFill>
            <a:blip r:embed="rId2"/>
            <a:stretch>
              <a:fillRect t="-31763" b="-39315"/>
            </a:stretch>
          </a:blipFill>
        </p:spPr>
        <p:txBody>
          <a:bodyPr/>
          <a:lstStyle/>
          <a:p>
            <a:endParaRPr lang="pt-BR"/>
          </a:p>
        </p:txBody>
      </p:sp>
      <p:sp>
        <p:nvSpPr>
          <p:cNvPr id="4" name="Freeform 4"/>
          <p:cNvSpPr/>
          <p:nvPr/>
        </p:nvSpPr>
        <p:spPr>
          <a:xfrm>
            <a:off x="2989786" y="1074881"/>
            <a:ext cx="11423554" cy="8183419"/>
          </a:xfrm>
          <a:custGeom>
            <a:avLst/>
            <a:gdLst/>
            <a:ahLst/>
            <a:cxnLst/>
            <a:rect l="l" t="t" r="r" b="b"/>
            <a:pathLst>
              <a:path w="11423554" h="8183419">
                <a:moveTo>
                  <a:pt x="0" y="0"/>
                </a:moveTo>
                <a:lnTo>
                  <a:pt x="11423554" y="0"/>
                </a:lnTo>
                <a:lnTo>
                  <a:pt x="11423554" y="8183419"/>
                </a:lnTo>
                <a:lnTo>
                  <a:pt x="0" y="8183419"/>
                </a:lnTo>
                <a:lnTo>
                  <a:pt x="0" y="0"/>
                </a:lnTo>
                <a:close/>
              </a:path>
            </a:pathLst>
          </a:custGeom>
          <a:blipFill>
            <a:blip r:embed="rId3">
              <a:alphaModFix amt="43999"/>
              <a:extLst>
                <a:ext uri="{96DAC541-7B7A-43D3-8B79-37D633B846F1}">
                  <asvg:svgBlip xmlns:asvg="http://schemas.microsoft.com/office/drawing/2016/SVG/main" r:embed="rId4"/>
                </a:ext>
              </a:extLst>
            </a:blip>
            <a:stretch>
              <a:fillRect/>
            </a:stretch>
          </a:blipFill>
        </p:spPr>
        <p:txBody>
          <a:bodyPr/>
          <a:lstStyle/>
          <a:p>
            <a:endParaRPr lang="pt-BR"/>
          </a:p>
        </p:txBody>
      </p:sp>
      <p:sp>
        <p:nvSpPr>
          <p:cNvPr id="5" name="TextBox 5"/>
          <p:cNvSpPr txBox="1"/>
          <p:nvPr/>
        </p:nvSpPr>
        <p:spPr>
          <a:xfrm>
            <a:off x="1352871" y="971550"/>
            <a:ext cx="15264839" cy="9513570"/>
          </a:xfrm>
          <a:prstGeom prst="rect">
            <a:avLst/>
          </a:prstGeom>
        </p:spPr>
        <p:txBody>
          <a:bodyPr lIns="0" tIns="0" rIns="0" bIns="0" rtlCol="0" anchor="t">
            <a:spAutoFit/>
          </a:bodyPr>
          <a:lstStyle/>
          <a:p>
            <a:pPr algn="just">
              <a:lnSpc>
                <a:spcPts val="3779"/>
              </a:lnSpc>
            </a:pPr>
            <a:endParaRPr/>
          </a:p>
          <a:p>
            <a:pPr algn="just">
              <a:lnSpc>
                <a:spcPts val="3779"/>
              </a:lnSpc>
            </a:pPr>
            <a:endParaRPr/>
          </a:p>
          <a:p>
            <a:pPr algn="just">
              <a:lnSpc>
                <a:spcPts val="3779"/>
              </a:lnSpc>
            </a:pPr>
            <a:r>
              <a:rPr lang="en-US" sz="2700">
                <a:solidFill>
                  <a:srgbClr val="FFED00"/>
                </a:solidFill>
                <a:latin typeface="Moonjelly"/>
              </a:rPr>
              <a:t>Prototipação descartável: </a:t>
            </a:r>
            <a:r>
              <a:rPr lang="en-US" sz="2700">
                <a:solidFill>
                  <a:srgbClr val="F5F5F5"/>
                </a:solidFill>
                <a:latin typeface="Moonjelly"/>
              </a:rPr>
              <a:t>É a mais comum entre todas, porque geralmente o protótipo é usado apenas para visualizar o produto, depois é descartado.</a:t>
            </a:r>
          </a:p>
          <a:p>
            <a:pPr algn="just">
              <a:lnSpc>
                <a:spcPts val="3779"/>
              </a:lnSpc>
            </a:pPr>
            <a:endParaRPr lang="en-US" sz="2700">
              <a:solidFill>
                <a:srgbClr val="F5F5F5"/>
              </a:solidFill>
              <a:latin typeface="Moonjelly"/>
            </a:endParaRPr>
          </a:p>
          <a:p>
            <a:pPr algn="just">
              <a:lnSpc>
                <a:spcPts val="3779"/>
              </a:lnSpc>
            </a:pPr>
            <a:r>
              <a:rPr lang="en-US" sz="2700">
                <a:solidFill>
                  <a:srgbClr val="FFED00"/>
                </a:solidFill>
                <a:latin typeface="Moonjelly"/>
              </a:rPr>
              <a:t>Prototipação evolutiva:</a:t>
            </a:r>
            <a:r>
              <a:rPr lang="en-US" sz="2700">
                <a:solidFill>
                  <a:srgbClr val="FFFFFF"/>
                </a:solidFill>
                <a:latin typeface="Moonjelly"/>
              </a:rPr>
              <a:t> O protótipo passa por diversas transformações até chegar na versão final, Ou seja, o protótipo será reutilizado ao longo do processo de desenvolvimento. O protótipo passará de um protótipo para ser a própria versão final. Isso acontece quando a prototipação é feita através de uma ferramenta de desenvolvimento.</a:t>
            </a:r>
          </a:p>
          <a:p>
            <a:pPr algn="just">
              <a:lnSpc>
                <a:spcPts val="3779"/>
              </a:lnSpc>
            </a:pPr>
            <a:endParaRPr lang="en-US" sz="2700">
              <a:solidFill>
                <a:srgbClr val="FFFFFF"/>
              </a:solidFill>
              <a:latin typeface="Moonjelly"/>
            </a:endParaRPr>
          </a:p>
          <a:p>
            <a:pPr algn="just">
              <a:lnSpc>
                <a:spcPts val="3779"/>
              </a:lnSpc>
            </a:pPr>
            <a:r>
              <a:rPr lang="en-US" sz="2700">
                <a:solidFill>
                  <a:srgbClr val="FDE403"/>
                </a:solidFill>
                <a:latin typeface="Moonjelly"/>
              </a:rPr>
              <a:t>Prototipação de média Fidelidade:</a:t>
            </a:r>
            <a:r>
              <a:rPr lang="en-US" sz="2700">
                <a:solidFill>
                  <a:srgbClr val="FFFFFF"/>
                </a:solidFill>
                <a:latin typeface="Moonjelly"/>
                <a:cs typeface="Moonjelly"/>
              </a:rPr>
              <a:t> É realizada no meio termo entre conceitos de baixa e alta fidelidade, de modo que esse tipo de prototipagem seja simples (com poucos detalhes e bem diferente ainda do produto final) mas com melhor estética de apresentação (em slides\ documentos que podem ter elementos interativos para melhor compreensão).  </a:t>
            </a:r>
          </a:p>
          <a:p>
            <a:pPr algn="just">
              <a:lnSpc>
                <a:spcPts val="3779"/>
              </a:lnSpc>
            </a:pPr>
            <a:endParaRPr lang="en-US" sz="2700">
              <a:solidFill>
                <a:srgbClr val="FFFFFF"/>
              </a:solidFill>
              <a:latin typeface="Moonjelly"/>
              <a:cs typeface="Moonjelly"/>
            </a:endParaRPr>
          </a:p>
          <a:p>
            <a:pPr algn="just">
              <a:lnSpc>
                <a:spcPts val="3779"/>
              </a:lnSpc>
            </a:pPr>
            <a:endParaRPr lang="en-US" sz="2700">
              <a:solidFill>
                <a:srgbClr val="FFFFFF"/>
              </a:solidFill>
              <a:latin typeface="Moonjelly"/>
              <a:cs typeface="Moonjelly"/>
            </a:endParaRPr>
          </a:p>
          <a:p>
            <a:pPr algn="just">
              <a:lnSpc>
                <a:spcPts val="3779"/>
              </a:lnSpc>
            </a:pPr>
            <a:endParaRPr lang="en-US" sz="2700">
              <a:solidFill>
                <a:srgbClr val="FFFFFF"/>
              </a:solidFill>
              <a:latin typeface="Moonjelly"/>
              <a:cs typeface="Moonjelly"/>
            </a:endParaRPr>
          </a:p>
          <a:p>
            <a:pPr algn="just">
              <a:lnSpc>
                <a:spcPts val="3779"/>
              </a:lnSpc>
            </a:pPr>
            <a:endParaRPr lang="en-US" sz="2700">
              <a:solidFill>
                <a:srgbClr val="FFFFFF"/>
              </a:solidFill>
              <a:latin typeface="Moonjelly"/>
              <a:cs typeface="Moonjelly"/>
            </a:endParaRPr>
          </a:p>
          <a:p>
            <a:pPr algn="just">
              <a:lnSpc>
                <a:spcPts val="3779"/>
              </a:lnSpc>
            </a:pPr>
            <a:endParaRPr lang="en-US" sz="2700">
              <a:solidFill>
                <a:srgbClr val="FFFFFF"/>
              </a:solidFill>
              <a:latin typeface="Moonjelly"/>
              <a:cs typeface="Moonjelly"/>
            </a:endParaRPr>
          </a:p>
          <a:p>
            <a:pPr algn="just">
              <a:lnSpc>
                <a:spcPts val="3779"/>
              </a:lnSpc>
              <a:spcBef>
                <a:spcPct val="0"/>
              </a:spcBef>
            </a:pPr>
            <a:endParaRPr lang="en-US" sz="2700">
              <a:solidFill>
                <a:srgbClr val="FFFFFF"/>
              </a:solidFill>
              <a:latin typeface="Moonjelly"/>
              <a:cs typeface="Moonjelly"/>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33491" y="1"/>
            <a:ext cx="17621018" cy="10286999"/>
          </a:xfrm>
          <a:custGeom>
            <a:avLst/>
            <a:gdLst/>
            <a:ahLst/>
            <a:cxnLst/>
            <a:rect l="l" t="t" r="r" b="b"/>
            <a:pathLst>
              <a:path w="17621018" h="17598991">
                <a:moveTo>
                  <a:pt x="0" y="0"/>
                </a:moveTo>
                <a:lnTo>
                  <a:pt x="17621018" y="0"/>
                </a:lnTo>
                <a:lnTo>
                  <a:pt x="17621018" y="17598991"/>
                </a:lnTo>
                <a:lnTo>
                  <a:pt x="0" y="17598991"/>
                </a:lnTo>
                <a:lnTo>
                  <a:pt x="0" y="0"/>
                </a:lnTo>
                <a:close/>
              </a:path>
            </a:pathLst>
          </a:custGeom>
          <a:blipFill>
            <a:blip r:embed="rId2"/>
            <a:stretch>
              <a:fillRect t="-31763" b="-39314"/>
            </a:stretch>
          </a:blipFill>
        </p:spPr>
        <p:txBody>
          <a:bodyPr/>
          <a:lstStyle/>
          <a:p>
            <a:endParaRPr lang="pt-BR"/>
          </a:p>
        </p:txBody>
      </p:sp>
      <p:sp>
        <p:nvSpPr>
          <p:cNvPr id="3" name="Freeform 3"/>
          <p:cNvSpPr/>
          <p:nvPr/>
        </p:nvSpPr>
        <p:spPr>
          <a:xfrm>
            <a:off x="9714061" y="103986"/>
            <a:ext cx="6374381" cy="4806459"/>
          </a:xfrm>
          <a:custGeom>
            <a:avLst/>
            <a:gdLst/>
            <a:ahLst/>
            <a:cxnLst/>
            <a:rect l="l" t="t" r="r" b="b"/>
            <a:pathLst>
              <a:path w="6374381" h="4806459">
                <a:moveTo>
                  <a:pt x="0" y="0"/>
                </a:moveTo>
                <a:lnTo>
                  <a:pt x="6374380" y="0"/>
                </a:lnTo>
                <a:lnTo>
                  <a:pt x="6374380" y="4806459"/>
                </a:lnTo>
                <a:lnTo>
                  <a:pt x="0" y="4806459"/>
                </a:lnTo>
                <a:lnTo>
                  <a:pt x="0" y="0"/>
                </a:lnTo>
                <a:close/>
              </a:path>
            </a:pathLst>
          </a:custGeom>
          <a:blipFill>
            <a:blip r:embed="rId3"/>
            <a:stretch>
              <a:fillRect r="-1569"/>
            </a:stretch>
          </a:blipFill>
        </p:spPr>
        <p:txBody>
          <a:bodyPr/>
          <a:lstStyle/>
          <a:p>
            <a:endParaRPr lang="pt-BR"/>
          </a:p>
        </p:txBody>
      </p:sp>
      <p:sp>
        <p:nvSpPr>
          <p:cNvPr id="4" name="Freeform 4"/>
          <p:cNvSpPr/>
          <p:nvPr/>
        </p:nvSpPr>
        <p:spPr>
          <a:xfrm>
            <a:off x="9714061" y="5143500"/>
            <a:ext cx="7069712" cy="4693920"/>
          </a:xfrm>
          <a:custGeom>
            <a:avLst/>
            <a:gdLst/>
            <a:ahLst/>
            <a:cxnLst/>
            <a:rect l="l" t="t" r="r" b="b"/>
            <a:pathLst>
              <a:path w="7069712" h="4693920">
                <a:moveTo>
                  <a:pt x="0" y="0"/>
                </a:moveTo>
                <a:lnTo>
                  <a:pt x="7069712" y="0"/>
                </a:lnTo>
                <a:lnTo>
                  <a:pt x="7069712" y="4693920"/>
                </a:lnTo>
                <a:lnTo>
                  <a:pt x="0" y="4693920"/>
                </a:lnTo>
                <a:lnTo>
                  <a:pt x="0" y="0"/>
                </a:lnTo>
                <a:close/>
              </a:path>
            </a:pathLst>
          </a:custGeom>
          <a:blipFill>
            <a:blip r:embed="rId4"/>
            <a:stretch>
              <a:fillRect/>
            </a:stretch>
          </a:blipFill>
        </p:spPr>
        <p:txBody>
          <a:bodyPr/>
          <a:lstStyle/>
          <a:p>
            <a:endParaRPr lang="pt-BR"/>
          </a:p>
        </p:txBody>
      </p:sp>
      <p:sp>
        <p:nvSpPr>
          <p:cNvPr id="5" name="TextBox 5"/>
          <p:cNvSpPr txBox="1"/>
          <p:nvPr/>
        </p:nvSpPr>
        <p:spPr>
          <a:xfrm>
            <a:off x="1028700" y="341231"/>
            <a:ext cx="8115300" cy="4274820"/>
          </a:xfrm>
          <a:prstGeom prst="rect">
            <a:avLst/>
          </a:prstGeom>
        </p:spPr>
        <p:txBody>
          <a:bodyPr lIns="0" tIns="0" rIns="0" bIns="0" rtlCol="0" anchor="t">
            <a:spAutoFit/>
          </a:bodyPr>
          <a:lstStyle/>
          <a:p>
            <a:pPr marL="0" lvl="0" indent="0" algn="just">
              <a:lnSpc>
                <a:spcPts val="3779"/>
              </a:lnSpc>
              <a:spcBef>
                <a:spcPct val="0"/>
              </a:spcBef>
            </a:pPr>
            <a:r>
              <a:rPr lang="en-US" sz="2700" u="none" strike="noStrike">
                <a:solidFill>
                  <a:srgbClr val="FDE403"/>
                </a:solidFill>
                <a:latin typeface="Moonjelly"/>
              </a:rPr>
              <a:t>Prototipação Vertical: </a:t>
            </a:r>
            <a:r>
              <a:rPr lang="en-US" sz="2700" u="none" strike="noStrike">
                <a:solidFill>
                  <a:srgbClr val="FFFFFF"/>
                </a:solidFill>
                <a:latin typeface="Moonjelly"/>
              </a:rPr>
              <a:t>Apresenta um pequeno número de caminhos implementados totalmente com base na análise dos requisitos de forma mais detalhada, para aprofundar as atividades no sistema de cada uma das funcionalidades. Permitindo testar a interação dos usuários pelos requisitos, focando nas ramificações. É ideal em estágios mais avançados do projeto e pode ajudar a refinar ainda mais as funcionalidades. </a:t>
            </a:r>
          </a:p>
        </p:txBody>
      </p:sp>
      <p:sp>
        <p:nvSpPr>
          <p:cNvPr id="6" name="TextBox 6"/>
          <p:cNvSpPr txBox="1"/>
          <p:nvPr/>
        </p:nvSpPr>
        <p:spPr>
          <a:xfrm>
            <a:off x="1028700" y="5086350"/>
            <a:ext cx="7831798" cy="4751070"/>
          </a:xfrm>
          <a:prstGeom prst="rect">
            <a:avLst/>
          </a:prstGeom>
        </p:spPr>
        <p:txBody>
          <a:bodyPr lIns="0" tIns="0" rIns="0" bIns="0" rtlCol="0" anchor="t">
            <a:spAutoFit/>
          </a:bodyPr>
          <a:lstStyle/>
          <a:p>
            <a:pPr marL="0" lvl="0" indent="0" algn="just">
              <a:lnSpc>
                <a:spcPts val="3779"/>
              </a:lnSpc>
              <a:spcBef>
                <a:spcPct val="0"/>
              </a:spcBef>
            </a:pPr>
            <a:r>
              <a:rPr lang="en-US" sz="2700" u="none" strike="noStrike">
                <a:solidFill>
                  <a:srgbClr val="FDE403"/>
                </a:solidFill>
                <a:latin typeface="Moonjelly"/>
              </a:rPr>
              <a:t>Prototipação Horizontal:</a:t>
            </a:r>
            <a:r>
              <a:rPr lang="en-US" sz="2700" u="none" strike="noStrike">
                <a:solidFill>
                  <a:srgbClr val="FFFFFF"/>
                </a:solidFill>
                <a:latin typeface="Moonjelly"/>
              </a:rPr>
              <a:t> Apresenta várias funcionalidades da versão final do produto, mas não se aprofunda nas ramificações de cada uma delas, focando na análise da “primeira linha” permitindo testar a organização geral do sistema e os níveis de compreensão das categorias principais, onde é representada a página inicial com todas as chamadas principais (com cada link ligado a pelo menos uma página). Por isso, é recomendada nas etapas iniciais do projeto.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8229" y="0"/>
            <a:ext cx="17621018" cy="10287000"/>
          </a:xfrm>
          <a:custGeom>
            <a:avLst/>
            <a:gdLst/>
            <a:ahLst/>
            <a:cxnLst/>
            <a:rect l="l" t="t" r="r" b="b"/>
            <a:pathLst>
              <a:path w="17621018" h="17598991">
                <a:moveTo>
                  <a:pt x="0" y="0"/>
                </a:moveTo>
                <a:lnTo>
                  <a:pt x="17621017" y="0"/>
                </a:lnTo>
                <a:lnTo>
                  <a:pt x="17621017" y="17598992"/>
                </a:lnTo>
                <a:lnTo>
                  <a:pt x="0" y="17598992"/>
                </a:lnTo>
                <a:lnTo>
                  <a:pt x="0" y="0"/>
                </a:lnTo>
                <a:close/>
              </a:path>
            </a:pathLst>
          </a:custGeom>
          <a:blipFill>
            <a:blip r:embed="rId2"/>
            <a:stretch>
              <a:fillRect t="-31248" b="-39830"/>
            </a:stretch>
          </a:blipFill>
        </p:spPr>
        <p:txBody>
          <a:bodyPr/>
          <a:lstStyle/>
          <a:p>
            <a:endParaRPr lang="pt-BR"/>
          </a:p>
        </p:txBody>
      </p:sp>
      <p:sp>
        <p:nvSpPr>
          <p:cNvPr id="3" name="Freeform 3"/>
          <p:cNvSpPr/>
          <p:nvPr/>
        </p:nvSpPr>
        <p:spPr>
          <a:xfrm>
            <a:off x="764739" y="3303420"/>
            <a:ext cx="16230600" cy="6850080"/>
          </a:xfrm>
          <a:custGeom>
            <a:avLst/>
            <a:gdLst/>
            <a:ahLst/>
            <a:cxnLst/>
            <a:rect l="l" t="t" r="r" b="b"/>
            <a:pathLst>
              <a:path w="16230600" h="6850080">
                <a:moveTo>
                  <a:pt x="0" y="0"/>
                </a:moveTo>
                <a:lnTo>
                  <a:pt x="16230600" y="0"/>
                </a:lnTo>
                <a:lnTo>
                  <a:pt x="16230600" y="6850080"/>
                </a:lnTo>
                <a:lnTo>
                  <a:pt x="0" y="6850080"/>
                </a:lnTo>
                <a:lnTo>
                  <a:pt x="0" y="0"/>
                </a:lnTo>
                <a:close/>
              </a:path>
            </a:pathLst>
          </a:custGeom>
          <a:blipFill>
            <a:blip r:embed="rId3"/>
            <a:stretch>
              <a:fillRect/>
            </a:stretch>
          </a:blipFill>
        </p:spPr>
        <p:txBody>
          <a:bodyPr/>
          <a:lstStyle/>
          <a:p>
            <a:endParaRPr lang="pt-BR"/>
          </a:p>
        </p:txBody>
      </p:sp>
      <p:sp>
        <p:nvSpPr>
          <p:cNvPr id="4" name="TextBox 4"/>
          <p:cNvSpPr txBox="1"/>
          <p:nvPr/>
        </p:nvSpPr>
        <p:spPr>
          <a:xfrm>
            <a:off x="5218331" y="-65304"/>
            <a:ext cx="7851339" cy="1094004"/>
          </a:xfrm>
          <a:prstGeom prst="rect">
            <a:avLst/>
          </a:prstGeom>
        </p:spPr>
        <p:txBody>
          <a:bodyPr lIns="0" tIns="0" rIns="0" bIns="0" rtlCol="0" anchor="t">
            <a:spAutoFit/>
          </a:bodyPr>
          <a:lstStyle/>
          <a:p>
            <a:pPr marL="0" lvl="0" indent="0" algn="ctr">
              <a:lnSpc>
                <a:spcPts val="7950"/>
              </a:lnSpc>
              <a:spcBef>
                <a:spcPct val="0"/>
              </a:spcBef>
            </a:pPr>
            <a:r>
              <a:rPr lang="en-US" sz="5678" u="sng" strike="noStrike">
                <a:solidFill>
                  <a:srgbClr val="FFED00"/>
                </a:solidFill>
                <a:latin typeface="Balloon Small Caps Extra Bold"/>
              </a:rPr>
              <a:t>CONCLUSÃO DA REALIZAÇÃO </a:t>
            </a:r>
          </a:p>
        </p:txBody>
      </p:sp>
      <p:sp>
        <p:nvSpPr>
          <p:cNvPr id="5" name="TextBox 5"/>
          <p:cNvSpPr txBox="1"/>
          <p:nvPr/>
        </p:nvSpPr>
        <p:spPr>
          <a:xfrm>
            <a:off x="1028700" y="971550"/>
            <a:ext cx="15840075" cy="1893570"/>
          </a:xfrm>
          <a:prstGeom prst="rect">
            <a:avLst/>
          </a:prstGeom>
        </p:spPr>
        <p:txBody>
          <a:bodyPr lIns="0" tIns="0" rIns="0" bIns="0" rtlCol="0" anchor="t">
            <a:spAutoFit/>
          </a:bodyPr>
          <a:lstStyle/>
          <a:p>
            <a:pPr marL="0" lvl="0" indent="0" algn="just">
              <a:lnSpc>
                <a:spcPts val="3779"/>
              </a:lnSpc>
              <a:spcBef>
                <a:spcPct val="0"/>
              </a:spcBef>
            </a:pPr>
            <a:r>
              <a:rPr lang="en-US" sz="2700" u="none" strike="noStrike">
                <a:solidFill>
                  <a:srgbClr val="FFFFFF"/>
                </a:solidFill>
                <a:latin typeface="Moonjelly"/>
                <a:cs typeface="Moonjelly"/>
              </a:rPr>
              <a:t>O Design Thinking gira em torno de um profundo interesse em  solucionar e  resolver problemas de modo eficaz trabalhando com as suposições e questionamentos para identificar estratégias, alternativas e soluções que podem não estar diretamente aparentes com o nível inicial de conhecimento do problema.  Assim, ao aplicar esse modelo de organização gera melhores resultados.  </a:t>
            </a:r>
          </a:p>
        </p:txBody>
      </p:sp>
      <p:grpSp>
        <p:nvGrpSpPr>
          <p:cNvPr id="6" name="Group 6"/>
          <p:cNvGrpSpPr/>
          <p:nvPr/>
        </p:nvGrpSpPr>
        <p:grpSpPr>
          <a:xfrm>
            <a:off x="1468755" y="9394507"/>
            <a:ext cx="1046798" cy="248603"/>
            <a:chOff x="0" y="0"/>
            <a:chExt cx="1395730" cy="331470"/>
          </a:xfrm>
        </p:grpSpPr>
        <p:sp>
          <p:nvSpPr>
            <p:cNvPr id="7" name="Freeform 7"/>
            <p:cNvSpPr/>
            <p:nvPr/>
          </p:nvSpPr>
          <p:spPr>
            <a:xfrm>
              <a:off x="49530" y="-2540"/>
              <a:ext cx="1299210" cy="289560"/>
            </a:xfrm>
            <a:custGeom>
              <a:avLst/>
              <a:gdLst/>
              <a:ahLst/>
              <a:cxnLst/>
              <a:rect l="l" t="t" r="r" b="b"/>
              <a:pathLst>
                <a:path w="1299210" h="289560">
                  <a:moveTo>
                    <a:pt x="420370" y="196850"/>
                  </a:moveTo>
                  <a:cubicBezTo>
                    <a:pt x="16510" y="199390"/>
                    <a:pt x="5080" y="179070"/>
                    <a:pt x="2540" y="160020"/>
                  </a:cubicBezTo>
                  <a:cubicBezTo>
                    <a:pt x="0" y="142240"/>
                    <a:pt x="5080" y="116840"/>
                    <a:pt x="21590" y="101600"/>
                  </a:cubicBezTo>
                  <a:cubicBezTo>
                    <a:pt x="50800" y="74930"/>
                    <a:pt x="111760" y="68580"/>
                    <a:pt x="195580" y="58420"/>
                  </a:cubicBezTo>
                  <a:cubicBezTo>
                    <a:pt x="398780" y="34290"/>
                    <a:pt x="1145540" y="0"/>
                    <a:pt x="1257300" y="59690"/>
                  </a:cubicBezTo>
                  <a:cubicBezTo>
                    <a:pt x="1285240" y="73660"/>
                    <a:pt x="1291590" y="97790"/>
                    <a:pt x="1295400" y="114300"/>
                  </a:cubicBezTo>
                  <a:cubicBezTo>
                    <a:pt x="1299210" y="127000"/>
                    <a:pt x="1296670" y="138430"/>
                    <a:pt x="1291590" y="148590"/>
                  </a:cubicBezTo>
                  <a:cubicBezTo>
                    <a:pt x="1285240" y="162560"/>
                    <a:pt x="1276350" y="175260"/>
                    <a:pt x="1257300" y="187960"/>
                  </a:cubicBezTo>
                  <a:cubicBezTo>
                    <a:pt x="1215390" y="214630"/>
                    <a:pt x="1102360" y="243840"/>
                    <a:pt x="1023620" y="259080"/>
                  </a:cubicBezTo>
                  <a:cubicBezTo>
                    <a:pt x="944880" y="274320"/>
                    <a:pt x="850900" y="276860"/>
                    <a:pt x="783590" y="280670"/>
                  </a:cubicBezTo>
                  <a:cubicBezTo>
                    <a:pt x="734060" y="283210"/>
                    <a:pt x="701040" y="289560"/>
                    <a:pt x="654050" y="281940"/>
                  </a:cubicBezTo>
                  <a:cubicBezTo>
                    <a:pt x="594360" y="273050"/>
                    <a:pt x="490220" y="245110"/>
                    <a:pt x="453390" y="214630"/>
                  </a:cubicBezTo>
                  <a:cubicBezTo>
                    <a:pt x="431800" y="195580"/>
                    <a:pt x="420370" y="171450"/>
                    <a:pt x="420370" y="151130"/>
                  </a:cubicBezTo>
                  <a:cubicBezTo>
                    <a:pt x="421640" y="129540"/>
                    <a:pt x="436880" y="99060"/>
                    <a:pt x="454660" y="87630"/>
                  </a:cubicBezTo>
                  <a:cubicBezTo>
                    <a:pt x="472440" y="76200"/>
                    <a:pt x="508000" y="74930"/>
                    <a:pt x="525780" y="81280"/>
                  </a:cubicBezTo>
                  <a:cubicBezTo>
                    <a:pt x="542290" y="86360"/>
                    <a:pt x="554990" y="100330"/>
                    <a:pt x="562610" y="113030"/>
                  </a:cubicBezTo>
                  <a:cubicBezTo>
                    <a:pt x="570230" y="125730"/>
                    <a:pt x="576580" y="144780"/>
                    <a:pt x="572770" y="161290"/>
                  </a:cubicBezTo>
                  <a:cubicBezTo>
                    <a:pt x="568960" y="180340"/>
                    <a:pt x="548640" y="209550"/>
                    <a:pt x="532130" y="219710"/>
                  </a:cubicBezTo>
                  <a:cubicBezTo>
                    <a:pt x="518160" y="228600"/>
                    <a:pt x="499110" y="229870"/>
                    <a:pt x="483870" y="227330"/>
                  </a:cubicBezTo>
                  <a:cubicBezTo>
                    <a:pt x="468630" y="223520"/>
                    <a:pt x="450850" y="215900"/>
                    <a:pt x="440690" y="203200"/>
                  </a:cubicBezTo>
                  <a:cubicBezTo>
                    <a:pt x="429260" y="187960"/>
                    <a:pt x="417830" y="154940"/>
                    <a:pt x="422910" y="134620"/>
                  </a:cubicBezTo>
                  <a:cubicBezTo>
                    <a:pt x="427990" y="113030"/>
                    <a:pt x="452120" y="88900"/>
                    <a:pt x="469900" y="80010"/>
                  </a:cubicBezTo>
                  <a:cubicBezTo>
                    <a:pt x="485140" y="73660"/>
                    <a:pt x="500380" y="74930"/>
                    <a:pt x="518160" y="78740"/>
                  </a:cubicBezTo>
                  <a:cubicBezTo>
                    <a:pt x="546100" y="83820"/>
                    <a:pt x="584200" y="110490"/>
                    <a:pt x="617220" y="119380"/>
                  </a:cubicBezTo>
                  <a:cubicBezTo>
                    <a:pt x="648970" y="128270"/>
                    <a:pt x="675640" y="130810"/>
                    <a:pt x="715010" y="134620"/>
                  </a:cubicBezTo>
                  <a:cubicBezTo>
                    <a:pt x="775970" y="138430"/>
                    <a:pt x="863600" y="143510"/>
                    <a:pt x="943610" y="132080"/>
                  </a:cubicBezTo>
                  <a:cubicBezTo>
                    <a:pt x="1037590" y="119380"/>
                    <a:pt x="1187450" y="43180"/>
                    <a:pt x="1240790" y="53340"/>
                  </a:cubicBezTo>
                  <a:cubicBezTo>
                    <a:pt x="1262380" y="57150"/>
                    <a:pt x="1273810" y="68580"/>
                    <a:pt x="1283970" y="82550"/>
                  </a:cubicBezTo>
                  <a:cubicBezTo>
                    <a:pt x="1292860" y="95250"/>
                    <a:pt x="1297940" y="115570"/>
                    <a:pt x="1295400" y="132080"/>
                  </a:cubicBezTo>
                  <a:cubicBezTo>
                    <a:pt x="1294130" y="148590"/>
                    <a:pt x="1283970" y="166370"/>
                    <a:pt x="1271270" y="177800"/>
                  </a:cubicBezTo>
                  <a:cubicBezTo>
                    <a:pt x="1259840" y="187960"/>
                    <a:pt x="1250950" y="190500"/>
                    <a:pt x="1224280" y="195580"/>
                  </a:cubicBezTo>
                  <a:cubicBezTo>
                    <a:pt x="1108710" y="217170"/>
                    <a:pt x="483870" y="187960"/>
                    <a:pt x="278130" y="196850"/>
                  </a:cubicBezTo>
                  <a:cubicBezTo>
                    <a:pt x="177800" y="200660"/>
                    <a:pt x="99060" y="226060"/>
                    <a:pt x="55880" y="215900"/>
                  </a:cubicBezTo>
                  <a:cubicBezTo>
                    <a:pt x="35560" y="210820"/>
                    <a:pt x="24130" y="201930"/>
                    <a:pt x="15240" y="190500"/>
                  </a:cubicBezTo>
                  <a:cubicBezTo>
                    <a:pt x="6350" y="177800"/>
                    <a:pt x="0" y="158750"/>
                    <a:pt x="1270" y="144780"/>
                  </a:cubicBezTo>
                  <a:cubicBezTo>
                    <a:pt x="2540" y="129540"/>
                    <a:pt x="11430" y="111760"/>
                    <a:pt x="21590" y="101600"/>
                  </a:cubicBezTo>
                  <a:cubicBezTo>
                    <a:pt x="33020" y="90170"/>
                    <a:pt x="43180" y="87630"/>
                    <a:pt x="66040" y="82550"/>
                  </a:cubicBezTo>
                  <a:cubicBezTo>
                    <a:pt x="128270" y="67310"/>
                    <a:pt x="381000" y="34290"/>
                    <a:pt x="439420" y="54610"/>
                  </a:cubicBezTo>
                  <a:cubicBezTo>
                    <a:pt x="462280" y="62230"/>
                    <a:pt x="471170" y="77470"/>
                    <a:pt x="478790" y="90170"/>
                  </a:cubicBezTo>
                  <a:cubicBezTo>
                    <a:pt x="485140" y="101600"/>
                    <a:pt x="487680" y="113030"/>
                    <a:pt x="486410" y="124460"/>
                  </a:cubicBezTo>
                  <a:cubicBezTo>
                    <a:pt x="485140" y="139700"/>
                    <a:pt x="477520" y="161290"/>
                    <a:pt x="466090" y="173990"/>
                  </a:cubicBezTo>
                  <a:cubicBezTo>
                    <a:pt x="455930" y="185420"/>
                    <a:pt x="420370" y="196850"/>
                    <a:pt x="420370" y="196850"/>
                  </a:cubicBezTo>
                </a:path>
              </a:pathLst>
            </a:custGeom>
            <a:solidFill>
              <a:srgbClr val="FFFFFF"/>
            </a:solidFill>
            <a:ln cap="sq">
              <a:noFill/>
              <a:prstDash val="solid"/>
              <a:miter/>
            </a:ln>
          </p:spPr>
          <p:txBody>
            <a:bodyPr/>
            <a:lstStyle/>
            <a:p>
              <a:endParaRPr lang="pt-BR"/>
            </a:p>
          </p:txBody>
        </p:sp>
      </p:grpSp>
      <p:grpSp>
        <p:nvGrpSpPr>
          <p:cNvPr id="8" name="Group 8"/>
          <p:cNvGrpSpPr/>
          <p:nvPr/>
        </p:nvGrpSpPr>
        <p:grpSpPr>
          <a:xfrm>
            <a:off x="945832" y="9511665"/>
            <a:ext cx="1258252" cy="663893"/>
            <a:chOff x="0" y="0"/>
            <a:chExt cx="1677670" cy="885190"/>
          </a:xfrm>
        </p:grpSpPr>
        <p:sp>
          <p:nvSpPr>
            <p:cNvPr id="9" name="Freeform 9"/>
            <p:cNvSpPr/>
            <p:nvPr/>
          </p:nvSpPr>
          <p:spPr>
            <a:xfrm>
              <a:off x="48260" y="49530"/>
              <a:ext cx="1581150" cy="786130"/>
            </a:xfrm>
            <a:custGeom>
              <a:avLst/>
              <a:gdLst/>
              <a:ahLst/>
              <a:cxnLst/>
              <a:rect l="l" t="t" r="r" b="b"/>
              <a:pathLst>
                <a:path w="1581150" h="786130">
                  <a:moveTo>
                    <a:pt x="337820" y="26670"/>
                  </a:moveTo>
                  <a:cubicBezTo>
                    <a:pt x="991870" y="0"/>
                    <a:pt x="1154430" y="0"/>
                    <a:pt x="1235710" y="7620"/>
                  </a:cubicBezTo>
                  <a:cubicBezTo>
                    <a:pt x="1275080" y="10160"/>
                    <a:pt x="1294130" y="12700"/>
                    <a:pt x="1320800" y="20320"/>
                  </a:cubicBezTo>
                  <a:cubicBezTo>
                    <a:pt x="1348740" y="27940"/>
                    <a:pt x="1375410" y="39370"/>
                    <a:pt x="1400810" y="53340"/>
                  </a:cubicBezTo>
                  <a:cubicBezTo>
                    <a:pt x="1424940" y="67310"/>
                    <a:pt x="1449070" y="85090"/>
                    <a:pt x="1469390" y="104140"/>
                  </a:cubicBezTo>
                  <a:cubicBezTo>
                    <a:pt x="1489710" y="123190"/>
                    <a:pt x="1508760" y="146050"/>
                    <a:pt x="1524000" y="170180"/>
                  </a:cubicBezTo>
                  <a:cubicBezTo>
                    <a:pt x="1539240" y="194310"/>
                    <a:pt x="1551940" y="220980"/>
                    <a:pt x="1560830" y="247650"/>
                  </a:cubicBezTo>
                  <a:cubicBezTo>
                    <a:pt x="1570990" y="274320"/>
                    <a:pt x="1576070" y="303530"/>
                    <a:pt x="1578610" y="331470"/>
                  </a:cubicBezTo>
                  <a:cubicBezTo>
                    <a:pt x="1581150" y="359410"/>
                    <a:pt x="1581150" y="388620"/>
                    <a:pt x="1576070" y="416560"/>
                  </a:cubicBezTo>
                  <a:cubicBezTo>
                    <a:pt x="1572260" y="444500"/>
                    <a:pt x="1564640" y="473710"/>
                    <a:pt x="1553210" y="499110"/>
                  </a:cubicBezTo>
                  <a:cubicBezTo>
                    <a:pt x="1541780" y="525780"/>
                    <a:pt x="1527810" y="551180"/>
                    <a:pt x="1511300" y="574040"/>
                  </a:cubicBezTo>
                  <a:cubicBezTo>
                    <a:pt x="1493520" y="596900"/>
                    <a:pt x="1473200" y="618490"/>
                    <a:pt x="1451610" y="636270"/>
                  </a:cubicBezTo>
                  <a:cubicBezTo>
                    <a:pt x="1430020" y="655320"/>
                    <a:pt x="1404620" y="670560"/>
                    <a:pt x="1379220" y="683260"/>
                  </a:cubicBezTo>
                  <a:cubicBezTo>
                    <a:pt x="1353820" y="695960"/>
                    <a:pt x="1337310" y="703580"/>
                    <a:pt x="1297940" y="711200"/>
                  </a:cubicBezTo>
                  <a:cubicBezTo>
                    <a:pt x="1214120" y="726440"/>
                    <a:pt x="1012190" y="716280"/>
                    <a:pt x="881380" y="725170"/>
                  </a:cubicBezTo>
                  <a:cubicBezTo>
                    <a:pt x="765810" y="732790"/>
                    <a:pt x="554990" y="767080"/>
                    <a:pt x="553720" y="756920"/>
                  </a:cubicBezTo>
                  <a:cubicBezTo>
                    <a:pt x="552450" y="750570"/>
                    <a:pt x="689610" y="707390"/>
                    <a:pt x="690880" y="711200"/>
                  </a:cubicBezTo>
                  <a:cubicBezTo>
                    <a:pt x="692150" y="713740"/>
                    <a:pt x="641350" y="744220"/>
                    <a:pt x="613410" y="755650"/>
                  </a:cubicBezTo>
                  <a:cubicBezTo>
                    <a:pt x="586740" y="767080"/>
                    <a:pt x="557530" y="774700"/>
                    <a:pt x="528320" y="779780"/>
                  </a:cubicBezTo>
                  <a:cubicBezTo>
                    <a:pt x="499110" y="784860"/>
                    <a:pt x="468630" y="786130"/>
                    <a:pt x="439420" y="783590"/>
                  </a:cubicBezTo>
                  <a:cubicBezTo>
                    <a:pt x="410210" y="781050"/>
                    <a:pt x="379730" y="774700"/>
                    <a:pt x="351790" y="765810"/>
                  </a:cubicBezTo>
                  <a:cubicBezTo>
                    <a:pt x="323850" y="756920"/>
                    <a:pt x="297180" y="742950"/>
                    <a:pt x="271780" y="727710"/>
                  </a:cubicBezTo>
                  <a:cubicBezTo>
                    <a:pt x="247650" y="711200"/>
                    <a:pt x="223520" y="692150"/>
                    <a:pt x="203200" y="671830"/>
                  </a:cubicBezTo>
                  <a:cubicBezTo>
                    <a:pt x="182880" y="650240"/>
                    <a:pt x="163830" y="626110"/>
                    <a:pt x="149860" y="600710"/>
                  </a:cubicBezTo>
                  <a:cubicBezTo>
                    <a:pt x="134620" y="574040"/>
                    <a:pt x="123190" y="546100"/>
                    <a:pt x="114300" y="518160"/>
                  </a:cubicBezTo>
                  <a:cubicBezTo>
                    <a:pt x="106680" y="490220"/>
                    <a:pt x="101600" y="459740"/>
                    <a:pt x="100330" y="430530"/>
                  </a:cubicBezTo>
                  <a:cubicBezTo>
                    <a:pt x="99060" y="401320"/>
                    <a:pt x="101600" y="370840"/>
                    <a:pt x="107950" y="341630"/>
                  </a:cubicBezTo>
                  <a:cubicBezTo>
                    <a:pt x="114300" y="312420"/>
                    <a:pt x="123190" y="284480"/>
                    <a:pt x="135890" y="257810"/>
                  </a:cubicBezTo>
                  <a:cubicBezTo>
                    <a:pt x="148590" y="231140"/>
                    <a:pt x="165100" y="204470"/>
                    <a:pt x="184150" y="181610"/>
                  </a:cubicBezTo>
                  <a:cubicBezTo>
                    <a:pt x="201930" y="158750"/>
                    <a:pt x="246380" y="119380"/>
                    <a:pt x="247650" y="120650"/>
                  </a:cubicBezTo>
                  <a:cubicBezTo>
                    <a:pt x="248920" y="121920"/>
                    <a:pt x="152400" y="228600"/>
                    <a:pt x="151130" y="228600"/>
                  </a:cubicBezTo>
                  <a:cubicBezTo>
                    <a:pt x="151130" y="228600"/>
                    <a:pt x="198120" y="162560"/>
                    <a:pt x="227330" y="137160"/>
                  </a:cubicBezTo>
                  <a:cubicBezTo>
                    <a:pt x="257810" y="110490"/>
                    <a:pt x="293370" y="88900"/>
                    <a:pt x="328930" y="73660"/>
                  </a:cubicBezTo>
                  <a:cubicBezTo>
                    <a:pt x="365760" y="59690"/>
                    <a:pt x="406400" y="49530"/>
                    <a:pt x="445770" y="46990"/>
                  </a:cubicBezTo>
                  <a:cubicBezTo>
                    <a:pt x="485140" y="44450"/>
                    <a:pt x="527050" y="49530"/>
                    <a:pt x="565150" y="59690"/>
                  </a:cubicBezTo>
                  <a:cubicBezTo>
                    <a:pt x="601980" y="69850"/>
                    <a:pt x="641350" y="86360"/>
                    <a:pt x="673100" y="107950"/>
                  </a:cubicBezTo>
                  <a:cubicBezTo>
                    <a:pt x="706120" y="129540"/>
                    <a:pt x="736600" y="158750"/>
                    <a:pt x="760730" y="189230"/>
                  </a:cubicBezTo>
                  <a:cubicBezTo>
                    <a:pt x="784860" y="220980"/>
                    <a:pt x="805180" y="257810"/>
                    <a:pt x="817880" y="294640"/>
                  </a:cubicBezTo>
                  <a:cubicBezTo>
                    <a:pt x="830580" y="331470"/>
                    <a:pt x="838200" y="372110"/>
                    <a:pt x="838200" y="411480"/>
                  </a:cubicBezTo>
                  <a:cubicBezTo>
                    <a:pt x="839470" y="450850"/>
                    <a:pt x="833120" y="492760"/>
                    <a:pt x="820420" y="529590"/>
                  </a:cubicBezTo>
                  <a:cubicBezTo>
                    <a:pt x="807720" y="567690"/>
                    <a:pt x="788670" y="604520"/>
                    <a:pt x="765810" y="636270"/>
                  </a:cubicBezTo>
                  <a:cubicBezTo>
                    <a:pt x="741680" y="668020"/>
                    <a:pt x="712470" y="697230"/>
                    <a:pt x="679450" y="718820"/>
                  </a:cubicBezTo>
                  <a:cubicBezTo>
                    <a:pt x="647700" y="741680"/>
                    <a:pt x="609600" y="759460"/>
                    <a:pt x="571500" y="770890"/>
                  </a:cubicBezTo>
                  <a:cubicBezTo>
                    <a:pt x="533400" y="781050"/>
                    <a:pt x="492760" y="786130"/>
                    <a:pt x="453390" y="784860"/>
                  </a:cubicBezTo>
                  <a:cubicBezTo>
                    <a:pt x="414020" y="782320"/>
                    <a:pt x="373380" y="774700"/>
                    <a:pt x="336550" y="759460"/>
                  </a:cubicBezTo>
                  <a:cubicBezTo>
                    <a:pt x="299720" y="745490"/>
                    <a:pt x="264160" y="723900"/>
                    <a:pt x="233680" y="699770"/>
                  </a:cubicBezTo>
                  <a:cubicBezTo>
                    <a:pt x="203200" y="674370"/>
                    <a:pt x="175260" y="642620"/>
                    <a:pt x="154940" y="609600"/>
                  </a:cubicBezTo>
                  <a:cubicBezTo>
                    <a:pt x="134620" y="575310"/>
                    <a:pt x="118110" y="537210"/>
                    <a:pt x="109220" y="499110"/>
                  </a:cubicBezTo>
                  <a:cubicBezTo>
                    <a:pt x="101600" y="461010"/>
                    <a:pt x="97790" y="419100"/>
                    <a:pt x="101600" y="379730"/>
                  </a:cubicBezTo>
                  <a:cubicBezTo>
                    <a:pt x="105410" y="340360"/>
                    <a:pt x="116840" y="299720"/>
                    <a:pt x="133350" y="264160"/>
                  </a:cubicBezTo>
                  <a:cubicBezTo>
                    <a:pt x="148590" y="228600"/>
                    <a:pt x="172720" y="193040"/>
                    <a:pt x="199390" y="165100"/>
                  </a:cubicBezTo>
                  <a:cubicBezTo>
                    <a:pt x="226060" y="135890"/>
                    <a:pt x="259080" y="110490"/>
                    <a:pt x="293370" y="91440"/>
                  </a:cubicBezTo>
                  <a:cubicBezTo>
                    <a:pt x="327660" y="72390"/>
                    <a:pt x="367030" y="58420"/>
                    <a:pt x="406400" y="52070"/>
                  </a:cubicBezTo>
                  <a:cubicBezTo>
                    <a:pt x="444500" y="45720"/>
                    <a:pt x="486410" y="44450"/>
                    <a:pt x="525780" y="50800"/>
                  </a:cubicBezTo>
                  <a:cubicBezTo>
                    <a:pt x="563880" y="57150"/>
                    <a:pt x="604520" y="69850"/>
                    <a:pt x="638810" y="87630"/>
                  </a:cubicBezTo>
                  <a:cubicBezTo>
                    <a:pt x="674370" y="105410"/>
                    <a:pt x="707390" y="130810"/>
                    <a:pt x="735330" y="158750"/>
                  </a:cubicBezTo>
                  <a:cubicBezTo>
                    <a:pt x="762000" y="187960"/>
                    <a:pt x="786130" y="222250"/>
                    <a:pt x="802640" y="257810"/>
                  </a:cubicBezTo>
                  <a:cubicBezTo>
                    <a:pt x="819150" y="293370"/>
                    <a:pt x="831850" y="332740"/>
                    <a:pt x="835660" y="372110"/>
                  </a:cubicBezTo>
                  <a:cubicBezTo>
                    <a:pt x="840740" y="411480"/>
                    <a:pt x="844550" y="448310"/>
                    <a:pt x="830580" y="491490"/>
                  </a:cubicBezTo>
                  <a:cubicBezTo>
                    <a:pt x="810260" y="556260"/>
                    <a:pt x="735330" y="668020"/>
                    <a:pt x="690880" y="711200"/>
                  </a:cubicBezTo>
                  <a:cubicBezTo>
                    <a:pt x="664210" y="736600"/>
                    <a:pt x="641350" y="744220"/>
                    <a:pt x="613410" y="755650"/>
                  </a:cubicBezTo>
                  <a:cubicBezTo>
                    <a:pt x="586740" y="767080"/>
                    <a:pt x="557530" y="774700"/>
                    <a:pt x="528320" y="779780"/>
                  </a:cubicBezTo>
                  <a:cubicBezTo>
                    <a:pt x="499110" y="784860"/>
                    <a:pt x="468630" y="786130"/>
                    <a:pt x="439420" y="783590"/>
                  </a:cubicBezTo>
                  <a:cubicBezTo>
                    <a:pt x="410210" y="781050"/>
                    <a:pt x="379730" y="774700"/>
                    <a:pt x="353060" y="765810"/>
                  </a:cubicBezTo>
                  <a:cubicBezTo>
                    <a:pt x="325120" y="756920"/>
                    <a:pt x="297180" y="742950"/>
                    <a:pt x="271780" y="727710"/>
                  </a:cubicBezTo>
                  <a:cubicBezTo>
                    <a:pt x="247650" y="711200"/>
                    <a:pt x="223520" y="692150"/>
                    <a:pt x="203200" y="671830"/>
                  </a:cubicBezTo>
                  <a:cubicBezTo>
                    <a:pt x="182880" y="650240"/>
                    <a:pt x="163830" y="626110"/>
                    <a:pt x="149860" y="600710"/>
                  </a:cubicBezTo>
                  <a:cubicBezTo>
                    <a:pt x="134620" y="574040"/>
                    <a:pt x="123190" y="546100"/>
                    <a:pt x="114300" y="518160"/>
                  </a:cubicBezTo>
                  <a:cubicBezTo>
                    <a:pt x="106680" y="490220"/>
                    <a:pt x="101600" y="459740"/>
                    <a:pt x="100330" y="430530"/>
                  </a:cubicBezTo>
                  <a:cubicBezTo>
                    <a:pt x="99060" y="401320"/>
                    <a:pt x="101600" y="370840"/>
                    <a:pt x="107950" y="341630"/>
                  </a:cubicBezTo>
                  <a:cubicBezTo>
                    <a:pt x="114300" y="312420"/>
                    <a:pt x="123190" y="284480"/>
                    <a:pt x="135890" y="257810"/>
                  </a:cubicBezTo>
                  <a:cubicBezTo>
                    <a:pt x="148590" y="231140"/>
                    <a:pt x="165100" y="204470"/>
                    <a:pt x="184150" y="181610"/>
                  </a:cubicBezTo>
                  <a:cubicBezTo>
                    <a:pt x="201930" y="158750"/>
                    <a:pt x="215900" y="139700"/>
                    <a:pt x="247650" y="120650"/>
                  </a:cubicBezTo>
                  <a:cubicBezTo>
                    <a:pt x="309880" y="83820"/>
                    <a:pt x="448310" y="43180"/>
                    <a:pt x="554990" y="24130"/>
                  </a:cubicBezTo>
                  <a:cubicBezTo>
                    <a:pt x="666750" y="2540"/>
                    <a:pt x="782320" y="2540"/>
                    <a:pt x="904240" y="1270"/>
                  </a:cubicBezTo>
                  <a:cubicBezTo>
                    <a:pt x="1036320" y="0"/>
                    <a:pt x="1236980" y="1270"/>
                    <a:pt x="1320800" y="20320"/>
                  </a:cubicBezTo>
                  <a:cubicBezTo>
                    <a:pt x="1358900" y="27940"/>
                    <a:pt x="1375410" y="39370"/>
                    <a:pt x="1399540" y="53340"/>
                  </a:cubicBezTo>
                  <a:cubicBezTo>
                    <a:pt x="1424940" y="67310"/>
                    <a:pt x="1449070" y="85090"/>
                    <a:pt x="1469390" y="104140"/>
                  </a:cubicBezTo>
                  <a:cubicBezTo>
                    <a:pt x="1489710" y="123190"/>
                    <a:pt x="1508760" y="146050"/>
                    <a:pt x="1524000" y="170180"/>
                  </a:cubicBezTo>
                  <a:cubicBezTo>
                    <a:pt x="1539240" y="194310"/>
                    <a:pt x="1551940" y="220980"/>
                    <a:pt x="1560830" y="247650"/>
                  </a:cubicBezTo>
                  <a:cubicBezTo>
                    <a:pt x="1570990" y="274320"/>
                    <a:pt x="1576070" y="303530"/>
                    <a:pt x="1578610" y="331470"/>
                  </a:cubicBezTo>
                  <a:cubicBezTo>
                    <a:pt x="1581150" y="359410"/>
                    <a:pt x="1581150" y="388620"/>
                    <a:pt x="1576070" y="416560"/>
                  </a:cubicBezTo>
                  <a:cubicBezTo>
                    <a:pt x="1572260" y="444500"/>
                    <a:pt x="1564640" y="473710"/>
                    <a:pt x="1553210" y="499110"/>
                  </a:cubicBezTo>
                  <a:cubicBezTo>
                    <a:pt x="1541780" y="525780"/>
                    <a:pt x="1527810" y="551180"/>
                    <a:pt x="1511300" y="574040"/>
                  </a:cubicBezTo>
                  <a:cubicBezTo>
                    <a:pt x="1493520" y="596900"/>
                    <a:pt x="1473200" y="618490"/>
                    <a:pt x="1451610" y="636270"/>
                  </a:cubicBezTo>
                  <a:cubicBezTo>
                    <a:pt x="1430020" y="655320"/>
                    <a:pt x="1404620" y="670560"/>
                    <a:pt x="1379220" y="683260"/>
                  </a:cubicBezTo>
                  <a:cubicBezTo>
                    <a:pt x="1353820" y="695960"/>
                    <a:pt x="1342390" y="703580"/>
                    <a:pt x="1297940" y="711200"/>
                  </a:cubicBezTo>
                  <a:cubicBezTo>
                    <a:pt x="1148080" y="734060"/>
                    <a:pt x="403860" y="717550"/>
                    <a:pt x="256540" y="689610"/>
                  </a:cubicBezTo>
                  <a:cubicBezTo>
                    <a:pt x="215900" y="681990"/>
                    <a:pt x="204470" y="673100"/>
                    <a:pt x="180340" y="660400"/>
                  </a:cubicBezTo>
                  <a:cubicBezTo>
                    <a:pt x="157480" y="648970"/>
                    <a:pt x="134620" y="632460"/>
                    <a:pt x="114300" y="614680"/>
                  </a:cubicBezTo>
                  <a:cubicBezTo>
                    <a:pt x="93980" y="596900"/>
                    <a:pt x="74930" y="576580"/>
                    <a:pt x="59690" y="553720"/>
                  </a:cubicBezTo>
                  <a:cubicBezTo>
                    <a:pt x="44450" y="532130"/>
                    <a:pt x="31750" y="506730"/>
                    <a:pt x="22860" y="482600"/>
                  </a:cubicBezTo>
                  <a:cubicBezTo>
                    <a:pt x="12700" y="457200"/>
                    <a:pt x="6350" y="430530"/>
                    <a:pt x="2540" y="403860"/>
                  </a:cubicBezTo>
                  <a:cubicBezTo>
                    <a:pt x="0" y="377190"/>
                    <a:pt x="0" y="349250"/>
                    <a:pt x="2540" y="322580"/>
                  </a:cubicBezTo>
                  <a:cubicBezTo>
                    <a:pt x="6350" y="295910"/>
                    <a:pt x="12700" y="267970"/>
                    <a:pt x="22860" y="243840"/>
                  </a:cubicBezTo>
                  <a:cubicBezTo>
                    <a:pt x="31750" y="218440"/>
                    <a:pt x="44450" y="194310"/>
                    <a:pt x="59690" y="171450"/>
                  </a:cubicBezTo>
                  <a:cubicBezTo>
                    <a:pt x="74930" y="149860"/>
                    <a:pt x="93980" y="128270"/>
                    <a:pt x="114300" y="110490"/>
                  </a:cubicBezTo>
                  <a:cubicBezTo>
                    <a:pt x="134620" y="92710"/>
                    <a:pt x="157480" y="77470"/>
                    <a:pt x="180340" y="64770"/>
                  </a:cubicBezTo>
                  <a:cubicBezTo>
                    <a:pt x="204470" y="52070"/>
                    <a:pt x="231140" y="41910"/>
                    <a:pt x="256540" y="35560"/>
                  </a:cubicBezTo>
                  <a:cubicBezTo>
                    <a:pt x="283210" y="29210"/>
                    <a:pt x="337820" y="26670"/>
                    <a:pt x="337820" y="26670"/>
                  </a:cubicBezTo>
                </a:path>
              </a:pathLst>
            </a:custGeom>
            <a:solidFill>
              <a:srgbClr val="FFFFFF"/>
            </a:solidFill>
            <a:ln cap="sq">
              <a:noFill/>
              <a:prstDash val="solid"/>
              <a:miter/>
            </a:ln>
          </p:spPr>
          <p:txBody>
            <a:bodyPr/>
            <a:lstStyle/>
            <a:p>
              <a:endParaRPr lang="pt-BR"/>
            </a:p>
          </p:txBody>
        </p:sp>
      </p:grpSp>
      <p:grpSp>
        <p:nvGrpSpPr>
          <p:cNvPr id="10" name="Group 10"/>
          <p:cNvGrpSpPr/>
          <p:nvPr/>
        </p:nvGrpSpPr>
        <p:grpSpPr>
          <a:xfrm rot="20773369">
            <a:off x="934294" y="8330839"/>
            <a:ext cx="4513348" cy="1969218"/>
            <a:chOff x="0" y="0"/>
            <a:chExt cx="2030730" cy="1501140"/>
          </a:xfrm>
        </p:grpSpPr>
        <p:sp>
          <p:nvSpPr>
            <p:cNvPr id="11" name="Freeform 11"/>
            <p:cNvSpPr/>
            <p:nvPr/>
          </p:nvSpPr>
          <p:spPr>
            <a:xfrm>
              <a:off x="50800" y="41910"/>
              <a:ext cx="1958340" cy="1410970"/>
            </a:xfrm>
            <a:custGeom>
              <a:avLst/>
              <a:gdLst/>
              <a:ahLst/>
              <a:cxnLst/>
              <a:rect l="l" t="t" r="r" b="b"/>
              <a:pathLst>
                <a:path w="1958340" h="1410970">
                  <a:moveTo>
                    <a:pt x="151130" y="436880"/>
                  </a:moveTo>
                  <a:cubicBezTo>
                    <a:pt x="443230" y="248920"/>
                    <a:pt x="615950" y="146050"/>
                    <a:pt x="756920" y="95250"/>
                  </a:cubicBezTo>
                  <a:cubicBezTo>
                    <a:pt x="882650" y="48260"/>
                    <a:pt x="1010920" y="0"/>
                    <a:pt x="1135380" y="8890"/>
                  </a:cubicBezTo>
                  <a:cubicBezTo>
                    <a:pt x="1262380" y="17780"/>
                    <a:pt x="1403350" y="83820"/>
                    <a:pt x="1511300" y="153670"/>
                  </a:cubicBezTo>
                  <a:cubicBezTo>
                    <a:pt x="1614170" y="220980"/>
                    <a:pt x="1701800" y="318770"/>
                    <a:pt x="1770380" y="415290"/>
                  </a:cubicBezTo>
                  <a:cubicBezTo>
                    <a:pt x="1835150" y="506730"/>
                    <a:pt x="1887220" y="607060"/>
                    <a:pt x="1913890" y="713740"/>
                  </a:cubicBezTo>
                  <a:cubicBezTo>
                    <a:pt x="1941830" y="822960"/>
                    <a:pt x="1958340" y="956310"/>
                    <a:pt x="1929130" y="1061720"/>
                  </a:cubicBezTo>
                  <a:cubicBezTo>
                    <a:pt x="1899920" y="1165860"/>
                    <a:pt x="1837690" y="1286510"/>
                    <a:pt x="1743710" y="1341120"/>
                  </a:cubicBezTo>
                  <a:cubicBezTo>
                    <a:pt x="1633220" y="1405890"/>
                    <a:pt x="1277620" y="1390650"/>
                    <a:pt x="1275080" y="1375410"/>
                  </a:cubicBezTo>
                  <a:cubicBezTo>
                    <a:pt x="1272540" y="1361440"/>
                    <a:pt x="1544320" y="1337310"/>
                    <a:pt x="1609090" y="1273810"/>
                  </a:cubicBezTo>
                  <a:cubicBezTo>
                    <a:pt x="1658620" y="1225550"/>
                    <a:pt x="1671320" y="1074420"/>
                    <a:pt x="1673860" y="1074420"/>
                  </a:cubicBezTo>
                  <a:cubicBezTo>
                    <a:pt x="1675130" y="1075690"/>
                    <a:pt x="1663700" y="1134110"/>
                    <a:pt x="1653540" y="1162050"/>
                  </a:cubicBezTo>
                  <a:cubicBezTo>
                    <a:pt x="1644650" y="1189990"/>
                    <a:pt x="1630680" y="1217930"/>
                    <a:pt x="1614170" y="1242060"/>
                  </a:cubicBezTo>
                  <a:cubicBezTo>
                    <a:pt x="1597660" y="1267460"/>
                    <a:pt x="1577340" y="1290320"/>
                    <a:pt x="1555750" y="1310640"/>
                  </a:cubicBezTo>
                  <a:cubicBezTo>
                    <a:pt x="1534160" y="1330960"/>
                    <a:pt x="1508760" y="1348740"/>
                    <a:pt x="1483360" y="1362710"/>
                  </a:cubicBezTo>
                  <a:cubicBezTo>
                    <a:pt x="1456690" y="1376680"/>
                    <a:pt x="1428750" y="1388110"/>
                    <a:pt x="1399540" y="1395730"/>
                  </a:cubicBezTo>
                  <a:cubicBezTo>
                    <a:pt x="1371600" y="1403350"/>
                    <a:pt x="1341120" y="1407160"/>
                    <a:pt x="1310640" y="1408430"/>
                  </a:cubicBezTo>
                  <a:cubicBezTo>
                    <a:pt x="1281430" y="1408430"/>
                    <a:pt x="1250950" y="1405890"/>
                    <a:pt x="1221740" y="1399540"/>
                  </a:cubicBezTo>
                  <a:cubicBezTo>
                    <a:pt x="1192530" y="1391920"/>
                    <a:pt x="1163320" y="1381760"/>
                    <a:pt x="1137920" y="1369060"/>
                  </a:cubicBezTo>
                  <a:cubicBezTo>
                    <a:pt x="1111250" y="1355090"/>
                    <a:pt x="1085850" y="1338580"/>
                    <a:pt x="1062990" y="1319530"/>
                  </a:cubicBezTo>
                  <a:cubicBezTo>
                    <a:pt x="1040130" y="1299210"/>
                    <a:pt x="1019810" y="1277620"/>
                    <a:pt x="1002030" y="1253490"/>
                  </a:cubicBezTo>
                  <a:cubicBezTo>
                    <a:pt x="984250" y="1229360"/>
                    <a:pt x="970280" y="1201420"/>
                    <a:pt x="958850" y="1174750"/>
                  </a:cubicBezTo>
                  <a:cubicBezTo>
                    <a:pt x="948690" y="1146810"/>
                    <a:pt x="939800" y="1117600"/>
                    <a:pt x="935990" y="1088390"/>
                  </a:cubicBezTo>
                  <a:cubicBezTo>
                    <a:pt x="932180" y="1057910"/>
                    <a:pt x="932180" y="998220"/>
                    <a:pt x="934720" y="998220"/>
                  </a:cubicBezTo>
                  <a:cubicBezTo>
                    <a:pt x="937260" y="998220"/>
                    <a:pt x="961390" y="1173480"/>
                    <a:pt x="958850" y="1173480"/>
                  </a:cubicBezTo>
                  <a:cubicBezTo>
                    <a:pt x="957580" y="1174750"/>
                    <a:pt x="934720" y="1096010"/>
                    <a:pt x="933450" y="1056640"/>
                  </a:cubicBezTo>
                  <a:cubicBezTo>
                    <a:pt x="930910" y="1017270"/>
                    <a:pt x="935990" y="975360"/>
                    <a:pt x="946150" y="937260"/>
                  </a:cubicBezTo>
                  <a:cubicBezTo>
                    <a:pt x="956310" y="899160"/>
                    <a:pt x="974090" y="861060"/>
                    <a:pt x="996950" y="828040"/>
                  </a:cubicBezTo>
                  <a:cubicBezTo>
                    <a:pt x="1018540" y="795020"/>
                    <a:pt x="1047750" y="764540"/>
                    <a:pt x="1079500" y="740410"/>
                  </a:cubicBezTo>
                  <a:cubicBezTo>
                    <a:pt x="1111250" y="716280"/>
                    <a:pt x="1148080" y="697230"/>
                    <a:pt x="1186180" y="684530"/>
                  </a:cubicBezTo>
                  <a:cubicBezTo>
                    <a:pt x="1223010" y="671830"/>
                    <a:pt x="1264920" y="664210"/>
                    <a:pt x="1304290" y="664210"/>
                  </a:cubicBezTo>
                  <a:cubicBezTo>
                    <a:pt x="1343660" y="664210"/>
                    <a:pt x="1385570" y="671830"/>
                    <a:pt x="1423670" y="684530"/>
                  </a:cubicBezTo>
                  <a:cubicBezTo>
                    <a:pt x="1460500" y="697230"/>
                    <a:pt x="1497330" y="716280"/>
                    <a:pt x="1529080" y="740410"/>
                  </a:cubicBezTo>
                  <a:cubicBezTo>
                    <a:pt x="1560830" y="764540"/>
                    <a:pt x="1590040" y="795020"/>
                    <a:pt x="1611630" y="828040"/>
                  </a:cubicBezTo>
                  <a:cubicBezTo>
                    <a:pt x="1634490" y="861060"/>
                    <a:pt x="1652270" y="899160"/>
                    <a:pt x="1662430" y="937260"/>
                  </a:cubicBezTo>
                  <a:cubicBezTo>
                    <a:pt x="1672590" y="975360"/>
                    <a:pt x="1677670" y="1017270"/>
                    <a:pt x="1675130" y="1056640"/>
                  </a:cubicBezTo>
                  <a:cubicBezTo>
                    <a:pt x="1673860" y="1096010"/>
                    <a:pt x="1663700" y="1137920"/>
                    <a:pt x="1649730" y="1174750"/>
                  </a:cubicBezTo>
                  <a:cubicBezTo>
                    <a:pt x="1634490" y="1211580"/>
                    <a:pt x="1612900" y="1247140"/>
                    <a:pt x="1587500" y="1277620"/>
                  </a:cubicBezTo>
                  <a:cubicBezTo>
                    <a:pt x="1562100" y="1306830"/>
                    <a:pt x="1530350" y="1334770"/>
                    <a:pt x="1496060" y="1355090"/>
                  </a:cubicBezTo>
                  <a:cubicBezTo>
                    <a:pt x="1461770" y="1375410"/>
                    <a:pt x="1422400" y="1390650"/>
                    <a:pt x="1384300" y="1399540"/>
                  </a:cubicBezTo>
                  <a:cubicBezTo>
                    <a:pt x="1344930" y="1408430"/>
                    <a:pt x="1303020" y="1410970"/>
                    <a:pt x="1263650" y="1405890"/>
                  </a:cubicBezTo>
                  <a:cubicBezTo>
                    <a:pt x="1224280" y="1402080"/>
                    <a:pt x="1183640" y="1390650"/>
                    <a:pt x="1148080" y="1374140"/>
                  </a:cubicBezTo>
                  <a:cubicBezTo>
                    <a:pt x="1112520" y="1357630"/>
                    <a:pt x="1076960" y="1333500"/>
                    <a:pt x="1049020" y="1306830"/>
                  </a:cubicBezTo>
                  <a:cubicBezTo>
                    <a:pt x="1019810" y="1278890"/>
                    <a:pt x="994410" y="1245870"/>
                    <a:pt x="975360" y="1210310"/>
                  </a:cubicBezTo>
                  <a:cubicBezTo>
                    <a:pt x="957580" y="1176020"/>
                    <a:pt x="943610" y="1135380"/>
                    <a:pt x="937260" y="1096010"/>
                  </a:cubicBezTo>
                  <a:cubicBezTo>
                    <a:pt x="930910" y="1057910"/>
                    <a:pt x="930910" y="1014730"/>
                    <a:pt x="937260" y="976630"/>
                  </a:cubicBezTo>
                  <a:cubicBezTo>
                    <a:pt x="943610" y="937260"/>
                    <a:pt x="957580" y="896620"/>
                    <a:pt x="975360" y="862330"/>
                  </a:cubicBezTo>
                  <a:cubicBezTo>
                    <a:pt x="994410" y="826770"/>
                    <a:pt x="1019810" y="793750"/>
                    <a:pt x="1049020" y="767080"/>
                  </a:cubicBezTo>
                  <a:cubicBezTo>
                    <a:pt x="1076960" y="739140"/>
                    <a:pt x="1112520" y="715010"/>
                    <a:pt x="1148080" y="698500"/>
                  </a:cubicBezTo>
                  <a:cubicBezTo>
                    <a:pt x="1184910" y="681990"/>
                    <a:pt x="1225550" y="670560"/>
                    <a:pt x="1264920" y="666750"/>
                  </a:cubicBezTo>
                  <a:cubicBezTo>
                    <a:pt x="1303020" y="662940"/>
                    <a:pt x="1346200" y="665480"/>
                    <a:pt x="1384300" y="673100"/>
                  </a:cubicBezTo>
                  <a:cubicBezTo>
                    <a:pt x="1423670" y="681990"/>
                    <a:pt x="1461770" y="697230"/>
                    <a:pt x="1496060" y="717550"/>
                  </a:cubicBezTo>
                  <a:cubicBezTo>
                    <a:pt x="1530350" y="737870"/>
                    <a:pt x="1562100" y="756920"/>
                    <a:pt x="1587500" y="796290"/>
                  </a:cubicBezTo>
                  <a:cubicBezTo>
                    <a:pt x="1628140" y="857250"/>
                    <a:pt x="1671320" y="1008380"/>
                    <a:pt x="1673860" y="1074420"/>
                  </a:cubicBezTo>
                  <a:cubicBezTo>
                    <a:pt x="1675130" y="1111250"/>
                    <a:pt x="1663700" y="1134110"/>
                    <a:pt x="1654810" y="1162050"/>
                  </a:cubicBezTo>
                  <a:cubicBezTo>
                    <a:pt x="1644650" y="1189990"/>
                    <a:pt x="1630680" y="1217930"/>
                    <a:pt x="1614170" y="1242060"/>
                  </a:cubicBezTo>
                  <a:cubicBezTo>
                    <a:pt x="1597660" y="1267460"/>
                    <a:pt x="1577340" y="1290320"/>
                    <a:pt x="1555750" y="1310640"/>
                  </a:cubicBezTo>
                  <a:cubicBezTo>
                    <a:pt x="1534160" y="1330960"/>
                    <a:pt x="1508760" y="1348740"/>
                    <a:pt x="1483360" y="1362710"/>
                  </a:cubicBezTo>
                  <a:cubicBezTo>
                    <a:pt x="1456690" y="1376680"/>
                    <a:pt x="1428750" y="1388110"/>
                    <a:pt x="1399540" y="1395730"/>
                  </a:cubicBezTo>
                  <a:cubicBezTo>
                    <a:pt x="1371600" y="1403350"/>
                    <a:pt x="1341120" y="1407160"/>
                    <a:pt x="1310640" y="1408430"/>
                  </a:cubicBezTo>
                  <a:cubicBezTo>
                    <a:pt x="1281430" y="1408430"/>
                    <a:pt x="1250950" y="1405890"/>
                    <a:pt x="1221740" y="1399540"/>
                  </a:cubicBezTo>
                  <a:cubicBezTo>
                    <a:pt x="1192530" y="1391920"/>
                    <a:pt x="1163320" y="1381760"/>
                    <a:pt x="1137920" y="1369060"/>
                  </a:cubicBezTo>
                  <a:cubicBezTo>
                    <a:pt x="1111250" y="1355090"/>
                    <a:pt x="1085850" y="1338580"/>
                    <a:pt x="1062990" y="1319530"/>
                  </a:cubicBezTo>
                  <a:cubicBezTo>
                    <a:pt x="1040130" y="1299210"/>
                    <a:pt x="1019810" y="1277620"/>
                    <a:pt x="1002030" y="1253490"/>
                  </a:cubicBezTo>
                  <a:cubicBezTo>
                    <a:pt x="984250" y="1229360"/>
                    <a:pt x="970280" y="1201420"/>
                    <a:pt x="958850" y="1174750"/>
                  </a:cubicBezTo>
                  <a:cubicBezTo>
                    <a:pt x="948690" y="1146810"/>
                    <a:pt x="939800" y="1117600"/>
                    <a:pt x="935990" y="1088390"/>
                  </a:cubicBezTo>
                  <a:cubicBezTo>
                    <a:pt x="932180" y="1057910"/>
                    <a:pt x="924560" y="1032510"/>
                    <a:pt x="934720" y="998220"/>
                  </a:cubicBezTo>
                  <a:cubicBezTo>
                    <a:pt x="949960" y="941070"/>
                    <a:pt x="993140" y="838200"/>
                    <a:pt x="1062990" y="788670"/>
                  </a:cubicBezTo>
                  <a:cubicBezTo>
                    <a:pt x="1153160" y="723900"/>
                    <a:pt x="1431290" y="651510"/>
                    <a:pt x="1469390" y="697230"/>
                  </a:cubicBezTo>
                  <a:cubicBezTo>
                    <a:pt x="1504950" y="741680"/>
                    <a:pt x="1371600" y="1035050"/>
                    <a:pt x="1310640" y="1040130"/>
                  </a:cubicBezTo>
                  <a:cubicBezTo>
                    <a:pt x="1248410" y="1043940"/>
                    <a:pt x="1198880" y="740410"/>
                    <a:pt x="1102360" y="711200"/>
                  </a:cubicBezTo>
                  <a:cubicBezTo>
                    <a:pt x="1000760" y="679450"/>
                    <a:pt x="825500" y="821690"/>
                    <a:pt x="711200" y="881380"/>
                  </a:cubicBezTo>
                  <a:cubicBezTo>
                    <a:pt x="614680" y="932180"/>
                    <a:pt x="518160" y="1013460"/>
                    <a:pt x="454660" y="1038860"/>
                  </a:cubicBezTo>
                  <a:cubicBezTo>
                    <a:pt x="421640" y="1051560"/>
                    <a:pt x="402590" y="1054100"/>
                    <a:pt x="374650" y="1056640"/>
                  </a:cubicBezTo>
                  <a:cubicBezTo>
                    <a:pt x="347980" y="1059180"/>
                    <a:pt x="320040" y="1059180"/>
                    <a:pt x="293370" y="1055370"/>
                  </a:cubicBezTo>
                  <a:cubicBezTo>
                    <a:pt x="266700" y="1051560"/>
                    <a:pt x="238760" y="1045210"/>
                    <a:pt x="214630" y="1035050"/>
                  </a:cubicBezTo>
                  <a:cubicBezTo>
                    <a:pt x="189230" y="1024890"/>
                    <a:pt x="163830" y="1010920"/>
                    <a:pt x="142240" y="995680"/>
                  </a:cubicBezTo>
                  <a:cubicBezTo>
                    <a:pt x="120650" y="979170"/>
                    <a:pt x="99060" y="961390"/>
                    <a:pt x="82550" y="939800"/>
                  </a:cubicBezTo>
                  <a:cubicBezTo>
                    <a:pt x="64770" y="919480"/>
                    <a:pt x="48260" y="896620"/>
                    <a:pt x="36830" y="872490"/>
                  </a:cubicBezTo>
                  <a:cubicBezTo>
                    <a:pt x="24130" y="848360"/>
                    <a:pt x="15240" y="821690"/>
                    <a:pt x="8890" y="795020"/>
                  </a:cubicBezTo>
                  <a:cubicBezTo>
                    <a:pt x="2540" y="768350"/>
                    <a:pt x="0" y="740410"/>
                    <a:pt x="0" y="713740"/>
                  </a:cubicBezTo>
                  <a:cubicBezTo>
                    <a:pt x="1270" y="687070"/>
                    <a:pt x="5080" y="659130"/>
                    <a:pt x="11430" y="632460"/>
                  </a:cubicBezTo>
                  <a:cubicBezTo>
                    <a:pt x="17780" y="607060"/>
                    <a:pt x="29210" y="580390"/>
                    <a:pt x="41910" y="556260"/>
                  </a:cubicBezTo>
                  <a:cubicBezTo>
                    <a:pt x="54610" y="533400"/>
                    <a:pt x="71120" y="510540"/>
                    <a:pt x="88900" y="490220"/>
                  </a:cubicBezTo>
                  <a:cubicBezTo>
                    <a:pt x="107950" y="469900"/>
                    <a:pt x="151130" y="436880"/>
                    <a:pt x="151130" y="436880"/>
                  </a:cubicBezTo>
                </a:path>
              </a:pathLst>
            </a:custGeom>
            <a:solidFill>
              <a:srgbClr val="FFFFFF"/>
            </a:solidFill>
            <a:ln cap="sq">
              <a:noFill/>
              <a:prstDash val="solid"/>
              <a:miter/>
            </a:ln>
          </p:spPr>
          <p:txBody>
            <a:bodyPr/>
            <a:lstStyle/>
            <a:p>
              <a:endParaRPr lang="pt-BR"/>
            </a:p>
          </p:txBody>
        </p:sp>
      </p:grpSp>
      <p:grpSp>
        <p:nvGrpSpPr>
          <p:cNvPr id="12" name="Group 12"/>
          <p:cNvGrpSpPr/>
          <p:nvPr/>
        </p:nvGrpSpPr>
        <p:grpSpPr>
          <a:xfrm>
            <a:off x="1887379" y="9249710"/>
            <a:ext cx="1185863" cy="772444"/>
            <a:chOff x="0" y="0"/>
            <a:chExt cx="1691640" cy="843280"/>
          </a:xfrm>
        </p:grpSpPr>
        <p:sp>
          <p:nvSpPr>
            <p:cNvPr id="13" name="Freeform 13"/>
            <p:cNvSpPr/>
            <p:nvPr/>
          </p:nvSpPr>
          <p:spPr>
            <a:xfrm>
              <a:off x="48260" y="44450"/>
              <a:ext cx="1592580" cy="765810"/>
            </a:xfrm>
            <a:custGeom>
              <a:avLst/>
              <a:gdLst/>
              <a:ahLst/>
              <a:cxnLst/>
              <a:rect l="l" t="t" r="r" b="b"/>
              <a:pathLst>
                <a:path w="1592580" h="765810">
                  <a:moveTo>
                    <a:pt x="1281430" y="669290"/>
                  </a:moveTo>
                  <a:cubicBezTo>
                    <a:pt x="698500" y="756920"/>
                    <a:pt x="594360" y="765810"/>
                    <a:pt x="476250" y="742950"/>
                  </a:cubicBezTo>
                  <a:cubicBezTo>
                    <a:pt x="345440" y="717550"/>
                    <a:pt x="140970" y="648970"/>
                    <a:pt x="72390" y="588010"/>
                  </a:cubicBezTo>
                  <a:cubicBezTo>
                    <a:pt x="36830" y="556260"/>
                    <a:pt x="31750" y="520700"/>
                    <a:pt x="19050" y="485140"/>
                  </a:cubicBezTo>
                  <a:cubicBezTo>
                    <a:pt x="7620" y="448310"/>
                    <a:pt x="1270" y="408940"/>
                    <a:pt x="2540" y="370840"/>
                  </a:cubicBezTo>
                  <a:cubicBezTo>
                    <a:pt x="2540" y="332740"/>
                    <a:pt x="10160" y="293370"/>
                    <a:pt x="22860" y="257810"/>
                  </a:cubicBezTo>
                  <a:cubicBezTo>
                    <a:pt x="35560" y="220980"/>
                    <a:pt x="54610" y="185420"/>
                    <a:pt x="77470" y="156210"/>
                  </a:cubicBezTo>
                  <a:cubicBezTo>
                    <a:pt x="101600" y="125730"/>
                    <a:pt x="130810" y="99060"/>
                    <a:pt x="162560" y="77470"/>
                  </a:cubicBezTo>
                  <a:cubicBezTo>
                    <a:pt x="194310" y="57150"/>
                    <a:pt x="231140" y="40640"/>
                    <a:pt x="267970" y="30480"/>
                  </a:cubicBezTo>
                  <a:cubicBezTo>
                    <a:pt x="304800" y="21590"/>
                    <a:pt x="345440" y="17780"/>
                    <a:pt x="382270" y="20320"/>
                  </a:cubicBezTo>
                  <a:cubicBezTo>
                    <a:pt x="420370" y="22860"/>
                    <a:pt x="459740" y="31750"/>
                    <a:pt x="495300" y="45720"/>
                  </a:cubicBezTo>
                  <a:cubicBezTo>
                    <a:pt x="529590" y="60960"/>
                    <a:pt x="565150" y="82550"/>
                    <a:pt x="593090" y="106680"/>
                  </a:cubicBezTo>
                  <a:cubicBezTo>
                    <a:pt x="622300" y="132080"/>
                    <a:pt x="647700" y="163830"/>
                    <a:pt x="666750" y="195580"/>
                  </a:cubicBezTo>
                  <a:cubicBezTo>
                    <a:pt x="685800" y="228600"/>
                    <a:pt x="699770" y="266700"/>
                    <a:pt x="707390" y="303530"/>
                  </a:cubicBezTo>
                  <a:cubicBezTo>
                    <a:pt x="715010" y="340360"/>
                    <a:pt x="717550" y="381000"/>
                    <a:pt x="712470" y="419100"/>
                  </a:cubicBezTo>
                  <a:cubicBezTo>
                    <a:pt x="707390" y="457200"/>
                    <a:pt x="697230" y="495300"/>
                    <a:pt x="680720" y="529590"/>
                  </a:cubicBezTo>
                  <a:cubicBezTo>
                    <a:pt x="664210" y="563880"/>
                    <a:pt x="640080" y="596900"/>
                    <a:pt x="614680" y="624840"/>
                  </a:cubicBezTo>
                  <a:cubicBezTo>
                    <a:pt x="588010" y="651510"/>
                    <a:pt x="554990" y="675640"/>
                    <a:pt x="521970" y="693420"/>
                  </a:cubicBezTo>
                  <a:cubicBezTo>
                    <a:pt x="487680" y="709930"/>
                    <a:pt x="449580" y="722630"/>
                    <a:pt x="411480" y="727710"/>
                  </a:cubicBezTo>
                  <a:cubicBezTo>
                    <a:pt x="374650" y="734060"/>
                    <a:pt x="334010" y="732790"/>
                    <a:pt x="295910" y="726440"/>
                  </a:cubicBezTo>
                  <a:cubicBezTo>
                    <a:pt x="259080" y="720090"/>
                    <a:pt x="220980" y="706120"/>
                    <a:pt x="187960" y="688340"/>
                  </a:cubicBezTo>
                  <a:cubicBezTo>
                    <a:pt x="153670" y="670560"/>
                    <a:pt x="121920" y="645160"/>
                    <a:pt x="96520" y="617220"/>
                  </a:cubicBezTo>
                  <a:cubicBezTo>
                    <a:pt x="71120" y="589280"/>
                    <a:pt x="48260" y="554990"/>
                    <a:pt x="33020" y="520700"/>
                  </a:cubicBezTo>
                  <a:cubicBezTo>
                    <a:pt x="17780" y="486410"/>
                    <a:pt x="7620" y="447040"/>
                    <a:pt x="3810" y="408940"/>
                  </a:cubicBezTo>
                  <a:cubicBezTo>
                    <a:pt x="0" y="372110"/>
                    <a:pt x="2540" y="331470"/>
                    <a:pt x="11430" y="294640"/>
                  </a:cubicBezTo>
                  <a:cubicBezTo>
                    <a:pt x="20320" y="257810"/>
                    <a:pt x="35560" y="219710"/>
                    <a:pt x="55880" y="187960"/>
                  </a:cubicBezTo>
                  <a:cubicBezTo>
                    <a:pt x="76200" y="154940"/>
                    <a:pt x="102870" y="124460"/>
                    <a:pt x="132080" y="100330"/>
                  </a:cubicBezTo>
                  <a:cubicBezTo>
                    <a:pt x="161290" y="76200"/>
                    <a:pt x="195580" y="55880"/>
                    <a:pt x="231140" y="43180"/>
                  </a:cubicBezTo>
                  <a:cubicBezTo>
                    <a:pt x="266700" y="29210"/>
                    <a:pt x="306070" y="21590"/>
                    <a:pt x="344170" y="19050"/>
                  </a:cubicBezTo>
                  <a:cubicBezTo>
                    <a:pt x="382270" y="17780"/>
                    <a:pt x="422910" y="22860"/>
                    <a:pt x="458470" y="33020"/>
                  </a:cubicBezTo>
                  <a:cubicBezTo>
                    <a:pt x="495300" y="44450"/>
                    <a:pt x="532130" y="62230"/>
                    <a:pt x="562610" y="83820"/>
                  </a:cubicBezTo>
                  <a:cubicBezTo>
                    <a:pt x="594360" y="105410"/>
                    <a:pt x="618490" y="165100"/>
                    <a:pt x="645160" y="163830"/>
                  </a:cubicBezTo>
                  <a:cubicBezTo>
                    <a:pt x="671830" y="162560"/>
                    <a:pt x="680720" y="102870"/>
                    <a:pt x="721360" y="80010"/>
                  </a:cubicBezTo>
                  <a:cubicBezTo>
                    <a:pt x="798830" y="36830"/>
                    <a:pt x="1017270" y="17780"/>
                    <a:pt x="1126490" y="7620"/>
                  </a:cubicBezTo>
                  <a:cubicBezTo>
                    <a:pt x="1201420" y="1270"/>
                    <a:pt x="1266190" y="0"/>
                    <a:pt x="1314450" y="6350"/>
                  </a:cubicBezTo>
                  <a:cubicBezTo>
                    <a:pt x="1346200" y="11430"/>
                    <a:pt x="1366520" y="19050"/>
                    <a:pt x="1391920" y="29210"/>
                  </a:cubicBezTo>
                  <a:cubicBezTo>
                    <a:pt x="1416050" y="40640"/>
                    <a:pt x="1440180" y="54610"/>
                    <a:pt x="1460500" y="69850"/>
                  </a:cubicBezTo>
                  <a:cubicBezTo>
                    <a:pt x="1482090" y="86360"/>
                    <a:pt x="1501140" y="105410"/>
                    <a:pt x="1518920" y="127000"/>
                  </a:cubicBezTo>
                  <a:cubicBezTo>
                    <a:pt x="1535430" y="147320"/>
                    <a:pt x="1549400" y="171450"/>
                    <a:pt x="1560830" y="195580"/>
                  </a:cubicBezTo>
                  <a:cubicBezTo>
                    <a:pt x="1572260" y="219710"/>
                    <a:pt x="1581150" y="246380"/>
                    <a:pt x="1586230" y="271780"/>
                  </a:cubicBezTo>
                  <a:cubicBezTo>
                    <a:pt x="1591310" y="298450"/>
                    <a:pt x="1592580" y="326390"/>
                    <a:pt x="1591310" y="353060"/>
                  </a:cubicBezTo>
                  <a:cubicBezTo>
                    <a:pt x="1590040" y="379730"/>
                    <a:pt x="1584960" y="406400"/>
                    <a:pt x="1577340" y="431800"/>
                  </a:cubicBezTo>
                  <a:cubicBezTo>
                    <a:pt x="1569720" y="457200"/>
                    <a:pt x="1559560" y="482600"/>
                    <a:pt x="1545590" y="505460"/>
                  </a:cubicBezTo>
                  <a:cubicBezTo>
                    <a:pt x="1531620" y="528320"/>
                    <a:pt x="1515110" y="551180"/>
                    <a:pt x="1496060" y="570230"/>
                  </a:cubicBezTo>
                  <a:cubicBezTo>
                    <a:pt x="1478280" y="589280"/>
                    <a:pt x="1456690" y="605790"/>
                    <a:pt x="1433830" y="619760"/>
                  </a:cubicBezTo>
                  <a:cubicBezTo>
                    <a:pt x="1410970" y="635000"/>
                    <a:pt x="1385570" y="646430"/>
                    <a:pt x="1360170" y="654050"/>
                  </a:cubicBezTo>
                  <a:cubicBezTo>
                    <a:pt x="1334770" y="662940"/>
                    <a:pt x="1281430" y="669290"/>
                    <a:pt x="1281430" y="669290"/>
                  </a:cubicBezTo>
                </a:path>
              </a:pathLst>
            </a:custGeom>
            <a:solidFill>
              <a:srgbClr val="FFFFFF"/>
            </a:solidFill>
            <a:ln cap="sq">
              <a:noFill/>
              <a:prstDash val="solid"/>
              <a:miter/>
            </a:ln>
          </p:spPr>
          <p:txBody>
            <a:bodyPr/>
            <a:lstStyle/>
            <a:p>
              <a:endParaRPr lang="pt-B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33491" y="1"/>
            <a:ext cx="17621018" cy="10287000"/>
          </a:xfrm>
          <a:custGeom>
            <a:avLst/>
            <a:gdLst/>
            <a:ahLst/>
            <a:cxnLst/>
            <a:rect l="l" t="t" r="r" b="b"/>
            <a:pathLst>
              <a:path w="17621018" h="17598991">
                <a:moveTo>
                  <a:pt x="0" y="0"/>
                </a:moveTo>
                <a:lnTo>
                  <a:pt x="17621018" y="0"/>
                </a:lnTo>
                <a:lnTo>
                  <a:pt x="17621018" y="17598991"/>
                </a:lnTo>
                <a:lnTo>
                  <a:pt x="0" y="17598991"/>
                </a:lnTo>
                <a:lnTo>
                  <a:pt x="0" y="0"/>
                </a:lnTo>
                <a:close/>
              </a:path>
            </a:pathLst>
          </a:custGeom>
          <a:blipFill>
            <a:blip r:embed="rId2"/>
            <a:stretch>
              <a:fillRect t="-31763" b="-39315"/>
            </a:stretch>
          </a:blipFill>
        </p:spPr>
        <p:txBody>
          <a:bodyPr/>
          <a:lstStyle/>
          <a:p>
            <a:endParaRPr lang="pt-BR"/>
          </a:p>
        </p:txBody>
      </p:sp>
      <p:sp>
        <p:nvSpPr>
          <p:cNvPr id="3" name="Freeform 3"/>
          <p:cNvSpPr/>
          <p:nvPr/>
        </p:nvSpPr>
        <p:spPr>
          <a:xfrm>
            <a:off x="11957147" y="320369"/>
            <a:ext cx="4693916" cy="4281243"/>
          </a:xfrm>
          <a:custGeom>
            <a:avLst/>
            <a:gdLst/>
            <a:ahLst/>
            <a:cxnLst/>
            <a:rect l="l" t="t" r="r" b="b"/>
            <a:pathLst>
              <a:path w="4693916" h="4281243">
                <a:moveTo>
                  <a:pt x="0" y="0"/>
                </a:moveTo>
                <a:lnTo>
                  <a:pt x="4693916" y="0"/>
                </a:lnTo>
                <a:lnTo>
                  <a:pt x="4693916" y="4281243"/>
                </a:lnTo>
                <a:lnTo>
                  <a:pt x="0" y="4281243"/>
                </a:lnTo>
                <a:lnTo>
                  <a:pt x="0" y="0"/>
                </a:lnTo>
                <a:close/>
              </a:path>
            </a:pathLst>
          </a:custGeom>
          <a:blipFill>
            <a:blip r:embed="rId3">
              <a:alphaModFix amt="47000"/>
              <a:extLst>
                <a:ext uri="{96DAC541-7B7A-43D3-8B79-37D633B846F1}">
                  <asvg:svgBlip xmlns:asvg="http://schemas.microsoft.com/office/drawing/2016/SVG/main" r:embed="rId4"/>
                </a:ext>
              </a:extLst>
            </a:blip>
            <a:stretch>
              <a:fillRect/>
            </a:stretch>
          </a:blipFill>
        </p:spPr>
        <p:txBody>
          <a:bodyPr/>
          <a:lstStyle/>
          <a:p>
            <a:endParaRPr lang="pt-BR"/>
          </a:p>
        </p:txBody>
      </p:sp>
      <p:sp>
        <p:nvSpPr>
          <p:cNvPr id="4" name="Freeform 4"/>
          <p:cNvSpPr/>
          <p:nvPr/>
        </p:nvSpPr>
        <p:spPr>
          <a:xfrm>
            <a:off x="11957147" y="6175921"/>
            <a:ext cx="5302153" cy="3804295"/>
          </a:xfrm>
          <a:custGeom>
            <a:avLst/>
            <a:gdLst/>
            <a:ahLst/>
            <a:cxnLst/>
            <a:rect l="l" t="t" r="r" b="b"/>
            <a:pathLst>
              <a:path w="5302153" h="3804295">
                <a:moveTo>
                  <a:pt x="0" y="0"/>
                </a:moveTo>
                <a:lnTo>
                  <a:pt x="5302153" y="0"/>
                </a:lnTo>
                <a:lnTo>
                  <a:pt x="5302153" y="3804295"/>
                </a:lnTo>
                <a:lnTo>
                  <a:pt x="0" y="3804295"/>
                </a:lnTo>
                <a:lnTo>
                  <a:pt x="0" y="0"/>
                </a:lnTo>
                <a:close/>
              </a:path>
            </a:pathLst>
          </a:custGeom>
          <a:blipFill>
            <a:blip r:embed="rId5">
              <a:alphaModFix amt="47000"/>
            </a:blip>
            <a:stretch>
              <a:fillRect/>
            </a:stretch>
          </a:blipFill>
        </p:spPr>
        <p:txBody>
          <a:bodyPr/>
          <a:lstStyle/>
          <a:p>
            <a:endParaRPr lang="pt-BR"/>
          </a:p>
        </p:txBody>
      </p:sp>
      <p:sp>
        <p:nvSpPr>
          <p:cNvPr id="5" name="TextBox 5"/>
          <p:cNvSpPr txBox="1"/>
          <p:nvPr/>
        </p:nvSpPr>
        <p:spPr>
          <a:xfrm>
            <a:off x="1028700" y="6302058"/>
            <a:ext cx="16356450" cy="4274820"/>
          </a:xfrm>
          <a:prstGeom prst="rect">
            <a:avLst/>
          </a:prstGeom>
        </p:spPr>
        <p:txBody>
          <a:bodyPr lIns="0" tIns="0" rIns="0" bIns="0" rtlCol="0" anchor="t">
            <a:spAutoFit/>
          </a:bodyPr>
          <a:lstStyle/>
          <a:p>
            <a:pPr algn="just">
              <a:lnSpc>
                <a:spcPts val="3779"/>
              </a:lnSpc>
            </a:pPr>
            <a:r>
              <a:rPr lang="en-US" sz="2700">
                <a:solidFill>
                  <a:srgbClr val="FFFFFF"/>
                </a:solidFill>
                <a:latin typeface="Moonjelly"/>
              </a:rPr>
              <a:t> A prototipagem é uma técnica que permite criar um modelo de um produto ou serviço antes de sua produção em larga escala. Ela é importante para identificar erros e pontos que podem ser melhorados antes do produto ser lançado, evitando o desperdício de tempo e dinheiro. A prototipagem também é importante para engajar as pessoas no processo de criação e para gerar valor ao cliente. </a:t>
            </a:r>
          </a:p>
          <a:p>
            <a:pPr algn="just">
              <a:lnSpc>
                <a:spcPts val="3779"/>
              </a:lnSpc>
            </a:pPr>
            <a:r>
              <a:rPr lang="en-US" sz="2700">
                <a:solidFill>
                  <a:srgbClr val="FFFFFF"/>
                </a:solidFill>
                <a:latin typeface="Moonjelly"/>
              </a:rPr>
              <a:t> No desenvolvimento de software, a prototipação é utilizada para verificar as funcionalidades de um sistema e para conferir se todos os recursos atendem aos requisitos estabelecidos, também é utilizada para analisar como todas as funcionalidades estão distribuídas, se a organização do layout está correta e se o sistema ofereceu uma boa experiência para o usuário.</a:t>
            </a:r>
          </a:p>
          <a:p>
            <a:pPr algn="just">
              <a:lnSpc>
                <a:spcPts val="3779"/>
              </a:lnSpc>
              <a:spcBef>
                <a:spcPct val="0"/>
              </a:spcBef>
            </a:pPr>
            <a:endParaRPr lang="en-US" sz="2700">
              <a:solidFill>
                <a:srgbClr val="FFFFFF"/>
              </a:solidFill>
              <a:latin typeface="Moonjelly"/>
            </a:endParaRPr>
          </a:p>
        </p:txBody>
      </p:sp>
      <p:sp>
        <p:nvSpPr>
          <p:cNvPr id="6" name="TextBox 6"/>
          <p:cNvSpPr txBox="1"/>
          <p:nvPr/>
        </p:nvSpPr>
        <p:spPr>
          <a:xfrm>
            <a:off x="1028700" y="219483"/>
            <a:ext cx="4502944" cy="1815307"/>
          </a:xfrm>
          <a:prstGeom prst="rect">
            <a:avLst/>
          </a:prstGeom>
        </p:spPr>
        <p:txBody>
          <a:bodyPr lIns="0" tIns="0" rIns="0" bIns="0" rtlCol="0" anchor="t">
            <a:spAutoFit/>
          </a:bodyPr>
          <a:lstStyle/>
          <a:p>
            <a:pPr algn="ctr">
              <a:lnSpc>
                <a:spcPts val="13343"/>
              </a:lnSpc>
              <a:spcBef>
                <a:spcPct val="0"/>
              </a:spcBef>
            </a:pPr>
            <a:r>
              <a:rPr lang="en-US" sz="9531" u="sng">
                <a:solidFill>
                  <a:srgbClr val="FFED00"/>
                </a:solidFill>
                <a:latin typeface="Balloon Small Caps Extra Bold"/>
              </a:rPr>
              <a:t>OBJETIVO</a:t>
            </a:r>
          </a:p>
        </p:txBody>
      </p:sp>
      <p:sp>
        <p:nvSpPr>
          <p:cNvPr id="7" name="TextBox 7"/>
          <p:cNvSpPr txBox="1"/>
          <p:nvPr/>
        </p:nvSpPr>
        <p:spPr>
          <a:xfrm>
            <a:off x="902850" y="1693466"/>
            <a:ext cx="16482301" cy="3322320"/>
          </a:xfrm>
          <a:prstGeom prst="rect">
            <a:avLst/>
          </a:prstGeom>
        </p:spPr>
        <p:txBody>
          <a:bodyPr lIns="0" tIns="0" rIns="0" bIns="0" rtlCol="0" anchor="t">
            <a:spAutoFit/>
          </a:bodyPr>
          <a:lstStyle/>
          <a:p>
            <a:pPr algn="just">
              <a:lnSpc>
                <a:spcPts val="3779"/>
              </a:lnSpc>
            </a:pPr>
            <a:r>
              <a:rPr lang="en-US" sz="2700">
                <a:solidFill>
                  <a:srgbClr val="FFFFFF"/>
                </a:solidFill>
                <a:latin typeface="Moonjelly"/>
              </a:rPr>
              <a:t>O principal objetivo da Prototipagem é transmitir a sua usabilidade e seu propósito. Relacionado a softwares principalmente, existe o conceito de MVP (Minimum Viable Product) que consiste em criar uma versão simples para testar funcionalidades do produto dentro de um ciclo incremental. </a:t>
            </a:r>
          </a:p>
          <a:p>
            <a:pPr algn="just">
              <a:lnSpc>
                <a:spcPts val="3779"/>
              </a:lnSpc>
            </a:pPr>
            <a:r>
              <a:rPr lang="en-US" sz="2700">
                <a:solidFill>
                  <a:srgbClr val="FFFFFF"/>
                </a:solidFill>
                <a:latin typeface="Moonjelly"/>
              </a:rPr>
              <a:t>Mas vale lembrar que a prototipagem não é relacionada apenas a softwares. A técnica pode ser utilizada para os mais diversos setores, como por exemplo na indústria AUTO-MOTIVA, construção civil, arquitetura, da moda, etc. </a:t>
            </a:r>
          </a:p>
          <a:p>
            <a:pPr algn="just">
              <a:lnSpc>
                <a:spcPts val="3779"/>
              </a:lnSpc>
              <a:spcBef>
                <a:spcPct val="0"/>
              </a:spcBef>
            </a:pPr>
            <a:endParaRPr lang="en-US" sz="2700">
              <a:solidFill>
                <a:srgbClr val="FFFFFF"/>
              </a:solidFill>
              <a:latin typeface="Moonjelly"/>
            </a:endParaRPr>
          </a:p>
        </p:txBody>
      </p:sp>
      <p:sp>
        <p:nvSpPr>
          <p:cNvPr id="8" name="TextBox 8"/>
          <p:cNvSpPr txBox="1"/>
          <p:nvPr/>
        </p:nvSpPr>
        <p:spPr>
          <a:xfrm>
            <a:off x="1209302" y="4772025"/>
            <a:ext cx="6520696" cy="1815307"/>
          </a:xfrm>
          <a:prstGeom prst="rect">
            <a:avLst/>
          </a:prstGeom>
        </p:spPr>
        <p:txBody>
          <a:bodyPr lIns="0" tIns="0" rIns="0" bIns="0" rtlCol="0" anchor="t">
            <a:spAutoFit/>
          </a:bodyPr>
          <a:lstStyle/>
          <a:p>
            <a:pPr algn="ctr">
              <a:lnSpc>
                <a:spcPts val="13343"/>
              </a:lnSpc>
              <a:spcBef>
                <a:spcPct val="0"/>
              </a:spcBef>
            </a:pPr>
            <a:r>
              <a:rPr lang="en-US" sz="9531" u="sng">
                <a:solidFill>
                  <a:srgbClr val="FFED00"/>
                </a:solidFill>
                <a:latin typeface="Balloon Small Caps Extra Bold"/>
              </a:rPr>
              <a:t>IMPORTÂNCIA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33491" y="1"/>
            <a:ext cx="17621018" cy="10287000"/>
          </a:xfrm>
          <a:custGeom>
            <a:avLst/>
            <a:gdLst/>
            <a:ahLst/>
            <a:cxnLst/>
            <a:rect l="l" t="t" r="r" b="b"/>
            <a:pathLst>
              <a:path w="17621018" h="17598991">
                <a:moveTo>
                  <a:pt x="0" y="0"/>
                </a:moveTo>
                <a:lnTo>
                  <a:pt x="17621018" y="0"/>
                </a:lnTo>
                <a:lnTo>
                  <a:pt x="17621018" y="17598991"/>
                </a:lnTo>
                <a:lnTo>
                  <a:pt x="0" y="17598991"/>
                </a:lnTo>
                <a:lnTo>
                  <a:pt x="0" y="0"/>
                </a:lnTo>
                <a:close/>
              </a:path>
            </a:pathLst>
          </a:custGeom>
          <a:blipFill>
            <a:blip r:embed="rId2"/>
            <a:stretch>
              <a:fillRect t="-31763" b="-39315"/>
            </a:stretch>
          </a:blipFill>
        </p:spPr>
        <p:txBody>
          <a:bodyPr/>
          <a:lstStyle/>
          <a:p>
            <a:endParaRPr lang="pt-BR"/>
          </a:p>
        </p:txBody>
      </p:sp>
      <p:sp>
        <p:nvSpPr>
          <p:cNvPr id="3" name="TextBox 3"/>
          <p:cNvSpPr txBox="1"/>
          <p:nvPr/>
        </p:nvSpPr>
        <p:spPr>
          <a:xfrm>
            <a:off x="6408390" y="-180647"/>
            <a:ext cx="6088410" cy="1602875"/>
          </a:xfrm>
          <a:prstGeom prst="rect">
            <a:avLst/>
          </a:prstGeom>
        </p:spPr>
        <p:txBody>
          <a:bodyPr wrap="square" lIns="0" tIns="0" rIns="0" bIns="0" rtlCol="0" anchor="t">
            <a:spAutoFit/>
          </a:bodyPr>
          <a:lstStyle/>
          <a:p>
            <a:pPr algn="ctr">
              <a:lnSpc>
                <a:spcPts val="13343"/>
              </a:lnSpc>
              <a:spcBef>
                <a:spcPct val="0"/>
              </a:spcBef>
            </a:pPr>
            <a:r>
              <a:rPr lang="en-US" sz="9531" u="sng" dirty="0">
                <a:solidFill>
                  <a:srgbClr val="FFED00"/>
                </a:solidFill>
                <a:latin typeface="Balloon Small Caps Extra Bold"/>
              </a:rPr>
              <a:t>BENEFÍCIOS</a:t>
            </a:r>
          </a:p>
        </p:txBody>
      </p:sp>
      <p:sp>
        <p:nvSpPr>
          <p:cNvPr id="4" name="Freeform 4"/>
          <p:cNvSpPr/>
          <p:nvPr/>
        </p:nvSpPr>
        <p:spPr>
          <a:xfrm>
            <a:off x="8942728" y="1357824"/>
            <a:ext cx="8218961" cy="7900476"/>
          </a:xfrm>
          <a:custGeom>
            <a:avLst/>
            <a:gdLst/>
            <a:ahLst/>
            <a:cxnLst/>
            <a:rect l="l" t="t" r="r" b="b"/>
            <a:pathLst>
              <a:path w="8218961" h="7900476">
                <a:moveTo>
                  <a:pt x="0" y="0"/>
                </a:moveTo>
                <a:lnTo>
                  <a:pt x="8218961" y="0"/>
                </a:lnTo>
                <a:lnTo>
                  <a:pt x="8218961" y="7900476"/>
                </a:lnTo>
                <a:lnTo>
                  <a:pt x="0" y="7900476"/>
                </a:lnTo>
                <a:lnTo>
                  <a:pt x="0" y="0"/>
                </a:lnTo>
                <a:close/>
              </a:path>
            </a:pathLst>
          </a:custGeom>
          <a:blipFill>
            <a:blip r:embed="rId3">
              <a:alphaModFix amt="36000"/>
              <a:extLst>
                <a:ext uri="{96DAC541-7B7A-43D3-8B79-37D633B846F1}">
                  <asvg:svgBlip xmlns:asvg="http://schemas.microsoft.com/office/drawing/2016/SVG/main" r:embed="rId4"/>
                </a:ext>
              </a:extLst>
            </a:blip>
            <a:stretch>
              <a:fillRect/>
            </a:stretch>
          </a:blipFill>
        </p:spPr>
        <p:txBody>
          <a:bodyPr/>
          <a:lstStyle/>
          <a:p>
            <a:endParaRPr lang="pt-BR"/>
          </a:p>
        </p:txBody>
      </p:sp>
      <p:sp>
        <p:nvSpPr>
          <p:cNvPr id="5" name="TextBox 5"/>
          <p:cNvSpPr txBox="1"/>
          <p:nvPr/>
        </p:nvSpPr>
        <p:spPr>
          <a:xfrm>
            <a:off x="1511581" y="1577509"/>
            <a:ext cx="15264839" cy="8561070"/>
          </a:xfrm>
          <a:prstGeom prst="rect">
            <a:avLst/>
          </a:prstGeom>
        </p:spPr>
        <p:txBody>
          <a:bodyPr lIns="0" tIns="0" rIns="0" bIns="0" rtlCol="0" anchor="t">
            <a:spAutoFit/>
          </a:bodyPr>
          <a:lstStyle/>
          <a:p>
            <a:pPr marL="582930" lvl="1" indent="-291465" algn="just">
              <a:lnSpc>
                <a:spcPts val="3779"/>
              </a:lnSpc>
              <a:buFont typeface="Arial"/>
              <a:buChar char="•"/>
            </a:pPr>
            <a:r>
              <a:rPr lang="en-US" sz="2700">
                <a:solidFill>
                  <a:srgbClr val="FDE403"/>
                </a:solidFill>
                <a:latin typeface="Moonjelly"/>
              </a:rPr>
              <a:t>Testar a Funcionalidade:</a:t>
            </a:r>
            <a:r>
              <a:rPr lang="en-US" sz="2700">
                <a:solidFill>
                  <a:srgbClr val="FFFFFF"/>
                </a:solidFill>
                <a:latin typeface="Moonjelly"/>
              </a:rPr>
              <a:t> Ter o produto pré-desenvolvido ajuda a conseguir atender os requisitos do cliente, permitindo obter a resposta para tais perguntas: O projeto está atendendo todas as funções desejadas? Funciona conforme planejado? Precisa de mudanças? Como elas podem ser feitas? </a:t>
            </a:r>
          </a:p>
          <a:p>
            <a:pPr algn="just">
              <a:lnSpc>
                <a:spcPts val="3779"/>
              </a:lnSpc>
            </a:pPr>
            <a:endParaRPr lang="en-US" sz="2700">
              <a:solidFill>
                <a:srgbClr val="FFFFFF"/>
              </a:solidFill>
              <a:latin typeface="Moonjelly"/>
            </a:endParaRPr>
          </a:p>
          <a:p>
            <a:pPr marL="582930" lvl="1" indent="-291465" algn="just">
              <a:lnSpc>
                <a:spcPts val="3779"/>
              </a:lnSpc>
              <a:buFont typeface="Arial"/>
              <a:buChar char="•"/>
            </a:pPr>
            <a:r>
              <a:rPr lang="en-US" sz="2700">
                <a:solidFill>
                  <a:srgbClr val="FDE403"/>
                </a:solidFill>
                <a:latin typeface="Moonjelly"/>
              </a:rPr>
              <a:t>Testar a Usabilidade: </a:t>
            </a:r>
            <a:r>
              <a:rPr lang="en-US" sz="2700">
                <a:solidFill>
                  <a:srgbClr val="FFFFFF"/>
                </a:solidFill>
                <a:latin typeface="Moonjelly"/>
              </a:rPr>
              <a:t>Através do protótipo é possível testar a ideia entre o usuário e o protótipo, entendendo se o produto funciona, se o software foi bem recebido\aderido e quais são os possíveis pontos de melhoria. </a:t>
            </a:r>
          </a:p>
          <a:p>
            <a:pPr algn="just">
              <a:lnSpc>
                <a:spcPts val="3779"/>
              </a:lnSpc>
            </a:pPr>
            <a:endParaRPr lang="en-US" sz="2700">
              <a:solidFill>
                <a:srgbClr val="FFFFFF"/>
              </a:solidFill>
              <a:latin typeface="Moonjelly"/>
            </a:endParaRPr>
          </a:p>
          <a:p>
            <a:pPr marL="582930" lvl="1" indent="-291465" algn="just">
              <a:lnSpc>
                <a:spcPts val="3779"/>
              </a:lnSpc>
              <a:buFont typeface="Arial"/>
              <a:buChar char="•"/>
            </a:pPr>
            <a:r>
              <a:rPr lang="en-US" sz="2700">
                <a:solidFill>
                  <a:srgbClr val="FDE403"/>
                </a:solidFill>
                <a:latin typeface="Moonjelly"/>
              </a:rPr>
              <a:t>Coleta de Feedback e interação com o cliente: </a:t>
            </a:r>
            <a:r>
              <a:rPr lang="en-US" sz="2700">
                <a:solidFill>
                  <a:srgbClr val="FFFFFF"/>
                </a:solidFill>
                <a:latin typeface="Moonjelly"/>
              </a:rPr>
              <a:t>Ao ouvir o público-alvo os feedbacks são mais concisos e construtivos, já que, através da experiência com o protótipo, é possível criar uma relação com o cliente para visualizar e entender melhor como o próprio deseja ter o software.  </a:t>
            </a:r>
          </a:p>
          <a:p>
            <a:pPr algn="just">
              <a:lnSpc>
                <a:spcPts val="3779"/>
              </a:lnSpc>
            </a:pPr>
            <a:endParaRPr lang="en-US" sz="2700">
              <a:solidFill>
                <a:srgbClr val="FFFFFF"/>
              </a:solidFill>
              <a:latin typeface="Moonjelly"/>
            </a:endParaRPr>
          </a:p>
          <a:p>
            <a:pPr marL="582930" lvl="1" indent="-291465" algn="just">
              <a:lnSpc>
                <a:spcPts val="3779"/>
              </a:lnSpc>
              <a:buFont typeface="Arial"/>
              <a:buChar char="•"/>
            </a:pPr>
            <a:r>
              <a:rPr lang="en-US" sz="2700">
                <a:solidFill>
                  <a:srgbClr val="FDE403"/>
                </a:solidFill>
                <a:latin typeface="Moonjelly"/>
              </a:rPr>
              <a:t>Redução de Custos:</a:t>
            </a:r>
            <a:r>
              <a:rPr lang="en-US" sz="2700">
                <a:solidFill>
                  <a:srgbClr val="FFFFFF"/>
                </a:solidFill>
                <a:latin typeface="Moonjelly"/>
              </a:rPr>
              <a:t> Investir em protótipos e investigar falhas é mais barato do que investir muito dinheiro em um produto final que não foi previamente testado, além da otimização do tempo.  </a:t>
            </a:r>
          </a:p>
          <a:p>
            <a:pPr algn="just">
              <a:lnSpc>
                <a:spcPts val="3779"/>
              </a:lnSpc>
            </a:pPr>
            <a:endParaRPr lang="en-US" sz="2700">
              <a:solidFill>
                <a:srgbClr val="FFFFFF"/>
              </a:solidFill>
              <a:latin typeface="Moonjelly"/>
            </a:endParaRPr>
          </a:p>
          <a:p>
            <a:pPr algn="just">
              <a:lnSpc>
                <a:spcPts val="3779"/>
              </a:lnSpc>
              <a:spcBef>
                <a:spcPct val="0"/>
              </a:spcBef>
            </a:pPr>
            <a:endParaRPr lang="en-US" sz="2700">
              <a:solidFill>
                <a:srgbClr val="FFFFFF"/>
              </a:solidFill>
              <a:latin typeface="Moonjelly"/>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3D534C94BE7ACC4B82DB0C57D8B917FB" ma:contentTypeVersion="5" ma:contentTypeDescription="Crie um novo documento." ma:contentTypeScope="" ma:versionID="62a2c0150b63379dfc6dc29281e4e6f5">
  <xsd:schema xmlns:xsd="http://www.w3.org/2001/XMLSchema" xmlns:xs="http://www.w3.org/2001/XMLSchema" xmlns:p="http://schemas.microsoft.com/office/2006/metadata/properties" xmlns:ns2="c71b2e08-5f48-4826-b3b9-729c518ea3db" targetNamespace="http://schemas.microsoft.com/office/2006/metadata/properties" ma:root="true" ma:fieldsID="e31b8c47eae556db8a51ed9dd6ca2eeb" ns2:_="">
    <xsd:import namespace="c71b2e08-5f48-4826-b3b9-729c518ea3db"/>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1b2e08-5f48-4826-b3b9-729c518ea3db"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B45B2D1-1CE8-4FA7-B20E-E208BD6E9A7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71b2e08-5f48-4826-b3b9-729c518ea3d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D226E4C-CBC9-4368-A1C8-2A5FC5947BB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13</TotalTime>
  <Words>1359</Words>
  <Application>Microsoft Office PowerPoint</Application>
  <PresentationFormat>Personalizados</PresentationFormat>
  <Paragraphs>62</Paragraphs>
  <Slides>10</Slides>
  <Notes>0</Notes>
  <HiddenSlides>0</HiddenSlides>
  <MMClips>0</MMClips>
  <ScaleCrop>false</ScaleCrop>
  <HeadingPairs>
    <vt:vector size="4" baseType="variant">
      <vt:variant>
        <vt:lpstr>Tema</vt:lpstr>
      </vt:variant>
      <vt:variant>
        <vt:i4>1</vt:i4>
      </vt:variant>
      <vt:variant>
        <vt:lpstr>Títulos dos diapositivos</vt:lpstr>
      </vt:variant>
      <vt:variant>
        <vt:i4>10</vt:i4>
      </vt:variant>
    </vt:vector>
  </HeadingPairs>
  <TitlesOfParts>
    <vt:vector size="11" baseType="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Prototipagem</dc:title>
  <cp:lastModifiedBy>Marina Estrela Palma</cp:lastModifiedBy>
  <cp:revision>11</cp:revision>
  <dcterms:created xsi:type="dcterms:W3CDTF">2006-08-16T00:00:00Z</dcterms:created>
  <dcterms:modified xsi:type="dcterms:W3CDTF">2024-03-26T23:59:16Z</dcterms:modified>
  <dc:identifier>DAGAcaoL0EQ</dc:identifier>
</cp:coreProperties>
</file>