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38"/>
    <p:sldId id="257" r:id="rId39"/>
    <p:sldId id="258" r:id="rId40"/>
    <p:sldId id="259" r:id="rId41"/>
    <p:sldId id="260" r:id="rId42"/>
    <p:sldId id="261" r:id="rId43"/>
    <p:sldId id="262" r:id="rId44"/>
    <p:sldId id="263" r:id="rId45"/>
    <p:sldId id="264" r:id="rId46"/>
    <p:sldId id="265" r:id="rId47"/>
  </p:sldIdLst>
  <p:sldSz cx="18288000" cy="10287000"/>
  <p:notesSz cx="6858000" cy="9144000"/>
  <p:embeddedFontLst>
    <p:embeddedFont>
      <p:font typeface="Oswald" charset="1" panose="00000500000000000000"/>
      <p:regular r:id="rId6"/>
    </p:embeddedFont>
    <p:embeddedFont>
      <p:font typeface="Oswald Bold" charset="1" panose="00000800000000000000"/>
      <p:regular r:id="rId7"/>
    </p:embeddedFont>
    <p:embeddedFont>
      <p:font typeface="Arimo" charset="1" panose="020B0604020202020204"/>
      <p:regular r:id="rId8"/>
    </p:embeddedFont>
    <p:embeddedFont>
      <p:font typeface="Arimo Bold" charset="1" panose="020B0704020202020204"/>
      <p:regular r:id="rId9"/>
    </p:embeddedFont>
    <p:embeddedFont>
      <p:font typeface="Arimo Italics" charset="1" panose="020B0604020202090204"/>
      <p:regular r:id="rId10"/>
    </p:embeddedFont>
    <p:embeddedFont>
      <p:font typeface="Arimo Bold Italics" charset="1" panose="020B0704020202090204"/>
      <p:regular r:id="rId11"/>
    </p:embeddedFont>
    <p:embeddedFont>
      <p:font typeface="Montserrat Light" charset="1" panose="00000400000000000000"/>
      <p:regular r:id="rId12"/>
    </p:embeddedFont>
    <p:embeddedFont>
      <p:font typeface="Montserrat Light Bold" charset="1" panose="00000800000000000000"/>
      <p:regular r:id="rId13"/>
    </p:embeddedFont>
    <p:embeddedFont>
      <p:font typeface="Montserrat Light Italics" charset="1" panose="00000400000000000000"/>
      <p:regular r:id="rId14"/>
    </p:embeddedFont>
    <p:embeddedFont>
      <p:font typeface="Montserrat Light Bold Italics" charset="1" panose="00000800000000000000"/>
      <p:regular r:id="rId15"/>
    </p:embeddedFont>
    <p:embeddedFont>
      <p:font typeface="DM Sans" charset="1" panose="00000000000000000000"/>
      <p:regular r:id="rId16"/>
    </p:embeddedFont>
    <p:embeddedFont>
      <p:font typeface="DM Sans Bold" charset="1" panose="00000000000000000000"/>
      <p:regular r:id="rId17"/>
    </p:embeddedFont>
    <p:embeddedFont>
      <p:font typeface="DM Sans Italics" charset="1" panose="00000000000000000000"/>
      <p:regular r:id="rId18"/>
    </p:embeddedFont>
    <p:embeddedFont>
      <p:font typeface="DM Sans Bold Italics" charset="1" panose="00000000000000000000"/>
      <p:regular r:id="rId19"/>
    </p:embeddedFont>
    <p:embeddedFont>
      <p:font typeface="Aleo" charset="1" panose="020F0502020204030203"/>
      <p:regular r:id="rId20"/>
    </p:embeddedFont>
    <p:embeddedFont>
      <p:font typeface="Aleo Bold" charset="1" panose="020F0802020204030203"/>
      <p:regular r:id="rId21"/>
    </p:embeddedFont>
    <p:embeddedFont>
      <p:font typeface="Aleo Italics" charset="1" panose="020F0502020204030203"/>
      <p:regular r:id="rId22"/>
    </p:embeddedFont>
    <p:embeddedFont>
      <p:font typeface="Aleo Bold Italics" charset="1" panose="020F0802020204030203"/>
      <p:regular r:id="rId23"/>
    </p:embeddedFont>
    <p:embeddedFont>
      <p:font typeface="Aleo Light" charset="1" panose="00000400000000000000"/>
      <p:regular r:id="rId24"/>
    </p:embeddedFont>
    <p:embeddedFont>
      <p:font typeface="Aleo Light Italics" charset="1" panose="00000400000000000000"/>
      <p:regular r:id="rId25"/>
    </p:embeddedFont>
    <p:embeddedFont>
      <p:font typeface="Open Sauce" charset="1" panose="00000500000000000000"/>
      <p:regular r:id="rId26"/>
    </p:embeddedFont>
    <p:embeddedFont>
      <p:font typeface="Open Sauce Bold" charset="1" panose="00000800000000000000"/>
      <p:regular r:id="rId27"/>
    </p:embeddedFont>
    <p:embeddedFont>
      <p:font typeface="Open Sauce Italics" charset="1" panose="00000500000000000000"/>
      <p:regular r:id="rId28"/>
    </p:embeddedFont>
    <p:embeddedFont>
      <p:font typeface="Open Sauce Bold Italics" charset="1" panose="00000800000000000000"/>
      <p:regular r:id="rId29"/>
    </p:embeddedFont>
    <p:embeddedFont>
      <p:font typeface="Open Sauce Light" charset="1" panose="00000400000000000000"/>
      <p:regular r:id="rId30"/>
    </p:embeddedFont>
    <p:embeddedFont>
      <p:font typeface="Open Sauce Light Italics" charset="1" panose="00000400000000000000"/>
      <p:regular r:id="rId31"/>
    </p:embeddedFont>
    <p:embeddedFont>
      <p:font typeface="Open Sauce Medium" charset="1" panose="00000600000000000000"/>
      <p:regular r:id="rId32"/>
    </p:embeddedFont>
    <p:embeddedFont>
      <p:font typeface="Open Sauce Medium Italics" charset="1" panose="00000600000000000000"/>
      <p:regular r:id="rId33"/>
    </p:embeddedFont>
    <p:embeddedFont>
      <p:font typeface="Open Sauce Semi-Bold" charset="1" panose="00000700000000000000"/>
      <p:regular r:id="rId34"/>
    </p:embeddedFont>
    <p:embeddedFont>
      <p:font typeface="Open Sauce Semi-Bold Italics" charset="1" panose="00000700000000000000"/>
      <p:regular r:id="rId35"/>
    </p:embeddedFont>
    <p:embeddedFont>
      <p:font typeface="Open Sauce Heavy" charset="1" panose="00000A00000000000000"/>
      <p:regular r:id="rId36"/>
    </p:embeddedFont>
    <p:embeddedFont>
      <p:font typeface="Open Sauce Heavy Italics" charset="1" panose="00000A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3.fntdata"/><Relationship Id="rId18" Type="http://schemas.openxmlformats.org/officeDocument/2006/relationships/font" Target="fonts/font18.fntdata"/><Relationship Id="rId26" Type="http://schemas.openxmlformats.org/officeDocument/2006/relationships/font" Target="fonts/font26.fntdata"/><Relationship Id="rId39" Type="http://schemas.openxmlformats.org/officeDocument/2006/relationships/slide" Target="slides/slide2.xml"/><Relationship Id="rId21" Type="http://schemas.openxmlformats.org/officeDocument/2006/relationships/font" Target="fonts/font21.fntdata"/><Relationship Id="rId34" Type="http://schemas.openxmlformats.org/officeDocument/2006/relationships/font" Target="fonts/font34.fntdata"/><Relationship Id="rId42" Type="http://schemas.openxmlformats.org/officeDocument/2006/relationships/slide" Target="slides/slide5.xml"/><Relationship Id="rId47" Type="http://schemas.openxmlformats.org/officeDocument/2006/relationships/slide" Target="slides/slide10.xml"/><Relationship Id="rId7" Type="http://schemas.openxmlformats.org/officeDocument/2006/relationships/font" Target="fonts/font7.fntdata"/><Relationship Id="rId16" Type="http://schemas.openxmlformats.org/officeDocument/2006/relationships/font" Target="fonts/font16.fntdata"/><Relationship Id="rId2" Type="http://schemas.openxmlformats.org/officeDocument/2006/relationships/presProps" Target="presProps.xml"/><Relationship Id="rId29" Type="http://schemas.openxmlformats.org/officeDocument/2006/relationships/font" Target="fonts/font29.fntdata"/><Relationship Id="rId11" Type="http://schemas.openxmlformats.org/officeDocument/2006/relationships/font" Target="fonts/font11.fntdata"/><Relationship Id="rId24" Type="http://schemas.openxmlformats.org/officeDocument/2006/relationships/font" Target="fonts/font24.fntdata"/><Relationship Id="rId32" Type="http://schemas.openxmlformats.org/officeDocument/2006/relationships/font" Target="fonts/font32.fntdata"/><Relationship Id="rId37" Type="http://schemas.openxmlformats.org/officeDocument/2006/relationships/font" Target="fonts/font37.fntdata"/><Relationship Id="rId40" Type="http://schemas.openxmlformats.org/officeDocument/2006/relationships/slide" Target="slides/slide3.xml"/><Relationship Id="rId45" Type="http://schemas.openxmlformats.org/officeDocument/2006/relationships/slide" Target="slides/slide8.xml"/><Relationship Id="rId15" Type="http://schemas.openxmlformats.org/officeDocument/2006/relationships/font" Target="fonts/font15.fntdata"/><Relationship Id="rId23" Type="http://schemas.openxmlformats.org/officeDocument/2006/relationships/font" Target="fonts/font23.fntdata"/><Relationship Id="rId28" Type="http://schemas.openxmlformats.org/officeDocument/2006/relationships/font" Target="fonts/font28.fntdata"/><Relationship Id="rId36" Type="http://schemas.openxmlformats.org/officeDocument/2006/relationships/font" Target="fonts/font36.fntdata"/><Relationship Id="rId5" Type="http://schemas.openxmlformats.org/officeDocument/2006/relationships/tableStyles" Target="tableStyles.xml"/><Relationship Id="rId49" Type="http://schemas.openxmlformats.org/officeDocument/2006/relationships/customXml" Target="../customXml/item2.xml"/><Relationship Id="rId10" Type="http://schemas.openxmlformats.org/officeDocument/2006/relationships/font" Target="fonts/font10.fntdata"/><Relationship Id="rId19" Type="http://schemas.openxmlformats.org/officeDocument/2006/relationships/font" Target="fonts/font19.fntdata"/><Relationship Id="rId31" Type="http://schemas.openxmlformats.org/officeDocument/2006/relationships/font" Target="fonts/font31.fntdata"/><Relationship Id="rId44" Type="http://schemas.openxmlformats.org/officeDocument/2006/relationships/slide" Target="slides/slide7.xml"/><Relationship Id="rId14" Type="http://schemas.openxmlformats.org/officeDocument/2006/relationships/font" Target="fonts/font14.fntdata"/><Relationship Id="rId22" Type="http://schemas.openxmlformats.org/officeDocument/2006/relationships/font" Target="fonts/font22.fntdata"/><Relationship Id="rId27" Type="http://schemas.openxmlformats.org/officeDocument/2006/relationships/font" Target="fonts/font27.fntdata"/><Relationship Id="rId30" Type="http://schemas.openxmlformats.org/officeDocument/2006/relationships/font" Target="fonts/font30.fntdata"/><Relationship Id="rId35" Type="http://schemas.openxmlformats.org/officeDocument/2006/relationships/font" Target="fonts/font35.fntdata"/><Relationship Id="rId4" Type="http://schemas.openxmlformats.org/officeDocument/2006/relationships/theme" Target="theme/theme1.xml"/><Relationship Id="rId43" Type="http://schemas.openxmlformats.org/officeDocument/2006/relationships/slide" Target="slides/slide6.xml"/><Relationship Id="rId9" Type="http://schemas.openxmlformats.org/officeDocument/2006/relationships/font" Target="fonts/font9.fntdata"/><Relationship Id="rId48" Type="http://schemas.openxmlformats.org/officeDocument/2006/relationships/customXml" Target="../customXml/item1.xml"/><Relationship Id="rId8" Type="http://schemas.openxmlformats.org/officeDocument/2006/relationships/font" Target="fonts/font8.fntdata"/><Relationship Id="rId3" Type="http://schemas.openxmlformats.org/officeDocument/2006/relationships/viewProps" Target="viewProps.xml"/><Relationship Id="rId12" Type="http://schemas.openxmlformats.org/officeDocument/2006/relationships/font" Target="fonts/font12.fntdata"/><Relationship Id="rId17" Type="http://schemas.openxmlformats.org/officeDocument/2006/relationships/font" Target="fonts/font17.fntdata"/><Relationship Id="rId25" Type="http://schemas.openxmlformats.org/officeDocument/2006/relationships/font" Target="fonts/font25.fntdata"/><Relationship Id="rId33" Type="http://schemas.openxmlformats.org/officeDocument/2006/relationships/font" Target="fonts/font33.fntdata"/><Relationship Id="rId38" Type="http://schemas.openxmlformats.org/officeDocument/2006/relationships/slide" Target="slides/slide1.xml"/><Relationship Id="rId46" Type="http://schemas.openxmlformats.org/officeDocument/2006/relationships/slide" Target="slides/slide9.xml"/><Relationship Id="rId20" Type="http://schemas.openxmlformats.org/officeDocument/2006/relationships/font" Target="fonts/font20.fntdata"/><Relationship Id="rId41" Type="http://schemas.openxmlformats.org/officeDocument/2006/relationships/slide" Target="slides/slide4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6.fntdata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svg" Type="http://schemas.openxmlformats.org/officeDocument/2006/relationships/image"/><Relationship Id="rId11" Target="../media/image42.png" Type="http://schemas.openxmlformats.org/officeDocument/2006/relationships/image"/><Relationship Id="rId12" Target="../media/image43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4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59121">
            <a:off x="15091031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58071" y="-4629150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236347" y="3202251"/>
            <a:ext cx="9815307" cy="4208864"/>
            <a:chOff x="0" y="0"/>
            <a:chExt cx="1895495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5495" cy="812800"/>
            </a:xfrm>
            <a:custGeom>
              <a:avLst/>
              <a:gdLst/>
              <a:ahLst/>
              <a:cxnLst/>
              <a:rect r="r" b="b" t="t" l="l"/>
              <a:pathLst>
                <a:path h="812800" w="1895495">
                  <a:moveTo>
                    <a:pt x="0" y="0"/>
                  </a:moveTo>
                  <a:lnTo>
                    <a:pt x="1895495" y="0"/>
                  </a:lnTo>
                  <a:lnTo>
                    <a:pt x="18954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95495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797646" y="0"/>
            <a:ext cx="1490354" cy="1105572"/>
          </a:xfrm>
          <a:custGeom>
            <a:avLst/>
            <a:gdLst/>
            <a:ahLst/>
            <a:cxnLst/>
            <a:rect r="r" b="b" t="t" l="l"/>
            <a:pathLst>
              <a:path h="1105572" w="1490354">
                <a:moveTo>
                  <a:pt x="0" y="0"/>
                </a:moveTo>
                <a:lnTo>
                  <a:pt x="1490354" y="0"/>
                </a:lnTo>
                <a:lnTo>
                  <a:pt x="1490354" y="1105572"/>
                </a:lnTo>
                <a:lnTo>
                  <a:pt x="0" y="1105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36347" y="2926026"/>
            <a:ext cx="9815307" cy="276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84"/>
              </a:lnSpc>
            </a:pPr>
            <a:r>
              <a:rPr lang="en-US" sz="16437" spc="1610">
                <a:solidFill>
                  <a:srgbClr val="000000"/>
                </a:solidFill>
                <a:latin typeface="Oswald Bold"/>
              </a:rPr>
              <a:t>RAD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36347" y="5479432"/>
            <a:ext cx="9815307" cy="1634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4"/>
              </a:lnSpc>
            </a:pPr>
            <a:r>
              <a:rPr lang="en-US" sz="4763" spc="466">
                <a:solidFill>
                  <a:srgbClr val="000000"/>
                </a:solidFill>
                <a:latin typeface="Oswald Bold"/>
              </a:rPr>
              <a:t>DESENVOLVIMENTO RÁPIDO DE APLICAÇÕES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93574" y="7575213"/>
            <a:ext cx="6863602" cy="2711787"/>
            <a:chOff x="0" y="0"/>
            <a:chExt cx="9151469" cy="361571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9151469" cy="740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92"/>
                </a:lnSpc>
              </a:pPr>
              <a:r>
                <a:rPr lang="en-US" sz="3660" spc="54">
                  <a:solidFill>
                    <a:srgbClr val="000000"/>
                  </a:solidFill>
                  <a:latin typeface="Aleo Bold Italics"/>
                </a:rPr>
                <a:t>NOMES: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814276"/>
              <a:ext cx="9151469" cy="2801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6"/>
                </a:lnSpc>
              </a:pPr>
              <a:r>
                <a:rPr lang="en-US" sz="2091">
                  <a:solidFill>
                    <a:srgbClr val="000000"/>
                  </a:solidFill>
                  <a:latin typeface="Montserrat Light"/>
                </a:rPr>
                <a:t> JU</a:t>
              </a:r>
              <a:r>
                <a:rPr lang="en-US" sz="2091">
                  <a:solidFill>
                    <a:srgbClr val="000000"/>
                  </a:solidFill>
                  <a:latin typeface="Montserrat Light"/>
                </a:rPr>
                <a:t>LIA MATTOS FERREIRA</a:t>
              </a:r>
            </a:p>
            <a:p>
              <a:pPr algn="l">
                <a:lnSpc>
                  <a:spcPts val="2886"/>
                </a:lnSpc>
              </a:pPr>
              <a:r>
                <a:rPr lang="en-US" sz="2091">
                  <a:solidFill>
                    <a:srgbClr val="000000"/>
                  </a:solidFill>
                  <a:latin typeface="Montserrat Light"/>
                </a:rPr>
                <a:t> KAIO DE OLIVEIRA MONTEIRO</a:t>
              </a:r>
            </a:p>
            <a:p>
              <a:pPr algn="l">
                <a:lnSpc>
                  <a:spcPts val="2886"/>
                </a:lnSpc>
              </a:pPr>
              <a:r>
                <a:rPr lang="en-US" sz="2091">
                  <a:solidFill>
                    <a:srgbClr val="000000"/>
                  </a:solidFill>
                  <a:latin typeface="Montserrat Light"/>
                </a:rPr>
                <a:t> KAMILA APARECIDA DA SILVA MORAIS</a:t>
              </a:r>
            </a:p>
            <a:p>
              <a:pPr algn="l">
                <a:lnSpc>
                  <a:spcPts val="2886"/>
                </a:lnSpc>
              </a:pPr>
              <a:r>
                <a:rPr lang="en-US" sz="2091">
                  <a:solidFill>
                    <a:srgbClr val="000000"/>
                  </a:solidFill>
                  <a:latin typeface="Montserrat Light"/>
                </a:rPr>
                <a:t> KAUA MOTA SANTOS</a:t>
              </a:r>
            </a:p>
            <a:p>
              <a:pPr algn="l">
                <a:lnSpc>
                  <a:spcPts val="2886"/>
                </a:lnSpc>
              </a:pPr>
              <a:r>
                <a:rPr lang="en-US" sz="2091">
                  <a:solidFill>
                    <a:srgbClr val="000000"/>
                  </a:solidFill>
                  <a:latin typeface="Montserrat Light"/>
                </a:rPr>
                <a:t> KEVIN SANTOS LEAO</a:t>
              </a:r>
            </a:p>
            <a:p>
              <a:pPr algn="l">
                <a:lnSpc>
                  <a:spcPts val="2886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62994" y="337474"/>
            <a:ext cx="4296549" cy="9570246"/>
            <a:chOff x="0" y="0"/>
            <a:chExt cx="1131601" cy="25205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31601" cy="2520559"/>
            </a:xfrm>
            <a:custGeom>
              <a:avLst/>
              <a:gdLst/>
              <a:ahLst/>
              <a:cxnLst/>
              <a:rect r="r" b="b" t="t" l="l"/>
              <a:pathLst>
                <a:path h="2520559" w="1131601">
                  <a:moveTo>
                    <a:pt x="0" y="0"/>
                  </a:moveTo>
                  <a:lnTo>
                    <a:pt x="1131601" y="0"/>
                  </a:lnTo>
                  <a:lnTo>
                    <a:pt x="1131601" y="2520559"/>
                  </a:lnTo>
                  <a:lnTo>
                    <a:pt x="0" y="2520559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131601" cy="2539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142191" y="4828880"/>
            <a:ext cx="9752965" cy="1032847"/>
          </a:xfrm>
          <a:custGeom>
            <a:avLst/>
            <a:gdLst/>
            <a:ahLst/>
            <a:cxnLst/>
            <a:rect r="r" b="b" t="t" l="l"/>
            <a:pathLst>
              <a:path h="1032847" w="9752965">
                <a:moveTo>
                  <a:pt x="0" y="0"/>
                </a:moveTo>
                <a:lnTo>
                  <a:pt x="9752965" y="0"/>
                </a:lnTo>
                <a:lnTo>
                  <a:pt x="9752965" y="1032847"/>
                </a:lnTo>
                <a:lnTo>
                  <a:pt x="0" y="10328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58785" y="1049603"/>
            <a:ext cx="6176060" cy="8208697"/>
          </a:xfrm>
          <a:custGeom>
            <a:avLst/>
            <a:gdLst/>
            <a:ahLst/>
            <a:cxnLst/>
            <a:rect r="r" b="b" t="t" l="l"/>
            <a:pathLst>
              <a:path h="8208697" w="6176060">
                <a:moveTo>
                  <a:pt x="0" y="0"/>
                </a:moveTo>
                <a:lnTo>
                  <a:pt x="6176060" y="0"/>
                </a:lnTo>
                <a:lnTo>
                  <a:pt x="6176060" y="8208697"/>
                </a:lnTo>
                <a:lnTo>
                  <a:pt x="0" y="8208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746" t="0" r="-49746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42191" y="7210022"/>
            <a:ext cx="9752965" cy="1032847"/>
          </a:xfrm>
          <a:custGeom>
            <a:avLst/>
            <a:gdLst/>
            <a:ahLst/>
            <a:cxnLst/>
            <a:rect r="r" b="b" t="t" l="l"/>
            <a:pathLst>
              <a:path h="1032847" w="9752965">
                <a:moveTo>
                  <a:pt x="0" y="0"/>
                </a:moveTo>
                <a:lnTo>
                  <a:pt x="9752965" y="0"/>
                </a:lnTo>
                <a:lnTo>
                  <a:pt x="9752965" y="1032847"/>
                </a:lnTo>
                <a:lnTo>
                  <a:pt x="0" y="10328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779578" y="734131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42191" y="907655"/>
            <a:ext cx="7416941" cy="151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2419"/>
              </a:lnSpc>
            </a:pPr>
            <a:r>
              <a:rPr lang="en-US" sz="9000" spc="44">
                <a:solidFill>
                  <a:srgbClr val="000000"/>
                </a:solidFill>
                <a:latin typeface="Oswald Bold"/>
              </a:rPr>
              <a:t>O MODELO RAD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735493" y="3026751"/>
            <a:ext cx="10159663" cy="2095846"/>
            <a:chOff x="0" y="0"/>
            <a:chExt cx="13546217" cy="27944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3546217" cy="2794461"/>
              <a:chOff x="0" y="0"/>
              <a:chExt cx="3682024" cy="75956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682024" cy="759568"/>
              </a:xfrm>
              <a:custGeom>
                <a:avLst/>
                <a:gdLst/>
                <a:ahLst/>
                <a:cxnLst/>
                <a:rect r="r" b="b" t="t" l="l"/>
                <a:pathLst>
                  <a:path h="759568" w="3682024">
                    <a:moveTo>
                      <a:pt x="0" y="0"/>
                    </a:moveTo>
                    <a:lnTo>
                      <a:pt x="3682024" y="0"/>
                    </a:lnTo>
                    <a:lnTo>
                      <a:pt x="3682024" y="759568"/>
                    </a:lnTo>
                    <a:lnTo>
                      <a:pt x="0" y="759568"/>
                    </a:lnTo>
                    <a:close/>
                  </a:path>
                </a:pathLst>
              </a:custGeom>
              <a:solidFill>
                <a:srgbClr val="EFEFE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3682024" cy="769093"/>
              </a:xfrm>
              <a:prstGeom prst="rect">
                <a:avLst/>
              </a:prstGeom>
            </p:spPr>
            <p:txBody>
              <a:bodyPr anchor="ctr" rtlCol="false" tIns="53705" lIns="53705" bIns="53705" rIns="53705"/>
              <a:lstStyle/>
              <a:p>
                <a:pPr algn="ctr">
                  <a:lnSpc>
                    <a:spcPts val="28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323653" y="548041"/>
              <a:ext cx="1651207" cy="1651207"/>
            </a:xfrm>
            <a:custGeom>
              <a:avLst/>
              <a:gdLst/>
              <a:ahLst/>
              <a:cxnLst/>
              <a:rect r="r" b="b" t="t" l="l"/>
              <a:pathLst>
                <a:path h="1651207" w="1651207">
                  <a:moveTo>
                    <a:pt x="0" y="0"/>
                  </a:moveTo>
                  <a:lnTo>
                    <a:pt x="1651207" y="0"/>
                  </a:lnTo>
                  <a:lnTo>
                    <a:pt x="1651207" y="1651206"/>
                  </a:lnTo>
                  <a:lnTo>
                    <a:pt x="0" y="1651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2275334" y="180403"/>
              <a:ext cx="10793999" cy="2395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2"/>
                </a:lnSpc>
                <a:spcBef>
                  <a:spcPct val="0"/>
                </a:spcBef>
              </a:pPr>
              <a:r>
                <a:rPr lang="en-US" sz="2081" spc="203">
                  <a:solidFill>
                    <a:srgbClr val="000000"/>
                  </a:solidFill>
                  <a:latin typeface="Open Sauce"/>
                </a:rPr>
                <a:t>O modelo RAD é tipicamente um modelo incremental, no qual vários desenvolvimentos de pequenos e pequenos pedaços são escolhidos e desenvolvidos simultaneamente para obter uma imagem maior.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92572" y="5861727"/>
            <a:ext cx="10231123" cy="2074959"/>
            <a:chOff x="0" y="0"/>
            <a:chExt cx="13641498" cy="276661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3641498" cy="2766612"/>
              <a:chOff x="0" y="0"/>
              <a:chExt cx="3682024" cy="74674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682024" cy="746746"/>
              </a:xfrm>
              <a:custGeom>
                <a:avLst/>
                <a:gdLst/>
                <a:ahLst/>
                <a:cxnLst/>
                <a:rect r="r" b="b" t="t" l="l"/>
                <a:pathLst>
                  <a:path h="746746" w="3682024">
                    <a:moveTo>
                      <a:pt x="0" y="0"/>
                    </a:moveTo>
                    <a:lnTo>
                      <a:pt x="3682024" y="0"/>
                    </a:lnTo>
                    <a:lnTo>
                      <a:pt x="3682024" y="746746"/>
                    </a:lnTo>
                    <a:lnTo>
                      <a:pt x="0" y="746746"/>
                    </a:lnTo>
                    <a:close/>
                  </a:path>
                </a:pathLst>
              </a:custGeom>
              <a:solidFill>
                <a:srgbClr val="EFEFE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3682024" cy="7562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60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224491" y="546690"/>
              <a:ext cx="1662821" cy="1687364"/>
            </a:xfrm>
            <a:custGeom>
              <a:avLst/>
              <a:gdLst/>
              <a:ahLst/>
              <a:cxnLst/>
              <a:rect r="r" b="b" t="t" l="l"/>
              <a:pathLst>
                <a:path h="1687364" w="1662821">
                  <a:moveTo>
                    <a:pt x="0" y="0"/>
                  </a:moveTo>
                  <a:lnTo>
                    <a:pt x="1662821" y="0"/>
                  </a:lnTo>
                  <a:lnTo>
                    <a:pt x="1662821" y="1687364"/>
                  </a:lnTo>
                  <a:lnTo>
                    <a:pt x="0" y="1687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2189899" y="508590"/>
              <a:ext cx="10869922" cy="19245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92"/>
                </a:lnSpc>
                <a:spcBef>
                  <a:spcPct val="0"/>
                </a:spcBef>
              </a:pPr>
              <a:r>
                <a:rPr lang="en-US" sz="2096" spc="205">
                  <a:solidFill>
                    <a:srgbClr val="000000"/>
                  </a:solidFill>
                  <a:latin typeface="Open Sauce"/>
                </a:rPr>
                <a:t> Além disso, o modelo incremental é processado no qual os principais recursos a serem desenvolvidos são divididos em blocos menores e viáveis. Esses pedaços são então desenvolvidos individualmente.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163000" y="3442596"/>
            <a:ext cx="4473739" cy="689722"/>
            <a:chOff x="0" y="0"/>
            <a:chExt cx="1178269" cy="1816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8269" cy="181655"/>
            </a:xfrm>
            <a:custGeom>
              <a:avLst/>
              <a:gdLst/>
              <a:ahLst/>
              <a:cxnLst/>
              <a:rect r="r" b="b" t="t" l="l"/>
              <a:pathLst>
                <a:path h="181655" w="1178269">
                  <a:moveTo>
                    <a:pt x="0" y="0"/>
                  </a:moveTo>
                  <a:lnTo>
                    <a:pt x="1178269" y="0"/>
                  </a:lnTo>
                  <a:lnTo>
                    <a:pt x="1178269" y="181655"/>
                  </a:lnTo>
                  <a:lnTo>
                    <a:pt x="0" y="181655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78269" cy="238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>
                  <a:solidFill>
                    <a:srgbClr val="FFFFFF"/>
                  </a:solidFill>
                  <a:latin typeface="Open Sauce Italics"/>
                </a:rPr>
                <a:t>Vantagens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93475" y="3510391"/>
            <a:ext cx="9034431" cy="2808103"/>
            <a:chOff x="0" y="0"/>
            <a:chExt cx="1744696" cy="5422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4696" cy="542290"/>
            </a:xfrm>
            <a:custGeom>
              <a:avLst/>
              <a:gdLst/>
              <a:ahLst/>
              <a:cxnLst/>
              <a:rect r="r" b="b" t="t" l="l"/>
              <a:pathLst>
                <a:path h="542290" w="1744696">
                  <a:moveTo>
                    <a:pt x="0" y="0"/>
                  </a:moveTo>
                  <a:lnTo>
                    <a:pt x="1744696" y="0"/>
                  </a:lnTo>
                  <a:lnTo>
                    <a:pt x="1744696" y="542290"/>
                  </a:lnTo>
                  <a:lnTo>
                    <a:pt x="0" y="542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744696" cy="56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74979" indent="-237490" lvl="1">
                <a:lnSpc>
                  <a:spcPts val="2859"/>
                </a:lnSpc>
                <a:buAutoNum type="arabicPeriod" startAt="1"/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10691" y="6504266"/>
            <a:ext cx="4473739" cy="689722"/>
            <a:chOff x="0" y="0"/>
            <a:chExt cx="1178269" cy="1816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8269" cy="181655"/>
            </a:xfrm>
            <a:custGeom>
              <a:avLst/>
              <a:gdLst/>
              <a:ahLst/>
              <a:cxnLst/>
              <a:rect r="r" b="b" t="t" l="l"/>
              <a:pathLst>
                <a:path h="181655" w="1178269">
                  <a:moveTo>
                    <a:pt x="0" y="0"/>
                  </a:moveTo>
                  <a:lnTo>
                    <a:pt x="1178269" y="0"/>
                  </a:lnTo>
                  <a:lnTo>
                    <a:pt x="1178269" y="181655"/>
                  </a:lnTo>
                  <a:lnTo>
                    <a:pt x="0" y="181655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178269" cy="238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>
                  <a:solidFill>
                    <a:srgbClr val="FFFFFF"/>
                  </a:solidFill>
                  <a:latin typeface="Open Sauce Italics"/>
                </a:rPr>
                <a:t>Desvantagens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79166" y="6572062"/>
            <a:ext cx="9034431" cy="2808103"/>
            <a:chOff x="0" y="0"/>
            <a:chExt cx="1744696" cy="5422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44696" cy="542290"/>
            </a:xfrm>
            <a:custGeom>
              <a:avLst/>
              <a:gdLst/>
              <a:ahLst/>
              <a:cxnLst/>
              <a:rect r="r" b="b" t="t" l="l"/>
              <a:pathLst>
                <a:path h="542290" w="1744696">
                  <a:moveTo>
                    <a:pt x="0" y="0"/>
                  </a:moveTo>
                  <a:lnTo>
                    <a:pt x="1744696" y="0"/>
                  </a:lnTo>
                  <a:lnTo>
                    <a:pt x="1744696" y="542290"/>
                  </a:lnTo>
                  <a:lnTo>
                    <a:pt x="0" y="542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744696" cy="56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179166" y="4151735"/>
            <a:ext cx="4457573" cy="2166760"/>
          </a:xfrm>
          <a:custGeom>
            <a:avLst/>
            <a:gdLst/>
            <a:ahLst/>
            <a:cxnLst/>
            <a:rect r="r" b="b" t="t" l="l"/>
            <a:pathLst>
              <a:path h="2166760" w="4457573">
                <a:moveTo>
                  <a:pt x="0" y="0"/>
                </a:moveTo>
                <a:lnTo>
                  <a:pt x="4457573" y="0"/>
                </a:lnTo>
                <a:lnTo>
                  <a:pt x="4457573" y="2166760"/>
                </a:lnTo>
                <a:lnTo>
                  <a:pt x="0" y="2166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725" r="0" b="-22455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410691" y="7217789"/>
            <a:ext cx="4473739" cy="2162376"/>
          </a:xfrm>
          <a:custGeom>
            <a:avLst/>
            <a:gdLst/>
            <a:ahLst/>
            <a:cxnLst/>
            <a:rect r="r" b="b" t="t" l="l"/>
            <a:pathLst>
              <a:path h="2162376" w="4473739">
                <a:moveTo>
                  <a:pt x="0" y="0"/>
                </a:moveTo>
                <a:lnTo>
                  <a:pt x="4473739" y="0"/>
                </a:lnTo>
                <a:lnTo>
                  <a:pt x="4473739" y="2162377"/>
                </a:lnTo>
                <a:lnTo>
                  <a:pt x="0" y="21623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809" r="0" b="-11524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634940" y="914400"/>
            <a:ext cx="12090600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9"/>
              </a:lnSpc>
            </a:pPr>
            <a:r>
              <a:rPr lang="en-US" sz="6499" spc="636">
                <a:solidFill>
                  <a:srgbClr val="FFFFFF"/>
                </a:solidFill>
                <a:latin typeface="Oswald Bold"/>
              </a:rPr>
              <a:t>VANTAGENS E DESVANTAGENS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79166" y="6631101"/>
            <a:ext cx="8982872" cy="2627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540713" indent="-270356" lvl="1">
              <a:lnSpc>
                <a:spcPts val="3506"/>
              </a:lnSpc>
              <a:buFont typeface="Arial"/>
              <a:buChar char="•"/>
            </a:pPr>
            <a:r>
              <a:rPr lang="en-US" sz="2504" spc="50">
                <a:solidFill>
                  <a:srgbClr val="000000"/>
                </a:solidFill>
                <a:latin typeface="Open Sauce"/>
              </a:rPr>
              <a:t>Requer muitos esforços para reunir todos os requisitos no estágio inicial;</a:t>
            </a:r>
          </a:p>
          <a:p>
            <a:pPr marL="540713" indent="-270356" lvl="1">
              <a:lnSpc>
                <a:spcPts val="3506"/>
              </a:lnSpc>
              <a:buFont typeface="Arial"/>
              <a:buChar char="•"/>
            </a:pPr>
            <a:r>
              <a:rPr lang="en-US" sz="2504" spc="50">
                <a:solidFill>
                  <a:srgbClr val="000000"/>
                </a:solidFill>
                <a:latin typeface="Open Sauce"/>
              </a:rPr>
              <a:t>As habilidades de modelagem têm muitas dependências;</a:t>
            </a:r>
          </a:p>
          <a:p>
            <a:pPr marL="540713" indent="-270356" lvl="1">
              <a:lnSpc>
                <a:spcPts val="3506"/>
              </a:lnSpc>
              <a:buFont typeface="Arial"/>
              <a:buChar char="•"/>
            </a:pPr>
            <a:r>
              <a:rPr lang="en-US" sz="2504" spc="50">
                <a:solidFill>
                  <a:srgbClr val="000000"/>
                </a:solidFill>
                <a:latin typeface="Open Sauce"/>
              </a:rPr>
              <a:t> Não é adequado para um projeto de baixo orçamento.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49999" y="3739831"/>
            <a:ext cx="9034431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49">
                <a:solidFill>
                  <a:srgbClr val="000000"/>
                </a:solidFill>
                <a:latin typeface="Open Sauce"/>
              </a:rPr>
              <a:t>Rápido desenvolvimento do produto;</a:t>
            </a:r>
          </a:p>
          <a:p>
            <a:pPr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49">
                <a:solidFill>
                  <a:srgbClr val="000000"/>
                </a:solidFill>
                <a:latin typeface="Open Sauce"/>
              </a:rPr>
              <a:t>Revisão repetitiva durante o desenvolvimento;</a:t>
            </a:r>
          </a:p>
          <a:p>
            <a:pPr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49">
                <a:solidFill>
                  <a:srgbClr val="000000"/>
                </a:solidFill>
                <a:latin typeface="Open Sauce"/>
              </a:rPr>
              <a:t>Feedback construtivo;</a:t>
            </a:r>
          </a:p>
          <a:p>
            <a:pPr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49">
                <a:solidFill>
                  <a:srgbClr val="000000"/>
                </a:solidFill>
                <a:latin typeface="Open Sauce"/>
              </a:rPr>
              <a:t>Economia de tempo.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70706" y="-3368517"/>
            <a:ext cx="4959890" cy="495989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1278539"/>
            <a:ext cx="13188954" cy="1318895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6639105" y="-5979128"/>
            <a:ext cx="12110389" cy="12426705"/>
          </a:xfrm>
          <a:custGeom>
            <a:avLst/>
            <a:gdLst/>
            <a:ahLst/>
            <a:cxnLst/>
            <a:rect r="r" b="b" t="t" l="l"/>
            <a:pathLst>
              <a:path h="12426705" w="12110389">
                <a:moveTo>
                  <a:pt x="0" y="0"/>
                </a:moveTo>
                <a:lnTo>
                  <a:pt x="12110389" y="0"/>
                </a:lnTo>
                <a:lnTo>
                  <a:pt x="12110389" y="12426706"/>
                </a:lnTo>
                <a:lnTo>
                  <a:pt x="0" y="12426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524025" y="2841054"/>
            <a:ext cx="7763975" cy="7385481"/>
          </a:xfrm>
          <a:custGeom>
            <a:avLst/>
            <a:gdLst/>
            <a:ahLst/>
            <a:cxnLst/>
            <a:rect r="r" b="b" t="t" l="l"/>
            <a:pathLst>
              <a:path h="7385481" w="7763975">
                <a:moveTo>
                  <a:pt x="0" y="0"/>
                </a:moveTo>
                <a:lnTo>
                  <a:pt x="7763975" y="0"/>
                </a:lnTo>
                <a:lnTo>
                  <a:pt x="7763975" y="7385481"/>
                </a:lnTo>
                <a:lnTo>
                  <a:pt x="0" y="7385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01484" y="1477074"/>
            <a:ext cx="7942168" cy="239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9659"/>
              </a:lnSpc>
            </a:pPr>
            <a:r>
              <a:rPr lang="en-US" sz="6999" spc="524">
                <a:solidFill>
                  <a:srgbClr val="FFFFFF"/>
                </a:solidFill>
                <a:latin typeface="Oswald Bold"/>
              </a:rPr>
              <a:t>QUANDO USAR ESSE MODELO?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473194"/>
            <a:ext cx="7808337" cy="516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582928" indent="-291464" lvl="1">
              <a:lnSpc>
                <a:spcPts val="3725"/>
              </a:lnSpc>
              <a:buFont typeface="Arial"/>
              <a:buChar char="•"/>
            </a:pPr>
            <a:r>
              <a:rPr lang="en-US" sz="2699" spc="67">
                <a:solidFill>
                  <a:srgbClr val="F5FFF5"/>
                </a:solidFill>
                <a:latin typeface="DM Sans"/>
              </a:rPr>
              <a:t> Quando for necessário desenvolver um produto em um curto espaço de tempo.</a:t>
            </a:r>
          </a:p>
          <a:p>
            <a:pPr marL="582928" indent="-291464" lvl="1">
              <a:lnSpc>
                <a:spcPts val="3725"/>
              </a:lnSpc>
              <a:buFont typeface="Arial"/>
              <a:buChar char="•"/>
            </a:pPr>
            <a:r>
              <a:rPr lang="en-US" sz="2699" spc="67">
                <a:solidFill>
                  <a:srgbClr val="F5FFF5"/>
                </a:solidFill>
                <a:latin typeface="DM Sans"/>
              </a:rPr>
              <a:t> Se houver um grande número de desenvolvedores para que vários componentes possam ser desenvolvidos simultaneamente. Esses componentes individuais pequenos e independentes são integrados para criar módulos maiores.</a:t>
            </a:r>
          </a:p>
          <a:p>
            <a:pPr algn="l" marL="582928" indent="-291464" lvl="1">
              <a:lnSpc>
                <a:spcPts val="3725"/>
              </a:lnSpc>
              <a:buFont typeface="Arial"/>
              <a:buChar char="•"/>
            </a:pPr>
            <a:r>
              <a:rPr lang="en-US" sz="2699" spc="67">
                <a:solidFill>
                  <a:srgbClr val="F5FFF5"/>
                </a:solidFill>
                <a:latin typeface="DM Sans"/>
              </a:rPr>
              <a:t> Se houver uma disponibilidade de recursos que possam reunir todos os requisitos no estágio inicial.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407869">
            <a:off x="12052165" y="1118883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407869">
            <a:off x="-4696947" y="10150458"/>
            <a:ext cx="12471670" cy="5351480"/>
          </a:xfrm>
          <a:custGeom>
            <a:avLst/>
            <a:gdLst/>
            <a:ahLst/>
            <a:cxnLst/>
            <a:rect r="r" b="b" t="t" l="l"/>
            <a:pathLst>
              <a:path h="5351480" w="1247167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38888" y="529562"/>
            <a:ext cx="10232326" cy="138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1219"/>
              </a:lnSpc>
            </a:pPr>
            <a:r>
              <a:rPr lang="en-US" sz="8499" spc="42">
                <a:solidFill>
                  <a:srgbClr val="231F20"/>
                </a:solidFill>
                <a:latin typeface="Oswald Bold"/>
              </a:rPr>
              <a:t>EXEMPLOS PRÁTICOS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51492" y="2423970"/>
            <a:ext cx="7192508" cy="584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47695" indent="-323848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uce"/>
              </a:rPr>
              <a:t>Desenvolvimento de Aplicativos Web e Móveis;</a:t>
            </a:r>
          </a:p>
          <a:p>
            <a:pPr>
              <a:lnSpc>
                <a:spcPts val="3899"/>
              </a:lnSpc>
            </a:pPr>
          </a:p>
          <a:p>
            <a:pPr marL="647695" indent="-323848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uce"/>
              </a:rPr>
              <a:t>Sistemas de Gerenciamento de Conteúdo ;</a:t>
            </a:r>
          </a:p>
          <a:p>
            <a:pPr>
              <a:lnSpc>
                <a:spcPts val="3899"/>
              </a:lnSpc>
            </a:pPr>
          </a:p>
          <a:p>
            <a:pPr marL="647695" indent="-323848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uce"/>
              </a:rPr>
              <a:t>Sistemas de Gestão Empresarial; </a:t>
            </a:r>
          </a:p>
          <a:p>
            <a:pPr>
              <a:lnSpc>
                <a:spcPts val="3899"/>
              </a:lnSpc>
            </a:pPr>
          </a:p>
          <a:p>
            <a:pPr marL="647695" indent="-323848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uce"/>
              </a:rPr>
              <a:t>Ferramentas de Análise de Dados;</a:t>
            </a:r>
          </a:p>
          <a:p>
            <a:pPr>
              <a:lnSpc>
                <a:spcPts val="3899"/>
              </a:lnSpc>
            </a:pPr>
          </a:p>
          <a:p>
            <a:pPr marL="647695" indent="-323848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uce"/>
              </a:rPr>
              <a:t>Aplicações de Prototipagem Rápida.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772900" y="1028700"/>
            <a:ext cx="5486400" cy="8229600"/>
          </a:xfrm>
          <a:custGeom>
            <a:avLst/>
            <a:gdLst/>
            <a:ahLst/>
            <a:cxnLst/>
            <a:rect r="r" b="b" t="t" l="l"/>
            <a:pathLst>
              <a:path h="8229600" w="5486400">
                <a:moveTo>
                  <a:pt x="0" y="0"/>
                </a:moveTo>
                <a:lnTo>
                  <a:pt x="5486400" y="0"/>
                </a:lnTo>
                <a:lnTo>
                  <a:pt x="5486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35253">
            <a:off x="15331117" y="4817487"/>
            <a:ext cx="7835077" cy="10939025"/>
          </a:xfrm>
          <a:custGeom>
            <a:avLst/>
            <a:gdLst/>
            <a:ahLst/>
            <a:cxnLst/>
            <a:rect r="r" b="b" t="t" l="l"/>
            <a:pathLst>
              <a:path h="10939025" w="7835077">
                <a:moveTo>
                  <a:pt x="0" y="0"/>
                </a:moveTo>
                <a:lnTo>
                  <a:pt x="7835077" y="0"/>
                </a:lnTo>
                <a:lnTo>
                  <a:pt x="7835077" y="10939026"/>
                </a:lnTo>
                <a:lnTo>
                  <a:pt x="0" y="10939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799999">
            <a:off x="-6245536" y="-7204817"/>
            <a:ext cx="7835077" cy="10939025"/>
          </a:xfrm>
          <a:custGeom>
            <a:avLst/>
            <a:gdLst/>
            <a:ahLst/>
            <a:cxnLst/>
            <a:rect r="r" b="b" t="t" l="l"/>
            <a:pathLst>
              <a:path h="10939025" w="7835077">
                <a:moveTo>
                  <a:pt x="0" y="0"/>
                </a:moveTo>
                <a:lnTo>
                  <a:pt x="7835077" y="0"/>
                </a:lnTo>
                <a:lnTo>
                  <a:pt x="7835077" y="10939025"/>
                </a:lnTo>
                <a:lnTo>
                  <a:pt x="0" y="109390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65433" y="3181176"/>
            <a:ext cx="2027545" cy="3080525"/>
          </a:xfrm>
          <a:custGeom>
            <a:avLst/>
            <a:gdLst/>
            <a:ahLst/>
            <a:cxnLst/>
            <a:rect r="r" b="b" t="t" l="l"/>
            <a:pathLst>
              <a:path h="3080525" w="2027545">
                <a:moveTo>
                  <a:pt x="0" y="0"/>
                </a:moveTo>
                <a:lnTo>
                  <a:pt x="2027545" y="0"/>
                </a:lnTo>
                <a:lnTo>
                  <a:pt x="2027545" y="3080525"/>
                </a:lnTo>
                <a:lnTo>
                  <a:pt x="0" y="3080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0">
            <a:off x="1589541" y="6630013"/>
            <a:ext cx="1510891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528665" y="6400558"/>
            <a:ext cx="501082" cy="50108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749938" y="3181176"/>
            <a:ext cx="2027545" cy="3080525"/>
          </a:xfrm>
          <a:custGeom>
            <a:avLst/>
            <a:gdLst/>
            <a:ahLst/>
            <a:cxnLst/>
            <a:rect r="r" b="b" t="t" l="l"/>
            <a:pathLst>
              <a:path h="3080525" w="2027545">
                <a:moveTo>
                  <a:pt x="0" y="0"/>
                </a:moveTo>
                <a:lnTo>
                  <a:pt x="2027545" y="0"/>
                </a:lnTo>
                <a:lnTo>
                  <a:pt x="2027545" y="3080525"/>
                </a:lnTo>
                <a:lnTo>
                  <a:pt x="0" y="3080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513169" y="6398522"/>
            <a:ext cx="501082" cy="50108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644116" y="3222238"/>
            <a:ext cx="2027545" cy="3080525"/>
          </a:xfrm>
          <a:custGeom>
            <a:avLst/>
            <a:gdLst/>
            <a:ahLst/>
            <a:cxnLst/>
            <a:rect r="r" b="b" t="t" l="l"/>
            <a:pathLst>
              <a:path h="3080525" w="2027545">
                <a:moveTo>
                  <a:pt x="0" y="0"/>
                </a:moveTo>
                <a:lnTo>
                  <a:pt x="2027546" y="0"/>
                </a:lnTo>
                <a:lnTo>
                  <a:pt x="2027546" y="3080524"/>
                </a:lnTo>
                <a:lnTo>
                  <a:pt x="0" y="30805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1407348" y="6398522"/>
            <a:ext cx="501082" cy="50108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703452" y="3181176"/>
            <a:ext cx="2027545" cy="3080525"/>
          </a:xfrm>
          <a:custGeom>
            <a:avLst/>
            <a:gdLst/>
            <a:ahLst/>
            <a:cxnLst/>
            <a:rect r="r" b="b" t="t" l="l"/>
            <a:pathLst>
              <a:path h="3080525" w="2027545">
                <a:moveTo>
                  <a:pt x="0" y="0"/>
                </a:moveTo>
                <a:lnTo>
                  <a:pt x="2027545" y="0"/>
                </a:lnTo>
                <a:lnTo>
                  <a:pt x="2027545" y="3080525"/>
                </a:lnTo>
                <a:lnTo>
                  <a:pt x="0" y="3080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4466683" y="6400558"/>
            <a:ext cx="501082" cy="50108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7695109" y="3222238"/>
            <a:ext cx="2027545" cy="3080525"/>
          </a:xfrm>
          <a:custGeom>
            <a:avLst/>
            <a:gdLst/>
            <a:ahLst/>
            <a:cxnLst/>
            <a:rect r="r" b="b" t="t" l="l"/>
            <a:pathLst>
              <a:path h="3080525" w="2027545">
                <a:moveTo>
                  <a:pt x="0" y="0"/>
                </a:moveTo>
                <a:lnTo>
                  <a:pt x="2027546" y="0"/>
                </a:lnTo>
                <a:lnTo>
                  <a:pt x="2027546" y="3080524"/>
                </a:lnTo>
                <a:lnTo>
                  <a:pt x="0" y="30805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8458341" y="6430105"/>
            <a:ext cx="501082" cy="50108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121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765433" y="3599726"/>
            <a:ext cx="2027545" cy="112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1"/>
              </a:lnSpc>
            </a:pPr>
            <a:r>
              <a:rPr lang="en-US" sz="6624" spc="649">
                <a:solidFill>
                  <a:srgbClr val="FFFBFB"/>
                </a:solidFill>
                <a:latin typeface="DM Sans Bold"/>
              </a:rPr>
              <a:t>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89541" y="7152001"/>
            <a:ext cx="2571491" cy="111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sz="2146" spc="210">
                <a:solidFill>
                  <a:srgbClr val="231F20"/>
                </a:solidFill>
                <a:latin typeface="DM Sans Bold"/>
              </a:rPr>
              <a:t>PLANEJAMENTO E ANÁLISE DE REQUISITOS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684354" y="3599726"/>
            <a:ext cx="2027545" cy="112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1"/>
              </a:lnSpc>
            </a:pPr>
            <a:r>
              <a:rPr lang="en-US" sz="6624" spc="649">
                <a:solidFill>
                  <a:srgbClr val="FFFBFB"/>
                </a:solidFill>
                <a:latin typeface="DM Sans Bold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551330" y="3599726"/>
            <a:ext cx="2027545" cy="112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1"/>
              </a:lnSpc>
            </a:pPr>
            <a:r>
              <a:rPr lang="en-US" sz="6624" spc="649">
                <a:solidFill>
                  <a:srgbClr val="FFFBFB"/>
                </a:solidFill>
                <a:latin typeface="DM Sans Bold"/>
              </a:rPr>
              <a:t>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81312" y="3599726"/>
            <a:ext cx="2027545" cy="112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1"/>
              </a:lnSpc>
            </a:pPr>
            <a:r>
              <a:rPr lang="en-US" sz="6624" spc="649">
                <a:solidFill>
                  <a:srgbClr val="FFFBFB"/>
                </a:solidFill>
                <a:latin typeface="DM Sans Bold"/>
              </a:rPr>
              <a:t>05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46321" y="7159905"/>
            <a:ext cx="3434779" cy="110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7"/>
              </a:lnSpc>
            </a:pPr>
            <a:r>
              <a:rPr lang="en-US" sz="2150" spc="210">
                <a:solidFill>
                  <a:srgbClr val="231F20"/>
                </a:solidFill>
                <a:latin typeface="DM Sans Bold"/>
              </a:rPr>
              <a:t>PROJETANDO A ARQUITETURA DO PROJETO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27758" y="7101665"/>
            <a:ext cx="3100524" cy="731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7"/>
              </a:lnSpc>
            </a:pPr>
            <a:r>
              <a:rPr lang="en-US" sz="2150" spc="210">
                <a:solidFill>
                  <a:srgbClr val="231F20"/>
                </a:solidFill>
                <a:latin typeface="DM Sans Bold"/>
              </a:rPr>
              <a:t>DESENVOLVIMENTO E PROGRAMAÇÃO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362308" y="7159905"/>
            <a:ext cx="2709833" cy="731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sz="2151" spc="210">
                <a:solidFill>
                  <a:srgbClr val="231F20"/>
                </a:solidFill>
                <a:latin typeface="DM Sans Bold"/>
              </a:rPr>
              <a:t>IMPLANTAÇÃO E MANUTENÇÃO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672833" y="3640787"/>
            <a:ext cx="2027545" cy="112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1"/>
              </a:lnSpc>
            </a:pPr>
            <a:r>
              <a:rPr lang="en-US" sz="6624" spc="649">
                <a:solidFill>
                  <a:srgbClr val="FFFBFB"/>
                </a:solidFill>
                <a:latin typeface="DM Sans Bold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02972" y="7159905"/>
            <a:ext cx="2709833" cy="36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sz="2151" spc="210">
                <a:solidFill>
                  <a:srgbClr val="231F20"/>
                </a:solidFill>
                <a:latin typeface="DM Sans Bold"/>
              </a:rPr>
              <a:t>TESTE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45919" y="714203"/>
            <a:ext cx="15108918" cy="154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2600"/>
              </a:lnSpc>
            </a:pPr>
            <a:r>
              <a:rPr lang="en-US" sz="9000">
                <a:solidFill>
                  <a:srgbClr val="000000"/>
                </a:solidFill>
                <a:latin typeface="Oswald Bold"/>
              </a:rPr>
              <a:t>FASES DO RAD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4892" y="0"/>
            <a:ext cx="15298216" cy="10287000"/>
          </a:xfrm>
          <a:custGeom>
            <a:avLst/>
            <a:gdLst/>
            <a:ahLst/>
            <a:cxnLst/>
            <a:rect r="r" b="b" t="t" l="l"/>
            <a:pathLst>
              <a:path h="10287000" w="15298216">
                <a:moveTo>
                  <a:pt x="0" y="0"/>
                </a:moveTo>
                <a:lnTo>
                  <a:pt x="15298216" y="0"/>
                </a:lnTo>
                <a:lnTo>
                  <a:pt x="152982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1177" y="2774035"/>
            <a:ext cx="3474003" cy="1400810"/>
            <a:chOff x="0" y="0"/>
            <a:chExt cx="914964" cy="3689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4964" cy="368938"/>
            </a:xfrm>
            <a:custGeom>
              <a:avLst/>
              <a:gdLst/>
              <a:ahLst/>
              <a:cxnLst/>
              <a:rect r="r" b="b" t="t" l="l"/>
              <a:pathLst>
                <a:path h="368938" w="914964">
                  <a:moveTo>
                    <a:pt x="0" y="0"/>
                  </a:moveTo>
                  <a:lnTo>
                    <a:pt x="914964" y="0"/>
                  </a:lnTo>
                  <a:lnTo>
                    <a:pt x="914964" y="368938"/>
                  </a:lnTo>
                  <a:lnTo>
                    <a:pt x="0" y="36893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14964" cy="416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9"/>
                </a:lnSpc>
                <a:spcBef>
                  <a:spcPct val="0"/>
                </a:spcBef>
              </a:pPr>
              <a:r>
                <a:rPr lang="en-US" sz="2499" spc="24">
                  <a:solidFill>
                    <a:srgbClr val="FFFFFF"/>
                  </a:solidFill>
                  <a:latin typeface="DM Sans"/>
                </a:rPr>
                <a:t>Desenvolvimento Iterativo e Incremental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406999" y="2213114"/>
            <a:ext cx="3474003" cy="1537267"/>
            <a:chOff x="0" y="0"/>
            <a:chExt cx="914964" cy="4048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964" cy="404877"/>
            </a:xfrm>
            <a:custGeom>
              <a:avLst/>
              <a:gdLst/>
              <a:ahLst/>
              <a:cxnLst/>
              <a:rect r="r" b="b" t="t" l="l"/>
              <a:pathLst>
                <a:path h="404877" w="914964">
                  <a:moveTo>
                    <a:pt x="0" y="0"/>
                  </a:moveTo>
                  <a:lnTo>
                    <a:pt x="914964" y="0"/>
                  </a:lnTo>
                  <a:lnTo>
                    <a:pt x="914964" y="404877"/>
                  </a:lnTo>
                  <a:lnTo>
                    <a:pt x="0" y="404877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14964" cy="452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9"/>
                </a:lnSpc>
                <a:spcBef>
                  <a:spcPct val="0"/>
                </a:spcBef>
              </a:pPr>
              <a:r>
                <a:rPr lang="en-US" sz="2499" spc="24">
                  <a:solidFill>
                    <a:srgbClr val="FFFFFF"/>
                  </a:solidFill>
                  <a:latin typeface="DM Sans Bold"/>
                </a:rPr>
                <a:t>Prototipagem Rápida e Participação dos Usuários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307472" y="7036262"/>
            <a:ext cx="7673056" cy="7673056"/>
          </a:xfrm>
          <a:custGeom>
            <a:avLst/>
            <a:gdLst/>
            <a:ahLst/>
            <a:cxnLst/>
            <a:rect r="r" b="b" t="t" l="l"/>
            <a:pathLst>
              <a:path h="7673056" w="7673056">
                <a:moveTo>
                  <a:pt x="0" y="0"/>
                </a:moveTo>
                <a:lnTo>
                  <a:pt x="7673056" y="0"/>
                </a:lnTo>
                <a:lnTo>
                  <a:pt x="7673056" y="7673056"/>
                </a:lnTo>
                <a:lnTo>
                  <a:pt x="0" y="7673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24816" y="5864682"/>
            <a:ext cx="2238367" cy="2238367"/>
          </a:xfrm>
          <a:custGeom>
            <a:avLst/>
            <a:gdLst/>
            <a:ahLst/>
            <a:cxnLst/>
            <a:rect r="r" b="b" t="t" l="l"/>
            <a:pathLst>
              <a:path h="2238367" w="2238367">
                <a:moveTo>
                  <a:pt x="0" y="0"/>
                </a:moveTo>
                <a:lnTo>
                  <a:pt x="2238368" y="0"/>
                </a:lnTo>
                <a:lnTo>
                  <a:pt x="2238368" y="2238368"/>
                </a:lnTo>
                <a:lnTo>
                  <a:pt x="0" y="22383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539534" y="7741115"/>
            <a:ext cx="2238367" cy="2238367"/>
          </a:xfrm>
          <a:custGeom>
            <a:avLst/>
            <a:gdLst/>
            <a:ahLst/>
            <a:cxnLst/>
            <a:rect r="r" b="b" t="t" l="l"/>
            <a:pathLst>
              <a:path h="2238367" w="2238367">
                <a:moveTo>
                  <a:pt x="0" y="0"/>
                </a:moveTo>
                <a:lnTo>
                  <a:pt x="2238367" y="0"/>
                </a:lnTo>
                <a:lnTo>
                  <a:pt x="2238367" y="2238367"/>
                </a:lnTo>
                <a:lnTo>
                  <a:pt x="0" y="22383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510099" y="7741115"/>
            <a:ext cx="2238367" cy="2238367"/>
          </a:xfrm>
          <a:custGeom>
            <a:avLst/>
            <a:gdLst/>
            <a:ahLst/>
            <a:cxnLst/>
            <a:rect r="r" b="b" t="t" l="l"/>
            <a:pathLst>
              <a:path h="2238367" w="2238367">
                <a:moveTo>
                  <a:pt x="0" y="0"/>
                </a:moveTo>
                <a:lnTo>
                  <a:pt x="2238367" y="0"/>
                </a:lnTo>
                <a:lnTo>
                  <a:pt x="2238367" y="2238367"/>
                </a:lnTo>
                <a:lnTo>
                  <a:pt x="0" y="22383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005180" y="7991891"/>
            <a:ext cx="1248205" cy="1518834"/>
          </a:xfrm>
          <a:custGeom>
            <a:avLst/>
            <a:gdLst/>
            <a:ahLst/>
            <a:cxnLst/>
            <a:rect r="r" b="b" t="t" l="l"/>
            <a:pathLst>
              <a:path h="1518834" w="1248205">
                <a:moveTo>
                  <a:pt x="0" y="0"/>
                </a:moveTo>
                <a:lnTo>
                  <a:pt x="1248205" y="0"/>
                </a:lnTo>
                <a:lnTo>
                  <a:pt x="1248205" y="1518834"/>
                </a:lnTo>
                <a:lnTo>
                  <a:pt x="0" y="15188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505825" y="6287445"/>
            <a:ext cx="1276350" cy="1392842"/>
          </a:xfrm>
          <a:custGeom>
            <a:avLst/>
            <a:gdLst/>
            <a:ahLst/>
            <a:cxnLst/>
            <a:rect r="r" b="b" t="t" l="l"/>
            <a:pathLst>
              <a:path h="1392842" w="1276350">
                <a:moveTo>
                  <a:pt x="0" y="0"/>
                </a:moveTo>
                <a:lnTo>
                  <a:pt x="1276350" y="0"/>
                </a:lnTo>
                <a:lnTo>
                  <a:pt x="1276350" y="1392842"/>
                </a:lnTo>
                <a:lnTo>
                  <a:pt x="0" y="13928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284209" y="2505785"/>
            <a:ext cx="3474003" cy="1937310"/>
            <a:chOff x="0" y="0"/>
            <a:chExt cx="914964" cy="5102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964" cy="510238"/>
            </a:xfrm>
            <a:custGeom>
              <a:avLst/>
              <a:gdLst/>
              <a:ahLst/>
              <a:cxnLst/>
              <a:rect r="r" b="b" t="t" l="l"/>
              <a:pathLst>
                <a:path h="510238" w="914964">
                  <a:moveTo>
                    <a:pt x="0" y="0"/>
                  </a:moveTo>
                  <a:lnTo>
                    <a:pt x="914964" y="0"/>
                  </a:lnTo>
                  <a:lnTo>
                    <a:pt x="914964" y="510238"/>
                  </a:lnTo>
                  <a:lnTo>
                    <a:pt x="0" y="51023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14964" cy="557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9"/>
                </a:lnSpc>
                <a:spcBef>
                  <a:spcPct val="0"/>
                </a:spcBef>
              </a:pPr>
              <a:r>
                <a:rPr lang="en-US" sz="2499" spc="24">
                  <a:solidFill>
                    <a:srgbClr val="FFFFFF"/>
                  </a:solidFill>
                  <a:latin typeface="DM Sans Bold"/>
                </a:rPr>
                <a:t>Reutilização de Componentes e Equipes Multifuncionais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1965023" y="8160239"/>
            <a:ext cx="1387390" cy="1400118"/>
          </a:xfrm>
          <a:custGeom>
            <a:avLst/>
            <a:gdLst/>
            <a:ahLst/>
            <a:cxnLst/>
            <a:rect r="r" b="b" t="t" l="l"/>
            <a:pathLst>
              <a:path h="1400118" w="1387390">
                <a:moveTo>
                  <a:pt x="0" y="0"/>
                </a:moveTo>
                <a:lnTo>
                  <a:pt x="1387389" y="0"/>
                </a:lnTo>
                <a:lnTo>
                  <a:pt x="1387389" y="1400119"/>
                </a:lnTo>
                <a:lnTo>
                  <a:pt x="0" y="140011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19161" y="193354"/>
            <a:ext cx="11552977" cy="1518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2419"/>
              </a:lnSpc>
            </a:pPr>
            <a:r>
              <a:rPr lang="en-US" sz="8999" spc="359">
                <a:solidFill>
                  <a:srgbClr val="231F20"/>
                </a:solidFill>
                <a:latin typeface="Oswald Bold"/>
              </a:rPr>
              <a:t>CONCLUSÃO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21779" y="3894515"/>
            <a:ext cx="6348122" cy="204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000" spc="196">
                <a:solidFill>
                  <a:srgbClr val="231F20"/>
                </a:solidFill>
                <a:latin typeface="DM Sans"/>
              </a:rPr>
              <a:t>Protótipos são criados rapidamente para validar requisitos e envolver os usuários desde as fases iniciais do desenvolvimento, garantindo que suas necessidades sejam atendidas e reduzindo o risco de falhas.</a:t>
            </a:r>
          </a:p>
          <a:p>
            <a:pPr algn="ctr" marL="0" indent="0" lvl="0">
              <a:lnSpc>
                <a:spcPts val="2774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377690" y="4404995"/>
            <a:ext cx="3780977" cy="307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0"/>
              </a:lnSpc>
              <a:spcBef>
                <a:spcPct val="0"/>
              </a:spcBef>
            </a:pPr>
            <a:r>
              <a:rPr lang="en-US" sz="2000" spc="196">
                <a:solidFill>
                  <a:srgbClr val="231F20"/>
                </a:solidFill>
                <a:latin typeface="DM Sans"/>
              </a:rPr>
              <a:t>O RAD enfatiza ciclos curtos de desenvolvimento, onde partes do sistema são construídas e entregues em iterações sucessivas, permitindo feedback rápido e adaptação contínua.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37053" y="4660986"/>
            <a:ext cx="4422247" cy="342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0"/>
              </a:lnSpc>
              <a:spcBef>
                <a:spcPct val="0"/>
              </a:spcBef>
            </a:pPr>
            <a:r>
              <a:rPr lang="en-US" sz="2000" spc="196">
                <a:solidFill>
                  <a:srgbClr val="231F20"/>
                </a:solidFill>
                <a:latin typeface="DM Sans"/>
              </a:rPr>
              <a:t>O modelo RAD promove a reutilização de componentes de software para acelerar o desenvolvimento, além de empregar equipes multifuncionais, com habilidades diversas, para colaborar de forma eficiente durante todo o processo de desenvolvimento.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59121">
            <a:off x="-4012602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19320" y="2901697"/>
            <a:ext cx="1400485" cy="6493178"/>
            <a:chOff x="0" y="0"/>
            <a:chExt cx="368852" cy="17101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852" cy="1710137"/>
            </a:xfrm>
            <a:custGeom>
              <a:avLst/>
              <a:gdLst/>
              <a:ahLst/>
              <a:cxnLst/>
              <a:rect r="r" b="b" t="t" l="l"/>
              <a:pathLst>
                <a:path h="1710137" w="368852">
                  <a:moveTo>
                    <a:pt x="0" y="0"/>
                  </a:moveTo>
                  <a:lnTo>
                    <a:pt x="368852" y="0"/>
                  </a:lnTo>
                  <a:lnTo>
                    <a:pt x="368852" y="1710137"/>
                  </a:lnTo>
                  <a:lnTo>
                    <a:pt x="0" y="1710137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68852" cy="17291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2016048">
            <a:off x="12243487" y="-1005305"/>
            <a:ext cx="10749463" cy="2687366"/>
          </a:xfrm>
          <a:custGeom>
            <a:avLst/>
            <a:gdLst/>
            <a:ahLst/>
            <a:cxnLst/>
            <a:rect r="r" b="b" t="t" l="l"/>
            <a:pathLst>
              <a:path h="2687366" w="10749463">
                <a:moveTo>
                  <a:pt x="0" y="0"/>
                </a:moveTo>
                <a:lnTo>
                  <a:pt x="10749463" y="0"/>
                </a:lnTo>
                <a:lnTo>
                  <a:pt x="10749463" y="2687365"/>
                </a:lnTo>
                <a:lnTo>
                  <a:pt x="0" y="2687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59067" y="691480"/>
            <a:ext cx="8769867" cy="151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19"/>
              </a:lnSpc>
            </a:pPr>
            <a:r>
              <a:rPr lang="en-US" sz="9000" spc="450">
                <a:solidFill>
                  <a:srgbClr val="231F20"/>
                </a:solidFill>
                <a:latin typeface="Oswald Bold"/>
              </a:rPr>
              <a:t>REFERÊNCIAS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31353" y="3234710"/>
            <a:ext cx="937219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99"/>
              </a:lnSpc>
              <a:spcBef>
                <a:spcPct val="0"/>
              </a:spcBef>
            </a:pPr>
            <a:r>
              <a:rPr lang="en-US" sz="5499" strike="noStrike" u="none">
                <a:solidFill>
                  <a:srgbClr val="363636"/>
                </a:solidFill>
                <a:latin typeface="Oswald Bold Italics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31353" y="5465994"/>
            <a:ext cx="937219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99"/>
              </a:lnSpc>
              <a:spcBef>
                <a:spcPct val="0"/>
              </a:spcBef>
            </a:pPr>
            <a:r>
              <a:rPr lang="en-US" sz="5499" strike="noStrike" u="none">
                <a:solidFill>
                  <a:srgbClr val="363636"/>
                </a:solidFill>
                <a:latin typeface="Oswald Bold Italics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50954" y="7663208"/>
            <a:ext cx="937219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363636"/>
                </a:solidFill>
                <a:latin typeface="Oswald Bold Italics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7430" y="3333137"/>
            <a:ext cx="5790503" cy="173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DM Sans"/>
              </a:rPr>
              <a:t>HTTPS://BLOG.CRONAPP.IO/COMO-APLICAR-O-RAD-NO-DESENVOLVIMENTO-DE-SOFTWARES/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07430" y="5841663"/>
            <a:ext cx="6076629" cy="85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524" spc="247">
                <a:solidFill>
                  <a:srgbClr val="231F20"/>
                </a:solidFill>
                <a:latin typeface="DM Sans"/>
              </a:rPr>
              <a:t>HTTPS://PT.EDUCATION-WIKI.COM/5801526-RAD-MODEL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07430" y="7822311"/>
            <a:ext cx="6076629" cy="85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524" spc="247">
                <a:solidFill>
                  <a:srgbClr val="231F20"/>
                </a:solidFill>
                <a:latin typeface="DM Sans"/>
              </a:rPr>
              <a:t>HTTPS://JKOLB.COM.BR/O-MODELO-RAD/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580377">
            <a:off x="11661463" y="-6238606"/>
            <a:ext cx="18962128" cy="19457407"/>
          </a:xfrm>
          <a:custGeom>
            <a:avLst/>
            <a:gdLst/>
            <a:ahLst/>
            <a:cxnLst/>
            <a:rect r="r" b="b" t="t" l="l"/>
            <a:pathLst>
              <a:path h="19457407" w="18962128">
                <a:moveTo>
                  <a:pt x="0" y="19457407"/>
                </a:moveTo>
                <a:lnTo>
                  <a:pt x="18962128" y="19457407"/>
                </a:lnTo>
                <a:lnTo>
                  <a:pt x="18962128" y="0"/>
                </a:lnTo>
                <a:lnTo>
                  <a:pt x="0" y="0"/>
                </a:lnTo>
                <a:lnTo>
                  <a:pt x="0" y="1945740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97646" y="0"/>
            <a:ext cx="1490354" cy="1105572"/>
          </a:xfrm>
          <a:custGeom>
            <a:avLst/>
            <a:gdLst/>
            <a:ahLst/>
            <a:cxnLst/>
            <a:rect r="r" b="b" t="t" l="l"/>
            <a:pathLst>
              <a:path h="1105572" w="1490354">
                <a:moveTo>
                  <a:pt x="0" y="0"/>
                </a:moveTo>
                <a:lnTo>
                  <a:pt x="1490354" y="0"/>
                </a:lnTo>
                <a:lnTo>
                  <a:pt x="1490354" y="1105572"/>
                </a:lnTo>
                <a:lnTo>
                  <a:pt x="0" y="1105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61076">
            <a:off x="-8433227" y="-3354104"/>
            <a:ext cx="20696360" cy="22029889"/>
          </a:xfrm>
          <a:custGeom>
            <a:avLst/>
            <a:gdLst/>
            <a:ahLst/>
            <a:cxnLst/>
            <a:rect r="r" b="b" t="t" l="l"/>
            <a:pathLst>
              <a:path h="22029889" w="20696360">
                <a:moveTo>
                  <a:pt x="0" y="0"/>
                </a:moveTo>
                <a:lnTo>
                  <a:pt x="20696360" y="0"/>
                </a:lnTo>
                <a:lnTo>
                  <a:pt x="20696360" y="22029889"/>
                </a:lnTo>
                <a:lnTo>
                  <a:pt x="0" y="220298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46505" y="8155010"/>
            <a:ext cx="1568304" cy="2114136"/>
          </a:xfrm>
          <a:custGeom>
            <a:avLst/>
            <a:gdLst/>
            <a:ahLst/>
            <a:cxnLst/>
            <a:rect r="r" b="b" t="t" l="l"/>
            <a:pathLst>
              <a:path h="2114136" w="1568304">
                <a:moveTo>
                  <a:pt x="0" y="0"/>
                </a:moveTo>
                <a:lnTo>
                  <a:pt x="1568305" y="0"/>
                </a:lnTo>
                <a:lnTo>
                  <a:pt x="1568305" y="2114136"/>
                </a:lnTo>
                <a:lnTo>
                  <a:pt x="0" y="21141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946505" y="9632248"/>
            <a:ext cx="1568304" cy="992657"/>
            <a:chOff x="0" y="0"/>
            <a:chExt cx="413051" cy="2614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3051" cy="261441"/>
            </a:xfrm>
            <a:custGeom>
              <a:avLst/>
              <a:gdLst/>
              <a:ahLst/>
              <a:cxnLst/>
              <a:rect r="r" b="b" t="t" l="l"/>
              <a:pathLst>
                <a:path h="261441" w="413051">
                  <a:moveTo>
                    <a:pt x="130720" y="0"/>
                  </a:moveTo>
                  <a:lnTo>
                    <a:pt x="282331" y="0"/>
                  </a:lnTo>
                  <a:cubicBezTo>
                    <a:pt x="354526" y="0"/>
                    <a:pt x="413051" y="58525"/>
                    <a:pt x="413051" y="130720"/>
                  </a:cubicBezTo>
                  <a:lnTo>
                    <a:pt x="413051" y="130720"/>
                  </a:lnTo>
                  <a:cubicBezTo>
                    <a:pt x="413051" y="202915"/>
                    <a:pt x="354526" y="261441"/>
                    <a:pt x="282331" y="261441"/>
                  </a:cubicBezTo>
                  <a:lnTo>
                    <a:pt x="130720" y="261441"/>
                  </a:lnTo>
                  <a:cubicBezTo>
                    <a:pt x="58525" y="261441"/>
                    <a:pt x="0" y="202915"/>
                    <a:pt x="0" y="130720"/>
                  </a:cubicBezTo>
                  <a:lnTo>
                    <a:pt x="0" y="130720"/>
                  </a:lnTo>
                  <a:cubicBezTo>
                    <a:pt x="0" y="58525"/>
                    <a:pt x="58525" y="0"/>
                    <a:pt x="130720" y="0"/>
                  </a:cubicBezTo>
                  <a:close/>
                </a:path>
              </a:pathLst>
            </a:custGeom>
            <a:solidFill>
              <a:srgbClr val="13121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413051" cy="280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113350" y="8155010"/>
            <a:ext cx="1568304" cy="2114136"/>
          </a:xfrm>
          <a:custGeom>
            <a:avLst/>
            <a:gdLst/>
            <a:ahLst/>
            <a:cxnLst/>
            <a:rect r="r" b="b" t="t" l="l"/>
            <a:pathLst>
              <a:path h="2114136" w="1568304">
                <a:moveTo>
                  <a:pt x="0" y="0"/>
                </a:moveTo>
                <a:lnTo>
                  <a:pt x="1568305" y="0"/>
                </a:lnTo>
                <a:lnTo>
                  <a:pt x="1568305" y="2114136"/>
                </a:lnTo>
                <a:lnTo>
                  <a:pt x="0" y="21141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113350" y="9632248"/>
            <a:ext cx="1568304" cy="992657"/>
            <a:chOff x="0" y="0"/>
            <a:chExt cx="413051" cy="2614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3051" cy="261441"/>
            </a:xfrm>
            <a:custGeom>
              <a:avLst/>
              <a:gdLst/>
              <a:ahLst/>
              <a:cxnLst/>
              <a:rect r="r" b="b" t="t" l="l"/>
              <a:pathLst>
                <a:path h="261441" w="413051">
                  <a:moveTo>
                    <a:pt x="130720" y="0"/>
                  </a:moveTo>
                  <a:lnTo>
                    <a:pt x="282331" y="0"/>
                  </a:lnTo>
                  <a:cubicBezTo>
                    <a:pt x="354526" y="0"/>
                    <a:pt x="413051" y="58525"/>
                    <a:pt x="413051" y="130720"/>
                  </a:cubicBezTo>
                  <a:lnTo>
                    <a:pt x="413051" y="130720"/>
                  </a:lnTo>
                  <a:cubicBezTo>
                    <a:pt x="413051" y="202915"/>
                    <a:pt x="354526" y="261441"/>
                    <a:pt x="282331" y="261441"/>
                  </a:cubicBezTo>
                  <a:lnTo>
                    <a:pt x="130720" y="261441"/>
                  </a:lnTo>
                  <a:cubicBezTo>
                    <a:pt x="58525" y="261441"/>
                    <a:pt x="0" y="202915"/>
                    <a:pt x="0" y="130720"/>
                  </a:cubicBezTo>
                  <a:lnTo>
                    <a:pt x="0" y="130720"/>
                  </a:lnTo>
                  <a:cubicBezTo>
                    <a:pt x="0" y="58525"/>
                    <a:pt x="58525" y="0"/>
                    <a:pt x="130720" y="0"/>
                  </a:cubicBezTo>
                  <a:close/>
                </a:path>
              </a:pathLst>
            </a:custGeom>
            <a:solidFill>
              <a:srgbClr val="13121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13051" cy="280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887995" y="5832715"/>
            <a:ext cx="2019014" cy="1828125"/>
          </a:xfrm>
          <a:custGeom>
            <a:avLst/>
            <a:gdLst/>
            <a:ahLst/>
            <a:cxnLst/>
            <a:rect r="r" b="b" t="t" l="l"/>
            <a:pathLst>
              <a:path h="1828125" w="2019014">
                <a:moveTo>
                  <a:pt x="0" y="0"/>
                </a:moveTo>
                <a:lnTo>
                  <a:pt x="2019014" y="0"/>
                </a:lnTo>
                <a:lnTo>
                  <a:pt x="2019014" y="1828125"/>
                </a:lnTo>
                <a:lnTo>
                  <a:pt x="0" y="18281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0" y="934122"/>
            <a:ext cx="11897502" cy="348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028"/>
              </a:lnSpc>
              <a:spcBef>
                <a:spcPct val="0"/>
              </a:spcBef>
            </a:pPr>
            <a:r>
              <a:rPr lang="en-US" sz="10165" spc="711">
                <a:solidFill>
                  <a:srgbClr val="231F20"/>
                </a:solidFill>
                <a:latin typeface="Oswald Bold"/>
              </a:rPr>
              <a:t>OBRIGADA PELA ATENÇÃO!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51509" y="6142547"/>
            <a:ext cx="7649805" cy="1518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419"/>
              </a:lnSpc>
              <a:spcBef>
                <a:spcPct val="0"/>
              </a:spcBef>
            </a:pPr>
            <a:r>
              <a:rPr lang="en-US" sz="8999" spc="629" strike="noStrike" u="none">
                <a:solidFill>
                  <a:srgbClr val="231F20"/>
                </a:solidFill>
                <a:latin typeface="Oswald Bold"/>
              </a:rPr>
              <a:t>DÚVIDAS?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534C94BE7ACC4B82DB0C57D8B917FB" ma:contentTypeVersion="5" ma:contentTypeDescription="Crie um novo documento." ma:contentTypeScope="" ma:versionID="62a2c0150b63379dfc6dc29281e4e6f5">
  <xsd:schema xmlns:xsd="http://www.w3.org/2001/XMLSchema" xmlns:xs="http://www.w3.org/2001/XMLSchema" xmlns:p="http://schemas.microsoft.com/office/2006/metadata/properties" xmlns:ns2="c71b2e08-5f48-4826-b3b9-729c518ea3db" targetNamespace="http://schemas.microsoft.com/office/2006/metadata/properties" ma:root="true" ma:fieldsID="e31b8c47eae556db8a51ed9dd6ca2eeb" ns2:_="">
    <xsd:import namespace="c71b2e08-5f48-4826-b3b9-729c518ea3d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b2e08-5f48-4826-b3b9-729c518ea3d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420EBA-63CC-4C9B-982F-5C8E5362646C}"/>
</file>

<file path=customXml/itemProps2.xml><?xml version="1.0" encoding="utf-8"?>
<ds:datastoreItem xmlns:ds="http://schemas.openxmlformats.org/officeDocument/2006/customXml" ds:itemID="{90B9D625-99A3-49B2-97B1-907F1E2354A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DAGAWrv2au0</dc:identifier>
  <dcterms:modified xsi:type="dcterms:W3CDTF">2011-08-01T06:04:30Z</dcterms:modified>
  <cp:revision>1</cp:revision>
  <dc:title>Apresentação do modelo RAD - 1AI</dc:title>
</cp:coreProperties>
</file>