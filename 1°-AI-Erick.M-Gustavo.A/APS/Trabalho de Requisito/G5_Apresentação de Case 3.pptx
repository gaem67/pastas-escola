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ns 2 Bold" charset="1" panose="00000000000000000000"/>
      <p:regular r:id="rId28"/>
    </p:embeddedFont>
    <p:embeddedFont>
      <p:font typeface="Arial Nova Bold" charset="1" panose="020B0804020202020204"/>
      <p:regular r:id="rId29"/>
    </p:embeddedFont>
    <p:embeddedFont>
      <p:font typeface="Arial Nova" charset="1" panose="020B0504020202020204"/>
      <p:regular r:id="rId30"/>
    </p:embeddedFont>
    <p:embeddedFont>
      <p:font typeface="Arimo" charset="1" panose="020B0604020202020204"/>
      <p:regular r:id="rId31"/>
    </p:embeddedFont>
    <p:embeddedFont>
      <p:font typeface="Open Sans 1" charset="1" panose="020B0606030504020204"/>
      <p:regular r:id="rId32"/>
    </p:embeddedFont>
    <p:embeddedFont>
      <p:font typeface="Open Sans 1 Bold" charset="1" panose="020B08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" Type="http://schemas.openxmlformats.org/officeDocument/2006/relationships/viewProps" Target="viewProps.xml"/><Relationship Id="rId34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3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8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1.fntdata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30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5" Type="http://schemas.openxmlformats.org/officeDocument/2006/relationships/customXml" Target="../customXml/item2.xml"/><Relationship Id="rId8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gif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1051826" y="-1266653"/>
            <a:ext cx="4590707" cy="4590707"/>
          </a:xfrm>
          <a:prstGeom prst="line">
            <a:avLst/>
          </a:prstGeom>
          <a:ln cap="flat" w="38100">
            <a:solidFill>
              <a:srgbClr val="1560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2700000">
            <a:off x="-2935522" y="-1543050"/>
            <a:ext cx="5871043" cy="3086100"/>
            <a:chOff x="0" y="0"/>
            <a:chExt cx="154628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6283" cy="812800"/>
            </a:xfrm>
            <a:custGeom>
              <a:avLst/>
              <a:gdLst/>
              <a:ahLst/>
              <a:cxnLst/>
              <a:rect r="r" b="b" t="t" l="l"/>
              <a:pathLst>
                <a:path h="812800" w="1546283">
                  <a:moveTo>
                    <a:pt x="0" y="0"/>
                  </a:moveTo>
                  <a:lnTo>
                    <a:pt x="1546283" y="0"/>
                  </a:lnTo>
                  <a:lnTo>
                    <a:pt x="154628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4628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080442" y="3464146"/>
            <a:ext cx="9928930" cy="5994592"/>
          </a:xfrm>
          <a:custGeom>
            <a:avLst/>
            <a:gdLst/>
            <a:ahLst/>
            <a:cxnLst/>
            <a:rect r="r" b="b" t="t" l="l"/>
            <a:pathLst>
              <a:path h="5994592" w="9928930">
                <a:moveTo>
                  <a:pt x="0" y="0"/>
                </a:moveTo>
                <a:lnTo>
                  <a:pt x="9928931" y="0"/>
                </a:lnTo>
                <a:lnTo>
                  <a:pt x="9928931" y="5994591"/>
                </a:lnTo>
                <a:lnTo>
                  <a:pt x="0" y="599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87912"/>
            <a:ext cx="5878448" cy="291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19"/>
              </a:lnSpc>
            </a:pPr>
            <a:r>
              <a:rPr lang="en-US" sz="9600">
                <a:solidFill>
                  <a:srgbClr val="000000"/>
                </a:solidFill>
                <a:latin typeface="Open Sans 2 Bold"/>
              </a:rPr>
              <a:t>Trabalho </a:t>
            </a:r>
          </a:p>
          <a:p>
            <a:pPr algn="ctr" marL="0" indent="0" lvl="0">
              <a:lnSpc>
                <a:spcPts val="11519"/>
              </a:lnSpc>
            </a:pPr>
            <a:r>
              <a:rPr lang="en-US" sz="9600">
                <a:solidFill>
                  <a:srgbClr val="000000"/>
                </a:solidFill>
                <a:latin typeface="Open Sans 2 Bold"/>
              </a:rPr>
              <a:t>APS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90987"/>
            <a:ext cx="5878448" cy="9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0"/>
              </a:lnSpc>
            </a:pPr>
            <a:r>
              <a:rPr lang="en-US" sz="5600">
                <a:solidFill>
                  <a:srgbClr val="000000"/>
                </a:solidFill>
                <a:latin typeface="Open Sans 2 Bold"/>
              </a:rPr>
              <a:t>Gestão Escolar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5830" y="1692850"/>
            <a:ext cx="15665015" cy="128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0000"/>
                </a:solidFill>
                <a:latin typeface="Open Sans 2 Bold"/>
              </a:rPr>
              <a:t>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2700000">
            <a:off x="-4950989" y="5793693"/>
            <a:ext cx="8858527" cy="9795281"/>
            <a:chOff x="0" y="0"/>
            <a:chExt cx="2333110" cy="2579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110" cy="2579827"/>
            </a:xfrm>
            <a:custGeom>
              <a:avLst/>
              <a:gdLst/>
              <a:ahLst/>
              <a:cxnLst/>
              <a:rect r="r" b="b" t="t" l="l"/>
              <a:pathLst>
                <a:path h="2579827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2579827"/>
                  </a:lnTo>
                  <a:lnTo>
                    <a:pt x="0" y="2579827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3110" cy="261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14074902" y="-2473474"/>
            <a:ext cx="8858527" cy="4946948"/>
            <a:chOff x="0" y="0"/>
            <a:chExt cx="2333110" cy="130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110" cy="1302900"/>
            </a:xfrm>
            <a:custGeom>
              <a:avLst/>
              <a:gdLst/>
              <a:ahLst/>
              <a:cxnLst/>
              <a:rect r="r" b="b" t="t" l="l"/>
              <a:pathLst>
                <a:path h="1302900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1302900"/>
                  </a:lnTo>
                  <a:lnTo>
                    <a:pt x="0" y="13029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3110" cy="134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635832" y="2993833"/>
            <a:ext cx="1566499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247410" y="4400555"/>
            <a:ext cx="3598580" cy="4114800"/>
          </a:xfrm>
          <a:custGeom>
            <a:avLst/>
            <a:gdLst/>
            <a:ahLst/>
            <a:cxnLst/>
            <a:rect r="r" b="b" t="t" l="l"/>
            <a:pathLst>
              <a:path h="4114800" w="3598580">
                <a:moveTo>
                  <a:pt x="0" y="0"/>
                </a:moveTo>
                <a:lnTo>
                  <a:pt x="3598580" y="0"/>
                </a:lnTo>
                <a:lnTo>
                  <a:pt x="3598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128180" cy="10287000"/>
            <a:chOff x="0" y="0"/>
            <a:chExt cx="6837573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3762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37629">
                  <a:moveTo>
                    <a:pt x="0" y="0"/>
                  </a:moveTo>
                  <a:lnTo>
                    <a:pt x="6837629" y="0"/>
                  </a:lnTo>
                  <a:lnTo>
                    <a:pt x="683762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57900" y="2601201"/>
          <a:ext cx="11410950" cy="4759325"/>
        </p:xfrm>
        <a:graphic>
          <a:graphicData uri="http://schemas.openxmlformats.org/drawingml/2006/table">
            <a:tbl>
              <a:tblPr/>
              <a:tblGrid>
                <a:gridCol w="2818725"/>
                <a:gridCol w="4395139"/>
                <a:gridCol w="1747464"/>
                <a:gridCol w="2449622"/>
              </a:tblGrid>
              <a:tr h="7167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RF01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CADASTRO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5803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Para o cadastro no sistema o usuário deve inserir: ID, como o usuário está entrando (aluno, turma, professor, responsável e escola),  qual unidade da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escola o usuário está relacionado e senha .</a:t>
                      </a:r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167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Alta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5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</a:rPr>
                        <a:t>RN01, RN02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0" y="8021366"/>
            <a:ext cx="7315200" cy="2473868"/>
          </a:xfrm>
          <a:custGeom>
            <a:avLst/>
            <a:gdLst/>
            <a:ahLst/>
            <a:cxnLst/>
            <a:rect r="r" b="b" t="t" l="l"/>
            <a:pathLst>
              <a:path h="2473868" w="7315200">
                <a:moveTo>
                  <a:pt x="0" y="0"/>
                </a:moveTo>
                <a:lnTo>
                  <a:pt x="7315200" y="0"/>
                </a:lnTo>
                <a:lnTo>
                  <a:pt x="7315200" y="2473868"/>
                </a:lnTo>
                <a:lnTo>
                  <a:pt x="0" y="247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036314"/>
            <a:ext cx="4207588" cy="110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FUNCIONAIS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128180" cy="10287000"/>
            <a:chOff x="0" y="0"/>
            <a:chExt cx="6837573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3762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37629">
                  <a:moveTo>
                    <a:pt x="0" y="0"/>
                  </a:moveTo>
                  <a:lnTo>
                    <a:pt x="6837629" y="0"/>
                  </a:lnTo>
                  <a:lnTo>
                    <a:pt x="683762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51176" y="2723028"/>
          <a:ext cx="11410950" cy="5416550"/>
        </p:xfrm>
        <a:graphic>
          <a:graphicData uri="http://schemas.openxmlformats.org/drawingml/2006/table">
            <a:tbl>
              <a:tblPr/>
              <a:tblGrid>
                <a:gridCol w="2846955"/>
                <a:gridCol w="4396310"/>
                <a:gridCol w="1855369"/>
                <a:gridCol w="2312316"/>
              </a:tblGrid>
              <a:tr h="7164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RF02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ALUNO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209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Ao efetuar o cadastro como aluno, o usuário terá acesso: as notas, faltas/presenças, comportamento, trabalhos/atividades feitos e não feitos, desempenho, horários das aulas e informações pessoais do aluno (telefone, e-mail, ID, curso, nome e RG).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51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Alta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51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</a:rPr>
                        <a:t>RN01,RN02,RF01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0" y="6172200"/>
            <a:ext cx="3160721" cy="4114800"/>
          </a:xfrm>
          <a:custGeom>
            <a:avLst/>
            <a:gdLst/>
            <a:ahLst/>
            <a:cxnLst/>
            <a:rect r="r" b="b" t="t" l="l"/>
            <a:pathLst>
              <a:path h="4114800" w="3160721">
                <a:moveTo>
                  <a:pt x="0" y="0"/>
                </a:moveTo>
                <a:lnTo>
                  <a:pt x="3160721" y="0"/>
                </a:lnTo>
                <a:lnTo>
                  <a:pt x="31607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789953"/>
            <a:ext cx="4207588" cy="110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FUNCIONAIS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666038" cy="10287000"/>
            <a:chOff x="0" y="0"/>
            <a:chExt cx="6221383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14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221440">
                  <a:moveTo>
                    <a:pt x="0" y="0"/>
                  </a:moveTo>
                  <a:lnTo>
                    <a:pt x="6221440" y="0"/>
                  </a:lnTo>
                  <a:lnTo>
                    <a:pt x="62214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924550" y="2112874"/>
          <a:ext cx="11334750" cy="6092825"/>
        </p:xfrm>
        <a:graphic>
          <a:graphicData uri="http://schemas.openxmlformats.org/drawingml/2006/table">
            <a:tbl>
              <a:tblPr/>
              <a:tblGrid>
                <a:gridCol w="2820320"/>
                <a:gridCol w="4542277"/>
                <a:gridCol w="1442637"/>
                <a:gridCol w="2529516"/>
              </a:tblGrid>
              <a:tr h="792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al Nova Bold"/>
                        </a:rPr>
                        <a:t>RF03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PROFESSOR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8390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Ao efetuar o cadastro como professor, o usuário terá acesso: informações pessoais do professor (telefone, e-mail, RG, ID e nome) 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turmas que ele ensina, listas de chamada, notas de cada aluno, contato do responsável do aluno,   presenças/faltas de cada aluno, atividades/trabalhos/provas, comportamento/desempenho do aluno, horários e salas de suas aulas.</a:t>
                      </a:r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162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Alta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48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</a:rPr>
                        <a:t>RF01,RN01,RN02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2373957">
            <a:off x="13645982" y="7431562"/>
            <a:ext cx="3928469" cy="3653477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28588" y="6172200"/>
            <a:ext cx="1800225" cy="4114800"/>
          </a:xfrm>
          <a:custGeom>
            <a:avLst/>
            <a:gdLst/>
            <a:ahLst/>
            <a:cxnLst/>
            <a:rect r="r" b="b" t="t" l="l"/>
            <a:pathLst>
              <a:path h="4114800" w="1800225">
                <a:moveTo>
                  <a:pt x="0" y="0"/>
                </a:moveTo>
                <a:lnTo>
                  <a:pt x="1800224" y="0"/>
                </a:lnTo>
                <a:lnTo>
                  <a:pt x="18002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97749" y="4224934"/>
            <a:ext cx="4207588" cy="421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FUNCIONAIS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710039" cy="10287000"/>
            <a:chOff x="0" y="0"/>
            <a:chExt cx="628005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801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280108">
                  <a:moveTo>
                    <a:pt x="0" y="0"/>
                  </a:moveTo>
                  <a:lnTo>
                    <a:pt x="6280108" y="0"/>
                  </a:lnTo>
                  <a:lnTo>
                    <a:pt x="62801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51176" y="1986546"/>
          <a:ext cx="11430000" cy="6507165"/>
        </p:xfrm>
        <a:graphic>
          <a:graphicData uri="http://schemas.openxmlformats.org/drawingml/2006/table">
            <a:tbl>
              <a:tblPr/>
              <a:tblGrid>
                <a:gridCol w="2826511"/>
                <a:gridCol w="4169387"/>
                <a:gridCol w="1524951"/>
                <a:gridCol w="2909150"/>
              </a:tblGrid>
              <a:tr h="12078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al Nova Bold"/>
                        </a:rPr>
                        <a:t>RF04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RESPONSÁVEL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8384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Ao efetuar o cadastro como responsável, o usuário terá acesso: informações do aluno (tudo que está de possível acesso na conta do aluno), informações do responsável (telefone, e-mail e nome), reclamações e e-mail dos professores, contato e horário de funcionamento da secretaria da escola.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161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Alta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47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</a:rPr>
                        <a:t>RN01,RN02,RF01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0" y="6407735"/>
            <a:ext cx="4302548" cy="4114800"/>
          </a:xfrm>
          <a:custGeom>
            <a:avLst/>
            <a:gdLst/>
            <a:ahLst/>
            <a:cxnLst/>
            <a:rect r="r" b="b" t="t" l="l"/>
            <a:pathLst>
              <a:path h="4114800" w="4302548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249775"/>
            <a:ext cx="4207588" cy="421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FUNCIONAIS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29902" y="-2128254"/>
            <a:ext cx="4302548" cy="4114800"/>
          </a:xfrm>
          <a:custGeom>
            <a:avLst/>
            <a:gdLst/>
            <a:ahLst/>
            <a:cxnLst/>
            <a:rect r="r" b="b" t="t" l="l"/>
            <a:pathLst>
              <a:path h="4114800" w="4302548">
                <a:moveTo>
                  <a:pt x="0" y="0"/>
                </a:moveTo>
                <a:lnTo>
                  <a:pt x="4302547" y="0"/>
                </a:lnTo>
                <a:lnTo>
                  <a:pt x="43025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186440" y="2763452"/>
          <a:ext cx="10744200" cy="4760096"/>
        </p:xfrm>
        <a:graphic>
          <a:graphicData uri="http://schemas.openxmlformats.org/drawingml/2006/table">
            <a:tbl>
              <a:tblPr/>
              <a:tblGrid>
                <a:gridCol w="2817693"/>
                <a:gridCol w="3687455"/>
                <a:gridCol w="1678974"/>
                <a:gridCol w="2560079"/>
              </a:tblGrid>
              <a:tr h="1060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Arial Nova Bold"/>
                        </a:rPr>
                        <a:t>RF05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"/>
                        </a:rPr>
                        <a:t>Comunicados e boletins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F9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2649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O sistema deve enviar comunicados vindos da escola ao alunos e pais vía e-mail dos cadastrados e ainda, distinguir os dois para enviar boletins aos pais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.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16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"/>
                        </a:rPr>
                        <a:t>MÉDIA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175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5899" marR="145899" marT="145899" marB="145899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-764658" y="5706618"/>
            <a:ext cx="5736905" cy="5100630"/>
          </a:xfrm>
          <a:custGeom>
            <a:avLst/>
            <a:gdLst/>
            <a:ahLst/>
            <a:cxnLst/>
            <a:rect r="r" b="b" t="t" l="l"/>
            <a:pathLst>
              <a:path h="5100630" w="5736905">
                <a:moveTo>
                  <a:pt x="0" y="0"/>
                </a:moveTo>
                <a:lnTo>
                  <a:pt x="5736905" y="0"/>
                </a:lnTo>
                <a:lnTo>
                  <a:pt x="5736905" y="5100630"/>
                </a:lnTo>
                <a:lnTo>
                  <a:pt x="0" y="510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4599432"/>
            <a:ext cx="4207588" cy="110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FUNCIONAIS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1943" y="6953734"/>
            <a:ext cx="134381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</a:rPr>
              <a:t>RF04,RN03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882" y="975902"/>
            <a:ext cx="15665015" cy="25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>
                <a:solidFill>
                  <a:srgbClr val="000000"/>
                </a:solidFill>
                <a:latin typeface="Open Sans 2 Bold"/>
              </a:rPr>
              <a:t>REQUISITOS NÃO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2700000">
            <a:off x="-4950989" y="5793693"/>
            <a:ext cx="8858527" cy="9795281"/>
            <a:chOff x="0" y="0"/>
            <a:chExt cx="2333110" cy="2579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110" cy="2579827"/>
            </a:xfrm>
            <a:custGeom>
              <a:avLst/>
              <a:gdLst/>
              <a:ahLst/>
              <a:cxnLst/>
              <a:rect r="r" b="b" t="t" l="l"/>
              <a:pathLst>
                <a:path h="2579827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2579827"/>
                  </a:lnTo>
                  <a:lnTo>
                    <a:pt x="0" y="2579827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3110" cy="261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14074902" y="-2473474"/>
            <a:ext cx="8858527" cy="4946948"/>
            <a:chOff x="0" y="0"/>
            <a:chExt cx="2333110" cy="130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110" cy="1302900"/>
            </a:xfrm>
            <a:custGeom>
              <a:avLst/>
              <a:gdLst/>
              <a:ahLst/>
              <a:cxnLst/>
              <a:rect r="r" b="b" t="t" l="l"/>
              <a:pathLst>
                <a:path h="1302900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1302900"/>
                  </a:lnTo>
                  <a:lnTo>
                    <a:pt x="0" y="13029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3110" cy="134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2639929" y="3476903"/>
            <a:ext cx="112078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260362" y="48809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RNF01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Tempo de Resposta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9634971" cy="6093905"/>
        </p:xfrm>
        <a:graphic>
          <a:graphicData uri="http://schemas.openxmlformats.org/drawingml/2006/table">
            <a:tbl>
              <a:tblPr/>
              <a:tblGrid>
                <a:gridCol w="2367043"/>
                <a:gridCol w="7267928"/>
              </a:tblGrid>
              <a:tr h="208859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responder a solicitações de usuários em no máximo 3 segundos durante horários de pico.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08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Desempenho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7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Aplica-se a todas as interações do usuário, incluindo login, navegação, e submissão de formulários.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7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Tempo médio de resposta medido em segundos durante testes de carga com 200 usuários simultâneos.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08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3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RN01, RF01, RF02, RF03, RF04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RNF02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Disponibilidade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9634971" cy="5814478"/>
        </p:xfrm>
        <a:graphic>
          <a:graphicData uri="http://schemas.openxmlformats.org/drawingml/2006/table">
            <a:tbl>
              <a:tblPr/>
              <a:tblGrid>
                <a:gridCol w="2367043"/>
                <a:gridCol w="7267928"/>
              </a:tblGrid>
              <a:tr h="208877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estar disponível 99,9% do tempo durante o horário de operação escolar, das 7h às 19h, de segunda a sexta-feira.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Confiabilidade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9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Servidor principal de produção e todos os serviços críticos necessários para a operação.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Percentual de tempo de disponibilidade.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0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RF02, RF03, RF04, RF05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RNF03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Autenticação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9634971" cy="5814478"/>
        </p:xfrm>
        <a:graphic>
          <a:graphicData uri="http://schemas.openxmlformats.org/drawingml/2006/table">
            <a:tbl>
              <a:tblPr/>
              <a:tblGrid>
                <a:gridCol w="2367043"/>
                <a:gridCol w="7267928"/>
              </a:tblGrid>
              <a:tr h="208877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exigir autenticação multifator para todos os usuários.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Segurança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Aplicável a todos os usuários ao acessar o sistema.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9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Número de usuários autenticados com multifator / Total de usuários.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0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8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RN02, RF01, RF02,RF03, RF05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RNF04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Facilidade de Uso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9634971" cy="6112642"/>
        </p:xfrm>
        <a:graphic>
          <a:graphicData uri="http://schemas.openxmlformats.org/drawingml/2006/table">
            <a:tbl>
              <a:tblPr/>
              <a:tblGrid>
                <a:gridCol w="2367043"/>
                <a:gridCol w="7267928"/>
              </a:tblGrid>
              <a:tr h="208858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ser intuitivo e fácil de usar, permitindo que novos usuários realizem tarefas básicas sem necessidade de treinamento extenso.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2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Usabilidade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95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Interface de usuário e principais funcionalidades do sistema.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9795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Tempo médio para novos usuários completarem tarefas básicas em minutos.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Média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32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RF01, RF02, RF03, RF04, RF05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RNF05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Facilidade de Manutenção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9634971" cy="5531239"/>
        </p:xfrm>
        <a:graphic>
          <a:graphicData uri="http://schemas.openxmlformats.org/drawingml/2006/table">
            <a:tbl>
              <a:tblPr/>
              <a:tblGrid>
                <a:gridCol w="2367043"/>
                <a:gridCol w="7267928"/>
              </a:tblGrid>
              <a:tr h="208897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permitir que atualizações e correções de bugs sejam realizadas com impacto mínimo nas operações.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4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Manutenibilidade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4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Código, banco de dados e infraestrutura de servidor.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4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Tempo médio para aplicar pacotes e atualizações em horas.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4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Média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6884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RN03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8228" y="1321901"/>
          <a:ext cx="9634971" cy="982324"/>
        </p:xfrm>
        <a:graphic>
          <a:graphicData uri="http://schemas.openxmlformats.org/drawingml/2006/table">
            <a:tbl>
              <a:tblPr/>
              <a:tblGrid>
                <a:gridCol w="2361580"/>
                <a:gridCol w="2236121"/>
                <a:gridCol w="1767123"/>
                <a:gridCol w="3270148"/>
              </a:tblGrid>
              <a:tr h="9823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40">
                          <a:solidFill>
                            <a:srgbClr val="FFFFFF"/>
                          </a:solidFill>
                          <a:latin typeface="Arial Nova Bold"/>
                        </a:rPr>
                        <a:t>RNF06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FFFFFF"/>
                          </a:solidFill>
                          <a:latin typeface="Arial Nova Bold"/>
                        </a:rPr>
                        <a:t>Compatibilidade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7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28228" y="2384052"/>
          <a:ext cx="10417939" cy="6314100"/>
        </p:xfrm>
        <a:graphic>
          <a:graphicData uri="http://schemas.openxmlformats.org/drawingml/2006/table">
            <a:tbl>
              <a:tblPr/>
              <a:tblGrid>
                <a:gridCol w="2559396"/>
                <a:gridCol w="7858543"/>
              </a:tblGrid>
              <a:tr h="225849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33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42">
                          <a:solidFill>
                            <a:srgbClr val="000000"/>
                          </a:solidFill>
                          <a:latin typeface="Arial Nova Bold"/>
                        </a:rPr>
                        <a:t>O sistema deve ser capaz de operar em diferentes plataformas.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347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CATEGORIA: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Portabilidade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1059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ESCOPO: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Todo o sistema, incluindo interface de usuário e componentes principais.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4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MÉTRICA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Número de plataformas suportadas.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72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3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8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74432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7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3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9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80">
                          <a:solidFill>
                            <a:srgbClr val="000000"/>
                          </a:solidFill>
                          <a:latin typeface="Arial Nova Bold"/>
                        </a:rPr>
                        <a:t>RN04</a:t>
                      </a:r>
                      <a:endParaRPr lang="en-US" sz="1100"/>
                    </a:p>
                  </a:txBody>
                  <a:tcPr marL="174712" marR="174712" marT="174712" marB="174712" anchor="ctr">
                    <a:lnL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6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046295"/>
            <a:ext cx="3777933" cy="164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REQUISITOS NÃO FUNCIONAIS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2985" y="1800264"/>
            <a:ext cx="12791398" cy="128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u="none">
                <a:solidFill>
                  <a:srgbClr val="000000"/>
                </a:solidFill>
                <a:latin typeface="Open Sans 2 Bold"/>
              </a:rPr>
              <a:t>REGRAS DE NEGÓCIO</a:t>
            </a:r>
          </a:p>
        </p:txBody>
      </p:sp>
      <p:grpSp>
        <p:nvGrpSpPr>
          <p:cNvPr name="Group 3" id="3"/>
          <p:cNvGrpSpPr/>
          <p:nvPr/>
        </p:nvGrpSpPr>
        <p:grpSpPr>
          <a:xfrm rot="2700000">
            <a:off x="-4950989" y="5793693"/>
            <a:ext cx="8858527" cy="9795281"/>
            <a:chOff x="0" y="0"/>
            <a:chExt cx="2333110" cy="2579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110" cy="2579827"/>
            </a:xfrm>
            <a:custGeom>
              <a:avLst/>
              <a:gdLst/>
              <a:ahLst/>
              <a:cxnLst/>
              <a:rect r="r" b="b" t="t" l="l"/>
              <a:pathLst>
                <a:path h="2579827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2579827"/>
                  </a:lnTo>
                  <a:lnTo>
                    <a:pt x="0" y="2579827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3110" cy="261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14074902" y="-2473474"/>
            <a:ext cx="8858527" cy="4946948"/>
            <a:chOff x="0" y="0"/>
            <a:chExt cx="2333110" cy="130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110" cy="1302900"/>
            </a:xfrm>
            <a:custGeom>
              <a:avLst/>
              <a:gdLst/>
              <a:ahLst/>
              <a:cxnLst/>
              <a:rect r="r" b="b" t="t" l="l"/>
              <a:pathLst>
                <a:path h="1302900" w="2333110">
                  <a:moveTo>
                    <a:pt x="0" y="0"/>
                  </a:moveTo>
                  <a:lnTo>
                    <a:pt x="2333110" y="0"/>
                  </a:lnTo>
                  <a:lnTo>
                    <a:pt x="2333110" y="1302900"/>
                  </a:lnTo>
                  <a:lnTo>
                    <a:pt x="0" y="13029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3110" cy="134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622985" y="3101246"/>
            <a:ext cx="127913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860824" y="4880973"/>
            <a:ext cx="5924450" cy="4114800"/>
          </a:xfrm>
          <a:custGeom>
            <a:avLst/>
            <a:gdLst/>
            <a:ahLst/>
            <a:cxnLst/>
            <a:rect r="r" b="b" t="t" l="l"/>
            <a:pathLst>
              <a:path h="4114800" w="5924450">
                <a:moveTo>
                  <a:pt x="0" y="0"/>
                </a:moveTo>
                <a:lnTo>
                  <a:pt x="5924451" y="0"/>
                </a:lnTo>
                <a:lnTo>
                  <a:pt x="5924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994766" y="2618575"/>
          <a:ext cx="11264534" cy="1148465"/>
        </p:xfrm>
        <a:graphic>
          <a:graphicData uri="http://schemas.openxmlformats.org/drawingml/2006/table">
            <a:tbl>
              <a:tblPr/>
              <a:tblGrid>
                <a:gridCol w="2760994"/>
                <a:gridCol w="2614316"/>
                <a:gridCol w="2065996"/>
                <a:gridCol w="3823228"/>
              </a:tblGrid>
              <a:tr h="114846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3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531">
                          <a:solidFill>
                            <a:srgbClr val="FFFFFF"/>
                          </a:solidFill>
                          <a:latin typeface="Arial Nova Bold"/>
                        </a:rPr>
                        <a:t>RN01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Acesso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994766" y="3618110"/>
          <a:ext cx="11264534" cy="4050315"/>
        </p:xfrm>
        <a:graphic>
          <a:graphicData uri="http://schemas.openxmlformats.org/drawingml/2006/table">
            <a:tbl>
              <a:tblPr/>
              <a:tblGrid>
                <a:gridCol w="2767381"/>
                <a:gridCol w="8497153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Para consultar sua interface, de acordo com a sua ocupação, fazer o cadastro primeiro.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RF01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75600" y="2693039"/>
          <a:ext cx="11497263" cy="850606"/>
        </p:xfrm>
        <a:graphic>
          <a:graphicData uri="http://schemas.openxmlformats.org/drawingml/2006/table">
            <a:tbl>
              <a:tblPr/>
              <a:tblGrid>
                <a:gridCol w="2818037"/>
                <a:gridCol w="2668329"/>
                <a:gridCol w="2108680"/>
                <a:gridCol w="3902217"/>
              </a:tblGrid>
              <a:tr h="7264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RN02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Identificação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475600" y="3543645"/>
          <a:ext cx="11497263" cy="4050315"/>
        </p:xfrm>
        <a:graphic>
          <a:graphicData uri="http://schemas.openxmlformats.org/drawingml/2006/table">
            <a:tbl>
              <a:tblPr/>
              <a:tblGrid>
                <a:gridCol w="2824556"/>
                <a:gridCol w="8672707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Cada cadastro deve gerar o acesso a interface e dados de acordo com o indivíduo.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 RF02, RF04, RF05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695813" y="2693039"/>
          <a:ext cx="11175022" cy="850606"/>
        </p:xfrm>
        <a:graphic>
          <a:graphicData uri="http://schemas.openxmlformats.org/drawingml/2006/table">
            <a:tbl>
              <a:tblPr/>
              <a:tblGrid>
                <a:gridCol w="2739054"/>
                <a:gridCol w="2593542"/>
                <a:gridCol w="2049579"/>
                <a:gridCol w="3792847"/>
              </a:tblGrid>
              <a:tr h="7264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RN03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Relatório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695813" y="3543645"/>
          <a:ext cx="11175022" cy="4050315"/>
        </p:xfrm>
        <a:graphic>
          <a:graphicData uri="http://schemas.openxmlformats.org/drawingml/2006/table">
            <a:tbl>
              <a:tblPr/>
              <a:tblGrid>
                <a:gridCol w="2745390"/>
                <a:gridCol w="8429632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O professor deve enviar a cada bimestre o relatório com dados dos alunos, boletim, frequência, e após a prova enviar as notas dentro do prazo de 7 dias.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RF05,RF03,RF02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726232" y="2406603"/>
          <a:ext cx="11121315" cy="850606"/>
        </p:xfrm>
        <a:graphic>
          <a:graphicData uri="http://schemas.openxmlformats.org/drawingml/2006/table">
            <a:tbl>
              <a:tblPr/>
              <a:tblGrid>
                <a:gridCol w="2725890"/>
                <a:gridCol w="2581078"/>
                <a:gridCol w="2039729"/>
                <a:gridCol w="3774619"/>
              </a:tblGrid>
              <a:tr h="7264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RN04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Notificação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726232" y="3257209"/>
          <a:ext cx="11121315" cy="4050315"/>
        </p:xfrm>
        <a:graphic>
          <a:graphicData uri="http://schemas.openxmlformats.org/drawingml/2006/table">
            <a:tbl>
              <a:tblPr/>
              <a:tblGrid>
                <a:gridCol w="2732196"/>
                <a:gridCol w="8389119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Os pais devem receber notificações de ausência dos filhos no mesmo dia da ocorrência.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RF02,RF04,RF05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767422" y="2406603"/>
          <a:ext cx="11031804" cy="850606"/>
        </p:xfrm>
        <a:graphic>
          <a:graphicData uri="http://schemas.openxmlformats.org/drawingml/2006/table">
            <a:tbl>
              <a:tblPr/>
              <a:tblGrid>
                <a:gridCol w="2703951"/>
                <a:gridCol w="2560303"/>
                <a:gridCol w="2023312"/>
                <a:gridCol w="3744238"/>
              </a:tblGrid>
              <a:tr h="7264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RN05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Compatibilidade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767422" y="3257209"/>
          <a:ext cx="11031804" cy="4050315"/>
        </p:xfrm>
        <a:graphic>
          <a:graphicData uri="http://schemas.openxmlformats.org/drawingml/2006/table">
            <a:tbl>
              <a:tblPr/>
              <a:tblGrid>
                <a:gridCol w="2710206"/>
                <a:gridCol w="8321598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A aplicação deve ser compatível no sistema existentes, como sistemas de contabilidade.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"/>
                        </a:rPr>
                        <a:t>Media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"/>
                        </a:rPr>
                        <a:t>XXXXXXX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749520" y="2406603"/>
          <a:ext cx="11264534" cy="850606"/>
        </p:xfrm>
        <a:graphic>
          <a:graphicData uri="http://schemas.openxmlformats.org/drawingml/2006/table">
            <a:tbl>
              <a:tblPr/>
              <a:tblGrid>
                <a:gridCol w="2760994"/>
                <a:gridCol w="2614316"/>
                <a:gridCol w="2065996"/>
                <a:gridCol w="3823228"/>
              </a:tblGrid>
              <a:tr h="72648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Arial Nova Bold"/>
                        </a:rPr>
                        <a:t>IDENTIFICADOR: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RN06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NOME: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FFFFFF"/>
                          </a:solidFill>
                          <a:latin typeface="Arial Nova Bold"/>
                        </a:rPr>
                        <a:t>Acessibilidade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749520" y="3257209"/>
          <a:ext cx="11264534" cy="4050315"/>
        </p:xfrm>
        <a:graphic>
          <a:graphicData uri="http://schemas.openxmlformats.org/drawingml/2006/table">
            <a:tbl>
              <a:tblPr/>
              <a:tblGrid>
                <a:gridCol w="2767381"/>
                <a:gridCol w="8497153"/>
              </a:tblGrid>
              <a:tr h="2445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DESCRIÇÃO: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al Nova Bold"/>
                        </a:rPr>
                        <a:t>O sistema deve ser acessível, tendo funções que facilitem o uso do portal por pessoas com diversos tipos de deficiência.</a:t>
                      </a:r>
                      <a:endParaRPr lang="en-US" sz="1100"/>
                    </a:p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PRIORIDADE: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 Bold"/>
                        </a:rPr>
                        <a:t>Alta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  <a:tr h="80259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31">
                          <a:solidFill>
                            <a:srgbClr val="000000"/>
                          </a:solidFill>
                          <a:latin typeface="Arial Nova Bold"/>
                        </a:rPr>
                        <a:t>DEPENDÊNCIA: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Arial Nova"/>
                        </a:rPr>
                        <a:t>XXXXXXX</a:t>
                      </a:r>
                      <a:endParaRPr lang="en-US" sz="1100"/>
                    </a:p>
                  </a:txBody>
                  <a:tcPr marL="188909" marR="188909" marT="188909" marB="188909" anchor="ctr">
                    <a:lnL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59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4207588" cy="10287000"/>
            <a:chOff x="0" y="0"/>
            <a:chExt cx="561011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0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610174">
                  <a:moveTo>
                    <a:pt x="0" y="0"/>
                  </a:moveTo>
                  <a:lnTo>
                    <a:pt x="5610174" y="0"/>
                  </a:lnTo>
                  <a:lnTo>
                    <a:pt x="56101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828" y="4313095"/>
            <a:ext cx="3777933" cy="110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Arimo"/>
              </a:rPr>
              <a:t>REGRAS DE NEGÓCIO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746437"/>
            <a:ext cx="796666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Open Sans 1 Bold"/>
              </a:rPr>
              <a:t>OBRIGADO!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158622" y="2293832"/>
            <a:ext cx="665443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020337" y="3123744"/>
            <a:ext cx="493100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93626" y="7906212"/>
            <a:ext cx="568857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39238" y="1615434"/>
            <a:ext cx="8276586" cy="7388734"/>
          </a:xfrm>
          <a:custGeom>
            <a:avLst/>
            <a:gdLst/>
            <a:ahLst/>
            <a:cxnLst/>
            <a:rect r="r" b="b" t="t" l="l"/>
            <a:pathLst>
              <a:path h="7388734" w="8276586">
                <a:moveTo>
                  <a:pt x="0" y="0"/>
                </a:moveTo>
                <a:lnTo>
                  <a:pt x="8276585" y="0"/>
                </a:lnTo>
                <a:lnTo>
                  <a:pt x="8276585" y="7388734"/>
                </a:lnTo>
                <a:lnTo>
                  <a:pt x="0" y="7388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479" y="6377197"/>
            <a:ext cx="5792721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>
                <a:solidFill>
                  <a:srgbClr val="000000"/>
                </a:solidFill>
                <a:latin typeface="Open Sans 1 Bold"/>
              </a:rPr>
              <a:t>DÚVIDAS?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39238" y="4866182"/>
            <a:ext cx="9525" cy="57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19976" y="2217632"/>
            <a:ext cx="49317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Open Sans 1 Bold"/>
              </a:rPr>
              <a:t>PELA ATENÇÃO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A1DB91-A385-427C-943D-4A0C4D7585B2}"/>
</file>

<file path=customXml/itemProps2.xml><?xml version="1.0" encoding="utf-8"?>
<ds:datastoreItem xmlns:ds="http://schemas.openxmlformats.org/officeDocument/2006/customXml" ds:itemID="{44267203-4BBB-4017-94A3-EA20368F021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DAGHOGUNo0c</dc:identifier>
  <dcterms:modified xsi:type="dcterms:W3CDTF">2011-08-01T06:04:30Z</dcterms:modified>
  <cp:revision>1</cp:revision>
  <dc:title>G5_Apresentação de Case</dc:title>
</cp:coreProperties>
</file>