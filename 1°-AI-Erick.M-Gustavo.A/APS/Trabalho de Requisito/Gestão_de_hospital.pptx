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81" r:id="rId11"/>
    <p:sldId id="282" r:id="rId12"/>
    <p:sldId id="283" r:id="rId13"/>
    <p:sldId id="266" r:id="rId14"/>
    <p:sldId id="262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4" r:id="rId24"/>
    <p:sldId id="267" r:id="rId25"/>
    <p:sldId id="268" r:id="rId26"/>
    <p:sldId id="269" r:id="rId27"/>
    <p:sldId id="270" r:id="rId28"/>
    <p:sldId id="271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D3D8"/>
    <a:srgbClr val="F3EFF0"/>
    <a:srgbClr val="C4E7E3"/>
    <a:srgbClr val="E8DFF0"/>
    <a:srgbClr val="9AD4D8"/>
    <a:srgbClr val="C9EAE1"/>
    <a:srgbClr val="7E6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F0396-B777-E034-AC7C-C4833EE79478}" v="416" dt="2024-06-03T21:17:17.681"/>
    <p1510:client id="{81540F94-25C5-92C7-F27D-F55B09A0B72D}" v="951" dt="2024-06-04T17:29:24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PEREIRA SANTOS" userId="S::guilherme.santos1607@etec.sp.gov.br::82776f72-9844-4c13-8127-60a6d0a7e6f1" providerId="AD" clId="Web-{81540F94-25C5-92C7-F27D-F55B09A0B72D}"/>
    <pc:docChg chg="modSld">
      <pc:chgData name="GUILHERME PEREIRA SANTOS" userId="S::guilherme.santos1607@etec.sp.gov.br::82776f72-9844-4c13-8127-60a6d0a7e6f1" providerId="AD" clId="Web-{81540F94-25C5-92C7-F27D-F55B09A0B72D}" dt="2024-06-04T17:29:24.487" v="897"/>
      <pc:docMkLst>
        <pc:docMk/>
      </pc:docMkLst>
      <pc:sldChg chg="modSp modTransition addAnim delAnim">
        <pc:chgData name="GUILHERME PEREIRA SANTOS" userId="S::guilherme.santos1607@etec.sp.gov.br::82776f72-9844-4c13-8127-60a6d0a7e6f1" providerId="AD" clId="Web-{81540F94-25C5-92C7-F27D-F55B09A0B72D}" dt="2024-06-04T17:25:55.069" v="867"/>
        <pc:sldMkLst>
          <pc:docMk/>
          <pc:sldMk cId="1533845401" sldId="259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4:49.713" v="10"/>
          <ac:graphicFrameMkLst>
            <pc:docMk/>
            <pc:sldMk cId="1533845401" sldId="259"/>
            <ac:graphicFrameMk id="4" creationId="{9E7A1668-C43E-69D4-762D-3D69BAA9A363}"/>
          </ac:graphicFrameMkLst>
        </pc:graphicFrameChg>
      </pc:sldChg>
      <pc:sldChg chg="modSp modTransition addAnim delAnim">
        <pc:chgData name="GUILHERME PEREIRA SANTOS" userId="S::guilherme.santos1607@etec.sp.gov.br::82776f72-9844-4c13-8127-60a6d0a7e6f1" providerId="AD" clId="Web-{81540F94-25C5-92C7-F27D-F55B09A0B72D}" dt="2024-06-04T17:26:11.133" v="868"/>
        <pc:sldMkLst>
          <pc:docMk/>
          <pc:sldMk cId="206203743" sldId="260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5:14.543" v="21"/>
          <ac:graphicFrameMkLst>
            <pc:docMk/>
            <pc:sldMk cId="206203743" sldId="260"/>
            <ac:graphicFrameMk id="4" creationId="{9E7A1668-C43E-69D4-762D-3D69BAA9A363}"/>
          </ac:graphicFrameMkLst>
        </pc:graphicFrameChg>
      </pc:sldChg>
      <pc:sldChg chg="modSp modTransition addAnim delAnim">
        <pc:chgData name="GUILHERME PEREIRA SANTOS" userId="S::guilherme.santos1607@etec.sp.gov.br::82776f72-9844-4c13-8127-60a6d0a7e6f1" providerId="AD" clId="Web-{81540F94-25C5-92C7-F27D-F55B09A0B72D}" dt="2024-06-04T17:26:19.243" v="869"/>
        <pc:sldMkLst>
          <pc:docMk/>
          <pc:sldMk cId="2763209560" sldId="261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9:26.682" v="149"/>
          <ac:graphicFrameMkLst>
            <pc:docMk/>
            <pc:sldMk cId="2763209560" sldId="261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7:44.263" v="877"/>
        <pc:sldMkLst>
          <pc:docMk/>
          <pc:sldMk cId="4240749831" sldId="262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09:55.515" v="426"/>
          <ac:graphicFrameMkLst>
            <pc:docMk/>
            <pc:sldMk cId="4240749831" sldId="262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6:20.977" v="870"/>
        <pc:sldMkLst>
          <pc:docMk/>
          <pc:sldMk cId="1898075890" sldId="263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9:13.119" v="134"/>
          <ac:graphicFrameMkLst>
            <pc:docMk/>
            <pc:sldMk cId="1898075890" sldId="263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6:23.852" v="871"/>
        <pc:sldMkLst>
          <pc:docMk/>
          <pc:sldMk cId="2524411333" sldId="264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9:00.837" v="119"/>
          <ac:graphicFrameMkLst>
            <pc:docMk/>
            <pc:sldMk cId="2524411333" sldId="264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6:25.852" v="872"/>
        <pc:sldMkLst>
          <pc:docMk/>
          <pc:sldMk cId="2920100914" sldId="265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8:42.492" v="104"/>
          <ac:graphicFrameMkLst>
            <pc:docMk/>
            <pc:sldMk cId="2920100914" sldId="265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04.893" v="889"/>
        <pc:sldMkLst>
          <pc:docMk/>
          <pc:sldMk cId="3365351264" sldId="268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1:12.991" v="769"/>
          <ac:graphicFrameMkLst>
            <pc:docMk/>
            <pc:sldMk cId="3365351264" sldId="268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08.455" v="890"/>
        <pc:sldMkLst>
          <pc:docMk/>
          <pc:sldMk cId="2338632222" sldId="269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1:53.446" v="786"/>
          <ac:graphicFrameMkLst>
            <pc:docMk/>
            <pc:sldMk cId="2338632222" sldId="269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11.112" v="891"/>
        <pc:sldMkLst>
          <pc:docMk/>
          <pc:sldMk cId="2539102325" sldId="270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2:17.432" v="803"/>
          <ac:graphicFrameMkLst>
            <pc:docMk/>
            <pc:sldMk cId="2539102325" sldId="270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13.112" v="892"/>
        <pc:sldMkLst>
          <pc:docMk/>
          <pc:sldMk cId="3684151015" sldId="271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2:59.028" v="812"/>
          <ac:graphicFrameMkLst>
            <pc:docMk/>
            <pc:sldMk cId="3684151015" sldId="271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7:46.794" v="878"/>
        <pc:sldMkLst>
          <pc:docMk/>
          <pc:sldMk cId="3590095439" sldId="272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09:42.889" v="424"/>
          <ac:graphicFrameMkLst>
            <pc:docMk/>
            <pc:sldMk cId="3590095439" sldId="272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7:51.560" v="879"/>
        <pc:sldMkLst>
          <pc:docMk/>
          <pc:sldMk cId="3066359383" sldId="273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09:31.341" v="422"/>
          <ac:graphicFrameMkLst>
            <pc:docMk/>
            <pc:sldMk cId="3066359383" sldId="273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7:54.889" v="880"/>
        <pc:sldMkLst>
          <pc:docMk/>
          <pc:sldMk cId="1130713865" sldId="274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09:23.857" v="420"/>
          <ac:graphicFrameMkLst>
            <pc:docMk/>
            <pc:sldMk cId="1130713865" sldId="274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8:33.219" v="881"/>
        <pc:sldMkLst>
          <pc:docMk/>
          <pc:sldMk cId="4078937231" sldId="275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09:12.293" v="418"/>
          <ac:graphicFrameMkLst>
            <pc:docMk/>
            <pc:sldMk cId="4078937231" sldId="275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8:36.063" v="882"/>
        <pc:sldMkLst>
          <pc:docMk/>
          <pc:sldMk cId="2511418908" sldId="276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08:05.368" v="372"/>
          <ac:graphicFrameMkLst>
            <pc:docMk/>
            <pc:sldMk cId="2511418908" sldId="276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8:53.345" v="885"/>
        <pc:sldMkLst>
          <pc:docMk/>
          <pc:sldMk cId="3512542255" sldId="277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08:23.572" v="393"/>
          <ac:graphicFrameMkLst>
            <pc:docMk/>
            <pc:sldMk cId="3512542255" sldId="277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8:57.236" v="886"/>
        <pc:sldMkLst>
          <pc:docMk/>
          <pc:sldMk cId="3670252904" sldId="278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08:57.214" v="416"/>
          <ac:graphicFrameMkLst>
            <pc:docMk/>
            <pc:sldMk cId="3670252904" sldId="278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8:59.814" v="887"/>
        <pc:sldMkLst>
          <pc:docMk/>
          <pc:sldMk cId="1654518571" sldId="279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10:33.517" v="449"/>
          <ac:graphicFrameMkLst>
            <pc:docMk/>
            <pc:sldMk cId="1654518571" sldId="279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6:29.556" v="873"/>
        <pc:sldMkLst>
          <pc:docMk/>
          <pc:sldMk cId="768917424" sldId="281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8:16.678" v="89"/>
          <ac:graphicFrameMkLst>
            <pc:docMk/>
            <pc:sldMk cId="768917424" sldId="281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6:39.681" v="875"/>
        <pc:sldMkLst>
          <pc:docMk/>
          <pc:sldMk cId="1919344903" sldId="282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7:57.364" v="75"/>
          <ac:graphicFrameMkLst>
            <pc:docMk/>
            <pc:sldMk cId="1919344903" sldId="282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6:42.884" v="876"/>
        <pc:sldMkLst>
          <pc:docMk/>
          <pc:sldMk cId="4146469258" sldId="283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6:57:25.206" v="60"/>
          <ac:graphicFrameMkLst>
            <pc:docMk/>
            <pc:sldMk cId="4146469258" sldId="283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02.205" v="888"/>
        <pc:sldMkLst>
          <pc:docMk/>
          <pc:sldMk cId="708065614" sldId="284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10:52.518" v="466"/>
          <ac:graphicFrameMkLst>
            <pc:docMk/>
            <pc:sldMk cId="708065614" sldId="284"/>
            <ac:graphicFrameMk id="2" creationId="{F53F9E28-F60E-12DA-9084-D7EAA7D4010D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15.253" v="893"/>
        <pc:sldMkLst>
          <pc:docMk/>
          <pc:sldMk cId="3753917182" sldId="285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3:23.045" v="824"/>
          <ac:graphicFrameMkLst>
            <pc:docMk/>
            <pc:sldMk cId="3753917182" sldId="285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18.096" v="894"/>
        <pc:sldMkLst>
          <pc:docMk/>
          <pc:sldMk cId="3415917562" sldId="286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3:39.046" v="833"/>
          <ac:graphicFrameMkLst>
            <pc:docMk/>
            <pc:sldMk cId="3415917562" sldId="286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20.690" v="895"/>
        <pc:sldMkLst>
          <pc:docMk/>
          <pc:sldMk cId="3051373823" sldId="287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3:54.312" v="842"/>
          <ac:graphicFrameMkLst>
            <pc:docMk/>
            <pc:sldMk cId="3051373823" sldId="287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22.503" v="896"/>
        <pc:sldMkLst>
          <pc:docMk/>
          <pc:sldMk cId="3643955175" sldId="288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4:17.142" v="851"/>
          <ac:graphicFrameMkLst>
            <pc:docMk/>
            <pc:sldMk cId="3643955175" sldId="288"/>
            <ac:graphicFrameMk id="4" creationId="{9E7A1668-C43E-69D4-762D-3D69BAA9A363}"/>
          </ac:graphicFrameMkLst>
        </pc:graphicFrameChg>
      </pc:sldChg>
      <pc:sldChg chg="modSp modTransition">
        <pc:chgData name="GUILHERME PEREIRA SANTOS" userId="S::guilherme.santos1607@etec.sp.gov.br::82776f72-9844-4c13-8127-60a6d0a7e6f1" providerId="AD" clId="Web-{81540F94-25C5-92C7-F27D-F55B09A0B72D}" dt="2024-06-04T17:29:24.487" v="897"/>
        <pc:sldMkLst>
          <pc:docMk/>
          <pc:sldMk cId="2062170364" sldId="289"/>
        </pc:sldMkLst>
        <pc:graphicFrameChg chg="mod modGraphic">
          <ac:chgData name="GUILHERME PEREIRA SANTOS" userId="S::guilherme.santos1607@etec.sp.gov.br::82776f72-9844-4c13-8127-60a6d0a7e6f1" providerId="AD" clId="Web-{81540F94-25C5-92C7-F27D-F55B09A0B72D}" dt="2024-06-04T17:24:30.018" v="860"/>
          <ac:graphicFrameMkLst>
            <pc:docMk/>
            <pc:sldMk cId="2062170364" sldId="289"/>
            <ac:graphicFrameMk id="4" creationId="{9E7A1668-C43E-69D4-762D-3D69BAA9A36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5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3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27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9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2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1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7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3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7" r:id="rId2"/>
    <p:sldLayoutId id="2147483958" r:id="rId3"/>
    <p:sldLayoutId id="2147483959" r:id="rId4"/>
    <p:sldLayoutId id="2147483960" r:id="rId5"/>
    <p:sldLayoutId id="2147483954" r:id="rId6"/>
    <p:sldLayoutId id="2147483950" r:id="rId7"/>
    <p:sldLayoutId id="2147483951" r:id="rId8"/>
    <p:sldLayoutId id="2147483952" r:id="rId9"/>
    <p:sldLayoutId id="2147483953" r:id="rId10"/>
    <p:sldLayoutId id="21474839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Straight Connector 264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66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68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7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72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274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276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3" name="Rectangle 278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47158E9-6190-CC85-3495-6BFC8C50D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6159" y="685800"/>
            <a:ext cx="6238688" cy="1382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/>
              <a:t>SISTEMA DE GESTÃO HOSPITALAR</a:t>
            </a:r>
            <a:endParaRPr lang="en-US" sz="4400" dirty="0"/>
          </a:p>
          <a:p>
            <a:pPr algn="l"/>
            <a:endParaRPr lang="en-US" sz="4400" dirty="0"/>
          </a:p>
        </p:txBody>
      </p:sp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45" b="11045"/>
          <a:stretch/>
        </p:blipFill>
        <p:spPr>
          <a:xfrm>
            <a:off x="20" y="-7444"/>
            <a:ext cx="4966427" cy="6874330"/>
          </a:xfrm>
          <a:custGeom>
            <a:avLst/>
            <a:gdLst/>
            <a:ahLst/>
            <a:cxnLst/>
            <a:rect l="l" t="t" r="r" b="b"/>
            <a:pathLst>
              <a:path w="4966447" h="6874330">
                <a:moveTo>
                  <a:pt x="0" y="0"/>
                </a:moveTo>
                <a:lnTo>
                  <a:pt x="4966447" y="0"/>
                </a:lnTo>
                <a:lnTo>
                  <a:pt x="3355712" y="6874330"/>
                </a:lnTo>
                <a:lnTo>
                  <a:pt x="0" y="6874330"/>
                </a:lnTo>
                <a:close/>
              </a:path>
            </a:pathLst>
          </a:custGeom>
        </p:spPr>
      </p:pic>
      <p:sp>
        <p:nvSpPr>
          <p:cNvPr id="6" name="Subtítulo 5">
            <a:extLst>
              <a:ext uri="{FF2B5EF4-FFF2-40B4-BE49-F238E27FC236}">
                <a16:creationId xmlns:a16="http://schemas.microsoft.com/office/drawing/2014/main" id="{43FD4D36-8F5F-9336-2503-94198DB3B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6158" y="2301949"/>
            <a:ext cx="6238687" cy="402265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Gabriel Chaves da Silva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Giovana </a:t>
            </a:r>
            <a:r>
              <a:rPr lang="en-US" dirty="0" err="1"/>
              <a:t>escarelli</a:t>
            </a:r>
            <a:r>
              <a:rPr lang="en-US" dirty="0"/>
              <a:t> </a:t>
            </a:r>
            <a:r>
              <a:rPr lang="en-US" dirty="0" err="1"/>
              <a:t>gomes</a:t>
            </a:r>
            <a:endParaRPr lang="en-US" dirty="0"/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Giulia de </a:t>
            </a:r>
            <a:r>
              <a:rPr lang="en-US" dirty="0" err="1"/>
              <a:t>souza</a:t>
            </a:r>
            <a:r>
              <a:rPr lang="en-US" dirty="0"/>
              <a:t> </a:t>
            </a:r>
            <a:r>
              <a:rPr lang="en-US" dirty="0" err="1"/>
              <a:t>resende</a:t>
            </a:r>
            <a:r>
              <a:rPr lang="en-US" dirty="0"/>
              <a:t> santos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Guilherme Pereira santos</a:t>
            </a:r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Gustavo </a:t>
            </a:r>
            <a:r>
              <a:rPr lang="en-US" dirty="0" err="1"/>
              <a:t>alberico</a:t>
            </a:r>
            <a:r>
              <a:rPr lang="en-US" dirty="0"/>
              <a:t> </a:t>
            </a:r>
            <a:r>
              <a:rPr lang="en-US" dirty="0" err="1"/>
              <a:t>pinheiro</a:t>
            </a:r>
            <a:endParaRPr lang="en-US" dirty="0"/>
          </a:p>
        </p:txBody>
      </p:sp>
      <p:cxnSp>
        <p:nvCxnSpPr>
          <p:cNvPr id="304" name="Straight Connector 280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1" name="Rectangle 140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45" b="11045"/>
          <a:stretch/>
        </p:blipFill>
        <p:spPr>
          <a:xfrm>
            <a:off x="20" y="-7444"/>
            <a:ext cx="4966427" cy="6874330"/>
          </a:xfrm>
          <a:custGeom>
            <a:avLst/>
            <a:gdLst/>
            <a:ahLst/>
            <a:cxnLst/>
            <a:rect l="l" t="t" r="r" b="b"/>
            <a:pathLst>
              <a:path w="4966447" h="6874330">
                <a:moveTo>
                  <a:pt x="0" y="0"/>
                </a:moveTo>
                <a:lnTo>
                  <a:pt x="4966447" y="0"/>
                </a:lnTo>
                <a:lnTo>
                  <a:pt x="3355712" y="6874330"/>
                </a:lnTo>
                <a:lnTo>
                  <a:pt x="0" y="6874330"/>
                </a:lnTo>
                <a:close/>
              </a:path>
            </a:pathLst>
          </a:cu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C353F44-06B2-B903-440D-84BD0CD7880A}"/>
              </a:ext>
            </a:extLst>
          </p:cNvPr>
          <p:cNvSpPr txBox="1"/>
          <p:nvPr/>
        </p:nvSpPr>
        <p:spPr>
          <a:xfrm>
            <a:off x="5146158" y="2301949"/>
            <a:ext cx="6238687" cy="40226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  <a:buSzPct val="80000"/>
            </a:pPr>
            <a:r>
              <a:rPr lang="en-US" dirty="0">
                <a:solidFill>
                  <a:schemeClr val="tx2"/>
                </a:solidFill>
              </a:rPr>
              <a:t>De acordo com a descrição fornecida pelo cliente:</a:t>
            </a:r>
            <a:endParaRPr lang="pt-BR" dirty="0">
              <a:solidFill>
                <a:schemeClr val="tx2"/>
              </a:solidFill>
            </a:endParaRPr>
          </a:p>
          <a:p>
            <a:pPr indent="-228600" algn="ctr">
              <a:lnSpc>
                <a:spcPct val="90000"/>
              </a:lnSpc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  <a:buSzPct val="80000"/>
            </a:pPr>
            <a:r>
              <a:rPr lang="en-US" dirty="0">
                <a:solidFill>
                  <a:schemeClr val="tx2"/>
                </a:solidFill>
              </a:rPr>
              <a:t>“Um hospital necessita de um sistema para gerenciar prontuários eletrônicos, agendamentos de consultas, e controle de medicamentos. O sistema deve permitir o cadastro de pacientes e médicos, o agendamento e confirmação de consultas, controle de estoque de medicamentos, e manter um prontuário eletrônico com histórico médico do paciente. O sistema deve ser conforme com as normas de segurança de dados (HIPAA), Ter alta disponibilidade e redundância de dados, e possuir uma interface intuitiva para usuários não técnicos. Cada médico pode atender até 20 pacientes por dia, e as consultas devem ser agendadas com pelo menos 24 horas de antecedência. Medicamentos com estoque abaixo de 10 unidades devem gerar um alerta automático para reposição.”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SzPct val="80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449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353F44-06B2-B903-440D-84BD0CD7880A}"/>
              </a:ext>
            </a:extLst>
          </p:cNvPr>
          <p:cNvSpPr txBox="1"/>
          <p:nvPr/>
        </p:nvSpPr>
        <p:spPr>
          <a:xfrm>
            <a:off x="4305869" y="1994264"/>
            <a:ext cx="6935872" cy="392275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i="1" kern="1200" cap="all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Requisitos Funcionais: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i="1" kern="1200" cap="all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84" b="9884"/>
          <a:stretch/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834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794367"/>
              </p:ext>
            </p:extLst>
          </p:nvPr>
        </p:nvGraphicFramePr>
        <p:xfrm>
          <a:off x="4241321" y="1998453"/>
          <a:ext cx="7561792" cy="305064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RF01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Cadastro de Pacientes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pt-BR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88073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Permitir o cadastro de novos pacientes no sistema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3845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466104"/>
              </p:ext>
            </p:extLst>
          </p:nvPr>
        </p:nvGraphicFramePr>
        <p:xfrm>
          <a:off x="4241321" y="1998453"/>
          <a:ext cx="7561792" cy="288910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RF02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Cadastro de Profissionais</a:t>
                      </a:r>
                      <a:endParaRPr lang="pt-BR" sz="2400" b="1"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pt-BR" b="1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Permitir o cadastro de Profissionais no sistema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6203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23896"/>
              </p:ext>
            </p:extLst>
          </p:nvPr>
        </p:nvGraphicFramePr>
        <p:xfrm>
          <a:off x="4241321" y="1998453"/>
          <a:ext cx="7561792" cy="28767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RF03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Agendamento de Consultas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Permitir que recepcionistas ou pacientes agendem consultas com médicos disponíveis. 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RN07, RN02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63209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864801"/>
              </p:ext>
            </p:extLst>
          </p:nvPr>
        </p:nvGraphicFramePr>
        <p:xfrm>
          <a:off x="4241321" y="1998453"/>
          <a:ext cx="7561792" cy="300479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8348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RF04</a:t>
                      </a:r>
                      <a:endParaRPr lang="pt-BR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Confirmação de Consultas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Enviar lembretes de consulta para pacientes e permitir que eles confirmem sua presença. O sistema deve atualizar o status da consulta de acordo com as confirmações recebidas.</a:t>
                      </a:r>
                      <a:r>
                        <a:rPr lang="pt-BR" sz="1200" b="0" i="0" u="none" strike="noStrike" noProof="0" dirty="0">
                          <a:latin typeface="Arial"/>
                        </a:rPr>
                        <a:t> </a:t>
                      </a:r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98075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853060"/>
              </p:ext>
            </p:extLst>
          </p:nvPr>
        </p:nvGraphicFramePr>
        <p:xfrm>
          <a:off x="4241321" y="1998453"/>
          <a:ext cx="7561792" cy="299247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8348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RF05</a:t>
                      </a:r>
                      <a:endParaRPr lang="pt-BR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Controle de Estoque de Medicamentos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Permitir o registro e controle de medicamentos disponíveis no hospital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Baixa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24411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257826"/>
              </p:ext>
            </p:extLst>
          </p:nvPr>
        </p:nvGraphicFramePr>
        <p:xfrm>
          <a:off x="4241321" y="1998453"/>
          <a:ext cx="7561792" cy="299247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8348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RF06</a:t>
                      </a:r>
                      <a:endParaRPr lang="pt-BR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Prontuário Eletrônico do Paciente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Manter um prontuário eletrônico completo para cada paciente 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20100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32108"/>
              </p:ext>
            </p:extLst>
          </p:nvPr>
        </p:nvGraphicFramePr>
        <p:xfrm>
          <a:off x="4241321" y="1998453"/>
          <a:ext cx="7561792" cy="299247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834886">
                <a:tc>
                  <a:txBody>
                    <a:bodyPr/>
                    <a:lstStyle/>
                    <a:p>
                      <a:pPr algn="ctr"/>
                      <a:r>
                        <a:rPr lang="pt-BR" sz="2400" b="0" dirty="0">
                          <a:solidFill>
                            <a:schemeClr val="tx1"/>
                          </a:solidFill>
                          <a:latin typeface="Arial"/>
                        </a:rPr>
                        <a:t>RF07</a:t>
                      </a:r>
                      <a:endParaRPr lang="pt-BR" b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Backups automáticos de dados</a:t>
                      </a:r>
                      <a:endParaRPr lang="pt-BR" sz="2400" b="0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latin typeface="Arial"/>
                        </a:rPr>
                        <a:t>Realizar backups automáticos dos dados do sistema regularmente para garantir a recuperação de dados em caso de falhas no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RN05, RN06, RN07, RN08, RN09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689174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948085"/>
              </p:ext>
            </p:extLst>
          </p:nvPr>
        </p:nvGraphicFramePr>
        <p:xfrm>
          <a:off x="4241321" y="1998453"/>
          <a:ext cx="7561792" cy="300479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8348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RF08</a:t>
                      </a:r>
                      <a:endParaRPr lang="pt-BR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Integração com normas de segurança de dados (HIPPA)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latin typeface="Arial"/>
                        </a:rPr>
                        <a:t>implementar medidas de segurança adequadas para proteger informações sensíveis dos pacientes conforme exigido pela HIPAA, incluindo controle de acesso, criptografia de dados e auditorias.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19344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32603"/>
              </p:ext>
            </p:extLst>
          </p:nvPr>
        </p:nvGraphicFramePr>
        <p:xfrm>
          <a:off x="4288213" y="2021899"/>
          <a:ext cx="7561792" cy="300479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83488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RF09</a:t>
                      </a:r>
                      <a:endParaRPr lang="pt-BR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Alerta Automático de Reposição de Medicamentos</a:t>
                      </a:r>
                      <a:endParaRPr lang="pt-BR" sz="24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Gerar alertas automáticos quando a quantidade de um medicamento atinge um nível crítico (por exemplo, abaixo de 10 unidades), indicando a necessidade de reposição.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Baixa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46469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353F44-06B2-B903-440D-84BD0CD7880A}"/>
              </a:ext>
            </a:extLst>
          </p:cNvPr>
          <p:cNvSpPr txBox="1"/>
          <p:nvPr/>
        </p:nvSpPr>
        <p:spPr>
          <a:xfrm>
            <a:off x="4305869" y="1994264"/>
            <a:ext cx="7554098" cy="392275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i="1" kern="1200" cap="all" baseline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Requisitos</a:t>
            </a:r>
            <a:r>
              <a:rPr lang="en-US" sz="6600" i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não </a:t>
            </a:r>
            <a:r>
              <a:rPr lang="en-US" sz="6600" i="1" kern="1200" cap="all" baseline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Funcionais</a:t>
            </a:r>
            <a:r>
              <a:rPr lang="en-US" sz="6600" i="1" kern="1200" cap="all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  <a:endParaRPr lang="pt-BR" dirty="0">
              <a:solidFill>
                <a:schemeClr val="tx2"/>
              </a:solidFill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i="1" kern="1200" cap="all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84" b="9884"/>
          <a:stretch/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97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13428"/>
              </p:ext>
            </p:extLst>
          </p:nvPr>
        </p:nvGraphicFramePr>
        <p:xfrm>
          <a:off x="3923869" y="2131357"/>
          <a:ext cx="8168639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RNF01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Segurança de Dados (HIPAA)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O sistema deve garantir que todas as informações de saúde dos pacientes sejam tratadas de acordo com as normas de segurança e privacidade estabelecidas pela HIPAA, incluindo a proteção de dados contra acessos não autorizados e violações.</a:t>
                      </a:r>
                      <a:endParaRPr lang="pt-BR" sz="14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Segurança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Deixar o sistema seguro e confiável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/>
                        </a:rPr>
                        <a:t>Guardando os dados de forma segura e privativa, colocando restrições de acesso.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RN04, RNF10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40749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896639"/>
              </p:ext>
            </p:extLst>
          </p:nvPr>
        </p:nvGraphicFramePr>
        <p:xfrm>
          <a:off x="3923869" y="2131357"/>
          <a:ext cx="816863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RNF02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Disponibilidade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O sistema deve estar disponível para uso 99,9% do tempo, com mínima interrupção, garantindo que os serviços hospitalares não sejam afetados por falhas no sistema</a:t>
                      </a:r>
                      <a:r>
                        <a:rPr lang="pt-BR" sz="1200" b="0" i="0" u="none" strike="noStrike" noProof="0" dirty="0">
                          <a:latin typeface="Arial"/>
                        </a:rPr>
                        <a:t>.</a:t>
                      </a:r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Desempenho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Manter o melhor desempenho e funcionabilidade do sistema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Deixar o sistema rápido porém leve, para melhor desempenho.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90095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274104"/>
              </p:ext>
            </p:extLst>
          </p:nvPr>
        </p:nvGraphicFramePr>
        <p:xfrm>
          <a:off x="3923869" y="2131357"/>
          <a:ext cx="8168639" cy="304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RNF03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Usabilidade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A interface do sistema deve ser intuitiva e fácil de usar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Usabilidade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latin typeface="Arial"/>
                        </a:rPr>
                        <a:t>Permitir que usuários com diferentes níveis de habilidade técnica possam operar o sistema sem dificuldade, minimizando a necessidade de treinamento extenso. 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Deixar a interface simples e intuitiva.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66359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853278"/>
              </p:ext>
            </p:extLst>
          </p:nvPr>
        </p:nvGraphicFramePr>
        <p:xfrm>
          <a:off x="3923869" y="2131357"/>
          <a:ext cx="8168639" cy="304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RNF04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Acessibilidade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O sistema deve ser acessível a todos os usuários.</a:t>
                      </a:r>
                      <a:endParaRPr lang="pt-BR" sz="14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Acessibilidade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Incluir aqueles com deficiências, conforme as diretrizes de acessibilidade, como as definidas pela WCAG (Web </a:t>
                      </a:r>
                      <a:r>
                        <a:rPr lang="pt-BR" sz="1400" b="0" i="0" u="none" strike="noStrike" noProof="0" err="1">
                          <a:solidFill>
                            <a:schemeClr val="tx1"/>
                          </a:solidFill>
                          <a:latin typeface="Arial"/>
                        </a:rPr>
                        <a:t>Content</a:t>
                      </a:r>
                      <a:r>
                        <a:rPr lang="pt-BR" sz="1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pt-BR" sz="1400" b="0" i="0" u="none" strike="noStrike" noProof="0" err="1">
                          <a:solidFill>
                            <a:schemeClr val="tx1"/>
                          </a:solidFill>
                          <a:latin typeface="Arial"/>
                        </a:rPr>
                        <a:t>Accessibility</a:t>
                      </a:r>
                      <a:r>
                        <a:rPr lang="pt-BR" sz="1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pt-BR" sz="1400" b="0" i="0" u="none" strike="noStrike" noProof="0" err="1">
                          <a:solidFill>
                            <a:schemeClr val="tx1"/>
                          </a:solidFill>
                          <a:latin typeface="Arial"/>
                        </a:rPr>
                        <a:t>Guidelines</a:t>
                      </a:r>
                      <a:r>
                        <a:rPr lang="pt-BR" sz="1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).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Ser adaptável para diversos tipos de deficiência.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30713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01702"/>
              </p:ext>
            </p:extLst>
          </p:nvPr>
        </p:nvGraphicFramePr>
        <p:xfrm>
          <a:off x="3923869" y="2131357"/>
          <a:ext cx="816863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RNF05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Desempenho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O sistema deve ter tempos de resposta rápidos para operações críticas, como consulta de prontuários e agendamento de consultas. </a:t>
                      </a:r>
                      <a:endParaRPr lang="pt-BR" sz="14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Desempenho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Ser capaz de lidar com muitos usuários simultâneos sem degradação do desempenho.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Remover dados desnecessários para a otimização do sistema.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78937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656605"/>
              </p:ext>
            </p:extLst>
          </p:nvPr>
        </p:nvGraphicFramePr>
        <p:xfrm>
          <a:off x="3923869" y="2131357"/>
          <a:ext cx="8168639" cy="304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RNF06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Manutenibilidade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O sistema deve ser fácil de manter e atualizar, com documentação clara e procedimentos bem definidos para correção de erros, atualizações e melhorias contínuas.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Manutenibilidade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Facilidade de atualizações no sistema.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Organizar todos os dados e documentações do sistema.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11418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333176"/>
              </p:ext>
            </p:extLst>
          </p:nvPr>
        </p:nvGraphicFramePr>
        <p:xfrm>
          <a:off x="3923869" y="2131357"/>
          <a:ext cx="8168639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solidFill>
                            <a:schemeClr val="tx1"/>
                          </a:solidFill>
                          <a:latin typeface="Arial"/>
                        </a:rPr>
                        <a:t>RNF07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Confiabilidade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i="0" u="none" strike="noStrike" noProof="0" dirty="0">
                          <a:latin typeface="Arial"/>
                        </a:rPr>
                        <a:t>O sistema deve ser capaz de operar de forma consistente e sem falhas, mesmo em condições adversas. </a:t>
                      </a:r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Confiabilidade.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Minimizar as falhas do sistema e deixa-lo mais confiável.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latin typeface="Arial"/>
                        </a:rPr>
                        <a:t> Mecanismos de tolerância a falhas e rápida recuperação em caso de problemas.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12542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45630"/>
              </p:ext>
            </p:extLst>
          </p:nvPr>
        </p:nvGraphicFramePr>
        <p:xfrm>
          <a:off x="3923869" y="2131357"/>
          <a:ext cx="8168639" cy="297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685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6019954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RNF08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Portabilidade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O sistema deve ser compatível com outras plataformas e dispositivos (desktops, tablets, smartphones).</a:t>
                      </a:r>
                      <a:endParaRPr lang="pt-BR" sz="140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Portabilidade.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/>
                        </a:rPr>
                        <a:t>Aumentar o Nº de usuários.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latin typeface="Arial"/>
                        </a:rPr>
                        <a:t>Integrar-se com sistemas externos e bancos de dados existentes no hospital. 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70252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045233"/>
              </p:ext>
            </p:extLst>
          </p:nvPr>
        </p:nvGraphicFramePr>
        <p:xfrm>
          <a:off x="3923869" y="2131357"/>
          <a:ext cx="8168639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RNF09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Suporte</a:t>
                      </a:r>
                      <a:endParaRPr lang="pt-BR" sz="2400" b="1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O sistema deve oferecer suporte técnico contínuo para resolver problemas e ajudar os usuários a maximizar a utilização do sistema.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Interoperabilidade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Dar suporte para os usuários.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O sistema deve oferecer suporte técnico contínuo para resolver problemas e ajudar os usuários a maximizar a utilização do sistema.</a:t>
                      </a:r>
                      <a:endParaRPr lang="pt-BR" sz="1400">
                        <a:latin typeface="Arial"/>
                      </a:endParaRPr>
                    </a:p>
                    <a:p>
                      <a:pPr algn="ctr"/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4518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53F9E28-F60E-12DA-9084-D7EAA7D40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280551"/>
              </p:ext>
            </p:extLst>
          </p:nvPr>
        </p:nvGraphicFramePr>
        <p:xfrm>
          <a:off x="3923869" y="2131357"/>
          <a:ext cx="8168639" cy="319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121">
                  <a:extLst>
                    <a:ext uri="{9D8B030D-6E8A-4147-A177-3AD203B41FA5}">
                      <a16:colId xmlns:a16="http://schemas.microsoft.com/office/drawing/2014/main" val="2262346058"/>
                    </a:ext>
                  </a:extLst>
                </a:gridCol>
                <a:gridCol w="5902518">
                  <a:extLst>
                    <a:ext uri="{9D8B030D-6E8A-4147-A177-3AD203B41FA5}">
                      <a16:colId xmlns:a16="http://schemas.microsoft.com/office/drawing/2014/main" val="28639381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RNF10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Proibição de Acesso a Dados Confidenciais</a:t>
                      </a:r>
                      <a:endParaRPr lang="pt-BR" sz="240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42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Usuários sem autorização não podem acessar ou visualizar dados confidenciais de pacientes.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05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Segurança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52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Escopo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Manter seguro dados confidenciais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Privatizar os dados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63521"/>
                  </a:ext>
                </a:extLst>
              </a:tr>
              <a:tr h="305871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955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1462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08065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353F44-06B2-B903-440D-84BD0CD7880A}"/>
              </a:ext>
            </a:extLst>
          </p:cNvPr>
          <p:cNvSpPr txBox="1"/>
          <p:nvPr/>
        </p:nvSpPr>
        <p:spPr>
          <a:xfrm>
            <a:off x="4305869" y="1994264"/>
            <a:ext cx="7554098" cy="392275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i="1" cap="all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ReGRas</a:t>
            </a:r>
            <a:r>
              <a:rPr lang="en-US" sz="6600" i="1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de Negocios</a:t>
            </a:r>
            <a:r>
              <a:rPr lang="en-US" sz="6600" i="1" kern="1200" cap="all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  <a:endParaRPr lang="pt-BR" dirty="0">
              <a:solidFill>
                <a:schemeClr val="tx2"/>
              </a:solidFill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i="1" kern="1200" cap="all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84" b="9884"/>
          <a:stretch/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868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236392"/>
              </p:ext>
            </p:extLst>
          </p:nvPr>
        </p:nvGraphicFramePr>
        <p:xfrm>
          <a:off x="4241321" y="1998453"/>
          <a:ext cx="7561792" cy="28767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RN01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Limite de Pacientes por Médico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Cada médico pode atender até 20 pacientes por dia.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65351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60301"/>
              </p:ext>
            </p:extLst>
          </p:nvPr>
        </p:nvGraphicFramePr>
        <p:xfrm>
          <a:off x="4241321" y="1998453"/>
          <a:ext cx="7561792" cy="299287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RN02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Antecedência Mínima para Agendamento de Consultas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As consultas devem ser agendadas com pelo menos 24 horas de antecedência.</a:t>
                      </a:r>
                      <a:endParaRPr lang="pt-BR" sz="1400">
                        <a:latin typeface="Arial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pt-BR" sz="1400" b="0" i="0" u="none" strike="noStrike" noProof="0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RF03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8632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484125"/>
              </p:ext>
            </p:extLst>
          </p:nvPr>
        </p:nvGraphicFramePr>
        <p:xfrm>
          <a:off x="4241321" y="1998453"/>
          <a:ext cx="7561792" cy="28767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>
                          <a:solidFill>
                            <a:schemeClr val="tx1"/>
                          </a:solidFill>
                          <a:latin typeface="Arial"/>
                        </a:rPr>
                        <a:t>RN03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Autenticação de Usuários</a:t>
                      </a:r>
                      <a:endParaRPr lang="pt-BR" sz="2400" b="1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b="0" i="0" u="none" strike="noStrike" noProof="0" dirty="0">
                          <a:latin typeface="Arial"/>
                        </a:rPr>
                        <a:t>Todos os usuários devem ser autenticados através de login e senha antes de acessar o sistema.</a:t>
                      </a:r>
                      <a:endParaRPr lang="pt-BR" sz="140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39102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932017"/>
              </p:ext>
            </p:extLst>
          </p:nvPr>
        </p:nvGraphicFramePr>
        <p:xfrm>
          <a:off x="4241321" y="1998453"/>
          <a:ext cx="7561792" cy="288910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RN04</a:t>
                      </a:r>
                      <a:endParaRPr lang="pt-BR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Restrições de Acesso por Função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O acesso a determinadas funcionalidades do sistema deve ser restrito com base nas funções e responsabilidades de cada usuário (exemplo: médicos, enfermeiros, recepcionistas).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RNF10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84151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857525"/>
              </p:ext>
            </p:extLst>
          </p:nvPr>
        </p:nvGraphicFramePr>
        <p:xfrm>
          <a:off x="4241321" y="1998453"/>
          <a:ext cx="7561792" cy="288910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RN05</a:t>
                      </a:r>
                      <a:endParaRPr lang="pt-BR" sz="240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Restrições de cadastro de pacientes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latin typeface="Arial"/>
                        </a:rPr>
                        <a:t>O cadastro dos pacientes deve obrigatoriamente incluir nome, data de nascimento, sexo, endereço, telefone, e informações médicas relevantes.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RF01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3917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621680"/>
              </p:ext>
            </p:extLst>
          </p:nvPr>
        </p:nvGraphicFramePr>
        <p:xfrm>
          <a:off x="4241321" y="1998453"/>
          <a:ext cx="7561792" cy="288910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RN06</a:t>
                      </a:r>
                      <a:endParaRPr lang="pt-BR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Restrições de cadastro profissional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latin typeface="Arial"/>
                        </a:rPr>
                        <a:t>O </a:t>
                      </a:r>
                      <a:r>
                        <a:rPr lang="pt-BR" sz="1400" b="0" i="0" u="none" strike="noStrike" noProof="0" err="1">
                          <a:latin typeface="Arial"/>
                        </a:rPr>
                        <a:t>resgistro</a:t>
                      </a:r>
                      <a:r>
                        <a:rPr lang="pt-BR" sz="1400" b="0" i="0" u="none" strike="noStrike" noProof="0" dirty="0">
                          <a:latin typeface="Arial"/>
                        </a:rPr>
                        <a:t> dos profissionais deve obrigatoriamente incluir nome, especialidade, número de registro profissional, horários de atendimento, e informações de contato.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RF02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15917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541749"/>
              </p:ext>
            </p:extLst>
          </p:nvPr>
        </p:nvGraphicFramePr>
        <p:xfrm>
          <a:off x="4241321" y="1998453"/>
          <a:ext cx="7561792" cy="288910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RN07</a:t>
                      </a:r>
                      <a:endParaRPr lang="pt-BR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Informações de consulta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latin typeface="Arial"/>
                        </a:rPr>
                        <a:t>As </a:t>
                      </a:r>
                      <a:r>
                        <a:rPr lang="pt-BR" sz="1400" b="0" i="0" u="none" strike="noStrike" noProof="0" err="1">
                          <a:latin typeface="Arial"/>
                        </a:rPr>
                        <a:t>infotmações</a:t>
                      </a:r>
                      <a:r>
                        <a:rPr lang="pt-BR" sz="1400" b="0" i="0" u="none" strike="noStrike" noProof="0" dirty="0">
                          <a:latin typeface="Arial"/>
                        </a:rPr>
                        <a:t> das consultas deve obrigatoriamente incluir seleção de data e hora, confirmação de disponibilidade e geração de um número de agendamento.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RF03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1373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251026"/>
              </p:ext>
            </p:extLst>
          </p:nvPr>
        </p:nvGraphicFramePr>
        <p:xfrm>
          <a:off x="4241321" y="1998453"/>
          <a:ext cx="7561792" cy="299287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RN08</a:t>
                      </a:r>
                      <a:endParaRPr lang="pt-BR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Informações de </a:t>
                      </a:r>
                      <a:r>
                        <a:rPr lang="pt-BR" sz="24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e</a:t>
                      </a:r>
                      <a:r>
                        <a:rPr lang="pt-BR" sz="24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stoque de medicamentos</a:t>
                      </a:r>
                      <a:endParaRPr lang="pt-BR" sz="2400" b="1" kern="1200"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latin typeface="Arial"/>
                        </a:rPr>
                        <a:t> As informações do estoque deve obrigatoriamente incluir nome do medicamento, quantidade atual em estoque, lote, validade e fornecedor.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RF06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43955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E7A1668-C43E-69D4-762D-3D69BAA9A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601423"/>
              </p:ext>
            </p:extLst>
          </p:nvPr>
        </p:nvGraphicFramePr>
        <p:xfrm>
          <a:off x="4241321" y="1998453"/>
          <a:ext cx="7561792" cy="288910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895060">
                  <a:extLst>
                    <a:ext uri="{9D8B030D-6E8A-4147-A177-3AD203B41FA5}">
                      <a16:colId xmlns:a16="http://schemas.microsoft.com/office/drawing/2014/main" val="3038415129"/>
                    </a:ext>
                  </a:extLst>
                </a:gridCol>
                <a:gridCol w="5666732">
                  <a:extLst>
                    <a:ext uri="{9D8B030D-6E8A-4147-A177-3AD203B41FA5}">
                      <a16:colId xmlns:a16="http://schemas.microsoft.com/office/drawing/2014/main" val="1257277028"/>
                    </a:ext>
                  </a:extLst>
                </a:gridCol>
              </a:tblGrid>
              <a:tr h="719195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solidFill>
                            <a:schemeClr val="tx1"/>
                          </a:solidFill>
                          <a:latin typeface="Arial"/>
                        </a:rPr>
                        <a:t>RF09</a:t>
                      </a:r>
                      <a:endParaRPr lang="pt-BR" dirty="0">
                        <a:latin typeface="Arial"/>
                      </a:endParaRPr>
                    </a:p>
                  </a:txBody>
                  <a:tcPr>
                    <a:solidFill>
                      <a:srgbClr val="9CD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kern="120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Informações do prontuário</a:t>
                      </a:r>
                    </a:p>
                  </a:txBody>
                  <a:tcPr>
                    <a:solidFill>
                      <a:srgbClr val="9CD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361792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i="0" u="none" strike="noStrike" noProof="0" dirty="0">
                          <a:latin typeface="Arial"/>
                        </a:rPr>
                        <a:t>As informações sobre o prontuário </a:t>
                      </a:r>
                      <a:r>
                        <a:rPr lang="pt-BR" sz="1400" b="0" i="0" u="none" strike="noStrike" noProof="0" err="1">
                          <a:latin typeface="Arial"/>
                        </a:rPr>
                        <a:t>eve</a:t>
                      </a:r>
                      <a:r>
                        <a:rPr lang="pt-BR" sz="1400" b="0" i="0" u="none" strike="noStrike" noProof="0" dirty="0">
                          <a:latin typeface="Arial"/>
                        </a:rPr>
                        <a:t> obrigatoriamente incluir histórico médico, resultados de exames, diagnósticos anteriores, tratamentos atuais e prescrições.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62654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Prioridade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947181"/>
                  </a:ext>
                </a:extLst>
              </a:tr>
              <a:tr h="719195">
                <a:tc>
                  <a:txBody>
                    <a:bodyPr/>
                    <a:lstStyle/>
                    <a:p>
                      <a:r>
                        <a:rPr lang="pt-BR" dirty="0">
                          <a:latin typeface="Arial"/>
                        </a:rPr>
                        <a:t>Dependência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Arial"/>
                        </a:rPr>
                        <a:t>RF06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5646"/>
                  </a:ext>
                </a:extLst>
              </a:tr>
            </a:tbl>
          </a:graphicData>
        </a:graphic>
      </p:graphicFrame>
      <p:pic>
        <p:nvPicPr>
          <p:cNvPr id="8" name="Imagem 7" descr="Forma&#10;&#10;Descrição gerada automaticamente">
            <a:extLst>
              <a:ext uri="{FF2B5EF4-FFF2-40B4-BE49-F238E27FC236}">
                <a16:creationId xmlns:a16="http://schemas.microsoft.com/office/drawing/2014/main" id="{294E9E50-B619-6A0D-3353-F2D72C9981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79" b="11779"/>
          <a:stretch/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621703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⚠️ Aviso Emoji">
            <a:extLst>
              <a:ext uri="{FF2B5EF4-FFF2-40B4-BE49-F238E27FC236}">
                <a16:creationId xmlns:a16="http://schemas.microsoft.com/office/drawing/2014/main" id="{CB4ED572-F6A8-D8B9-9309-9B6578020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573" y="2244527"/>
            <a:ext cx="4318854" cy="431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7441A3D-7555-01E5-369E-8CC678A6980A}"/>
              </a:ext>
            </a:extLst>
          </p:cNvPr>
          <p:cNvSpPr txBox="1"/>
          <p:nvPr/>
        </p:nvSpPr>
        <p:spPr>
          <a:xfrm>
            <a:off x="1875692" y="174304"/>
            <a:ext cx="84406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/>
              <a:t>ATENÇÃO!!!</a:t>
            </a:r>
          </a:p>
        </p:txBody>
      </p:sp>
    </p:spTree>
    <p:extLst>
      <p:ext uri="{BB962C8B-B14F-4D97-AF65-F5344CB8AC3E}">
        <p14:creationId xmlns:p14="http://schemas.microsoft.com/office/powerpoint/2010/main" val="175683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ikolai Rebelo: Emoji e formação de contratos a distância">
            <a:extLst>
              <a:ext uri="{FF2B5EF4-FFF2-40B4-BE49-F238E27FC236}">
                <a16:creationId xmlns:a16="http://schemas.microsoft.com/office/drawing/2014/main" id="{9E1C9E29-266E-8CE5-B513-98390B66F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777" y="2464665"/>
            <a:ext cx="4140444" cy="423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641F8AD-9F89-B310-8AF1-2C7EA7103F2A}"/>
              </a:ext>
            </a:extLst>
          </p:cNvPr>
          <p:cNvSpPr txBox="1"/>
          <p:nvPr/>
        </p:nvSpPr>
        <p:spPr>
          <a:xfrm>
            <a:off x="2168769" y="156341"/>
            <a:ext cx="78544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/>
              <a:t>OBRIGADO PELA ATENÇÃO</a:t>
            </a:r>
          </a:p>
        </p:txBody>
      </p:sp>
    </p:spTree>
    <p:extLst>
      <p:ext uri="{BB962C8B-B14F-4D97-AF65-F5344CB8AC3E}">
        <p14:creationId xmlns:p14="http://schemas.microsoft.com/office/powerpoint/2010/main" val="851951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71b2e08-5f48-4826-b3b9-729c518ea3db" xsi:nil="true"/>
  </documentManagement>
</p:properties>
</file>

<file path=customXml/itemProps1.xml><?xml version="1.0" encoding="utf-8"?>
<ds:datastoreItem xmlns:ds="http://schemas.openxmlformats.org/officeDocument/2006/customXml" ds:itemID="{82161EBC-9C6D-4470-857A-CF5BD44F7232}"/>
</file>

<file path=customXml/itemProps2.xml><?xml version="1.0" encoding="utf-8"?>
<ds:datastoreItem xmlns:ds="http://schemas.openxmlformats.org/officeDocument/2006/customXml" ds:itemID="{5B90FE26-2F81-447E-8F54-9038C9860A5B}"/>
</file>

<file path=customXml/itemProps3.xml><?xml version="1.0" encoding="utf-8"?>
<ds:datastoreItem xmlns:ds="http://schemas.openxmlformats.org/officeDocument/2006/customXml" ds:itemID="{FCDA4DD4-4511-4FBA-80ED-DC5E92C2D029}"/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1209</Words>
  <Application>Microsoft Office PowerPoint</Application>
  <PresentationFormat>Widescreen</PresentationFormat>
  <Paragraphs>276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AngleLinesVTI</vt:lpstr>
      <vt:lpstr>SISTEMA DE GESTÃO HOSPITALAR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Gabriel Chaves</cp:lastModifiedBy>
  <cp:revision>703</cp:revision>
  <dcterms:created xsi:type="dcterms:W3CDTF">2024-05-31T15:57:37Z</dcterms:created>
  <dcterms:modified xsi:type="dcterms:W3CDTF">2024-06-04T17:29:34Z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0x0101003D534C94BE7ACC4B82DB0C57D8B917FB</vt:lpwstr>
  </property>
  <property fmtid="{D5CDD505-2E9C-101B-9397-08002B2CF9AE}" pid="3" name="Order">
    <vt:r8>1600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