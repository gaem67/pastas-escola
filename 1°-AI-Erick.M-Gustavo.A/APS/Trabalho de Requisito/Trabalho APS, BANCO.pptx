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22"/>
  </p:notesMasterIdLst>
  <p:sldIdLst>
    <p:sldId id="256" r:id="rId5"/>
    <p:sldId id="257" r:id="rId6"/>
    <p:sldId id="275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9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690DB0-C8E2-4C04-A65F-B64FCCF8C8E8}" v="143" dt="2024-06-04T23:59:43.95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700" autoAdjust="0"/>
  </p:normalViewPr>
  <p:slideViewPr>
    <p:cSldViewPr snapToGrid="0">
      <p:cViewPr varScale="1">
        <p:scale>
          <a:sx n="108" d="100"/>
          <a:sy n="108" d="100"/>
        </p:scale>
        <p:origin x="6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F0E56B-291A-4CF6-990E-E9333A6741BF}" type="datetimeFigureOut">
              <a:rPr lang="pt-BR" smtClean="0"/>
              <a:t>04/06/2024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232E14-42E4-4416-964C-8A6FC0CED3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065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32E14-42E4-4416-964C-8A6FC0CED38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9017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32E14-42E4-4416-964C-8A6FC0CED38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0002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49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49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6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960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193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06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9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60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00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6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592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50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reeform: Shape 8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" name="Picture 3">
            <a:extLst>
              <a:ext uri="{FF2B5EF4-FFF2-40B4-BE49-F238E27FC236}">
                <a16:creationId xmlns:a16="http://schemas.microsoft.com/office/drawing/2014/main" id="{D8466D6A-DAFD-D1A5-8A59-BD0CA847C6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65" r="23778" b="-1"/>
          <a:stretch/>
        </p:blipFill>
        <p:spPr>
          <a:xfrm>
            <a:off x="6613174" y="10"/>
            <a:ext cx="5578824" cy="6028246"/>
          </a:xfrm>
          <a:custGeom>
            <a:avLst/>
            <a:gdLst/>
            <a:ahLst/>
            <a:cxnLst/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80611E-B5E8-CD97-A908-81608AC32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783" y="2135080"/>
            <a:ext cx="5334000" cy="3810001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Gustavo Rocha RM 241032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 err="1"/>
              <a:t>Heitor</a:t>
            </a:r>
            <a:r>
              <a:rPr lang="en-US" dirty="0"/>
              <a:t> Sousa RM 241028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João Pedro RM 241614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João Victor </a:t>
            </a:r>
            <a:r>
              <a:rPr lang="en-US" dirty="0" err="1"/>
              <a:t>Acioli</a:t>
            </a:r>
            <a:r>
              <a:rPr lang="en-US" dirty="0"/>
              <a:t> RM 241041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João Victor Andrade 241026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B1B6FB-8A25-AE10-1A48-DBD3A9729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200" dirty="0" err="1"/>
              <a:t>Trabalho</a:t>
            </a:r>
            <a:r>
              <a:rPr lang="en-US" sz="3200" dirty="0"/>
              <a:t> APS</a:t>
            </a:r>
          </a:p>
        </p:txBody>
      </p:sp>
    </p:spTree>
    <p:extLst>
      <p:ext uri="{BB962C8B-B14F-4D97-AF65-F5344CB8AC3E}">
        <p14:creationId xmlns:p14="http://schemas.microsoft.com/office/powerpoint/2010/main" val="599337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1A6B9-A4EC-E87C-D892-8BE4F616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4AC0A1-B58D-1F91-3BEB-9CC61EB40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effectLst/>
                <a:latin typeface="Arial" panose="020B0604020202020204" pitchFamily="34" charset="0"/>
              </a:rPr>
              <a:t>Um banco está buscando desenvolver um aplicativo móvel para proporcionar aos seus clientes uma maneira fácil e segura de gerenciar suas finanças. O objetivo é aumentar a conveniência e a satisfação dos clientes, oferecendo funcionalidades essenciais diretamente em seus dispositivos móveis.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0379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293FC-2FED-5066-29B6-9C30A9C93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E97BDD-7E27-CB29-7D30-92CAA507C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54200"/>
            <a:ext cx="10668000" cy="3818083"/>
          </a:xfrm>
        </p:spPr>
        <p:txBody>
          <a:bodyPr/>
          <a:lstStyle/>
          <a:p>
            <a:r>
              <a:rPr lang="pt-BR" dirty="0"/>
              <a:t>Facilitar o Gerenciamento de Contas</a:t>
            </a:r>
          </a:p>
          <a:p>
            <a:r>
              <a:rPr lang="pt-BR" dirty="0"/>
              <a:t>Realizar Transações</a:t>
            </a:r>
          </a:p>
          <a:p>
            <a:r>
              <a:rPr lang="pt-BR" dirty="0"/>
              <a:t>Notificações</a:t>
            </a:r>
          </a:p>
          <a:p>
            <a:r>
              <a:rPr lang="pt-BR" dirty="0"/>
              <a:t>Segurança:</a:t>
            </a:r>
          </a:p>
          <a:p>
            <a:r>
              <a:rPr lang="pt-BR" dirty="0"/>
              <a:t>Acessibilidade e Usabilidade:</a:t>
            </a:r>
          </a:p>
        </p:txBody>
      </p:sp>
    </p:spTree>
    <p:extLst>
      <p:ext uri="{BB962C8B-B14F-4D97-AF65-F5344CB8AC3E}">
        <p14:creationId xmlns:p14="http://schemas.microsoft.com/office/powerpoint/2010/main" val="240539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EF6D3-B34D-9232-714F-02D3AE3C4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Funcionais</a:t>
            </a:r>
          </a:p>
        </p:txBody>
      </p:sp>
      <p:graphicFrame>
        <p:nvGraphicFramePr>
          <p:cNvPr id="10" name="Espaço Reservado para Conteúdo 9">
            <a:extLst>
              <a:ext uri="{FF2B5EF4-FFF2-40B4-BE49-F238E27FC236}">
                <a16:creationId xmlns:a16="http://schemas.microsoft.com/office/drawing/2014/main" id="{534EAE27-C431-C7FD-0C67-B1428BEA4E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8157026"/>
              </p:ext>
            </p:extLst>
          </p:nvPr>
        </p:nvGraphicFramePr>
        <p:xfrm>
          <a:off x="762000" y="1913138"/>
          <a:ext cx="10668000" cy="214879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70296644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14010592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69486037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715666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RF01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Criação de Conta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225729"/>
                  </a:ext>
                </a:extLst>
              </a:tr>
              <a:tr h="1036271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O aplicativo deve permitir que novos usuários abram uma conta bancaria</a:t>
                      </a:r>
                    </a:p>
                    <a:p>
                      <a:r>
                        <a:rPr lang="pt-BR" dirty="0"/>
                        <a:t>diretamente pelo próprio aplicativo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71342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013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Dependência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RN01;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970449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1ECB5241-24FD-52C2-C0E1-CD575C2B4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562383"/>
              </p:ext>
            </p:extLst>
          </p:nvPr>
        </p:nvGraphicFramePr>
        <p:xfrm>
          <a:off x="762000" y="4203577"/>
          <a:ext cx="10668000" cy="214879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85790606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37820467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56374575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609841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RF02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Consulta do Saldo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747374"/>
                  </a:ext>
                </a:extLst>
              </a:tr>
              <a:tr h="1036271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O aplicativo deve permitir que o usuário acesse o extrato detalhado de suas contas, com histórico de transações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50776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025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Dependência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RF01;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49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998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EF6D3-B34D-9232-714F-02D3AE3C4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Funcionais</a:t>
            </a:r>
          </a:p>
        </p:txBody>
      </p:sp>
      <p:graphicFrame>
        <p:nvGraphicFramePr>
          <p:cNvPr id="10" name="Espaço Reservado para Conteúdo 9">
            <a:extLst>
              <a:ext uri="{FF2B5EF4-FFF2-40B4-BE49-F238E27FC236}">
                <a16:creationId xmlns:a16="http://schemas.microsoft.com/office/drawing/2014/main" id="{534EAE27-C431-C7FD-0C67-B1428BEA4E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5451710"/>
              </p:ext>
            </p:extLst>
          </p:nvPr>
        </p:nvGraphicFramePr>
        <p:xfrm>
          <a:off x="762000" y="1887738"/>
          <a:ext cx="10668000" cy="214879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70296644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14010592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69486037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715666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RF03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Transferências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225729"/>
                  </a:ext>
                </a:extLst>
              </a:tr>
              <a:tr h="1036271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O aplicativo deve permitir que o usuário seja capaz de realizar transferências entre suas contas e para contas de terceiros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71342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013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Dependência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RF01;RF02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970449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1ECB5241-24FD-52C2-C0E1-CD575C2B4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934258"/>
              </p:ext>
            </p:extLst>
          </p:nvPr>
        </p:nvGraphicFramePr>
        <p:xfrm>
          <a:off x="762000" y="4203577"/>
          <a:ext cx="10668000" cy="214879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85790606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37820467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56374575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609841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RF04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Pagamento de boleto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747374"/>
                  </a:ext>
                </a:extLst>
              </a:tr>
              <a:tr h="1036271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O Aplicativo deve permitir que o usuário pague boletos bancários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50776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025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Dependência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RF01;RF02;RF03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49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62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EF6D3-B34D-9232-714F-02D3AE3C4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Funcionais</a:t>
            </a:r>
          </a:p>
        </p:txBody>
      </p:sp>
      <p:graphicFrame>
        <p:nvGraphicFramePr>
          <p:cNvPr id="10" name="Espaço Reservado para Conteúdo 9">
            <a:extLst>
              <a:ext uri="{FF2B5EF4-FFF2-40B4-BE49-F238E27FC236}">
                <a16:creationId xmlns:a16="http://schemas.microsoft.com/office/drawing/2014/main" id="{534EAE27-C431-C7FD-0C67-B1428BEA4E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971403"/>
              </p:ext>
            </p:extLst>
          </p:nvPr>
        </p:nvGraphicFramePr>
        <p:xfrm>
          <a:off x="762000" y="1913138"/>
          <a:ext cx="10668000" cy="214879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70296644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14010592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69486037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715666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RF05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Comprovante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225729"/>
                  </a:ext>
                </a:extLst>
              </a:tr>
              <a:tr h="1036271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O sistema deve disponibilizar comprovantes após cada pagamento confirmado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71342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013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Dependência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RF01;RF02;RF03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970449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1ECB5241-24FD-52C2-C0E1-CD575C2B4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475673"/>
              </p:ext>
            </p:extLst>
          </p:nvPr>
        </p:nvGraphicFramePr>
        <p:xfrm>
          <a:off x="762000" y="4203577"/>
          <a:ext cx="10668000" cy="257048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85790606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37820467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56374575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609841999"/>
                    </a:ext>
                  </a:extLst>
                </a:gridCol>
              </a:tblGrid>
              <a:tr h="213483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RF06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Gerenciamento de Cartões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747374"/>
                  </a:ext>
                </a:extLst>
              </a:tr>
              <a:tr h="1036271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O aplicativo deve permitir que os usuários criem cartões de crédito ou débito, tanto físicos quanto digitais, além de possibilitar o gerenciamento desses cartões, incluindo a visualização de limites, saldos e transações recentes.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50776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025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Dependência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RF01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49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199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EF6D3-B34D-9232-714F-02D3AE3C4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94262"/>
            <a:ext cx="10668000" cy="1524000"/>
          </a:xfrm>
        </p:spPr>
        <p:txBody>
          <a:bodyPr/>
          <a:lstStyle/>
          <a:p>
            <a:r>
              <a:rPr lang="pt-BR" dirty="0"/>
              <a:t>Requisitos Funcionais</a:t>
            </a:r>
          </a:p>
        </p:txBody>
      </p:sp>
      <p:graphicFrame>
        <p:nvGraphicFramePr>
          <p:cNvPr id="10" name="Espaço Reservado para Conteúdo 9">
            <a:extLst>
              <a:ext uri="{FF2B5EF4-FFF2-40B4-BE49-F238E27FC236}">
                <a16:creationId xmlns:a16="http://schemas.microsoft.com/office/drawing/2014/main" id="{534EAE27-C431-C7FD-0C67-B1428BEA4E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3011361"/>
              </p:ext>
            </p:extLst>
          </p:nvPr>
        </p:nvGraphicFramePr>
        <p:xfrm>
          <a:off x="762000" y="1683946"/>
          <a:ext cx="10668000" cy="241803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70296644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14010592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69486037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715666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RF07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Bloquei/Desbloqueio de Cartões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225729"/>
                  </a:ext>
                </a:extLst>
              </a:tr>
              <a:tr h="1036271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O aplicativo deve disponibilizar a opção de bloquear e desbloquear cartões dos </a:t>
                      </a:r>
                      <a:r>
                        <a:rPr lang="pt-BR" dirty="0" err="1"/>
                        <a:t>usuarios</a:t>
                      </a:r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71342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013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Dependência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RF01,RF06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970449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1ECB5241-24FD-52C2-C0E1-CD575C2B4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406031"/>
              </p:ext>
            </p:extLst>
          </p:nvPr>
        </p:nvGraphicFramePr>
        <p:xfrm>
          <a:off x="762000" y="4203577"/>
          <a:ext cx="10668000" cy="214371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85790606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37820467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56374575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609841999"/>
                    </a:ext>
                  </a:extLst>
                </a:gridCol>
              </a:tblGrid>
              <a:tr h="213483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RF08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Notificação </a:t>
                      </a:r>
                      <a:r>
                        <a:rPr lang="pt-BR" dirty="0" err="1"/>
                        <a:t>Push</a:t>
                      </a:r>
                      <a:endParaRPr lang="pt-BR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747374"/>
                  </a:ext>
                </a:extLst>
              </a:tr>
              <a:tr h="1036271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O aplicativo deve enviar notificações </a:t>
                      </a:r>
                      <a:r>
                        <a:rPr lang="pt-BR" dirty="0" err="1"/>
                        <a:t>push</a:t>
                      </a:r>
                      <a:r>
                        <a:rPr lang="pt-BR" dirty="0"/>
                        <a:t> para o usuário a cada transação realizada.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50776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025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Dependência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RF01;RF03;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49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273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B90EBC-B3AD-4E73-69A7-13509E20D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Não Funcionais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D5FD4938-A2C9-45B3-E325-AB968E29BB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7921631"/>
              </p:ext>
            </p:extLst>
          </p:nvPr>
        </p:nvGraphicFramePr>
        <p:xfrm>
          <a:off x="571500" y="1976121"/>
          <a:ext cx="10668000" cy="367792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1360804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42558161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9740105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886000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RNF01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Tempo de Resposta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798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Garantir que o sistema tenha um tempo de resposta inferior a 2 segundos para operações críticas.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17250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Categoria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Desempenho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326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Escopo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Garantir que o banco online tenha um desempenho otimizado em termos de velocidade de carregamento, tempo de resposta e capacidade de lidar com múltiplos usuários sem atrasos significativos.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507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 err="1"/>
                        <a:t>Metrica</a:t>
                      </a:r>
                      <a:endParaRPr lang="pt-B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Tempo médio de carregamento, tempo de resposta das ações do usuário e tempo de resposta em segundos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006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408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 err="1"/>
                        <a:t>Dependencia</a:t>
                      </a:r>
                      <a:endParaRPr lang="pt-B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RNF06;RNF04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963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7080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B90EBC-B3AD-4E73-69A7-13509E20D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Não Funcionais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D5FD4938-A2C9-45B3-E325-AB968E29BB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5526052"/>
              </p:ext>
            </p:extLst>
          </p:nvPr>
        </p:nvGraphicFramePr>
        <p:xfrm>
          <a:off x="571500" y="1976121"/>
          <a:ext cx="10668000" cy="31343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1360804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42558161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9740105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886000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RNF02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Autentificação Multifatorial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798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Utilizar um sistema de autentificação </a:t>
                      </a:r>
                      <a:r>
                        <a:rPr lang="pt-BR" dirty="0" err="1"/>
                        <a:t>multifator</a:t>
                      </a:r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17250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Categoria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Segurança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326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Escopo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Utilizar autenticação </a:t>
                      </a:r>
                      <a:r>
                        <a:rPr lang="pt-BR" dirty="0" err="1"/>
                        <a:t>multifator</a:t>
                      </a:r>
                      <a:r>
                        <a:rPr lang="pt-BR" dirty="0"/>
                        <a:t> e garantir que apenas usuários autorizados acessem suas contas e funcionalidades específicas.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507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 err="1"/>
                        <a:t>Metrica</a:t>
                      </a:r>
                      <a:endParaRPr lang="pt-B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MFA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006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408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 err="1"/>
                        <a:t>Dependencia</a:t>
                      </a:r>
                      <a:endParaRPr lang="pt-B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RN2;RN3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963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429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B90EBC-B3AD-4E73-69A7-13509E20D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Não Funcionais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D5FD4938-A2C9-45B3-E325-AB968E29BB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2843476"/>
              </p:ext>
            </p:extLst>
          </p:nvPr>
        </p:nvGraphicFramePr>
        <p:xfrm>
          <a:off x="571500" y="1976121"/>
          <a:ext cx="10668000" cy="286512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3136080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2558161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9740105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886000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RNF03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Backups Automáticos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798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Backups automáticos diários armazenados em locais distintos.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17250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Categoria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Confiabilidade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326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Escopo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Backups automáticos devem ser realizados diariamente, e devem ser armazenados em locais geograficamente distintos.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507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 err="1"/>
                        <a:t>Metrica</a:t>
                      </a:r>
                      <a:endParaRPr lang="pt-B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Frequência, localização dos backups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006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Media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408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 err="1"/>
                        <a:t>Dependencia</a:t>
                      </a:r>
                      <a:endParaRPr lang="pt-B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RNF05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963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917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B90EBC-B3AD-4E73-69A7-13509E20D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Não Funcionais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D5FD4938-A2C9-45B3-E325-AB968E29BB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167656"/>
              </p:ext>
            </p:extLst>
          </p:nvPr>
        </p:nvGraphicFramePr>
        <p:xfrm>
          <a:off x="533400" y="2186941"/>
          <a:ext cx="10668000" cy="346202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3136080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2558161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9740105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886000857"/>
                    </a:ext>
                  </a:extLst>
                </a:gridCol>
              </a:tblGrid>
              <a:tr h="693421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RNF04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Compatibilidade Multiplataforma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798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Compatibilidade com diferentes dispositivos e sistemas operacionais.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17250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Categoria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Portabilidade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326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Escopo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Sistema deve ser acessível em diferentes dispositivos, incluindo tablets e smartphones, e ser compatível com os principais navegadores e sistemas operacionais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507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 err="1"/>
                        <a:t>Metrica</a:t>
                      </a:r>
                      <a:endParaRPr lang="pt-B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Testes de compatibilidade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006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408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 err="1"/>
                        <a:t>Dependencia</a:t>
                      </a:r>
                      <a:endParaRPr lang="pt-B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RNF06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963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3912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B90EBC-B3AD-4E73-69A7-13509E20D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Não Funcionais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D5FD4938-A2C9-45B3-E325-AB968E29BB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8983862"/>
              </p:ext>
            </p:extLst>
          </p:nvPr>
        </p:nvGraphicFramePr>
        <p:xfrm>
          <a:off x="571500" y="1976121"/>
          <a:ext cx="10668000" cy="3723639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3136080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2558161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9740105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886000857"/>
                    </a:ext>
                  </a:extLst>
                </a:gridCol>
              </a:tblGrid>
              <a:tr h="42163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RNF05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Proteção de Dados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798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Todos os dados pessoais dos usuários devem ser armazenados de forma criptografada. 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17250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Categoria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Segurança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326526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Escopo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Garantir que o os dados dos usuários sejam guardados de forma segura e criptografadas com prevenções para que não tenha um vazamento dos mesmos.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507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 err="1"/>
                        <a:t>Metrica</a:t>
                      </a:r>
                      <a:endParaRPr lang="pt-B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Tipo dos dados, a qual cada dado pertence, data de registro e quem pode ter acesso a eles e criptografia assimétrica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006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408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dirty="0" err="1"/>
                        <a:t>Dependencia</a:t>
                      </a:r>
                      <a:endParaRPr lang="pt-B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RN05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963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27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B90EBC-B3AD-4E73-69A7-13509E20D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Não Funcionais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D5FD4938-A2C9-45B3-E325-AB968E29BB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6371035"/>
              </p:ext>
            </p:extLst>
          </p:nvPr>
        </p:nvGraphicFramePr>
        <p:xfrm>
          <a:off x="571500" y="1976121"/>
          <a:ext cx="10668000" cy="3185159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3136080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2558161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9740105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886000857"/>
                    </a:ext>
                  </a:extLst>
                </a:gridCol>
              </a:tblGrid>
              <a:tr h="42163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RNF06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Interface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798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Interface intuitiva e fácil de usar.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17250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Categoria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Usabilidade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326526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Escopo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 interface deve ser intuitiva e fácil de usar, permitindo que os usuários completem operações comuns (como verificar o saldo, transferir dinheiro, pagar contas) com um mínimo de cliques.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507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 err="1"/>
                        <a:t>Metrica</a:t>
                      </a:r>
                      <a:endParaRPr lang="pt-B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Testes de usabilidade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006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40897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r"/>
                      <a:r>
                        <a:rPr lang="pt-BR" dirty="0" err="1"/>
                        <a:t>Dependencia</a:t>
                      </a:r>
                      <a:endParaRPr lang="pt-B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RN05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963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462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EF6D3-B34D-9232-714F-02D3AE3C4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19662"/>
            <a:ext cx="10668000" cy="1524000"/>
          </a:xfrm>
        </p:spPr>
        <p:txBody>
          <a:bodyPr/>
          <a:lstStyle/>
          <a:p>
            <a:r>
              <a:rPr lang="pt-BR" dirty="0"/>
              <a:t>Regras de Negócios</a:t>
            </a:r>
          </a:p>
        </p:txBody>
      </p:sp>
      <p:graphicFrame>
        <p:nvGraphicFramePr>
          <p:cNvPr id="10" name="Espaço Reservado para Conteúdo 9">
            <a:extLst>
              <a:ext uri="{FF2B5EF4-FFF2-40B4-BE49-F238E27FC236}">
                <a16:creationId xmlns:a16="http://schemas.microsoft.com/office/drawing/2014/main" id="{534EAE27-C431-C7FD-0C67-B1428BEA4E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6597533"/>
              </p:ext>
            </p:extLst>
          </p:nvPr>
        </p:nvGraphicFramePr>
        <p:xfrm>
          <a:off x="762000" y="1696646"/>
          <a:ext cx="10668000" cy="214879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70296644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14010592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69486037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715666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RN01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Verificação de Dados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225729"/>
                  </a:ext>
                </a:extLst>
              </a:tr>
              <a:tr h="1036271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 verificação deve ser feita através do envio de fotos dos documentos que foram cadastrados e uma selfie.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71342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013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Dependência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RF01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970449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1ECB5241-24FD-52C2-C0E1-CD575C2B4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187856"/>
              </p:ext>
            </p:extLst>
          </p:nvPr>
        </p:nvGraphicFramePr>
        <p:xfrm>
          <a:off x="762000" y="4203577"/>
          <a:ext cx="10668000" cy="214879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85790606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37820467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56374575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609841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RN02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Autentificação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747374"/>
                  </a:ext>
                </a:extLst>
              </a:tr>
              <a:tr h="1036271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O login deve ser protegido por senha, biometria (impressão digital ou reconhecimento facial) e códigos enviados por SMS ou e-mail.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50776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025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Dependência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RF01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49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5069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EF6D3-B34D-9232-714F-02D3AE3C4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19662"/>
            <a:ext cx="10668000" cy="1524000"/>
          </a:xfrm>
        </p:spPr>
        <p:txBody>
          <a:bodyPr/>
          <a:lstStyle/>
          <a:p>
            <a:r>
              <a:rPr lang="pt-BR" dirty="0"/>
              <a:t>Regras de Negócios</a:t>
            </a:r>
          </a:p>
        </p:txBody>
      </p:sp>
      <p:graphicFrame>
        <p:nvGraphicFramePr>
          <p:cNvPr id="10" name="Espaço Reservado para Conteúdo 9">
            <a:extLst>
              <a:ext uri="{FF2B5EF4-FFF2-40B4-BE49-F238E27FC236}">
                <a16:creationId xmlns:a16="http://schemas.microsoft.com/office/drawing/2014/main" id="{534EAE27-C431-C7FD-0C67-B1428BEA4E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8033596"/>
              </p:ext>
            </p:extLst>
          </p:nvPr>
        </p:nvGraphicFramePr>
        <p:xfrm>
          <a:off x="762000" y="1696646"/>
          <a:ext cx="10668000" cy="241803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70296644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14010592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69486037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715666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RN03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Autenticação de Dois Fatores (2FA)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225729"/>
                  </a:ext>
                </a:extLst>
              </a:tr>
              <a:tr h="1036271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Transações acima de R$ 1.000 requerem autenticação de dois fatores.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71342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013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Dependência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RF01;RF03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970449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1ECB5241-24FD-52C2-C0E1-CD575C2B4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712981"/>
              </p:ext>
            </p:extLst>
          </p:nvPr>
        </p:nvGraphicFramePr>
        <p:xfrm>
          <a:off x="762000" y="4203577"/>
          <a:ext cx="10668000" cy="214879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85790606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37820467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56374575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609841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RN04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Transferências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747374"/>
                  </a:ext>
                </a:extLst>
              </a:tr>
              <a:tr h="1036271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Transferências entre contas são permitidas com um limite diário de R$ 5.000.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50776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025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Dependência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RF01;RF03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49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809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EF6D3-B34D-9232-714F-02D3AE3C4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19662"/>
            <a:ext cx="10668000" cy="1524000"/>
          </a:xfrm>
        </p:spPr>
        <p:txBody>
          <a:bodyPr/>
          <a:lstStyle/>
          <a:p>
            <a:r>
              <a:rPr lang="pt-BR" dirty="0"/>
              <a:t>Regras de Negócios</a:t>
            </a:r>
          </a:p>
        </p:txBody>
      </p:sp>
      <p:graphicFrame>
        <p:nvGraphicFramePr>
          <p:cNvPr id="10" name="Espaço Reservado para Conteúdo 9">
            <a:extLst>
              <a:ext uri="{FF2B5EF4-FFF2-40B4-BE49-F238E27FC236}">
                <a16:creationId xmlns:a16="http://schemas.microsoft.com/office/drawing/2014/main" id="{534EAE27-C431-C7FD-0C67-B1428BEA4E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8346565"/>
              </p:ext>
            </p:extLst>
          </p:nvPr>
        </p:nvGraphicFramePr>
        <p:xfrm>
          <a:off x="762000" y="1696646"/>
          <a:ext cx="10668000" cy="214879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70296644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14010592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69486037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715666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RN05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Conformidade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225729"/>
                  </a:ext>
                </a:extLst>
              </a:tr>
              <a:tr h="1036271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Assegurar que o aplicativo cumpra todas as regulamentações bancárias e de segurança aplicáveis.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71342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013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Dependência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970449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1ECB5241-24FD-52C2-C0E1-CD575C2B4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754640"/>
              </p:ext>
            </p:extLst>
          </p:nvPr>
        </p:nvGraphicFramePr>
        <p:xfrm>
          <a:off x="762000" y="4203577"/>
          <a:ext cx="10668000" cy="214879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85790606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37820467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56374575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609841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RN06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Multilíngue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747374"/>
                  </a:ext>
                </a:extLst>
              </a:tr>
              <a:tr h="1036271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Oferecer suporte a múltiplos idiomas para atender a um público diversificado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50776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025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Dependência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49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8755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EF6D3-B34D-9232-714F-02D3AE3C4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39764"/>
            <a:ext cx="10668000" cy="1524000"/>
          </a:xfrm>
        </p:spPr>
        <p:txBody>
          <a:bodyPr/>
          <a:lstStyle/>
          <a:p>
            <a:r>
              <a:rPr lang="pt-BR" dirty="0"/>
              <a:t>Regras de Negócios</a:t>
            </a:r>
          </a:p>
        </p:txBody>
      </p:sp>
      <p:graphicFrame>
        <p:nvGraphicFramePr>
          <p:cNvPr id="10" name="Espaço Reservado para Conteúdo 9">
            <a:extLst>
              <a:ext uri="{FF2B5EF4-FFF2-40B4-BE49-F238E27FC236}">
                <a16:creationId xmlns:a16="http://schemas.microsoft.com/office/drawing/2014/main" id="{534EAE27-C431-C7FD-0C67-B1428BEA4E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9011068"/>
              </p:ext>
            </p:extLst>
          </p:nvPr>
        </p:nvGraphicFramePr>
        <p:xfrm>
          <a:off x="762000" y="1607746"/>
          <a:ext cx="10668000" cy="241803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70296644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14010592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69486037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715666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RN05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ACESSO DE MENORES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225729"/>
                  </a:ext>
                </a:extLst>
              </a:tr>
              <a:tr h="1036271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O aplicativo estará disponível para menores somente se autorizado e monitorado por responsáveis legais.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71342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013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Dependência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RF01;RNF05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970449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1ECB5241-24FD-52C2-C0E1-CD575C2B4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02115"/>
              </p:ext>
            </p:extLst>
          </p:nvPr>
        </p:nvGraphicFramePr>
        <p:xfrm>
          <a:off x="762000" y="4203577"/>
          <a:ext cx="10668000" cy="214879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85790606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37820467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56374575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609841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Identificador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RN06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Nome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ATENDIMENTO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747374"/>
                  </a:ext>
                </a:extLst>
              </a:tr>
              <a:tr h="1036271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Descrição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Disponibilizar atendimento todos os dias via chat, e-mail e telefone.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50776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Prioridade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Alta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025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Dependência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pt-BR" dirty="0"/>
                        <a:t>RF01;RNF06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491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462659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Violet2">
      <a:dk1>
        <a:srgbClr val="000000"/>
      </a:dk1>
      <a:lt1>
        <a:srgbClr val="FFFFFF"/>
      </a:lt1>
      <a:dk2>
        <a:srgbClr val="351835"/>
      </a:dk2>
      <a:lt2>
        <a:srgbClr val="F3F0F3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A6A9B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c71b2e08-5f48-4826-b3b9-729c518ea3d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534C94BE7ACC4B82DB0C57D8B917FB" ma:contentTypeVersion="5" ma:contentTypeDescription="Crie um novo documento." ma:contentTypeScope="" ma:versionID="62a2c0150b63379dfc6dc29281e4e6f5">
  <xsd:schema xmlns:xsd="http://www.w3.org/2001/XMLSchema" xmlns:xs="http://www.w3.org/2001/XMLSchema" xmlns:p="http://schemas.microsoft.com/office/2006/metadata/properties" xmlns:ns2="c71b2e08-5f48-4826-b3b9-729c518ea3db" targetNamespace="http://schemas.microsoft.com/office/2006/metadata/properties" ma:root="true" ma:fieldsID="e31b8c47eae556db8a51ed9dd6ca2eeb" ns2:_="">
    <xsd:import namespace="c71b2e08-5f48-4826-b3b9-729c518ea3d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b2e08-5f48-4826-b3b9-729c518ea3d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DCEF27-FD93-4844-A76D-DE1DC3D6287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21BDB7-3708-4B54-B7A2-C9E898642A2C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72c104a9-8e62-4bbf-aad4-17e0066494f4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7201D29-9C52-457D-A4F5-FBEBFDD772E9}"/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918</Words>
  <Application>Microsoft Office PowerPoint</Application>
  <PresentationFormat>Widescreen</PresentationFormat>
  <Paragraphs>285</Paragraphs>
  <Slides>17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Aptos</vt:lpstr>
      <vt:lpstr>Arial</vt:lpstr>
      <vt:lpstr>Avenir Next LT Pro</vt:lpstr>
      <vt:lpstr>Avenir Next LT Pro Light</vt:lpstr>
      <vt:lpstr>Sitka Subheading</vt:lpstr>
      <vt:lpstr>PebbleVTI</vt:lpstr>
      <vt:lpstr>Trabalho APS</vt:lpstr>
      <vt:lpstr>Cliente</vt:lpstr>
      <vt:lpstr>Objetivos</vt:lpstr>
      <vt:lpstr>Requisitos Funcionais</vt:lpstr>
      <vt:lpstr>Requisitos Funcionais</vt:lpstr>
      <vt:lpstr>Requisitos Funcionais</vt:lpstr>
      <vt:lpstr>Requisitos Funcionais</vt:lpstr>
      <vt:lpstr>Requisitos Não Funcionais</vt:lpstr>
      <vt:lpstr>Requisitos Não Funcionais</vt:lpstr>
      <vt:lpstr>Requisitos Não Funcionais</vt:lpstr>
      <vt:lpstr>Requisitos Não Funcionais</vt:lpstr>
      <vt:lpstr>Requisitos Não Funcionais</vt:lpstr>
      <vt:lpstr>Requisitos Não Funcionais</vt:lpstr>
      <vt:lpstr>Regras de Negócios</vt:lpstr>
      <vt:lpstr>Regras de Negócios</vt:lpstr>
      <vt:lpstr>Regras de Negócios</vt:lpstr>
      <vt:lpstr>Regras de Negócios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APS</dc:title>
  <dc:creator>HEITOR ALMEIDA SOUSA</dc:creator>
  <cp:lastModifiedBy>HEITOR ALMEIDA SOUSA</cp:lastModifiedBy>
  <cp:revision>2</cp:revision>
  <dcterms:created xsi:type="dcterms:W3CDTF">2024-06-02T16:12:12Z</dcterms:created>
  <dcterms:modified xsi:type="dcterms:W3CDTF">2024-06-05T00:26:34Z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0x01010097D633AB642797469F48950981E581B6</vt:lpwstr>
  </property>
</Properties>
</file>