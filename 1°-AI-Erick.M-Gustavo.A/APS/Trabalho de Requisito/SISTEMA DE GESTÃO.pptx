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8288000" cy="10287000"/>
  <p:notesSz cx="6858000" cy="9144000"/>
  <p:embeddedFontLst>
    <p:embeddedFont>
      <p:font typeface="Aileron" panose="020B0604020202020204" charset="0"/>
      <p:regular r:id="rId13"/>
    </p:embeddedFont>
    <p:embeddedFont>
      <p:font typeface="Aileron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A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C363E-4EEE-479B-B443-ED3D7F198154}" v="1" dt="2024-06-04T23:57:37.8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RISSA AMARAL RODRIGUES" userId="S::larissa.rodrigues226@etec.sp.gov.br::0d0655dc-cb1d-461d-be7c-e1cbbf3af250" providerId="AD" clId="Web-{1E5C363E-4EEE-479B-B443-ED3D7F198154}"/>
    <pc:docChg chg="modSld">
      <pc:chgData name="LARISSA AMARAL RODRIGUES" userId="S::larissa.rodrigues226@etec.sp.gov.br::0d0655dc-cb1d-461d-be7c-e1cbbf3af250" providerId="AD" clId="Web-{1E5C363E-4EEE-479B-B443-ED3D7F198154}" dt="2024-06-04T23:57:37.800" v="0"/>
      <pc:docMkLst>
        <pc:docMk/>
      </pc:docMkLst>
      <pc:sldChg chg="modTransition">
        <pc:chgData name="LARISSA AMARAL RODRIGUES" userId="S::larissa.rodrigues226@etec.sp.gov.br::0d0655dc-cb1d-461d-be7c-e1cbbf3af250" providerId="AD" clId="Web-{1E5C363E-4EEE-479B-B443-ED3D7F198154}" dt="2024-06-04T23:57:37.800" v="0"/>
        <pc:sldMkLst>
          <pc:docMk/>
          <pc:sldMk cId="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5023927" cy="5023927"/>
          </a:xfrm>
          <a:custGeom>
            <a:avLst/>
            <a:gdLst/>
            <a:ahLst/>
            <a:cxnLst/>
            <a:rect l="l" t="t" r="r" b="b"/>
            <a:pathLst>
              <a:path w="5023927" h="5023927">
                <a:moveTo>
                  <a:pt x="0" y="0"/>
                </a:moveTo>
                <a:lnTo>
                  <a:pt x="5023927" y="0"/>
                </a:lnTo>
                <a:lnTo>
                  <a:pt x="5023927" y="5023927"/>
                </a:lnTo>
                <a:lnTo>
                  <a:pt x="0" y="50239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15293302" y="8081198"/>
            <a:ext cx="1965998" cy="931392"/>
          </a:xfrm>
          <a:custGeom>
            <a:avLst/>
            <a:gdLst/>
            <a:ahLst/>
            <a:cxnLst/>
            <a:rect l="l" t="t" r="r" b="b"/>
            <a:pathLst>
              <a:path w="1965998" h="931392">
                <a:moveTo>
                  <a:pt x="0" y="0"/>
                </a:moveTo>
                <a:lnTo>
                  <a:pt x="1965998" y="0"/>
                </a:lnTo>
                <a:lnTo>
                  <a:pt x="1965998" y="931392"/>
                </a:lnTo>
                <a:lnTo>
                  <a:pt x="0" y="9313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5" name="Group 5"/>
          <p:cNvGrpSpPr/>
          <p:nvPr/>
        </p:nvGrpSpPr>
        <p:grpSpPr>
          <a:xfrm>
            <a:off x="13053590" y="1235476"/>
            <a:ext cx="3910665" cy="974353"/>
            <a:chOff x="0" y="0"/>
            <a:chExt cx="1029969" cy="2566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9969" cy="256620"/>
            </a:xfrm>
            <a:custGeom>
              <a:avLst/>
              <a:gdLst/>
              <a:ahLst/>
              <a:cxnLst/>
              <a:rect l="l" t="t" r="r" b="b"/>
              <a:pathLst>
                <a:path w="1029969" h="256620">
                  <a:moveTo>
                    <a:pt x="0" y="0"/>
                  </a:moveTo>
                  <a:lnTo>
                    <a:pt x="1029969" y="0"/>
                  </a:lnTo>
                  <a:lnTo>
                    <a:pt x="1029969" y="256620"/>
                  </a:lnTo>
                  <a:lnTo>
                    <a:pt x="0" y="256620"/>
                  </a:lnTo>
                  <a:close/>
                </a:path>
              </a:pathLst>
            </a:custGeom>
            <a:solidFill>
              <a:srgbClr val="E4F4D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29969" cy="2947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22349" y="1214628"/>
            <a:ext cx="9259029" cy="3928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4"/>
              </a:lnSpc>
            </a:pPr>
            <a:r>
              <a:rPr lang="en-US" sz="7200">
                <a:solidFill>
                  <a:srgbClr val="000000"/>
                </a:solidFill>
                <a:latin typeface="Aileron"/>
              </a:rPr>
              <a:t>SISTEMA DE GESTÃO DE PROJETOS PARA UMA EMPRESA DE TI</a:t>
            </a:r>
          </a:p>
          <a:p>
            <a:pPr algn="l">
              <a:lnSpc>
                <a:spcPts val="7704"/>
              </a:lnSpc>
            </a:pPr>
            <a:endParaRPr lang="en-US" sz="7200">
              <a:solidFill>
                <a:srgbClr val="000000"/>
              </a:solidFill>
              <a:latin typeface="Ailero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607246" y="5536725"/>
            <a:ext cx="7663310" cy="475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453"/>
              </a:lnSpc>
              <a:buFont typeface="Arial" panose="020B0604020202020204" pitchFamily="34" charset="0"/>
              <a:buChar char="•"/>
            </a:pPr>
            <a:r>
              <a:rPr lang="en-US" sz="3227" dirty="0">
                <a:solidFill>
                  <a:srgbClr val="000000"/>
                </a:solidFill>
                <a:latin typeface="Aileron"/>
              </a:rPr>
              <a:t>Marina Estrela Palma</a:t>
            </a:r>
          </a:p>
          <a:p>
            <a:pPr algn="l">
              <a:lnSpc>
                <a:spcPts val="3453"/>
              </a:lnSpc>
            </a:pPr>
            <a:endParaRPr lang="en-US" sz="3227" dirty="0">
              <a:solidFill>
                <a:srgbClr val="000000"/>
              </a:solidFill>
              <a:latin typeface="Aileron"/>
            </a:endParaRPr>
          </a:p>
          <a:p>
            <a:pPr marL="457200" indent="-457200" algn="l">
              <a:lnSpc>
                <a:spcPts val="3453"/>
              </a:lnSpc>
              <a:buFont typeface="Arial" panose="020B0604020202020204" pitchFamily="34" charset="0"/>
              <a:buChar char="•"/>
            </a:pPr>
            <a:r>
              <a:rPr lang="en-US" sz="3227" dirty="0">
                <a:solidFill>
                  <a:srgbClr val="000000"/>
                </a:solidFill>
                <a:latin typeface="Aileron"/>
              </a:rPr>
              <a:t>Larissa Amaral Rodrigues</a:t>
            </a:r>
          </a:p>
          <a:p>
            <a:pPr marL="457200" indent="-457200" algn="l">
              <a:lnSpc>
                <a:spcPts val="3453"/>
              </a:lnSpc>
              <a:buFont typeface="Arial" panose="020B0604020202020204" pitchFamily="34" charset="0"/>
              <a:buChar char="•"/>
            </a:pPr>
            <a:endParaRPr lang="en-US" sz="3227" dirty="0">
              <a:solidFill>
                <a:srgbClr val="000000"/>
              </a:solidFill>
              <a:latin typeface="Aileron"/>
            </a:endParaRPr>
          </a:p>
          <a:p>
            <a:pPr marL="457200" indent="-457200" algn="l">
              <a:lnSpc>
                <a:spcPts val="3453"/>
              </a:lnSpc>
              <a:buFont typeface="Arial" panose="020B0604020202020204" pitchFamily="34" charset="0"/>
              <a:buChar char="•"/>
            </a:pPr>
            <a:r>
              <a:rPr lang="en-US" sz="3227" dirty="0" err="1">
                <a:solidFill>
                  <a:srgbClr val="000000"/>
                </a:solidFill>
                <a:latin typeface="Aileron"/>
              </a:rPr>
              <a:t>Luigih</a:t>
            </a:r>
            <a:r>
              <a:rPr lang="en-US" sz="3227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27" dirty="0" err="1">
                <a:solidFill>
                  <a:srgbClr val="000000"/>
                </a:solidFill>
                <a:latin typeface="Aileron"/>
              </a:rPr>
              <a:t>Ragauske</a:t>
            </a:r>
            <a:r>
              <a:rPr lang="en-US" sz="3227" dirty="0">
                <a:solidFill>
                  <a:srgbClr val="000000"/>
                </a:solidFill>
                <a:latin typeface="Aileron"/>
              </a:rPr>
              <a:t> Martins Reis</a:t>
            </a:r>
          </a:p>
          <a:p>
            <a:pPr marL="457200" indent="-457200" algn="l">
              <a:lnSpc>
                <a:spcPts val="3453"/>
              </a:lnSpc>
              <a:buFont typeface="Arial" panose="020B0604020202020204" pitchFamily="34" charset="0"/>
              <a:buChar char="•"/>
            </a:pPr>
            <a:endParaRPr lang="en-US" sz="3227" dirty="0">
              <a:solidFill>
                <a:srgbClr val="000000"/>
              </a:solidFill>
              <a:latin typeface="Aileron"/>
            </a:endParaRPr>
          </a:p>
          <a:p>
            <a:pPr marL="457200" indent="-457200" algn="l">
              <a:lnSpc>
                <a:spcPts val="3453"/>
              </a:lnSpc>
              <a:buFont typeface="Arial" panose="020B0604020202020204" pitchFamily="34" charset="0"/>
              <a:buChar char="•"/>
            </a:pPr>
            <a:r>
              <a:rPr lang="en-US" sz="3227" dirty="0">
                <a:solidFill>
                  <a:srgbClr val="000000"/>
                </a:solidFill>
                <a:latin typeface="Aileron"/>
              </a:rPr>
              <a:t>Matheus </a:t>
            </a:r>
            <a:r>
              <a:rPr lang="en-US" sz="3227" dirty="0" err="1">
                <a:solidFill>
                  <a:srgbClr val="000000"/>
                </a:solidFill>
                <a:latin typeface="Aileron"/>
              </a:rPr>
              <a:t>Aurichio</a:t>
            </a:r>
            <a:r>
              <a:rPr lang="en-US" sz="3227" dirty="0">
                <a:solidFill>
                  <a:srgbClr val="000000"/>
                </a:solidFill>
                <a:latin typeface="Aileron"/>
              </a:rPr>
              <a:t> Batista</a:t>
            </a:r>
          </a:p>
          <a:p>
            <a:pPr algn="l">
              <a:lnSpc>
                <a:spcPts val="3453"/>
              </a:lnSpc>
            </a:pPr>
            <a:r>
              <a:rPr lang="en-US" sz="3227" dirty="0">
                <a:solidFill>
                  <a:srgbClr val="000000"/>
                </a:solidFill>
                <a:latin typeface="Aileron"/>
              </a:rPr>
              <a:t> </a:t>
            </a:r>
          </a:p>
          <a:p>
            <a:pPr marL="457200" indent="-457200" algn="l">
              <a:lnSpc>
                <a:spcPts val="3453"/>
              </a:lnSpc>
              <a:buFont typeface="Arial" panose="020B0604020202020204" pitchFamily="34" charset="0"/>
              <a:buChar char="•"/>
            </a:pPr>
            <a:r>
              <a:rPr lang="en-US" sz="3227" dirty="0">
                <a:solidFill>
                  <a:srgbClr val="000000"/>
                </a:solidFill>
                <a:latin typeface="Aileron"/>
              </a:rPr>
              <a:t>Matheus </a:t>
            </a:r>
            <a:r>
              <a:rPr lang="en-US" sz="3227" dirty="0" err="1">
                <a:solidFill>
                  <a:srgbClr val="000000"/>
                </a:solidFill>
                <a:latin typeface="Aileron"/>
              </a:rPr>
              <a:t>Guerino</a:t>
            </a:r>
            <a:r>
              <a:rPr lang="en-US" sz="3227" dirty="0">
                <a:solidFill>
                  <a:srgbClr val="000000"/>
                </a:solidFill>
                <a:latin typeface="Aileron"/>
              </a:rPr>
              <a:t> da Silva</a:t>
            </a:r>
          </a:p>
          <a:p>
            <a:pPr algn="l">
              <a:lnSpc>
                <a:spcPts val="6376"/>
              </a:lnSpc>
            </a:pPr>
            <a:endParaRPr lang="en-US" sz="3227" dirty="0">
              <a:solidFill>
                <a:srgbClr val="000000"/>
              </a:solidFill>
              <a:latin typeface="Aileron"/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F54422FA-73D5-CE42-8901-918D56A9C0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2697412"/>
            <a:ext cx="6315178" cy="63151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721381" y="672909"/>
            <a:ext cx="13976609" cy="789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2"/>
              </a:lnSpc>
            </a:pPr>
            <a:r>
              <a:rPr lang="en-US" sz="7200" dirty="0">
                <a:solidFill>
                  <a:schemeClr val="bg1"/>
                </a:solidFill>
                <a:latin typeface="Aileron Bold"/>
              </a:rPr>
              <a:t>DESCRIÇÃO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9600" y="1790700"/>
            <a:ext cx="10161984" cy="7640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 dirty="0">
                <a:solidFill>
                  <a:srgbClr val="FFFFFF"/>
                </a:solidFill>
                <a:latin typeface="Aileron"/>
              </a:rPr>
              <a:t>O Software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desenvolvido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para a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Empresa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de T.I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tem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incluso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recursos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de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gerenciamento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para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criação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de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projetos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,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interação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\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comunicação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entre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os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envolvidos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e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distribuição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de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tarefas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para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melhor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conclusão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de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prazos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e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atendimento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aos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requisitos.Sua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interface é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amigável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e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adaptada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para as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demais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situações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de modo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intuitivo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, com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cada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projeto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tendo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limite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de 50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tarefas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que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devem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ser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atualizadas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diariamente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e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relatórios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de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progresso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que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devem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ser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gerados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semanalmente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para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os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gerentes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 de </a:t>
            </a:r>
            <a:r>
              <a:rPr lang="en-US" sz="3600" dirty="0" err="1">
                <a:solidFill>
                  <a:srgbClr val="FFFFFF"/>
                </a:solidFill>
                <a:latin typeface="Aileron"/>
              </a:rPr>
              <a:t>projeto</a:t>
            </a:r>
            <a:r>
              <a:rPr lang="en-US" sz="3600" dirty="0">
                <a:solidFill>
                  <a:srgbClr val="FFFFFF"/>
                </a:solidFill>
                <a:latin typeface="Aileron"/>
              </a:rPr>
              <a:t>.</a:t>
            </a:r>
          </a:p>
          <a:p>
            <a:pPr algn="just">
              <a:lnSpc>
                <a:spcPts val="5040"/>
              </a:lnSpc>
              <a:spcBef>
                <a:spcPct val="0"/>
              </a:spcBef>
            </a:pPr>
            <a:endParaRPr lang="en-US" sz="3600" dirty="0">
              <a:solidFill>
                <a:srgbClr val="FFFFFF"/>
              </a:solidFill>
              <a:latin typeface="Aileron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D331809B-AC6F-AAE3-5E5D-60F6F7B544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37632" y="1695450"/>
            <a:ext cx="6896100" cy="68961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49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6026511" y="800100"/>
            <a:ext cx="5936889" cy="807329"/>
            <a:chOff x="0" y="0"/>
            <a:chExt cx="1642134" cy="238393"/>
          </a:xfrm>
          <a:solidFill>
            <a:srgbClr val="D6A4DE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1642134" cy="238393"/>
            </a:xfrm>
            <a:custGeom>
              <a:avLst/>
              <a:gdLst/>
              <a:ahLst/>
              <a:cxnLst/>
              <a:rect l="l" t="t" r="r" b="b"/>
              <a:pathLst>
                <a:path w="1642134" h="238393">
                  <a:moveTo>
                    <a:pt x="0" y="0"/>
                  </a:moveTo>
                  <a:lnTo>
                    <a:pt x="1642134" y="0"/>
                  </a:lnTo>
                  <a:lnTo>
                    <a:pt x="1642134" y="238393"/>
                  </a:lnTo>
                  <a:lnTo>
                    <a:pt x="0" y="23839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642134" cy="27649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86292" y="682327"/>
            <a:ext cx="13200617" cy="1985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4"/>
              </a:lnSpc>
            </a:pPr>
            <a:r>
              <a:rPr lang="en-US" sz="7200" dirty="0">
                <a:solidFill>
                  <a:srgbClr val="000000"/>
                </a:solidFill>
                <a:latin typeface="Aileron Bold"/>
              </a:rPr>
              <a:t>REQUISITOS FUNCIONAIS</a:t>
            </a:r>
          </a:p>
          <a:p>
            <a:pPr algn="l">
              <a:lnSpc>
                <a:spcPts val="7704"/>
              </a:lnSpc>
            </a:pPr>
            <a:endParaRPr lang="en-US" sz="7200" dirty="0">
              <a:solidFill>
                <a:srgbClr val="000000"/>
              </a:solidFill>
              <a:latin typeface="Ailero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91054" y="2400878"/>
            <a:ext cx="9955153" cy="6875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dirty="0" err="1">
                <a:solidFill>
                  <a:srgbClr val="000000"/>
                </a:solidFill>
                <a:latin typeface="Aileron"/>
              </a:rPr>
              <a:t>Os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requisitos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funcionais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são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cruciais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na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engenharia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do software, pois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definem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ações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específicas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que o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sistema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deve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executar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para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atender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ao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usuário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.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Clareza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objetividade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nesses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requisitos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melhoram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a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qualidade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do software.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Revisão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aprovação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entregas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permitira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que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houvesse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uma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menor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margem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erros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causando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menor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descontentamento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.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Definir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requisitos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funcionais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claros e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objetivos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ajuda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os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desenvolvedores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e partes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interessadas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a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garantir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que o software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atenda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às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necessidades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dos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usuários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finais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maneira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eficaz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.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  <a:endParaRPr lang="en-US" sz="3200" dirty="0">
              <a:solidFill>
                <a:srgbClr val="000000"/>
              </a:solidFill>
              <a:latin typeface="Aileron"/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22CD4E17-FC6B-B3F7-4342-440E88E8AE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01400" y="2071937"/>
            <a:ext cx="6719569" cy="6719569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6019800" y="673529"/>
            <a:ext cx="5936889" cy="905149"/>
            <a:chOff x="0" y="0"/>
            <a:chExt cx="1642134" cy="2383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42134" cy="238393"/>
            </a:xfrm>
            <a:custGeom>
              <a:avLst/>
              <a:gdLst/>
              <a:ahLst/>
              <a:cxnLst/>
              <a:rect l="l" t="t" r="r" b="b"/>
              <a:pathLst>
                <a:path w="1642134" h="238393">
                  <a:moveTo>
                    <a:pt x="0" y="0"/>
                  </a:moveTo>
                  <a:lnTo>
                    <a:pt x="1642134" y="0"/>
                  </a:lnTo>
                  <a:lnTo>
                    <a:pt x="1642134" y="238393"/>
                  </a:lnTo>
                  <a:lnTo>
                    <a:pt x="0" y="238393"/>
                  </a:lnTo>
                  <a:close/>
                </a:path>
              </a:pathLst>
            </a:custGeom>
            <a:solidFill>
              <a:srgbClr val="E4F4D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642134" cy="276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25205" y="652642"/>
            <a:ext cx="13200617" cy="1985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4"/>
              </a:lnSpc>
            </a:pPr>
            <a:r>
              <a:rPr lang="en-US" sz="7200">
                <a:solidFill>
                  <a:srgbClr val="000000"/>
                </a:solidFill>
                <a:latin typeface="Aileron Bold"/>
              </a:rPr>
              <a:t>REQUISITOS FUNCIONAIS</a:t>
            </a:r>
          </a:p>
          <a:p>
            <a:pPr algn="l">
              <a:lnSpc>
                <a:spcPts val="7704"/>
              </a:lnSpc>
            </a:pPr>
            <a:endParaRPr lang="en-US" sz="7200">
              <a:solidFill>
                <a:srgbClr val="000000"/>
              </a:solidFill>
              <a:latin typeface="Ailero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25205" y="1667478"/>
            <a:ext cx="17173559" cy="8559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46"/>
              </a:lnSpc>
            </a:pPr>
            <a:r>
              <a:rPr lang="en-US" sz="3033" dirty="0">
                <a:solidFill>
                  <a:srgbClr val="000000"/>
                </a:solidFill>
                <a:latin typeface="Aileron Bold"/>
              </a:rPr>
              <a:t>RF1.Processamento de </a:t>
            </a:r>
            <a:r>
              <a:rPr lang="en-US" sz="3033" dirty="0" err="1">
                <a:solidFill>
                  <a:srgbClr val="000000"/>
                </a:solidFill>
                <a:latin typeface="Aileron Bold"/>
              </a:rPr>
              <a:t>transações</a:t>
            </a:r>
            <a:r>
              <a:rPr lang="en-US" sz="3033" dirty="0">
                <a:solidFill>
                  <a:srgbClr val="000000"/>
                </a:solidFill>
                <a:latin typeface="Aileron Bold"/>
              </a:rPr>
              <a:t>: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Em e-commerce, a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capacidade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de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processar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pagamentos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de forma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segura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.</a:t>
            </a:r>
          </a:p>
          <a:p>
            <a:pPr algn="just">
              <a:lnSpc>
                <a:spcPts val="4246"/>
              </a:lnSpc>
            </a:pPr>
            <a:endParaRPr lang="en-US" sz="3033" dirty="0">
              <a:solidFill>
                <a:srgbClr val="000000"/>
              </a:solidFill>
              <a:latin typeface="Aileron"/>
            </a:endParaRPr>
          </a:p>
          <a:p>
            <a:pPr algn="just">
              <a:lnSpc>
                <a:spcPts val="4246"/>
              </a:lnSpc>
            </a:pPr>
            <a:r>
              <a:rPr lang="en-US" sz="3033" dirty="0">
                <a:solidFill>
                  <a:srgbClr val="000000"/>
                </a:solidFill>
                <a:latin typeface="Aileron Bold"/>
              </a:rPr>
              <a:t>RF2.Gerenciamento de </a:t>
            </a:r>
            <a:r>
              <a:rPr lang="en-US" sz="3033" dirty="0" err="1">
                <a:solidFill>
                  <a:srgbClr val="000000"/>
                </a:solidFill>
                <a:latin typeface="Aileron Bold"/>
              </a:rPr>
              <a:t>usuários</a:t>
            </a:r>
            <a:r>
              <a:rPr lang="en-US" sz="3033" dirty="0">
                <a:solidFill>
                  <a:srgbClr val="000000"/>
                </a:solidFill>
                <a:latin typeface="Aileron Bold"/>
              </a:rPr>
              <a:t>: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Funcionalidade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de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criar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e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editar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perfis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de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usuário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,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editar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informações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pessoais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e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interagir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com outros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usuários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.</a:t>
            </a:r>
          </a:p>
          <a:p>
            <a:pPr algn="just">
              <a:lnSpc>
                <a:spcPts val="4246"/>
              </a:lnSpc>
            </a:pPr>
            <a:endParaRPr lang="en-US" sz="3033" dirty="0">
              <a:solidFill>
                <a:srgbClr val="000000"/>
              </a:solidFill>
              <a:latin typeface="Aileron"/>
            </a:endParaRPr>
          </a:p>
          <a:p>
            <a:pPr algn="just">
              <a:lnSpc>
                <a:spcPts val="4246"/>
              </a:lnSpc>
            </a:pPr>
            <a:r>
              <a:rPr lang="en-US" sz="3033" dirty="0">
                <a:solidFill>
                  <a:srgbClr val="000000"/>
                </a:solidFill>
                <a:latin typeface="Aileron Bold"/>
              </a:rPr>
              <a:t>RF3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.</a:t>
            </a:r>
            <a:r>
              <a:rPr lang="en-US" sz="3033" dirty="0">
                <a:solidFill>
                  <a:srgbClr val="000000"/>
                </a:solidFill>
                <a:latin typeface="Aileron Bold"/>
              </a:rPr>
              <a:t>Busca e </a:t>
            </a:r>
            <a:r>
              <a:rPr lang="en-US" sz="3033" dirty="0" err="1">
                <a:solidFill>
                  <a:srgbClr val="000000"/>
                </a:solidFill>
                <a:latin typeface="Aileron Bold"/>
              </a:rPr>
              <a:t>Filtragem</a:t>
            </a:r>
            <a:r>
              <a:rPr lang="en-US" sz="3033" dirty="0">
                <a:solidFill>
                  <a:srgbClr val="000000"/>
                </a:solidFill>
                <a:latin typeface="Aileron Bold"/>
              </a:rPr>
              <a:t> de Dados: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Análise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de dados,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habilidade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de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pesquisar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,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filtrar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e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visualizar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conjuntos de dados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específicos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.</a:t>
            </a:r>
          </a:p>
          <a:p>
            <a:pPr algn="just">
              <a:lnSpc>
                <a:spcPts val="4246"/>
              </a:lnSpc>
            </a:pPr>
            <a:endParaRPr lang="en-US" sz="3033" dirty="0">
              <a:solidFill>
                <a:srgbClr val="000000"/>
              </a:solidFill>
              <a:latin typeface="Aileron"/>
            </a:endParaRPr>
          </a:p>
          <a:p>
            <a:pPr algn="just">
              <a:lnSpc>
                <a:spcPts val="4246"/>
              </a:lnSpc>
            </a:pPr>
            <a:r>
              <a:rPr lang="en-US" sz="3033" dirty="0">
                <a:solidFill>
                  <a:srgbClr val="000000"/>
                </a:solidFill>
                <a:latin typeface="Aileron Bold"/>
              </a:rPr>
              <a:t>RF4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.</a:t>
            </a:r>
            <a:r>
              <a:rPr lang="en-US" sz="3033" dirty="0">
                <a:solidFill>
                  <a:srgbClr val="000000"/>
                </a:solidFill>
                <a:latin typeface="Aileron Bold"/>
              </a:rPr>
              <a:t>Geração de </a:t>
            </a:r>
            <a:r>
              <a:rPr lang="en-US" sz="3033" dirty="0" err="1">
                <a:solidFill>
                  <a:srgbClr val="000000"/>
                </a:solidFill>
                <a:latin typeface="Aileron Bold"/>
              </a:rPr>
              <a:t>Relatórios</a:t>
            </a:r>
            <a:r>
              <a:rPr lang="en-US" sz="3033" dirty="0">
                <a:solidFill>
                  <a:srgbClr val="000000"/>
                </a:solidFill>
                <a:latin typeface="Aileron Bold"/>
              </a:rPr>
              <a:t>: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No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corporativo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, a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capacidade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de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gerar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relatórios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financeiros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ou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de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desempenho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automáticos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e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personalizáveis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.</a:t>
            </a:r>
          </a:p>
          <a:p>
            <a:pPr algn="just">
              <a:lnSpc>
                <a:spcPts val="4246"/>
              </a:lnSpc>
            </a:pPr>
            <a:endParaRPr lang="en-US" sz="3033" dirty="0">
              <a:solidFill>
                <a:srgbClr val="000000"/>
              </a:solidFill>
              <a:latin typeface="Aileron"/>
            </a:endParaRPr>
          </a:p>
          <a:p>
            <a:pPr algn="just">
              <a:lnSpc>
                <a:spcPts val="4246"/>
              </a:lnSpc>
            </a:pPr>
            <a:r>
              <a:rPr lang="en-US" sz="3033" dirty="0">
                <a:solidFill>
                  <a:srgbClr val="000000"/>
                </a:solidFill>
                <a:latin typeface="Aileron Bold"/>
              </a:rPr>
              <a:t>RF5.Planejamento de </a:t>
            </a:r>
            <a:r>
              <a:rPr lang="en-US" sz="3033" dirty="0" err="1">
                <a:solidFill>
                  <a:srgbClr val="000000"/>
                </a:solidFill>
                <a:latin typeface="Aileron Bold"/>
              </a:rPr>
              <a:t>Projetos</a:t>
            </a:r>
            <a:r>
              <a:rPr lang="en-US" sz="3033" dirty="0">
                <a:solidFill>
                  <a:srgbClr val="000000"/>
                </a:solidFill>
                <a:latin typeface="Aileron Bold"/>
              </a:rPr>
              <a:t>: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Criação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e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gerenciamento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de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cronogramas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facilitando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assim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uma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organização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e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estabilização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melhor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.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Alocação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de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recursos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e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estimativas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de custos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ajudam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a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ter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uma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melhor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preparação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financeira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e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novamente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,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uma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033" dirty="0" err="1">
                <a:solidFill>
                  <a:srgbClr val="000000"/>
                </a:solidFill>
                <a:latin typeface="Aileron"/>
              </a:rPr>
              <a:t>estabilização</a:t>
            </a:r>
            <a:r>
              <a:rPr lang="en-US" sz="3033" dirty="0">
                <a:solidFill>
                  <a:srgbClr val="000000"/>
                </a:solidFill>
                <a:latin typeface="Aileron"/>
              </a:rPr>
              <a:t>.</a:t>
            </a:r>
          </a:p>
          <a:p>
            <a:pPr algn="just">
              <a:lnSpc>
                <a:spcPts val="4511"/>
              </a:lnSpc>
              <a:spcBef>
                <a:spcPct val="0"/>
              </a:spcBef>
            </a:pPr>
            <a:endParaRPr lang="en-US" sz="3033" dirty="0">
              <a:solidFill>
                <a:srgbClr val="000000"/>
              </a:solidFill>
              <a:latin typeface="Aileron"/>
            </a:endParaRP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5474849" y="620342"/>
            <a:ext cx="7338301" cy="789358"/>
            <a:chOff x="0" y="0"/>
            <a:chExt cx="1932721" cy="246358"/>
          </a:xfrm>
          <a:solidFill>
            <a:srgbClr val="D6A4DE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1932721" cy="246358"/>
            </a:xfrm>
            <a:custGeom>
              <a:avLst/>
              <a:gdLst/>
              <a:ahLst/>
              <a:cxnLst/>
              <a:rect l="l" t="t" r="r" b="b"/>
              <a:pathLst>
                <a:path w="1932721" h="246358">
                  <a:moveTo>
                    <a:pt x="0" y="0"/>
                  </a:moveTo>
                  <a:lnTo>
                    <a:pt x="1932721" y="0"/>
                  </a:lnTo>
                  <a:lnTo>
                    <a:pt x="1932721" y="246358"/>
                  </a:lnTo>
                  <a:lnTo>
                    <a:pt x="0" y="246358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32721" cy="28445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315200" y="3165486"/>
            <a:ext cx="9829800" cy="49731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3499" dirty="0" err="1">
                <a:solidFill>
                  <a:srgbClr val="000000"/>
                </a:solidFill>
                <a:latin typeface="Aileron"/>
              </a:rPr>
              <a:t>Os</a:t>
            </a:r>
            <a:r>
              <a:rPr lang="en-US" sz="3499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Aileron"/>
              </a:rPr>
              <a:t>requisitos</a:t>
            </a:r>
            <a:r>
              <a:rPr lang="en-US" sz="3499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Aileron"/>
              </a:rPr>
              <a:t>não</a:t>
            </a:r>
            <a:r>
              <a:rPr lang="en-US" sz="3499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Aileron"/>
              </a:rPr>
              <a:t>funcionais</a:t>
            </a:r>
            <a:r>
              <a:rPr lang="en-US" sz="3499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Aileron"/>
              </a:rPr>
              <a:t>são</a:t>
            </a:r>
            <a:r>
              <a:rPr lang="en-US" sz="3499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Aileron"/>
              </a:rPr>
              <a:t>todos</a:t>
            </a:r>
            <a:r>
              <a:rPr lang="en-US" sz="3499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Aileron"/>
              </a:rPr>
              <a:t>aqueles</a:t>
            </a:r>
            <a:r>
              <a:rPr lang="en-US" sz="3499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Aileron"/>
              </a:rPr>
              <a:t>relacionados</a:t>
            </a:r>
            <a:r>
              <a:rPr lang="en-US" sz="3499" dirty="0">
                <a:solidFill>
                  <a:srgbClr val="000000"/>
                </a:solidFill>
                <a:latin typeface="Aileron"/>
              </a:rPr>
              <a:t> à forma </a:t>
            </a:r>
            <a:r>
              <a:rPr lang="en-US" sz="3499" dirty="0" err="1">
                <a:solidFill>
                  <a:srgbClr val="000000"/>
                </a:solidFill>
                <a:latin typeface="Aileron"/>
              </a:rPr>
              <a:t>como</a:t>
            </a:r>
            <a:r>
              <a:rPr lang="en-US" sz="3499" dirty="0">
                <a:solidFill>
                  <a:srgbClr val="000000"/>
                </a:solidFill>
                <a:latin typeface="Aileron"/>
              </a:rPr>
              <a:t> o software </a:t>
            </a:r>
            <a:r>
              <a:rPr lang="en-US" sz="3499" dirty="0" err="1">
                <a:solidFill>
                  <a:srgbClr val="000000"/>
                </a:solidFill>
                <a:latin typeface="Aileron"/>
              </a:rPr>
              <a:t>ou</a:t>
            </a:r>
            <a:r>
              <a:rPr lang="en-US" sz="3499" dirty="0">
                <a:solidFill>
                  <a:srgbClr val="000000"/>
                </a:solidFill>
                <a:latin typeface="Aileron"/>
              </a:rPr>
              <a:t> app web </a:t>
            </a:r>
            <a:r>
              <a:rPr lang="en-US" sz="3499" dirty="0" err="1">
                <a:solidFill>
                  <a:srgbClr val="000000"/>
                </a:solidFill>
                <a:latin typeface="Aileron"/>
              </a:rPr>
              <a:t>tornará</a:t>
            </a:r>
            <a:r>
              <a:rPr lang="en-US" sz="3499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Aileron"/>
              </a:rPr>
              <a:t>realidade</a:t>
            </a:r>
            <a:r>
              <a:rPr lang="en-US" sz="3499" dirty="0">
                <a:solidFill>
                  <a:srgbClr val="000000"/>
                </a:solidFill>
                <a:latin typeface="Aileron"/>
              </a:rPr>
              <a:t> o que </a:t>
            </a:r>
            <a:r>
              <a:rPr lang="en-US" sz="3499" dirty="0" err="1">
                <a:solidFill>
                  <a:srgbClr val="000000"/>
                </a:solidFill>
                <a:latin typeface="Aileron"/>
              </a:rPr>
              <a:t>está</a:t>
            </a:r>
            <a:r>
              <a:rPr lang="en-US" sz="3499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Aileron"/>
              </a:rPr>
              <a:t>sendo</a:t>
            </a:r>
            <a:r>
              <a:rPr lang="en-US" sz="3499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Aileron"/>
              </a:rPr>
              <a:t>planejado</a:t>
            </a:r>
            <a:r>
              <a:rPr lang="en-US" sz="3499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Aileron"/>
              </a:rPr>
              <a:t>em</a:t>
            </a:r>
            <a:r>
              <a:rPr lang="en-US" sz="3499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Aileron"/>
              </a:rPr>
              <a:t>termos</a:t>
            </a:r>
            <a:r>
              <a:rPr lang="en-US" sz="3499" dirty="0">
                <a:solidFill>
                  <a:srgbClr val="000000"/>
                </a:solidFill>
                <a:latin typeface="Aileron"/>
              </a:rPr>
              <a:t> de </a:t>
            </a:r>
            <a:r>
              <a:rPr lang="en-US" sz="3499" dirty="0" err="1">
                <a:solidFill>
                  <a:srgbClr val="000000"/>
                </a:solidFill>
                <a:latin typeface="Aileron"/>
              </a:rPr>
              <a:t>desempenho</a:t>
            </a:r>
            <a:r>
              <a:rPr lang="en-US" sz="3499" dirty="0">
                <a:solidFill>
                  <a:srgbClr val="000000"/>
                </a:solidFill>
                <a:latin typeface="Aileron"/>
              </a:rPr>
              <a:t>, </a:t>
            </a:r>
            <a:r>
              <a:rPr lang="en-US" sz="3499" dirty="0" err="1">
                <a:solidFill>
                  <a:srgbClr val="000000"/>
                </a:solidFill>
                <a:latin typeface="Aileron"/>
              </a:rPr>
              <a:t>usabilidade</a:t>
            </a:r>
            <a:r>
              <a:rPr lang="en-US" sz="3499" dirty="0">
                <a:solidFill>
                  <a:srgbClr val="000000"/>
                </a:solidFill>
                <a:latin typeface="Aileron"/>
              </a:rPr>
              <a:t>, </a:t>
            </a:r>
            <a:r>
              <a:rPr lang="en-US" sz="3499" dirty="0" err="1">
                <a:solidFill>
                  <a:srgbClr val="000000"/>
                </a:solidFill>
                <a:latin typeface="Aileron"/>
              </a:rPr>
              <a:t>confiabilidade</a:t>
            </a:r>
            <a:r>
              <a:rPr lang="en-US" sz="3499" dirty="0">
                <a:solidFill>
                  <a:srgbClr val="000000"/>
                </a:solidFill>
                <a:latin typeface="Aileron"/>
              </a:rPr>
              <a:t>, </a:t>
            </a:r>
            <a:r>
              <a:rPr lang="en-US" sz="3499" dirty="0" err="1">
                <a:solidFill>
                  <a:srgbClr val="000000"/>
                </a:solidFill>
                <a:latin typeface="Aileron"/>
              </a:rPr>
              <a:t>segurança</a:t>
            </a:r>
            <a:r>
              <a:rPr lang="en-US" sz="3499" dirty="0">
                <a:solidFill>
                  <a:srgbClr val="000000"/>
                </a:solidFill>
                <a:latin typeface="Aileron"/>
              </a:rPr>
              <a:t>, </a:t>
            </a:r>
            <a:r>
              <a:rPr lang="en-US" sz="3499" dirty="0" err="1">
                <a:solidFill>
                  <a:srgbClr val="000000"/>
                </a:solidFill>
                <a:latin typeface="Aileron"/>
              </a:rPr>
              <a:t>disponibilidade</a:t>
            </a:r>
            <a:r>
              <a:rPr lang="en-US" sz="3499" dirty="0">
                <a:solidFill>
                  <a:srgbClr val="000000"/>
                </a:solidFill>
                <a:latin typeface="Aileron"/>
              </a:rPr>
              <a:t>, </a:t>
            </a:r>
            <a:r>
              <a:rPr lang="en-US" sz="3499" dirty="0" err="1">
                <a:solidFill>
                  <a:srgbClr val="000000"/>
                </a:solidFill>
                <a:latin typeface="Aileron"/>
              </a:rPr>
              <a:t>manutenção</a:t>
            </a:r>
            <a:r>
              <a:rPr lang="en-US" sz="3499" dirty="0">
                <a:solidFill>
                  <a:srgbClr val="000000"/>
                </a:solidFill>
                <a:latin typeface="Aileron"/>
              </a:rPr>
              <a:t> e </a:t>
            </a:r>
            <a:r>
              <a:rPr lang="en-US" sz="3499" dirty="0" err="1">
                <a:solidFill>
                  <a:srgbClr val="000000"/>
                </a:solidFill>
                <a:latin typeface="Aileron"/>
              </a:rPr>
              <a:t>tecnologias</a:t>
            </a:r>
            <a:r>
              <a:rPr lang="en-US" sz="3499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Aileron"/>
              </a:rPr>
              <a:t>envolvidas</a:t>
            </a:r>
            <a:r>
              <a:rPr lang="en-US" sz="3499" dirty="0">
                <a:solidFill>
                  <a:srgbClr val="000000"/>
                </a:solidFill>
                <a:latin typeface="Aileron"/>
              </a:rPr>
              <a:t>.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  <a:endParaRPr lang="en-US" sz="3499" dirty="0">
              <a:solidFill>
                <a:srgbClr val="000000"/>
              </a:solidFill>
              <a:latin typeface="Ailero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39687" y="536944"/>
            <a:ext cx="13410802" cy="1811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51"/>
              </a:lnSpc>
            </a:pPr>
            <a:r>
              <a:rPr lang="en-US" sz="6590" dirty="0">
                <a:solidFill>
                  <a:srgbClr val="000000"/>
                </a:solidFill>
                <a:latin typeface="Aileron Bold"/>
              </a:rPr>
              <a:t>REQUISITOS NÃO FUNCIONAIS</a:t>
            </a:r>
          </a:p>
          <a:p>
            <a:pPr algn="l">
              <a:lnSpc>
                <a:spcPts val="7051"/>
              </a:lnSpc>
            </a:pPr>
            <a:endParaRPr lang="en-US" sz="6590" dirty="0">
              <a:solidFill>
                <a:srgbClr val="000000"/>
              </a:solidFill>
              <a:latin typeface="Aileron Bold"/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6AC8A53E-E2E7-59E1-80B7-BFCCB6BE93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488" y="2348114"/>
            <a:ext cx="6705600" cy="67056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5334000" y="593321"/>
            <a:ext cx="7338301" cy="935390"/>
            <a:chOff x="0" y="0"/>
            <a:chExt cx="1932721" cy="2463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32721" cy="246358"/>
            </a:xfrm>
            <a:custGeom>
              <a:avLst/>
              <a:gdLst/>
              <a:ahLst/>
              <a:cxnLst/>
              <a:rect l="l" t="t" r="r" b="b"/>
              <a:pathLst>
                <a:path w="1932721" h="246358">
                  <a:moveTo>
                    <a:pt x="0" y="0"/>
                  </a:moveTo>
                  <a:lnTo>
                    <a:pt x="1932721" y="0"/>
                  </a:lnTo>
                  <a:lnTo>
                    <a:pt x="1932721" y="246358"/>
                  </a:lnTo>
                  <a:lnTo>
                    <a:pt x="0" y="246358"/>
                  </a:lnTo>
                  <a:close/>
                </a:path>
              </a:pathLst>
            </a:custGeom>
            <a:solidFill>
              <a:srgbClr val="E4F4D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32721" cy="284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28600" y="2053527"/>
            <a:ext cx="17069549" cy="7755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9"/>
              </a:lnSpc>
            </a:pPr>
            <a:r>
              <a:rPr lang="en-US" sz="3200" dirty="0">
                <a:solidFill>
                  <a:srgbClr val="000000"/>
                </a:solidFill>
                <a:latin typeface="Aileron Bold"/>
              </a:rPr>
              <a:t>RNF1.Tempo de </a:t>
            </a:r>
            <a:r>
              <a:rPr lang="en-US" sz="3200" dirty="0" err="1">
                <a:solidFill>
                  <a:srgbClr val="000000"/>
                </a:solidFill>
                <a:latin typeface="Aileron Bold"/>
              </a:rPr>
              <a:t>resposta</a:t>
            </a:r>
            <a:r>
              <a:rPr lang="en-US" sz="3200" dirty="0">
                <a:solidFill>
                  <a:srgbClr val="000000"/>
                </a:solidFill>
                <a:latin typeface="Aileron Bold"/>
              </a:rPr>
              <a:t>: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Capacidade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do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sistema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de responder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rapidamente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a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solicitações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do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usuário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.</a:t>
            </a:r>
          </a:p>
          <a:p>
            <a:pPr algn="just">
              <a:lnSpc>
                <a:spcPts val="3789"/>
              </a:lnSpc>
            </a:pPr>
            <a:endParaRPr lang="en-US" sz="3200" dirty="0">
              <a:solidFill>
                <a:srgbClr val="000000"/>
              </a:solidFill>
              <a:latin typeface="Aileron"/>
            </a:endParaRPr>
          </a:p>
          <a:p>
            <a:pPr algn="just">
              <a:lnSpc>
                <a:spcPts val="3789"/>
              </a:lnSpc>
            </a:pPr>
            <a:r>
              <a:rPr lang="en-US" sz="3200" dirty="0">
                <a:solidFill>
                  <a:srgbClr val="000000"/>
                </a:solidFill>
                <a:latin typeface="Aileron Bold"/>
              </a:rPr>
              <a:t>RNF2.Criptografia: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Protege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informações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sensíveis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por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meio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algoritmos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matemáticos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.</a:t>
            </a:r>
          </a:p>
          <a:p>
            <a:pPr algn="just">
              <a:lnSpc>
                <a:spcPts val="3789"/>
              </a:lnSpc>
            </a:pPr>
            <a:endParaRPr lang="en-US" sz="3200" dirty="0">
              <a:solidFill>
                <a:srgbClr val="000000"/>
              </a:solidFill>
              <a:latin typeface="Aileron"/>
            </a:endParaRPr>
          </a:p>
          <a:p>
            <a:pPr algn="just">
              <a:lnSpc>
                <a:spcPts val="3789"/>
              </a:lnSpc>
            </a:pPr>
            <a:r>
              <a:rPr lang="en-US" sz="3200" dirty="0">
                <a:solidFill>
                  <a:srgbClr val="000000"/>
                </a:solidFill>
                <a:latin typeface="Aileron Bold"/>
              </a:rPr>
              <a:t>RNF3.Integração: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Em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softwares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, a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capacidade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do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sistema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se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integrar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a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diferentes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sistemas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aplicativos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serviços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.</a:t>
            </a:r>
          </a:p>
          <a:p>
            <a:pPr algn="just">
              <a:lnSpc>
                <a:spcPts val="3789"/>
              </a:lnSpc>
            </a:pPr>
            <a:endParaRPr lang="en-US" sz="3200" dirty="0">
              <a:solidFill>
                <a:srgbClr val="000000"/>
              </a:solidFill>
              <a:latin typeface="Aileron"/>
            </a:endParaRPr>
          </a:p>
          <a:p>
            <a:pPr algn="just">
              <a:lnSpc>
                <a:spcPts val="3789"/>
              </a:lnSpc>
            </a:pPr>
            <a:r>
              <a:rPr lang="en-US" sz="3200" dirty="0">
                <a:solidFill>
                  <a:srgbClr val="000000"/>
                </a:solidFill>
                <a:latin typeface="Aileron Bold"/>
              </a:rPr>
              <a:t>RNF4.Tolerância a </a:t>
            </a:r>
            <a:r>
              <a:rPr lang="en-US" sz="3200" dirty="0" err="1">
                <a:solidFill>
                  <a:srgbClr val="000000"/>
                </a:solidFill>
                <a:latin typeface="Aileron Bold"/>
              </a:rPr>
              <a:t>falhas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: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Capacidade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do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sistema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continuar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operando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mesmo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com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falhas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servidores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.</a:t>
            </a:r>
          </a:p>
          <a:p>
            <a:pPr algn="just">
              <a:lnSpc>
                <a:spcPts val="3789"/>
              </a:lnSpc>
            </a:pPr>
            <a:endParaRPr lang="en-US" sz="3200" dirty="0">
              <a:solidFill>
                <a:srgbClr val="000000"/>
              </a:solidFill>
              <a:latin typeface="Aileron"/>
            </a:endParaRPr>
          </a:p>
          <a:p>
            <a:pPr algn="just">
              <a:lnSpc>
                <a:spcPts val="3789"/>
              </a:lnSpc>
            </a:pPr>
            <a:r>
              <a:rPr lang="en-US" sz="3200" dirty="0">
                <a:solidFill>
                  <a:srgbClr val="000000"/>
                </a:solidFill>
                <a:latin typeface="Aileron Bold"/>
              </a:rPr>
              <a:t>RNF5.Compatibilidade: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Capacidade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do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sistema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ser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compatível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com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os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principais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navegadores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(Chrome, Firefox, Safari, Edge).</a:t>
            </a:r>
          </a:p>
          <a:p>
            <a:pPr algn="just">
              <a:lnSpc>
                <a:spcPts val="3789"/>
              </a:lnSpc>
            </a:pPr>
            <a:endParaRPr lang="en-US" sz="3200" dirty="0">
              <a:solidFill>
                <a:srgbClr val="000000"/>
              </a:solidFill>
              <a:latin typeface="Aileron"/>
            </a:endParaRPr>
          </a:p>
          <a:p>
            <a:pPr algn="just">
              <a:lnSpc>
                <a:spcPts val="3789"/>
              </a:lnSpc>
            </a:pPr>
            <a:r>
              <a:rPr lang="en-US" sz="3200" dirty="0">
                <a:solidFill>
                  <a:srgbClr val="000000"/>
                </a:solidFill>
                <a:latin typeface="Aileron Bold"/>
              </a:rPr>
              <a:t>RNF6. </a:t>
            </a:r>
            <a:r>
              <a:rPr lang="en-US" sz="3200" dirty="0" err="1">
                <a:solidFill>
                  <a:srgbClr val="000000"/>
                </a:solidFill>
                <a:latin typeface="Aileron Bold"/>
              </a:rPr>
              <a:t>Conformidade</a:t>
            </a:r>
            <a:r>
              <a:rPr lang="en-US" sz="3200" dirty="0">
                <a:solidFill>
                  <a:srgbClr val="000000"/>
                </a:solidFill>
                <a:latin typeface="Aileron Bold"/>
              </a:rPr>
              <a:t>: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Capacidade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do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sistema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aderir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as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normas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regulamentos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, leis e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padrões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.</a:t>
            </a:r>
          </a:p>
          <a:p>
            <a:pPr algn="just">
              <a:lnSpc>
                <a:spcPts val="3789"/>
              </a:lnSpc>
              <a:spcBef>
                <a:spcPct val="0"/>
              </a:spcBef>
            </a:pPr>
            <a:endParaRPr lang="en-US" sz="2706" dirty="0">
              <a:solidFill>
                <a:srgbClr val="000000"/>
              </a:solidFill>
              <a:latin typeface="Ailero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04800" y="623126"/>
            <a:ext cx="13410802" cy="1811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51"/>
              </a:lnSpc>
            </a:pPr>
            <a:r>
              <a:rPr lang="en-US" sz="6590" dirty="0">
                <a:solidFill>
                  <a:srgbClr val="000000"/>
                </a:solidFill>
                <a:latin typeface="Aileron Bold"/>
              </a:rPr>
              <a:t>REQUISITOS NÃO FUNCIONAIS</a:t>
            </a:r>
          </a:p>
          <a:p>
            <a:pPr algn="l">
              <a:lnSpc>
                <a:spcPts val="7051"/>
              </a:lnSpc>
            </a:pPr>
            <a:endParaRPr lang="en-US" sz="6590" dirty="0">
              <a:solidFill>
                <a:srgbClr val="000000"/>
              </a:solidFill>
              <a:latin typeface="Aileron Bold"/>
            </a:endParaRP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6147833" y="1333139"/>
            <a:ext cx="4443968" cy="845225"/>
            <a:chOff x="0" y="0"/>
            <a:chExt cx="1263444" cy="271535"/>
          </a:xfrm>
          <a:solidFill>
            <a:srgbClr val="D6A4DE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1263444" cy="271535"/>
            </a:xfrm>
            <a:custGeom>
              <a:avLst/>
              <a:gdLst/>
              <a:ahLst/>
              <a:cxnLst/>
              <a:rect l="l" t="t" r="r" b="b"/>
              <a:pathLst>
                <a:path w="1263444" h="271535">
                  <a:moveTo>
                    <a:pt x="0" y="0"/>
                  </a:moveTo>
                  <a:lnTo>
                    <a:pt x="1263444" y="0"/>
                  </a:lnTo>
                  <a:lnTo>
                    <a:pt x="1263444" y="271535"/>
                  </a:lnTo>
                  <a:lnTo>
                    <a:pt x="0" y="271535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63444" cy="30963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53330" y="1265247"/>
            <a:ext cx="10154885" cy="1985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4"/>
              </a:lnSpc>
            </a:pPr>
            <a:r>
              <a:rPr lang="en-US" sz="7200" dirty="0">
                <a:solidFill>
                  <a:srgbClr val="000000"/>
                </a:solidFill>
                <a:latin typeface="Aileron Bold"/>
              </a:rPr>
              <a:t>REGRAS DE NEGÓCIO</a:t>
            </a:r>
          </a:p>
          <a:p>
            <a:pPr algn="l">
              <a:lnSpc>
                <a:spcPts val="7704"/>
              </a:lnSpc>
            </a:pPr>
            <a:endParaRPr lang="en-US" sz="7200" dirty="0">
              <a:solidFill>
                <a:srgbClr val="000000"/>
              </a:solidFill>
              <a:latin typeface="Ailero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94368" y="2781300"/>
            <a:ext cx="8709703" cy="6875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600" dirty="0">
                <a:solidFill>
                  <a:srgbClr val="000000"/>
                </a:solidFill>
                <a:latin typeface="Aileron"/>
              </a:rPr>
              <a:t>A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regra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negócio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traduz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uma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necessidade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do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negócio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(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como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validações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,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restrições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e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etc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)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em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regras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lógicas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,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permitindo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o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desenvolvimento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do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produto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e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negócio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uma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empresa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, se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alinhando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com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relação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a tais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necessidades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guiando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-se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por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elas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e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aplicando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as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regras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da forma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mais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clara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possível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,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fazendo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com que o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desenvolvimento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e o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crescimento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do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produto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possam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fluir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da </a:t>
            </a:r>
            <a:r>
              <a:rPr lang="en-US" sz="3600" dirty="0" err="1">
                <a:solidFill>
                  <a:srgbClr val="000000"/>
                </a:solidFill>
                <a:latin typeface="Aileron"/>
              </a:rPr>
              <a:t>melhor</a:t>
            </a:r>
            <a:r>
              <a:rPr lang="en-US" sz="3600" dirty="0">
                <a:solidFill>
                  <a:srgbClr val="000000"/>
                </a:solidFill>
                <a:latin typeface="Aileron"/>
              </a:rPr>
              <a:t> forma.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  <a:endParaRPr lang="en-US" sz="3200" dirty="0">
              <a:solidFill>
                <a:srgbClr val="000000"/>
              </a:solidFill>
              <a:latin typeface="Aileron"/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1740F452-6859-B9FB-7C88-ABA895BE69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30736" y="1614614"/>
            <a:ext cx="8267700" cy="82677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5597009" y="447554"/>
            <a:ext cx="4537591" cy="1030986"/>
            <a:chOff x="0" y="0"/>
            <a:chExt cx="1263444" cy="2715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3444" cy="271535"/>
            </a:xfrm>
            <a:custGeom>
              <a:avLst/>
              <a:gdLst/>
              <a:ahLst/>
              <a:cxnLst/>
              <a:rect l="l" t="t" r="r" b="b"/>
              <a:pathLst>
                <a:path w="1263444" h="271535">
                  <a:moveTo>
                    <a:pt x="0" y="0"/>
                  </a:moveTo>
                  <a:lnTo>
                    <a:pt x="1263444" y="0"/>
                  </a:lnTo>
                  <a:lnTo>
                    <a:pt x="1263444" y="271535"/>
                  </a:lnTo>
                  <a:lnTo>
                    <a:pt x="0" y="271535"/>
                  </a:lnTo>
                  <a:close/>
                </a:path>
              </a:pathLst>
            </a:custGeom>
            <a:solidFill>
              <a:srgbClr val="E4F4D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63444" cy="3096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19566" y="488862"/>
            <a:ext cx="10154885" cy="1985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4"/>
              </a:lnSpc>
            </a:pPr>
            <a:r>
              <a:rPr lang="en-US" sz="7200" dirty="0">
                <a:solidFill>
                  <a:srgbClr val="000000"/>
                </a:solidFill>
                <a:latin typeface="Aileron Bold"/>
              </a:rPr>
              <a:t>REGRAS DE NEGÓCIO</a:t>
            </a:r>
          </a:p>
          <a:p>
            <a:pPr algn="l">
              <a:lnSpc>
                <a:spcPts val="7704"/>
              </a:lnSpc>
            </a:pPr>
            <a:endParaRPr lang="en-US" sz="7200" dirty="0">
              <a:solidFill>
                <a:srgbClr val="000000"/>
              </a:solidFill>
              <a:latin typeface="Ailero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81000" y="1781433"/>
            <a:ext cx="16450125" cy="9318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92"/>
              </a:lnSpc>
            </a:pPr>
            <a:r>
              <a:rPr lang="en-US" sz="3200" dirty="0">
                <a:solidFill>
                  <a:srgbClr val="000000"/>
                </a:solidFill>
                <a:latin typeface="Aileron Bold"/>
              </a:rPr>
              <a:t>RN1. </a:t>
            </a:r>
            <a:r>
              <a:rPr lang="en-US" sz="3200" dirty="0" err="1">
                <a:solidFill>
                  <a:srgbClr val="000000"/>
                </a:solidFill>
                <a:latin typeface="Aileron Bold"/>
              </a:rPr>
              <a:t>Âmbito</a:t>
            </a:r>
            <a:r>
              <a:rPr lang="en-US" sz="3200" dirty="0">
                <a:solidFill>
                  <a:srgbClr val="000000"/>
                </a:solidFill>
                <a:latin typeface="Aileron Bold"/>
              </a:rPr>
              <a:t> do </a:t>
            </a:r>
            <a:r>
              <a:rPr lang="en-US" sz="3200" dirty="0" err="1">
                <a:solidFill>
                  <a:srgbClr val="000000"/>
                </a:solidFill>
                <a:latin typeface="Aileron Bold"/>
              </a:rPr>
              <a:t>Projeto</a:t>
            </a:r>
            <a:r>
              <a:rPr lang="en-US" sz="3200" dirty="0">
                <a:solidFill>
                  <a:srgbClr val="000000"/>
                </a:solidFill>
                <a:latin typeface="Aileron Bold"/>
              </a:rPr>
              <a:t>: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Definir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claramente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os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objetivos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escopo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limites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do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projeto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.</a:t>
            </a:r>
          </a:p>
          <a:p>
            <a:pPr algn="just">
              <a:lnSpc>
                <a:spcPts val="3892"/>
              </a:lnSpc>
            </a:pPr>
            <a:endParaRPr lang="en-US" sz="3200" dirty="0">
              <a:solidFill>
                <a:srgbClr val="000000"/>
              </a:solidFill>
              <a:latin typeface="Aileron"/>
            </a:endParaRPr>
          </a:p>
          <a:p>
            <a:pPr algn="just">
              <a:lnSpc>
                <a:spcPts val="3892"/>
              </a:lnSpc>
            </a:pPr>
            <a:r>
              <a:rPr lang="en-US" sz="3200" dirty="0">
                <a:solidFill>
                  <a:srgbClr val="000000"/>
                </a:solidFill>
                <a:latin typeface="Aileron Bold"/>
              </a:rPr>
              <a:t>RN2. </a:t>
            </a:r>
            <a:r>
              <a:rPr lang="en-US" sz="3200" dirty="0" err="1">
                <a:solidFill>
                  <a:srgbClr val="000000"/>
                </a:solidFill>
                <a:latin typeface="Aileron Bold"/>
              </a:rPr>
              <a:t>Cronograma</a:t>
            </a:r>
            <a:r>
              <a:rPr lang="en-US" sz="3200" dirty="0">
                <a:solidFill>
                  <a:srgbClr val="000000"/>
                </a:solidFill>
                <a:latin typeface="Aileron Bold"/>
              </a:rPr>
              <a:t> do </a:t>
            </a:r>
            <a:r>
              <a:rPr lang="en-US" sz="3200" dirty="0" err="1">
                <a:solidFill>
                  <a:srgbClr val="000000"/>
                </a:solidFill>
                <a:latin typeface="Aileron Bold"/>
              </a:rPr>
              <a:t>Projeto</a:t>
            </a:r>
            <a:r>
              <a:rPr lang="en-US" sz="3200" dirty="0">
                <a:solidFill>
                  <a:srgbClr val="000000"/>
                </a:solidFill>
                <a:latin typeface="Aileron Bold"/>
              </a:rPr>
              <a:t>: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Estabelecer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um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cronograma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realista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para o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projeto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incluindo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marcos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dependências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.</a:t>
            </a:r>
          </a:p>
          <a:p>
            <a:pPr algn="just">
              <a:lnSpc>
                <a:spcPts val="3892"/>
              </a:lnSpc>
            </a:pPr>
            <a:endParaRPr lang="en-US" sz="3200" dirty="0">
              <a:solidFill>
                <a:srgbClr val="000000"/>
              </a:solidFill>
              <a:latin typeface="Aileron"/>
            </a:endParaRPr>
          </a:p>
          <a:p>
            <a:pPr algn="just">
              <a:lnSpc>
                <a:spcPts val="3892"/>
              </a:lnSpc>
            </a:pPr>
            <a:r>
              <a:rPr lang="en-US" sz="3200" dirty="0">
                <a:solidFill>
                  <a:srgbClr val="000000"/>
                </a:solidFill>
                <a:latin typeface="Aileron Bold"/>
              </a:rPr>
              <a:t>RN3. </a:t>
            </a:r>
            <a:r>
              <a:rPr lang="en-US" sz="3200" dirty="0" err="1">
                <a:solidFill>
                  <a:srgbClr val="000000"/>
                </a:solidFill>
                <a:latin typeface="Aileron Bold"/>
              </a:rPr>
              <a:t>Orçamento</a:t>
            </a:r>
            <a:r>
              <a:rPr lang="en-US" sz="3200" dirty="0">
                <a:solidFill>
                  <a:srgbClr val="000000"/>
                </a:solidFill>
                <a:latin typeface="Aileron Bold"/>
              </a:rPr>
              <a:t> do </a:t>
            </a:r>
            <a:r>
              <a:rPr lang="en-US" sz="3200" dirty="0" err="1">
                <a:solidFill>
                  <a:srgbClr val="000000"/>
                </a:solidFill>
                <a:latin typeface="Aileron Bold"/>
              </a:rPr>
              <a:t>Projeto</a:t>
            </a:r>
            <a:r>
              <a:rPr lang="en-US" sz="3200" dirty="0">
                <a:solidFill>
                  <a:srgbClr val="000000"/>
                </a:solidFill>
                <a:latin typeface="Aileron Bold"/>
              </a:rPr>
              <a:t>: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Determinar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o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orçamento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do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projeto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alocar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recursos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financeiros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adequadamente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.</a:t>
            </a:r>
          </a:p>
          <a:p>
            <a:pPr algn="just">
              <a:lnSpc>
                <a:spcPts val="3892"/>
              </a:lnSpc>
            </a:pPr>
            <a:endParaRPr lang="en-US" sz="3200" dirty="0">
              <a:solidFill>
                <a:srgbClr val="000000"/>
              </a:solidFill>
              <a:latin typeface="Aileron"/>
            </a:endParaRPr>
          </a:p>
          <a:p>
            <a:pPr algn="just">
              <a:lnSpc>
                <a:spcPts val="3892"/>
              </a:lnSpc>
            </a:pPr>
            <a:r>
              <a:rPr lang="en-US" sz="3200" dirty="0">
                <a:solidFill>
                  <a:srgbClr val="000000"/>
                </a:solidFill>
                <a:latin typeface="Aileron Bold"/>
              </a:rPr>
              <a:t>RN4. </a:t>
            </a:r>
            <a:r>
              <a:rPr lang="en-US" sz="3200" dirty="0" err="1">
                <a:solidFill>
                  <a:srgbClr val="000000"/>
                </a:solidFill>
                <a:latin typeface="Aileron Bold"/>
              </a:rPr>
              <a:t>Alocação</a:t>
            </a:r>
            <a:r>
              <a:rPr lang="en-US" sz="3200" dirty="0">
                <a:solidFill>
                  <a:srgbClr val="000000"/>
                </a:solidFill>
                <a:latin typeface="Aileron Bold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ileron Bold"/>
              </a:rPr>
              <a:t>Recursos</a:t>
            </a:r>
            <a:r>
              <a:rPr lang="en-US" sz="3200" dirty="0">
                <a:solidFill>
                  <a:srgbClr val="000000"/>
                </a:solidFill>
                <a:latin typeface="Aileron Bold"/>
              </a:rPr>
              <a:t>: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Atribuir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recursos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humanos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materiais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aos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pacotes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trabalho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do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projeto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.</a:t>
            </a:r>
          </a:p>
          <a:p>
            <a:pPr algn="just">
              <a:lnSpc>
                <a:spcPts val="3892"/>
              </a:lnSpc>
            </a:pPr>
            <a:endParaRPr lang="en-US" sz="3200" dirty="0">
              <a:solidFill>
                <a:srgbClr val="000000"/>
              </a:solidFill>
              <a:latin typeface="Aileron"/>
            </a:endParaRPr>
          </a:p>
          <a:p>
            <a:pPr algn="just">
              <a:lnSpc>
                <a:spcPts val="3892"/>
              </a:lnSpc>
            </a:pPr>
            <a:r>
              <a:rPr lang="en-US" sz="3200" dirty="0">
                <a:solidFill>
                  <a:srgbClr val="000000"/>
                </a:solidFill>
                <a:latin typeface="Aileron Bold"/>
              </a:rPr>
              <a:t>RN5. </a:t>
            </a:r>
            <a:r>
              <a:rPr lang="en-US" sz="3200" dirty="0" err="1">
                <a:solidFill>
                  <a:srgbClr val="000000"/>
                </a:solidFill>
                <a:latin typeface="Aileron Bold"/>
              </a:rPr>
              <a:t>Gestão</a:t>
            </a:r>
            <a:r>
              <a:rPr lang="en-US" sz="3200" dirty="0">
                <a:solidFill>
                  <a:srgbClr val="000000"/>
                </a:solidFill>
                <a:latin typeface="Aileron Bold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ileron Bold"/>
              </a:rPr>
              <a:t>Riscos</a:t>
            </a:r>
            <a:r>
              <a:rPr lang="en-US" sz="3200" dirty="0">
                <a:solidFill>
                  <a:srgbClr val="000000"/>
                </a:solidFill>
                <a:latin typeface="Aileron Bold"/>
              </a:rPr>
              <a:t>: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Identificar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avaliar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mitigar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riscos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potenciais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ao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longo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do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ciclo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vida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do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projeto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.</a:t>
            </a:r>
          </a:p>
          <a:p>
            <a:pPr algn="just">
              <a:lnSpc>
                <a:spcPts val="3892"/>
              </a:lnSpc>
            </a:pPr>
            <a:endParaRPr lang="en-US" sz="3200" dirty="0">
              <a:solidFill>
                <a:srgbClr val="000000"/>
              </a:solidFill>
              <a:latin typeface="Aileron"/>
            </a:endParaRPr>
          </a:p>
          <a:p>
            <a:pPr algn="just">
              <a:lnSpc>
                <a:spcPts val="3892"/>
              </a:lnSpc>
            </a:pPr>
            <a:r>
              <a:rPr lang="en-US" sz="3200" dirty="0">
                <a:solidFill>
                  <a:srgbClr val="000000"/>
                </a:solidFill>
                <a:latin typeface="Aileron Bold"/>
              </a:rPr>
              <a:t>RN6. </a:t>
            </a:r>
            <a:r>
              <a:rPr lang="en-US" sz="3200" dirty="0" err="1">
                <a:solidFill>
                  <a:srgbClr val="000000"/>
                </a:solidFill>
                <a:latin typeface="Aileron Bold"/>
              </a:rPr>
              <a:t>Gestão</a:t>
            </a:r>
            <a:r>
              <a:rPr lang="en-US" sz="3200" dirty="0">
                <a:solidFill>
                  <a:srgbClr val="000000"/>
                </a:solidFill>
                <a:latin typeface="Aileron Bold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ileron Bold"/>
              </a:rPr>
              <a:t>Qualidade</a:t>
            </a:r>
            <a:r>
              <a:rPr lang="en-US" sz="3200" dirty="0">
                <a:solidFill>
                  <a:srgbClr val="000000"/>
                </a:solidFill>
                <a:latin typeface="Aileron Bold"/>
              </a:rPr>
              <a:t>:</a:t>
            </a:r>
            <a:r>
              <a:rPr lang="en-US" sz="3200" b="1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Estabelecer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padrões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qualidade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controlar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a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qualidade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dos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entregáveis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do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projeto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.</a:t>
            </a:r>
          </a:p>
          <a:p>
            <a:pPr algn="just">
              <a:lnSpc>
                <a:spcPts val="3472"/>
              </a:lnSpc>
            </a:pPr>
            <a:endParaRPr lang="en-US" sz="2780" dirty="0">
              <a:solidFill>
                <a:srgbClr val="000000"/>
              </a:solidFill>
              <a:latin typeface="Aileron"/>
            </a:endParaRPr>
          </a:p>
          <a:p>
            <a:pPr algn="just">
              <a:lnSpc>
                <a:spcPts val="3472"/>
              </a:lnSpc>
            </a:pPr>
            <a:endParaRPr lang="en-US" sz="2780" dirty="0">
              <a:solidFill>
                <a:srgbClr val="000000"/>
              </a:solidFill>
              <a:latin typeface="Aileron"/>
            </a:endParaRPr>
          </a:p>
          <a:p>
            <a:pPr algn="just">
              <a:lnSpc>
                <a:spcPts val="3472"/>
              </a:lnSpc>
              <a:spcBef>
                <a:spcPct val="0"/>
              </a:spcBef>
            </a:pPr>
            <a:endParaRPr lang="en-US" sz="2780" dirty="0">
              <a:solidFill>
                <a:srgbClr val="000000"/>
              </a:solidFill>
              <a:latin typeface="Aileron"/>
            </a:endParaRPr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5597009" y="302893"/>
            <a:ext cx="4797140" cy="1175647"/>
            <a:chOff x="0" y="-38100"/>
            <a:chExt cx="1263444" cy="3096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95085" cy="271535"/>
            </a:xfrm>
            <a:custGeom>
              <a:avLst/>
              <a:gdLst/>
              <a:ahLst/>
              <a:cxnLst/>
              <a:rect l="l" t="t" r="r" b="b"/>
              <a:pathLst>
                <a:path w="1263444" h="271535">
                  <a:moveTo>
                    <a:pt x="0" y="0"/>
                  </a:moveTo>
                  <a:lnTo>
                    <a:pt x="1263444" y="0"/>
                  </a:lnTo>
                  <a:lnTo>
                    <a:pt x="1263444" y="271535"/>
                  </a:lnTo>
                  <a:lnTo>
                    <a:pt x="0" y="271535"/>
                  </a:lnTo>
                  <a:close/>
                </a:path>
              </a:pathLst>
            </a:custGeom>
            <a:solidFill>
              <a:srgbClr val="E4F4D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63444" cy="3096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19566" y="488862"/>
            <a:ext cx="10154885" cy="1985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4"/>
              </a:lnSpc>
            </a:pPr>
            <a:r>
              <a:rPr lang="en-US" sz="7200" dirty="0">
                <a:solidFill>
                  <a:srgbClr val="000000"/>
                </a:solidFill>
                <a:latin typeface="Aileron Bold"/>
              </a:rPr>
              <a:t>REGRAS DE NEGÓCIO</a:t>
            </a:r>
          </a:p>
          <a:p>
            <a:pPr algn="l">
              <a:lnSpc>
                <a:spcPts val="7704"/>
              </a:lnSpc>
            </a:pPr>
            <a:endParaRPr lang="en-US" sz="7200" dirty="0">
              <a:solidFill>
                <a:srgbClr val="000000"/>
              </a:solidFill>
              <a:latin typeface="Ailero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16614" y="3200202"/>
            <a:ext cx="16450125" cy="4419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92"/>
              </a:lnSpc>
            </a:pPr>
            <a:r>
              <a:rPr lang="en-US" sz="3200" dirty="0">
                <a:solidFill>
                  <a:srgbClr val="000000"/>
                </a:solidFill>
                <a:latin typeface="Aileron Bold"/>
              </a:rPr>
              <a:t>RN7. </a:t>
            </a:r>
            <a:r>
              <a:rPr lang="en-US" sz="3200" dirty="0" err="1">
                <a:solidFill>
                  <a:srgbClr val="000000"/>
                </a:solidFill>
                <a:latin typeface="Aileron Bold"/>
              </a:rPr>
              <a:t>Gestão</a:t>
            </a:r>
            <a:r>
              <a:rPr lang="en-US" sz="3200" dirty="0">
                <a:solidFill>
                  <a:srgbClr val="000000"/>
                </a:solidFill>
                <a:latin typeface="Aileron Bold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ileron Bold"/>
              </a:rPr>
              <a:t>Comunicação</a:t>
            </a:r>
            <a:r>
              <a:rPr lang="en-US" sz="3200" dirty="0">
                <a:solidFill>
                  <a:srgbClr val="000000"/>
                </a:solidFill>
                <a:latin typeface="Aileron Bold"/>
              </a:rPr>
              <a:t>: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Definir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canais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comunicação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garantir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que as partes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interessadas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sejam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mantidas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informadas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sobre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o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progresso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do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projeto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.</a:t>
            </a:r>
          </a:p>
          <a:p>
            <a:pPr algn="just">
              <a:lnSpc>
                <a:spcPts val="3892"/>
              </a:lnSpc>
            </a:pPr>
            <a:endParaRPr lang="en-US" sz="3200" dirty="0">
              <a:solidFill>
                <a:srgbClr val="000000"/>
              </a:solidFill>
              <a:latin typeface="Aileron"/>
            </a:endParaRPr>
          </a:p>
          <a:p>
            <a:pPr algn="just">
              <a:lnSpc>
                <a:spcPts val="3892"/>
              </a:lnSpc>
            </a:pPr>
            <a:r>
              <a:rPr lang="en-US" sz="3200" dirty="0">
                <a:solidFill>
                  <a:srgbClr val="000000"/>
                </a:solidFill>
                <a:latin typeface="Aileron Bold"/>
              </a:rPr>
              <a:t>RN8. </a:t>
            </a:r>
            <a:r>
              <a:rPr lang="en-US" sz="3200" dirty="0" err="1">
                <a:solidFill>
                  <a:srgbClr val="000000"/>
                </a:solidFill>
                <a:latin typeface="Aileron Bold"/>
              </a:rPr>
              <a:t>Gestão</a:t>
            </a:r>
            <a:r>
              <a:rPr lang="en-US" sz="3200" dirty="0">
                <a:solidFill>
                  <a:srgbClr val="000000"/>
                </a:solidFill>
                <a:latin typeface="Aileron Bold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ileron Bold"/>
              </a:rPr>
              <a:t>Mudanças</a:t>
            </a:r>
            <a:r>
              <a:rPr lang="en-US" sz="3200" dirty="0">
                <a:solidFill>
                  <a:srgbClr val="000000"/>
                </a:solidFill>
                <a:latin typeface="Aileron Bold"/>
              </a:rPr>
              <a:t>: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Estabelecer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um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processo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para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gerenciar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aprovar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alterações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no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escopo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cronograma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ou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orçamento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do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projeto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.</a:t>
            </a:r>
          </a:p>
          <a:p>
            <a:pPr algn="just">
              <a:lnSpc>
                <a:spcPts val="3892"/>
              </a:lnSpc>
            </a:pPr>
            <a:endParaRPr lang="en-US" sz="3200" dirty="0">
              <a:solidFill>
                <a:srgbClr val="000000"/>
              </a:solidFill>
              <a:latin typeface="Aileron"/>
            </a:endParaRPr>
          </a:p>
          <a:p>
            <a:pPr algn="just">
              <a:lnSpc>
                <a:spcPts val="3892"/>
              </a:lnSpc>
            </a:pPr>
            <a:r>
              <a:rPr lang="en-US" sz="3200" dirty="0">
                <a:solidFill>
                  <a:srgbClr val="000000"/>
                </a:solidFill>
                <a:latin typeface="Aileron Bold"/>
              </a:rPr>
              <a:t>RN9. </a:t>
            </a:r>
            <a:r>
              <a:rPr lang="en-US" sz="3200" dirty="0" err="1">
                <a:solidFill>
                  <a:srgbClr val="000000"/>
                </a:solidFill>
                <a:latin typeface="Aileron Bold"/>
              </a:rPr>
              <a:t>Encerramento</a:t>
            </a:r>
            <a:r>
              <a:rPr lang="en-US" sz="3200" dirty="0">
                <a:solidFill>
                  <a:srgbClr val="000000"/>
                </a:solidFill>
                <a:latin typeface="Aileron Bold"/>
              </a:rPr>
              <a:t> do </a:t>
            </a:r>
            <a:r>
              <a:rPr lang="en-US" sz="3200" dirty="0" err="1">
                <a:solidFill>
                  <a:srgbClr val="000000"/>
                </a:solidFill>
                <a:latin typeface="Aileron Bold"/>
              </a:rPr>
              <a:t>Projeto</a:t>
            </a:r>
            <a:r>
              <a:rPr lang="en-US" sz="3200" dirty="0">
                <a:solidFill>
                  <a:srgbClr val="000000"/>
                </a:solidFill>
                <a:latin typeface="Aileron Bold"/>
              </a:rPr>
              <a:t>: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Definir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critérios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para o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encerramento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do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projeto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documentar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as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lições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aprendidas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para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projetos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ileron"/>
              </a:rPr>
              <a:t>futuros</a:t>
            </a:r>
            <a:r>
              <a:rPr lang="en-US" sz="3200" dirty="0">
                <a:solidFill>
                  <a:srgbClr val="000000"/>
                </a:solidFill>
                <a:latin typeface="Aileron"/>
              </a:rPr>
              <a:t>.</a:t>
            </a:r>
          </a:p>
          <a:p>
            <a:pPr algn="just">
              <a:lnSpc>
                <a:spcPts val="3472"/>
              </a:lnSpc>
              <a:spcBef>
                <a:spcPct val="0"/>
              </a:spcBef>
            </a:pPr>
            <a:endParaRPr lang="en-US" sz="2780" dirty="0">
              <a:solidFill>
                <a:srgbClr val="000000"/>
              </a:solidFill>
              <a:latin typeface="Aileron Bold"/>
            </a:endParaRP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D534C94BE7ACC4B82DB0C57D8B917FB" ma:contentTypeVersion="5" ma:contentTypeDescription="Crie um novo documento." ma:contentTypeScope="" ma:versionID="62a2c0150b63379dfc6dc29281e4e6f5">
  <xsd:schema xmlns:xsd="http://www.w3.org/2001/XMLSchema" xmlns:xs="http://www.w3.org/2001/XMLSchema" xmlns:p="http://schemas.microsoft.com/office/2006/metadata/properties" xmlns:ns2="c71b2e08-5f48-4826-b3b9-729c518ea3db" targetNamespace="http://schemas.microsoft.com/office/2006/metadata/properties" ma:root="true" ma:fieldsID="e31b8c47eae556db8a51ed9dd6ca2eeb" ns2:_="">
    <xsd:import namespace="c71b2e08-5f48-4826-b3b9-729c518ea3db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1b2e08-5f48-4826-b3b9-729c518ea3d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103D53-D9A3-4825-8287-FF00CFEC6B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1b2e08-5f48-4826-b3b9-729c518ea3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502DF7-E54F-4A15-96A0-51807710A41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735</Words>
  <Application>Microsoft Office PowerPoint</Application>
  <PresentationFormat>Personalizar</PresentationFormat>
  <Paragraphs>59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de projetos animada moderna roxo e verde</dc:title>
  <cp:lastModifiedBy>LARISSA AMARAL RODRIGUES</cp:lastModifiedBy>
  <cp:revision>8</cp:revision>
  <dcterms:created xsi:type="dcterms:W3CDTF">2006-08-16T00:00:00Z</dcterms:created>
  <dcterms:modified xsi:type="dcterms:W3CDTF">2024-06-04T23:57:40Z</dcterms:modified>
  <dc:identifier>DAGHNwPV1ok</dc:identifier>
</cp:coreProperties>
</file>