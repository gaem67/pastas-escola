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Anonymous Pro Bold" charset="1" panose="02060809030202000504"/>
      <p:regular r:id="rId34"/>
    </p:embeddedFont>
    <p:embeddedFont>
      <p:font typeface="Clear Sans Light" charset="1" panose="020B0303030202020304"/>
      <p:regular r:id="rId35"/>
    </p:embeddedFont>
    <p:embeddedFont>
      <p:font typeface="Anonymous Pro" charset="1" panose="02060609030202000504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font" Target="fonts/font34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7" Type="http://schemas.openxmlformats.org/officeDocument/2006/relationships/slide" Target="slides/slide2.xml"/><Relationship Id="rId38" Type="http://schemas.openxmlformats.org/officeDocument/2006/relationships/customXml" Target="../customXml/item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6" Type="http://schemas.openxmlformats.org/officeDocument/2006/relationships/slide" Target="slides/slide1.xml"/><Relationship Id="rId37" Type="http://schemas.openxmlformats.org/officeDocument/2006/relationships/customXml" Target="../customXml/item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font" Target="fonts/font36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font" Target="fonts/font35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3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20200"/>
            <a:ext cx="124902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0">
            <a:off x="5220983" y="990600"/>
            <a:ext cx="120383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-5400000">
            <a:off x="-36987" y="8164038"/>
            <a:ext cx="2131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-5400000">
            <a:off x="16193613" y="2037237"/>
            <a:ext cx="2131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-5400000">
            <a:off x="-1047750" y="-10668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50803" y="4070568"/>
            <a:ext cx="12038317" cy="855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77"/>
              </a:lnSpc>
            </a:pPr>
            <a:r>
              <a:rPr lang="en-US" sz="6034" spc="681">
                <a:solidFill>
                  <a:srgbClr val="000000"/>
                </a:solidFill>
                <a:latin typeface="Anonymous Pro Bold"/>
              </a:rPr>
              <a:t>CASE 1: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98880" y="5019978"/>
            <a:ext cx="1249023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Clear Sans Light"/>
              </a:rPr>
              <a:t> Sistema de Gerenciamento de Biblioteca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5400000">
            <a:off x="15716337" y="756195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01900" y="72390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7992" y="3914775"/>
            <a:ext cx="6172016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64">
                <a:solidFill>
                  <a:srgbClr val="000000"/>
                </a:solidFill>
                <a:latin typeface="Anonymous Pro Bold"/>
              </a:rPr>
              <a:t>REQUISITOS FUNCIONAIS</a:t>
            </a:r>
          </a:p>
        </p:txBody>
      </p:sp>
      <p:sp>
        <p:nvSpPr>
          <p:cNvPr name="AutoShape 4" id="4"/>
          <p:cNvSpPr/>
          <p:nvPr/>
        </p:nvSpPr>
        <p:spPr>
          <a:xfrm rot="5400000">
            <a:off x="-4972522" y="3239142"/>
            <a:ext cx="120383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7587" y="9258300"/>
            <a:ext cx="2131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Livros Disponíveis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3650136"/>
            <a:ext cx="1178356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O sistema deve registrar quais livros estão disponíveis no catálogo da biblioteca.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Catálogo Online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RF01; RNF04; RNF05; RNF06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3221859"/>
            <a:ext cx="11783569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Permitir que os usuários naveguem por um catálogo online de livros, organizados em ordem alfabética, por nome, gênero e autor.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19175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Cadastro Online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91258" y="3298825"/>
            <a:ext cx="11616555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Os usuários devem conseguir se cadastrar no site com nome, telefone, e-mail e senha, para que assim possam reservar os livros pela internet.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0247" y="74875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RF02; RNF01; RNF03; RNF04; RN05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Registro de reserva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17277" y="3213921"/>
            <a:ext cx="11783569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Registrar os livros reservados, contando com o registro das informações pessoais do cliente com a reserva.</a:t>
            </a:r>
          </a:p>
          <a:p>
            <a:pPr algn="ctr">
              <a:lnSpc>
                <a:spcPts val="49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74875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RF01; RNF04; RN05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Pendência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07752" y="3340574"/>
            <a:ext cx="11783569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Os livros pendentes para devolução devem ser marcados no sistema, assim como os dados do cliente em sua posse.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71792" y="750664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RF01; RNF04; RN04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Notificação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RF01; RF05; RNF04; RN03; RN04; RN07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3221859"/>
            <a:ext cx="11900478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Caso o prazo de devolução de um livro esteja próximo, o cliente deverá ser notificado para o relembrar do prazo, e caso o mesmo já tenha vencido, avisá-lo de sua multa pendente.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Registro de Multa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07752" y="3510020"/>
            <a:ext cx="1178356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Registrar as multas pendentes com seus valores e quais multas já foram pagas.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71792" y="74875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RNF04; RN07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Pagamento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RF07; RNF04; RN07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24453" y="3510020"/>
            <a:ext cx="11750166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Caso o cliente receba uma multa, o sistema deverá permitir diferentes formas de pagamento para o cliente quitar seu débito.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01900" y="72390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7992" y="3305175"/>
            <a:ext cx="6172016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464">
                <a:solidFill>
                  <a:srgbClr val="000000"/>
                </a:solidFill>
                <a:latin typeface="Anonymous Pro Bold"/>
              </a:rPr>
              <a:t>REQUISITOS</a:t>
            </a:r>
          </a:p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64">
                <a:solidFill>
                  <a:srgbClr val="000000"/>
                </a:solidFill>
                <a:latin typeface="Anonymous Pro Bold"/>
              </a:rPr>
              <a:t>NÃO FUNCIONAIS</a:t>
            </a:r>
          </a:p>
        </p:txBody>
      </p:sp>
      <p:sp>
        <p:nvSpPr>
          <p:cNvPr name="AutoShape 4" id="4"/>
          <p:cNvSpPr/>
          <p:nvPr/>
        </p:nvSpPr>
        <p:spPr>
          <a:xfrm rot="5400000">
            <a:off x="-4972522" y="3239142"/>
            <a:ext cx="120383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7587" y="9258300"/>
            <a:ext cx="2131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4399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Backup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Segurança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6841930"/>
            <a:ext cx="11881428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Backup a cada 24 horas, manter registro dos backups atuais e apagados, testar o funcionamento dos backups, garantir a segurança dos dados.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39772" y="4543034"/>
            <a:ext cx="11881428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sistema deve realizar um backup diário de todos os dados do sistema, usuários e reservas, garantindo a integridade e recuperação dos dados. Os backups antigos devem ser excluídos após 3 dias.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06785" y="1772534"/>
            <a:ext cx="11547401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sistema deve realizar diariamente um backup de todos os dados.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4399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Restrição por Cadastro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Segurança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9229725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RF02; RF03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58822" y="6841930"/>
            <a:ext cx="11881428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sistema deve bloquear tentativas de reserva por usuários não cadastrados e avisá-lo da necessidade de se cadastrar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77872" y="4495409"/>
            <a:ext cx="11881428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usuário deve conseguir visualizar e consultar os livros disponíveis, porém não reservá-los, sendo isso possível apenas no caso de um cadastro com informações pessoais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31629" y="1872228"/>
            <a:ext cx="11697713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sistema deve impedir a reserva pela internet caso o usuário não possua um cadastro.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4399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Proteção de Dados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Segurança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9229725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RNF01; RNF04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58822" y="6841930"/>
            <a:ext cx="11881428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Criptografia de dados, permitir a exclusão e modificação da conta e dados pessoais, revisão de segurança.</a:t>
            </a:r>
          </a:p>
          <a:p>
            <a:pPr algn="ctr">
              <a:lnSpc>
                <a:spcPts val="4340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5339772" y="4514459"/>
            <a:ext cx="11881428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Garantir que os dados do usuários sejam protegidos, senha, e-mail, número de telefone e métodos do pagamento. Os dados devem ser privados até para o sistema.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431629" y="1872228"/>
            <a:ext cx="11697713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Garantir que os dados privados de um usuário sejam vistos apenas por ele.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53524"/>
            <a:ext cx="6229447" cy="5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3356">
                <a:solidFill>
                  <a:srgbClr val="000000"/>
                </a:solidFill>
                <a:latin typeface="Anonymous Pro"/>
              </a:rPr>
              <a:t>Disponibilidade do sistema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Confiabilidade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9229725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77872" y="6841930"/>
            <a:ext cx="11881428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Monitoramento do sistema, relatórios de funcionamento, procedimentos de recuperação da disponibilidade no caso de quedas.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39772" y="4514459"/>
            <a:ext cx="11881428" cy="215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sistema deve permanecer funcionando continuamente, proporcionando acesso a todos os serviços, incluindo consulta, reserva de livros, funcionalidades de registros e do sistema.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77872" y="1911598"/>
            <a:ext cx="1188142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sistema deve funcionar e estar disponível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53524"/>
            <a:ext cx="6229447" cy="5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3356">
                <a:solidFill>
                  <a:srgbClr val="000000"/>
                </a:solidFill>
                <a:latin typeface="Anonymous Pro"/>
              </a:rPr>
              <a:t>Eficiência do sistema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Desempenho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9229725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58822" y="6814625"/>
            <a:ext cx="11881428" cy="167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Anonymous Pro"/>
              </a:rPr>
              <a:t>Monitorar o tempo de resposta, testar a velocidade, manter otimizado para não sair do tempo de resposta adequado.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77872" y="4761158"/>
            <a:ext cx="11881428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O tempo de resposta das ações feitas e dos recursos do sistema, como pesquisas, atualizações de páginas e cadastros, não devem passar dos 2 segundos.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58822" y="1842066"/>
            <a:ext cx="11881428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Garantir que os funcionamentos e navegações fluam de forma rápida.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53524"/>
            <a:ext cx="6229447" cy="5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3356">
                <a:solidFill>
                  <a:srgbClr val="000000"/>
                </a:solidFill>
                <a:latin typeface="Anonymous Pro"/>
              </a:rPr>
              <a:t>Interface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Usabilidade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9229725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RF02; RNF04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339772" y="6864593"/>
            <a:ext cx="11881428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Mudança do tamanho da fonte de letras, teclas de atalho, zoom de tela, alterações de cores, disposição lógica dos elementos do site online, design pensado.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77872" y="4445882"/>
            <a:ext cx="11862378" cy="215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000000"/>
                </a:solidFill>
                <a:latin typeface="Anonymous Pro"/>
              </a:rPr>
              <a:t>Entregar uma interface que possua um design atraente, fazer com que os elementos sejam expostos de forma intuitiva, permitir personalizações do menu e elementos de acessibilidade.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377872" y="1772534"/>
            <a:ext cx="11881428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Garantir uma interface intuitiva, acessível e esteticamente agradável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763493" y="-848056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3" y="0"/>
                </a:lnTo>
                <a:lnTo>
                  <a:pt x="41601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2080092" y="7407334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27793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987594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5339772" y="277932"/>
            <a:ext cx="0" cy="95980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86213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209550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1939" y="192207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552889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029853" y="277932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1028700" y="918697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550276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6" id="16"/>
          <p:cNvSpPr/>
          <p:nvPr/>
        </p:nvSpPr>
        <p:spPr>
          <a:xfrm>
            <a:off x="1028700" y="927735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009650" y="863600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1028700" y="1753484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3766433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Categoria</a:t>
            </a:r>
          </a:p>
        </p:txBody>
      </p:sp>
      <p:sp>
        <p:nvSpPr>
          <p:cNvPr name="AutoShape 20" id="20"/>
          <p:cNvSpPr/>
          <p:nvPr/>
        </p:nvSpPr>
        <p:spPr>
          <a:xfrm>
            <a:off x="1028700" y="3833108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1009650" y="4474457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5215501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Escopo</a:t>
            </a:r>
          </a:p>
        </p:txBody>
      </p:sp>
      <p:sp>
        <p:nvSpPr>
          <p:cNvPr name="AutoShape 23" id="23"/>
          <p:cNvSpPr/>
          <p:nvPr/>
        </p:nvSpPr>
        <p:spPr>
          <a:xfrm>
            <a:off x="1028700" y="673124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28700" y="7296272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Métrica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39772" y="214194"/>
            <a:ext cx="421311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RNF07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010803" y="253524"/>
            <a:ext cx="6229447" cy="5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8"/>
              </a:lnSpc>
            </a:pPr>
            <a:r>
              <a:rPr lang="en-US" sz="3356">
                <a:solidFill>
                  <a:srgbClr val="000000"/>
                </a:solidFill>
                <a:latin typeface="Anonymous Pro"/>
              </a:rPr>
              <a:t>Acesso ao Catálogo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81835" y="189269"/>
            <a:ext cx="6229447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58822" y="3788420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Portabilidade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9772" y="8597901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339772" y="9229725"/>
            <a:ext cx="118814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RF02; RNF04; RNF05; RNF06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06785" y="6841930"/>
            <a:ext cx="11714415" cy="161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Consistência da interface, satisfação do usuário, teste em diversos dispositivos, garantir a funcionalidade em todos.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377872" y="4761097"/>
            <a:ext cx="11862378" cy="1616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3"/>
              </a:lnSpc>
            </a:pPr>
            <a:r>
              <a:rPr lang="en-US" sz="3095">
                <a:solidFill>
                  <a:srgbClr val="000000"/>
                </a:solidFill>
                <a:latin typeface="Anonymous Pro"/>
              </a:rPr>
              <a:t>Garantir que o site aja e funcione da mesma maneira em todos os dispositivos, tendo sua interface adaptada para cada plataforma.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506785" y="1772534"/>
            <a:ext cx="11752515" cy="107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Permitir que o usuário possa acessar o site do catálogo por diferentes plataformas.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01900" y="72390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057992" y="3305175"/>
            <a:ext cx="6172016" cy="3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464">
                <a:solidFill>
                  <a:srgbClr val="000000"/>
                </a:solidFill>
                <a:latin typeface="Anonymous Pro Bold"/>
              </a:rPr>
              <a:t>REGRAS</a:t>
            </a:r>
          </a:p>
          <a:p>
            <a:pPr algn="ctr">
              <a:lnSpc>
                <a:spcPts val="9600"/>
              </a:lnSpc>
            </a:pPr>
            <a:r>
              <a:rPr lang="en-US" sz="8000" spc="464">
                <a:solidFill>
                  <a:srgbClr val="000000"/>
                </a:solidFill>
                <a:latin typeface="Anonymous Pro Bold"/>
              </a:rPr>
              <a:t>DE</a:t>
            </a:r>
          </a:p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8000" spc="464">
                <a:solidFill>
                  <a:srgbClr val="000000"/>
                </a:solidFill>
                <a:latin typeface="Anonymous Pro Bold"/>
              </a:rPr>
              <a:t>NEGÓCIO</a:t>
            </a:r>
          </a:p>
        </p:txBody>
      </p:sp>
      <p:sp>
        <p:nvSpPr>
          <p:cNvPr name="AutoShape 4" id="4"/>
          <p:cNvSpPr/>
          <p:nvPr/>
        </p:nvSpPr>
        <p:spPr>
          <a:xfrm rot="5400000">
            <a:off x="-4972522" y="3239142"/>
            <a:ext cx="1203831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1027587" y="9258300"/>
            <a:ext cx="2131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27395" y="1041089"/>
            <a:ext cx="5884303" cy="53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Empréstimo de livros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3538595"/>
            <a:ext cx="1188142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O cliente deve poder pegar livros emprestados da biblioteca.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27395" y="1041089"/>
            <a:ext cx="5884303" cy="530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Anonymous Pro"/>
              </a:rPr>
              <a:t>Empréstimo máximo de livros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RF01; RN01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3538595"/>
            <a:ext cx="1188142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Cada cliente pode ter, no máximo, até cinco livros emprestados ao mesmo tempo.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Prazo de devolução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58822" y="3531421"/>
            <a:ext cx="11900478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Cada cliente poderá possuir o livro por até 14 dias, podendo ter seu prazo estendido se requisitado.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Devolução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RF06; RN03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75731" y="3221859"/>
            <a:ext cx="11783569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Após o término do prazo de devolução, o cliente deve devolvê-lo na biblioteca. Caso contrário, o cliente será multado.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Reserva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07752" y="3833046"/>
            <a:ext cx="1178356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O cliente deve poder escolher livros citados no catálogo para reservar. 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09129" y="964962"/>
            <a:ext cx="6169221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Prazo de reserva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Média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RF01; RN05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39772" y="3221859"/>
            <a:ext cx="11900478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Se em até 48 horas o cliente não buscar o livro  reservado, a reserva será cancelada e o livro disponibilizado novamente.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13095" y="971550"/>
            <a:ext cx="6146205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Multa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39772" y="7525698"/>
            <a:ext cx="119195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RF06; RN03; RN04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09134" y="3213921"/>
            <a:ext cx="11583152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Caso o cliente não devolva o livro dentro do prazo, serão aplicadas multas de R$ 1,00 por dia para cada livro devolvido com atraso.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97405" y="-528580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-1051392" y="6138222"/>
            <a:ext cx="4160184" cy="4114800"/>
          </a:xfrm>
          <a:custGeom>
            <a:avLst/>
            <a:gdLst/>
            <a:ahLst/>
            <a:cxnLst/>
            <a:rect r="r" b="b" t="t" l="l"/>
            <a:pathLst>
              <a:path h="4114800" w="4160184">
                <a:moveTo>
                  <a:pt x="416018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60184" y="0"/>
                </a:lnTo>
                <a:lnTo>
                  <a:pt x="416018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8195622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10287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5339772" y="1028700"/>
            <a:ext cx="0" cy="716692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28700" y="1650999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28700" y="942975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Identificador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965" y="942975"/>
            <a:ext cx="1438865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Nome</a:t>
            </a:r>
          </a:p>
        </p:txBody>
      </p:sp>
      <p:sp>
        <p:nvSpPr>
          <p:cNvPr name="AutoShape 12" id="12"/>
          <p:cNvSpPr/>
          <p:nvPr/>
        </p:nvSpPr>
        <p:spPr>
          <a:xfrm flipV="true">
            <a:off x="9437699" y="102870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1113095" y="1047750"/>
            <a:ext cx="0" cy="60324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5339772" y="971550"/>
            <a:ext cx="4097928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RN08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5066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Dependência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884348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Prioridade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28700" y="75733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28700" y="6951023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3794947"/>
            <a:ext cx="4330122" cy="688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Anonymous Pro Bold"/>
              </a:rPr>
              <a:t>Descrição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109129" y="964962"/>
            <a:ext cx="6169221" cy="654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Livros danificados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39772" y="6874823"/>
            <a:ext cx="11919528" cy="66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8"/>
              </a:lnSpc>
            </a:pPr>
            <a:r>
              <a:rPr lang="en-US" sz="3856">
                <a:solidFill>
                  <a:srgbClr val="000000"/>
                </a:solidFill>
                <a:latin typeface="Anonymous Pro"/>
              </a:rPr>
              <a:t>Alta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77872" y="3510020"/>
            <a:ext cx="11900478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nonymous Pro"/>
              </a:rPr>
              <a:t>Caso o cliente danifique um livro, ele deverá conceder um novo modelo em boas condições.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20200"/>
            <a:ext cx="124902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rot="-5400000">
            <a:off x="-36987" y="8164038"/>
            <a:ext cx="2131373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3909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63587" y="1626664"/>
            <a:ext cx="12760826" cy="647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0"/>
              </a:lnSpc>
            </a:pPr>
            <a:r>
              <a:rPr lang="en-US" sz="4482">
                <a:solidFill>
                  <a:srgbClr val="000000"/>
                </a:solidFill>
                <a:latin typeface="Anonymous Pro"/>
              </a:rPr>
              <a:t>Grupo: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63587" y="3030369"/>
            <a:ext cx="12760826" cy="2625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4"/>
              </a:lnSpc>
            </a:pPr>
            <a:r>
              <a:rPr lang="en-US" sz="3361">
                <a:solidFill>
                  <a:srgbClr val="000000"/>
                </a:solidFill>
                <a:latin typeface="Anonymous Pro"/>
              </a:rPr>
              <a:t>Bianca Pereira Cunha RM</a:t>
            </a:r>
            <a:r>
              <a:rPr lang="en-US" sz="3361">
                <a:solidFill>
                  <a:srgbClr val="000000"/>
                </a:solidFill>
                <a:latin typeface="Anonymous Pro"/>
              </a:rPr>
              <a:t>: 241036</a:t>
            </a:r>
          </a:p>
          <a:p>
            <a:pPr algn="ctr">
              <a:lnSpc>
                <a:spcPts val="4134"/>
              </a:lnSpc>
            </a:pPr>
            <a:r>
              <a:rPr lang="en-US" sz="3361">
                <a:solidFill>
                  <a:srgbClr val="000000"/>
                </a:solidFill>
                <a:latin typeface="Anonymous Pro"/>
              </a:rPr>
              <a:t>Bruno de Abreu Santos RM: 241415</a:t>
            </a:r>
          </a:p>
          <a:p>
            <a:pPr algn="ctr">
              <a:lnSpc>
                <a:spcPts val="4134"/>
              </a:lnSpc>
            </a:pPr>
            <a:r>
              <a:rPr lang="en-US" sz="3361">
                <a:solidFill>
                  <a:srgbClr val="000000"/>
                </a:solidFill>
                <a:latin typeface="Anonymous Pro"/>
              </a:rPr>
              <a:t>Daniel Ferreira Ramos RM: 241027</a:t>
            </a:r>
          </a:p>
          <a:p>
            <a:pPr algn="ctr">
              <a:lnSpc>
                <a:spcPts val="4134"/>
              </a:lnSpc>
            </a:pPr>
            <a:r>
              <a:rPr lang="en-US" sz="3361">
                <a:solidFill>
                  <a:srgbClr val="000000"/>
                </a:solidFill>
                <a:latin typeface="Anonymous Pro"/>
              </a:rPr>
              <a:t>Daphne Shayel Gini Benitez RM: 241030</a:t>
            </a:r>
          </a:p>
          <a:p>
            <a:pPr algn="ctr" marL="0" indent="0" lvl="0">
              <a:lnSpc>
                <a:spcPts val="4134"/>
              </a:lnSpc>
            </a:pPr>
            <a:r>
              <a:rPr lang="en-US" sz="3361">
                <a:solidFill>
                  <a:srgbClr val="000000"/>
                </a:solidFill>
                <a:latin typeface="Anonymous Pro"/>
              </a:rPr>
              <a:t>Enzo Catarino Leite RM: 241417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6527520" y="1028700"/>
            <a:ext cx="1249023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763587" y="6708519"/>
            <a:ext cx="1276082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0"/>
              </a:lnSpc>
            </a:pPr>
            <a:r>
              <a:rPr lang="en-US" sz="5000">
                <a:solidFill>
                  <a:srgbClr val="000000"/>
                </a:solidFill>
                <a:latin typeface="Anonymous Pro Bold"/>
              </a:rPr>
              <a:t>Agradecemos a atenção!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534C94BE7ACC4B82DB0C57D8B917FB" ma:contentTypeVersion="5" ma:contentTypeDescription="Crie um novo documento." ma:contentTypeScope="" ma:versionID="62a2c0150b63379dfc6dc29281e4e6f5">
  <xsd:schema xmlns:xsd="http://www.w3.org/2001/XMLSchema" xmlns:xs="http://www.w3.org/2001/XMLSchema" xmlns:p="http://schemas.microsoft.com/office/2006/metadata/properties" xmlns:ns2="c71b2e08-5f48-4826-b3b9-729c518ea3db" targetNamespace="http://schemas.microsoft.com/office/2006/metadata/properties" ma:root="true" ma:fieldsID="e31b8c47eae556db8a51ed9dd6ca2eeb" ns2:_="">
    <xsd:import namespace="c71b2e08-5f48-4826-b3b9-729c518ea3db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1b2e08-5f48-4826-b3b9-729c518ea3db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AF8D27F-BA36-489F-869F-4164D31D886D}"/>
</file>

<file path=customXml/itemProps2.xml><?xml version="1.0" encoding="utf-8"?>
<ds:datastoreItem xmlns:ds="http://schemas.openxmlformats.org/officeDocument/2006/customXml" ds:itemID="{D42BAA99-334C-4DCB-BB77-F75E0038508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DAGHMsTPFGw</dc:identifier>
  <dcterms:modified xsi:type="dcterms:W3CDTF">2011-08-01T06:04:30Z</dcterms:modified>
  <cp:revision>1</cp:revision>
  <dc:title>Case1_Bliblioteca_Daniel</dc:title>
</cp:coreProperties>
</file>