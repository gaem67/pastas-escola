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64" r:id="rId5"/>
    <p:sldId id="268" r:id="rId6"/>
    <p:sldId id="269" r:id="rId7"/>
    <p:sldId id="266" r:id="rId8"/>
    <p:sldId id="260" r:id="rId9"/>
    <p:sldId id="261" r:id="rId10"/>
    <p:sldId id="262" r:id="rId11"/>
    <p:sldId id="270" r:id="rId12"/>
    <p:sldId id="271" r:id="rId13"/>
    <p:sldId id="272" r:id="rId14"/>
    <p:sldId id="273" r:id="rId15"/>
    <p:sldId id="267" r:id="rId16"/>
    <p:sldId id="259" r:id="rId17"/>
    <p:sldId id="26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>
        <p:scale>
          <a:sx n="62" d="100"/>
          <a:sy n="62" d="100"/>
        </p:scale>
        <p:origin x="71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F7C9F-0AFE-448D-8349-33933161E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3108F-8774-435D-8D61-7587D3810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C4FD47-5245-425B-B9A5-F4B2616C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609BBE-D5DF-4627-9649-239CF81C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A47213-AD88-4FCB-836F-E3364E1B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10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D9F08-CCAD-485F-8AAB-468F3CBF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89E8D1-E27C-47E5-BAB4-EF017AAA2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58A326-EEA2-44F5-9D41-B261FAF1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923877-C492-4648-8376-8B49910B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6939F7-72EC-431F-B1C7-4CE2006E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69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027E7-E088-47DF-90D5-E8A29EC4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A1101-C6B6-4EA3-A69A-00C313F4C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C4978F-ACA8-4870-96F1-61516C14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B838A5-6C49-41B7-9098-22ECDF541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D788A7-308E-44CD-AA0A-7864B902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86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84CF7-B972-4438-8B78-195D2A2E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643864-AC39-4DF8-8ECF-876BB9B8A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43F5CB-F7EA-48FE-A01C-27D12463D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022844-033F-45E4-8D26-D2EF8F3E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59F742-662F-43CB-8E17-8F12E422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4F4B75-02DA-4A5F-A713-25E6E6B0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8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DE442-B635-4D91-B28A-C13EB35D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115BF0-4311-4526-BA39-7E1B7E734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9B6DA7-0CE2-417C-8289-DE2C277A4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DC94B1-926E-4589-BAAE-F42EBBA10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49309E-8E8D-4369-83C9-3E11CC89C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F4A704-8905-47D1-937E-CF2E5E7D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440A75-BD00-433A-8C6E-31139A9B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3E0D19-C4E3-458B-BAF1-30378CFA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75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FCA8B-A19E-4ED1-8690-C4A9162A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72D78C-92ED-4F81-80DE-91C7D88A8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1B078E-A95B-4BBC-A1A6-637D9EBA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212DC9-FD39-4F91-A64F-909E3A7C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45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A60A07-4A73-44A1-BA22-7B674626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3F1C9-B70D-4358-B77C-43246616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B86E2D-DEA8-411D-8A8F-366D7AF6A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95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E353A-90A8-4DB6-8368-0C0D02A2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19727-0613-44E4-8BCA-6788CE4F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C4E06F-703C-47D7-A209-2DB3795CE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C36947-FCBC-4931-AED6-DA890832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BF3C56-C139-4D84-85CB-FAF4FBFF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520654-29AB-4FD0-98F4-CCF9F2FF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2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F04BA-26E0-409E-B31E-C34E73E9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D70D10-965D-4877-A70E-E1ABBBB26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5519CB-9F29-4027-9866-55A4606B0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C17A2C-B73E-44C7-9B62-5FDDE544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180AB4-E462-4C97-B604-3B4B05C7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3E6F3A-0847-4068-9CE3-6DAC92F9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14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4AD4F-7018-41F7-8162-362C544E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D37FED-A660-4176-806D-95242D3C0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4D1810-DC4D-462F-9D01-0FF42432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F8F368-657F-4949-84C3-FAD9A034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6BC5D9-0C07-41C3-86ED-88CEA93F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61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60167D-8ABB-4D99-AFB3-5D7971038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48ADE2-515B-4DE9-B6BF-75ABEA38D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C9E51F-917A-4F1B-82EA-AA1EB25B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C8FAB8-E30E-4321-B9FE-7ECFDE66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7BB3FB-3FA1-48B4-AF3C-391332B8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5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A905F3-70AC-4FFA-B142-B9F99C01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AC8E6-1810-43D8-B8BE-EF36BD273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E63E4E-CD4E-4062-94E9-7CF2D3CFB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8248F-FC83-4A54-9D42-4B5FDA822B39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2A790D-F8E8-4B44-AE8D-4FBE61A6D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A42F28-48FD-444D-B712-40DFA13C3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C1C44-6A4D-431B-AEF2-9F3F9FF47F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00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range-gradient-color-700368/" TargetMode="External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range-gradient-color-700368/" TargetMode="External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range-gradient-color-700368/" TargetMode="External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orange-gradient-color-700368/" TargetMode="External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B8E27-94DD-F833-8170-F1212BBF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6356"/>
            <a:ext cx="12191980" cy="6845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419E14-C4AC-424E-8877-52A84576D13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78270" y="3708348"/>
            <a:ext cx="9144000" cy="29005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8000" dirty="0">
                <a:solidFill>
                  <a:srgbClr val="FFFFFF"/>
                </a:solidFill>
              </a:rPr>
              <a:t>APRESENTAÇÃO APS</a:t>
            </a:r>
            <a:br>
              <a:rPr lang="pt-BR" sz="8000" dirty="0">
                <a:solidFill>
                  <a:srgbClr val="FFFFFF"/>
                </a:solidFill>
              </a:rPr>
            </a:br>
            <a:r>
              <a:rPr lang="pt-BR" sz="8000" dirty="0">
                <a:solidFill>
                  <a:srgbClr val="FFFFFF"/>
                </a:solidFill>
              </a:rPr>
              <a:t>REQUISITOS</a:t>
            </a: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A3A3E1-41E3-1F78-F09C-EAB5F35D8BCE}"/>
              </a:ext>
            </a:extLst>
          </p:cNvPr>
          <p:cNvSpPr txBox="1"/>
          <p:nvPr/>
        </p:nvSpPr>
        <p:spPr>
          <a:xfrm>
            <a:off x="116495" y="4791263"/>
            <a:ext cx="56913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dirty="0"/>
              <a:t>Samuel Lopes dos Santos 
Victor Matheus Silva 
Thiago Cavalcante Lopes
Victor Silva Porfírio</a:t>
            </a:r>
          </a:p>
          <a:p>
            <a:pPr algn="l"/>
            <a:r>
              <a:rPr lang="pt-BR" sz="2400" dirty="0"/>
              <a:t>Sarah Valério Ferreira </a:t>
            </a:r>
          </a:p>
        </p:txBody>
      </p:sp>
    </p:spTree>
    <p:extLst>
      <p:ext uri="{BB962C8B-B14F-4D97-AF65-F5344CB8AC3E}">
        <p14:creationId xmlns:p14="http://schemas.microsoft.com/office/powerpoint/2010/main" val="1682655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0B8E27-94DD-F833-8170-F1212BBF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6356"/>
            <a:ext cx="12191980" cy="6845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419E14-C4AC-424E-8877-52A84576D13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REQUISITOS FUNCIONAIS</a:t>
            </a:r>
          </a:p>
        </p:txBody>
      </p:sp>
    </p:spTree>
    <p:extLst>
      <p:ext uri="{BB962C8B-B14F-4D97-AF65-F5344CB8AC3E}">
        <p14:creationId xmlns:p14="http://schemas.microsoft.com/office/powerpoint/2010/main" val="2861944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8BA00-F4D3-4BDE-BC71-43EA8664D1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45241662"/>
              </p:ext>
            </p:extLst>
          </p:nvPr>
        </p:nvGraphicFramePr>
        <p:xfrm>
          <a:off x="1504618" y="1618783"/>
          <a:ext cx="9355165" cy="3620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558">
                  <a:extLst>
                    <a:ext uri="{9D8B030D-6E8A-4147-A177-3AD203B41FA5}">
                      <a16:colId xmlns:a16="http://schemas.microsoft.com/office/drawing/2014/main" val="2753936930"/>
                    </a:ext>
                  </a:extLst>
                </a:gridCol>
                <a:gridCol w="6893607">
                  <a:extLst>
                    <a:ext uri="{9D8B030D-6E8A-4147-A177-3AD203B41FA5}">
                      <a16:colId xmlns:a16="http://schemas.microsoft.com/office/drawing/2014/main" val="2669269987"/>
                    </a:ext>
                  </a:extLst>
                </a:gridCol>
              </a:tblGrid>
              <a:tr h="1005821">
                <a:tc>
                  <a:txBody>
                    <a:bodyPr/>
                    <a:lstStyle/>
                    <a:p>
                      <a:r>
                        <a:rPr lang="pt-BR" dirty="0"/>
                        <a:t>    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8351"/>
                  </a:ext>
                </a:extLst>
              </a:tr>
              <a:tr h="972249">
                <a:tc>
                  <a:txBody>
                    <a:bodyPr/>
                    <a:lstStyle/>
                    <a:p>
                      <a:r>
                        <a:rPr lang="pt-BR" dirty="0"/>
                        <a:t>         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     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3420"/>
                  </a:ext>
                </a:extLst>
              </a:tr>
              <a:tr h="821182">
                <a:tc>
                  <a:txBody>
                    <a:bodyPr/>
                    <a:lstStyle/>
                    <a:p>
                      <a:r>
                        <a:rPr lang="pt-BR" dirty="0"/>
                        <a:t>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   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44638"/>
                  </a:ext>
                </a:extLst>
              </a:tr>
              <a:tr h="82118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418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67E637A-5DA3-4251-8A3A-AE94122DBE52}"/>
              </a:ext>
            </a:extLst>
          </p:cNvPr>
          <p:cNvSpPr txBox="1"/>
          <p:nvPr/>
        </p:nvSpPr>
        <p:spPr>
          <a:xfrm>
            <a:off x="2179057" y="3836368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D0A658-CA87-4B6E-A0B6-0A5B914018E9}"/>
              </a:ext>
            </a:extLst>
          </p:cNvPr>
          <p:cNvSpPr txBox="1"/>
          <p:nvPr/>
        </p:nvSpPr>
        <p:spPr>
          <a:xfrm>
            <a:off x="2270415" y="2895184"/>
            <a:ext cx="858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            Permitir que os usuários consigam monitorar quantos produtos existem,     </a:t>
            </a:r>
          </a:p>
          <a:p>
            <a:r>
              <a:rPr lang="pt-BR" dirty="0"/>
              <a:t>                                 e as entradas e saídas deles.                                                                    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F62D41-BB2B-4A29-BE78-64289A66E8DA}"/>
              </a:ext>
            </a:extLst>
          </p:cNvPr>
          <p:cNvSpPr txBox="1"/>
          <p:nvPr/>
        </p:nvSpPr>
        <p:spPr>
          <a:xfrm>
            <a:off x="2054619" y="4625560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10571-A17F-4F9E-AA3B-A87AFAE73CDD}"/>
              </a:ext>
            </a:extLst>
          </p:cNvPr>
          <p:cNvSpPr txBox="1"/>
          <p:nvPr/>
        </p:nvSpPr>
        <p:spPr>
          <a:xfrm>
            <a:off x="1761506" y="1974393"/>
            <a:ext cx="866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IDENTIFICADOR                       RF01                                   NOME: Controle de estoque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D03DAD-F071-A574-5D64-5057DFBAA0B9}"/>
              </a:ext>
            </a:extLst>
          </p:cNvPr>
          <p:cNvSpPr txBox="1"/>
          <p:nvPr/>
        </p:nvSpPr>
        <p:spPr>
          <a:xfrm>
            <a:off x="4314234" y="3881303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</a:t>
            </a:r>
          </a:p>
        </p:txBody>
      </p:sp>
    </p:spTree>
    <p:extLst>
      <p:ext uri="{BB962C8B-B14F-4D97-AF65-F5344CB8AC3E}">
        <p14:creationId xmlns:p14="http://schemas.microsoft.com/office/powerpoint/2010/main" val="2962553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8BA00-F4D3-4BDE-BC71-43EA8664D1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3496347"/>
              </p:ext>
            </p:extLst>
          </p:nvPr>
        </p:nvGraphicFramePr>
        <p:xfrm>
          <a:off x="1617635" y="1804736"/>
          <a:ext cx="9139408" cy="3649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788">
                  <a:extLst>
                    <a:ext uri="{9D8B030D-6E8A-4147-A177-3AD203B41FA5}">
                      <a16:colId xmlns:a16="http://schemas.microsoft.com/office/drawing/2014/main" val="2753936930"/>
                    </a:ext>
                  </a:extLst>
                </a:gridCol>
                <a:gridCol w="6734620">
                  <a:extLst>
                    <a:ext uri="{9D8B030D-6E8A-4147-A177-3AD203B41FA5}">
                      <a16:colId xmlns:a16="http://schemas.microsoft.com/office/drawing/2014/main" val="2669269987"/>
                    </a:ext>
                  </a:extLst>
                </a:gridCol>
              </a:tblGrid>
              <a:tr h="1057995">
                <a:tc>
                  <a:txBody>
                    <a:bodyPr/>
                    <a:lstStyle/>
                    <a:p>
                      <a:r>
                        <a:rPr lang="pt-BR" dirty="0"/>
                        <a:t>    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8351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r>
                        <a:rPr lang="pt-BR" dirty="0"/>
                        <a:t>         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3420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r>
                        <a:rPr lang="pt-BR" dirty="0"/>
                        <a:t>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44638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418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67E637A-5DA3-4251-8A3A-AE94122DBE52}"/>
              </a:ext>
            </a:extLst>
          </p:cNvPr>
          <p:cNvSpPr txBox="1"/>
          <p:nvPr/>
        </p:nvSpPr>
        <p:spPr>
          <a:xfrm>
            <a:off x="2173186" y="3958240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D0A658-CA87-4B6E-A0B6-0A5B914018E9}"/>
              </a:ext>
            </a:extLst>
          </p:cNvPr>
          <p:cNvSpPr txBox="1"/>
          <p:nvPr/>
        </p:nvSpPr>
        <p:spPr>
          <a:xfrm>
            <a:off x="2173186" y="3079616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F62D41-BB2B-4A29-BE78-64289A66E8DA}"/>
              </a:ext>
            </a:extLst>
          </p:cNvPr>
          <p:cNvSpPr txBox="1"/>
          <p:nvPr/>
        </p:nvSpPr>
        <p:spPr>
          <a:xfrm>
            <a:off x="2015964" y="4831043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10571-A17F-4F9E-AA3B-A87AFAE73CDD}"/>
              </a:ext>
            </a:extLst>
          </p:cNvPr>
          <p:cNvSpPr txBox="1"/>
          <p:nvPr/>
        </p:nvSpPr>
        <p:spPr>
          <a:xfrm>
            <a:off x="1745673" y="2149434"/>
            <a:ext cx="866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IDENTIFICADOR                         RF02                                 NOME: Registro de entradas/saídas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7938ED-FE6E-9D35-CF13-EBD1D141F523}"/>
              </a:ext>
            </a:extLst>
          </p:cNvPr>
          <p:cNvSpPr txBox="1"/>
          <p:nvPr/>
        </p:nvSpPr>
        <p:spPr>
          <a:xfrm>
            <a:off x="3989398" y="2818979"/>
            <a:ext cx="6383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Permitir que os usuários consigam monitorar quando os produtos </a:t>
            </a:r>
          </a:p>
          <a:p>
            <a:r>
              <a:rPr lang="pt-BR" dirty="0"/>
              <a:t>entraram e saíram. Incluindo o colaborador, a data e </a:t>
            </a:r>
          </a:p>
          <a:p>
            <a:r>
              <a:rPr lang="pt-BR" dirty="0"/>
              <a:t>a hora da entrada/saída.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5617F8-07AC-BC02-E3B5-4DEB7139CB6E}"/>
              </a:ext>
            </a:extLst>
          </p:cNvPr>
          <p:cNvSpPr txBox="1"/>
          <p:nvPr/>
        </p:nvSpPr>
        <p:spPr>
          <a:xfrm>
            <a:off x="4249606" y="3934365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E0C3AA-087C-D5F2-FFAE-C3DC5223F341}"/>
              </a:ext>
            </a:extLst>
          </p:cNvPr>
          <p:cNvSpPr txBox="1"/>
          <p:nvPr/>
        </p:nvSpPr>
        <p:spPr>
          <a:xfrm>
            <a:off x="4205155" y="4831043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RF01</a:t>
            </a:r>
          </a:p>
        </p:txBody>
      </p:sp>
    </p:spTree>
    <p:extLst>
      <p:ext uri="{BB962C8B-B14F-4D97-AF65-F5344CB8AC3E}">
        <p14:creationId xmlns:p14="http://schemas.microsoft.com/office/powerpoint/2010/main" val="384343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8BA00-F4D3-4BDE-BC71-43EA8664D1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3345760"/>
              </p:ext>
            </p:extLst>
          </p:nvPr>
        </p:nvGraphicFramePr>
        <p:xfrm>
          <a:off x="1617635" y="1804736"/>
          <a:ext cx="9139408" cy="3487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788">
                  <a:extLst>
                    <a:ext uri="{9D8B030D-6E8A-4147-A177-3AD203B41FA5}">
                      <a16:colId xmlns:a16="http://schemas.microsoft.com/office/drawing/2014/main" val="2753936930"/>
                    </a:ext>
                  </a:extLst>
                </a:gridCol>
                <a:gridCol w="6734620">
                  <a:extLst>
                    <a:ext uri="{9D8B030D-6E8A-4147-A177-3AD203B41FA5}">
                      <a16:colId xmlns:a16="http://schemas.microsoft.com/office/drawing/2014/main" val="2669269987"/>
                    </a:ext>
                  </a:extLst>
                </a:gridCol>
              </a:tblGrid>
              <a:tr h="1057995">
                <a:tc>
                  <a:txBody>
                    <a:bodyPr/>
                    <a:lstStyle/>
                    <a:p>
                      <a:r>
                        <a:rPr lang="pt-BR" dirty="0"/>
                        <a:t>    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8351"/>
                  </a:ext>
                </a:extLst>
              </a:tr>
              <a:tr h="702402">
                <a:tc>
                  <a:txBody>
                    <a:bodyPr/>
                    <a:lstStyle/>
                    <a:p>
                      <a:r>
                        <a:rPr lang="pt-BR" dirty="0"/>
                        <a:t>         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3420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r>
                        <a:rPr lang="pt-BR" dirty="0"/>
                        <a:t>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44638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418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67E637A-5DA3-4251-8A3A-AE94122DBE52}"/>
              </a:ext>
            </a:extLst>
          </p:cNvPr>
          <p:cNvSpPr txBox="1"/>
          <p:nvPr/>
        </p:nvSpPr>
        <p:spPr>
          <a:xfrm>
            <a:off x="2173186" y="3866702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D0A658-CA87-4B6E-A0B6-0A5B914018E9}"/>
              </a:ext>
            </a:extLst>
          </p:cNvPr>
          <p:cNvSpPr txBox="1"/>
          <p:nvPr/>
        </p:nvSpPr>
        <p:spPr>
          <a:xfrm>
            <a:off x="2173186" y="3079616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F62D41-BB2B-4A29-BE78-64289A66E8DA}"/>
              </a:ext>
            </a:extLst>
          </p:cNvPr>
          <p:cNvSpPr txBox="1"/>
          <p:nvPr/>
        </p:nvSpPr>
        <p:spPr>
          <a:xfrm>
            <a:off x="2069963" y="4738575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10571-A17F-4F9E-AA3B-A87AFAE73CDD}"/>
              </a:ext>
            </a:extLst>
          </p:cNvPr>
          <p:cNvSpPr txBox="1"/>
          <p:nvPr/>
        </p:nvSpPr>
        <p:spPr>
          <a:xfrm>
            <a:off x="1745673" y="2149434"/>
            <a:ext cx="866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IDENTIFICADOR                         RF03                                NOME: Relatório de vendas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7938ED-FE6E-9D35-CF13-EBD1D141F523}"/>
              </a:ext>
            </a:extLst>
          </p:cNvPr>
          <p:cNvSpPr txBox="1"/>
          <p:nvPr/>
        </p:nvSpPr>
        <p:spPr>
          <a:xfrm>
            <a:off x="4141899" y="2902381"/>
            <a:ext cx="5299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Permitir que os usuários tenham acesso a um relatório</a:t>
            </a:r>
          </a:p>
          <a:p>
            <a:r>
              <a:rPr lang="pt-BR" dirty="0"/>
              <a:t> dos produtos vendidos.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5617F8-07AC-BC02-E3B5-4DEB7139CB6E}"/>
              </a:ext>
            </a:extLst>
          </p:cNvPr>
          <p:cNvSpPr txBox="1"/>
          <p:nvPr/>
        </p:nvSpPr>
        <p:spPr>
          <a:xfrm>
            <a:off x="4205155" y="3866702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E0C3AA-087C-D5F2-FFAE-C3DC5223F341}"/>
              </a:ext>
            </a:extLst>
          </p:cNvPr>
          <p:cNvSpPr txBox="1"/>
          <p:nvPr/>
        </p:nvSpPr>
        <p:spPr>
          <a:xfrm>
            <a:off x="4261816" y="473857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RF01</a:t>
            </a:r>
          </a:p>
        </p:txBody>
      </p:sp>
    </p:spTree>
    <p:extLst>
      <p:ext uri="{BB962C8B-B14F-4D97-AF65-F5344CB8AC3E}">
        <p14:creationId xmlns:p14="http://schemas.microsoft.com/office/powerpoint/2010/main" val="243212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8BA00-F4D3-4BDE-BC71-43EA8664D109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617635" y="1804736"/>
          <a:ext cx="9139408" cy="3487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788">
                  <a:extLst>
                    <a:ext uri="{9D8B030D-6E8A-4147-A177-3AD203B41FA5}">
                      <a16:colId xmlns:a16="http://schemas.microsoft.com/office/drawing/2014/main" val="2753936930"/>
                    </a:ext>
                  </a:extLst>
                </a:gridCol>
                <a:gridCol w="6734620">
                  <a:extLst>
                    <a:ext uri="{9D8B030D-6E8A-4147-A177-3AD203B41FA5}">
                      <a16:colId xmlns:a16="http://schemas.microsoft.com/office/drawing/2014/main" val="2669269987"/>
                    </a:ext>
                  </a:extLst>
                </a:gridCol>
              </a:tblGrid>
              <a:tr h="1057995">
                <a:tc>
                  <a:txBody>
                    <a:bodyPr/>
                    <a:lstStyle/>
                    <a:p>
                      <a:r>
                        <a:rPr lang="pt-BR" dirty="0"/>
                        <a:t>    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8351"/>
                  </a:ext>
                </a:extLst>
              </a:tr>
              <a:tr h="702402">
                <a:tc>
                  <a:txBody>
                    <a:bodyPr/>
                    <a:lstStyle/>
                    <a:p>
                      <a:r>
                        <a:rPr lang="pt-BR" dirty="0"/>
                        <a:t>         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3420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r>
                        <a:rPr lang="pt-BR" dirty="0"/>
                        <a:t>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44638"/>
                  </a:ext>
                </a:extLst>
              </a:tr>
              <a:tr h="86377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418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67E637A-5DA3-4251-8A3A-AE94122DBE52}"/>
              </a:ext>
            </a:extLst>
          </p:cNvPr>
          <p:cNvSpPr txBox="1"/>
          <p:nvPr/>
        </p:nvSpPr>
        <p:spPr>
          <a:xfrm>
            <a:off x="2173186" y="3866702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D0A658-CA87-4B6E-A0B6-0A5B914018E9}"/>
              </a:ext>
            </a:extLst>
          </p:cNvPr>
          <p:cNvSpPr txBox="1"/>
          <p:nvPr/>
        </p:nvSpPr>
        <p:spPr>
          <a:xfrm>
            <a:off x="2173186" y="3079616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F62D41-BB2B-4A29-BE78-64289A66E8DA}"/>
              </a:ext>
            </a:extLst>
          </p:cNvPr>
          <p:cNvSpPr txBox="1"/>
          <p:nvPr/>
        </p:nvSpPr>
        <p:spPr>
          <a:xfrm>
            <a:off x="2069963" y="4738575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10571-A17F-4F9E-AA3B-A87AFAE73CDD}"/>
              </a:ext>
            </a:extLst>
          </p:cNvPr>
          <p:cNvSpPr txBox="1"/>
          <p:nvPr/>
        </p:nvSpPr>
        <p:spPr>
          <a:xfrm>
            <a:off x="1745673" y="2149434"/>
            <a:ext cx="866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IDENTIFICADOR                         RF04                               NOME: Análise de performance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7938ED-FE6E-9D35-CF13-EBD1D141F523}"/>
              </a:ext>
            </a:extLst>
          </p:cNvPr>
          <p:cNvSpPr txBox="1"/>
          <p:nvPr/>
        </p:nvSpPr>
        <p:spPr>
          <a:xfrm>
            <a:off x="3998061" y="2902381"/>
            <a:ext cx="6841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Permitir que os usuários tenham acesso a uma análise detalhada, </a:t>
            </a:r>
          </a:p>
          <a:p>
            <a:r>
              <a:rPr lang="pt-BR" dirty="0"/>
              <a:t>e bem estruturada, sobre os resultados dos colaboradores da empresa.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5617F8-07AC-BC02-E3B5-4DEB7139CB6E}"/>
              </a:ext>
            </a:extLst>
          </p:cNvPr>
          <p:cNvSpPr txBox="1"/>
          <p:nvPr/>
        </p:nvSpPr>
        <p:spPr>
          <a:xfrm>
            <a:off x="4205155" y="3866702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E0C3AA-087C-D5F2-FFAE-C3DC5223F341}"/>
              </a:ext>
            </a:extLst>
          </p:cNvPr>
          <p:cNvSpPr txBox="1"/>
          <p:nvPr/>
        </p:nvSpPr>
        <p:spPr>
          <a:xfrm>
            <a:off x="4261816" y="473857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RF01,RF02.</a:t>
            </a:r>
          </a:p>
        </p:txBody>
      </p:sp>
    </p:spTree>
    <p:extLst>
      <p:ext uri="{BB962C8B-B14F-4D97-AF65-F5344CB8AC3E}">
        <p14:creationId xmlns:p14="http://schemas.microsoft.com/office/powerpoint/2010/main" val="84153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B8E27-94DD-F833-8170-F1212BBF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6356"/>
            <a:ext cx="12191980" cy="6845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419E14-C4AC-424E-8877-52A84576D13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REQUISITOS NÃO FUNCIONAIS</a:t>
            </a:r>
          </a:p>
        </p:txBody>
      </p:sp>
    </p:spTree>
    <p:extLst>
      <p:ext uri="{BB962C8B-B14F-4D97-AF65-F5344CB8AC3E}">
        <p14:creationId xmlns:p14="http://schemas.microsoft.com/office/powerpoint/2010/main" val="335973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949183"/>
              </p:ext>
            </p:extLst>
          </p:nvPr>
        </p:nvGraphicFramePr>
        <p:xfrm>
          <a:off x="1877619" y="1369942"/>
          <a:ext cx="8180779" cy="433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196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63499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0196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08026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1644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196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196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210790" y="1453415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RNF01                   NOME:  Disponibilidade.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8" y="209715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489750" y="2553132"/>
            <a:ext cx="12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2693042" y="3395921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ESCOPO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642804" y="4192254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66408" y="4782016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96744" y="5292693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F33D46-8B0E-9501-7DCF-F0D7CB55C3FA}"/>
              </a:ext>
            </a:extLst>
          </p:cNvPr>
          <p:cNvSpPr txBox="1"/>
          <p:nvPr/>
        </p:nvSpPr>
        <p:spPr>
          <a:xfrm>
            <a:off x="4453469" y="2036163"/>
            <a:ext cx="564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Garantir que o software funcione 99,9% do tempo.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FC765D9-C807-5B11-7315-13721390B620}"/>
              </a:ext>
            </a:extLst>
          </p:cNvPr>
          <p:cNvSpPr txBox="1"/>
          <p:nvPr/>
        </p:nvSpPr>
        <p:spPr>
          <a:xfrm>
            <a:off x="4641574" y="2511589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Disponibilidade.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F453E0A-F7D0-85F9-1E3E-199BF22906B6}"/>
              </a:ext>
            </a:extLst>
          </p:cNvPr>
          <p:cNvSpPr txBox="1"/>
          <p:nvPr/>
        </p:nvSpPr>
        <p:spPr>
          <a:xfrm>
            <a:off x="4641573" y="4053755"/>
            <a:ext cx="533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Status do software, tempo de atividade e</a:t>
            </a:r>
          </a:p>
          <a:p>
            <a:r>
              <a:rPr lang="pt-BR" dirty="0"/>
              <a:t> tempo de inatividade.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E30290-D817-4880-80FF-596E63DF1B1A}"/>
              </a:ext>
            </a:extLst>
          </p:cNvPr>
          <p:cNvSpPr txBox="1"/>
          <p:nvPr/>
        </p:nvSpPr>
        <p:spPr>
          <a:xfrm>
            <a:off x="4637095" y="2957174"/>
            <a:ext cx="5182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Garantir que o software de gerenciamento de inventário esteja funcionando em perfeito estado na maior parte do tempo, sem que haja problemas em seu funcionamento.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B6426F-AEC8-EE81-A240-7DE6E1476F8E}"/>
              </a:ext>
            </a:extLst>
          </p:cNvPr>
          <p:cNvSpPr txBox="1"/>
          <p:nvPr/>
        </p:nvSpPr>
        <p:spPr>
          <a:xfrm>
            <a:off x="4726113" y="4782016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Essencial.</a:t>
            </a:r>
          </a:p>
        </p:txBody>
      </p:sp>
    </p:spTree>
    <p:extLst>
      <p:ext uri="{BB962C8B-B14F-4D97-AF65-F5344CB8AC3E}">
        <p14:creationId xmlns:p14="http://schemas.microsoft.com/office/powerpoint/2010/main" val="57114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91178"/>
              </p:ext>
            </p:extLst>
          </p:nvPr>
        </p:nvGraphicFramePr>
        <p:xfrm>
          <a:off x="1877619" y="1467811"/>
          <a:ext cx="8180779" cy="4650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68697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33284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0617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133602" y="1555668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RNF02                                NOME:  Desempenho.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8" y="209715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489272" y="2718350"/>
            <a:ext cx="12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2642804" y="3632959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ESCOPO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642804" y="460236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45026" y="5117666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50353" y="5589954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3BAD3B-A760-1F2D-4C12-02B4F8307F86}"/>
              </a:ext>
            </a:extLst>
          </p:cNvPr>
          <p:cNvSpPr txBox="1"/>
          <p:nvPr/>
        </p:nvSpPr>
        <p:spPr>
          <a:xfrm>
            <a:off x="4476354" y="2012857"/>
            <a:ext cx="4898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Garantir que o software funcione sem problemas, </a:t>
            </a:r>
          </a:p>
          <a:p>
            <a:r>
              <a:rPr lang="pt-BR" dirty="0"/>
              <a:t>mesmo em dispositivos com recursos limitados.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16D8E89-F6D1-054D-EB75-A26141790C1F}"/>
              </a:ext>
            </a:extLst>
          </p:cNvPr>
          <p:cNvSpPr txBox="1"/>
          <p:nvPr/>
        </p:nvSpPr>
        <p:spPr>
          <a:xfrm>
            <a:off x="4386192" y="2703138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Desempenho.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D387CE-F595-040C-D586-205C45F9BEB1}"/>
              </a:ext>
            </a:extLst>
          </p:cNvPr>
          <p:cNvSpPr txBox="1"/>
          <p:nvPr/>
        </p:nvSpPr>
        <p:spPr>
          <a:xfrm>
            <a:off x="4359731" y="3078961"/>
            <a:ext cx="54690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Garantir que o software de gerenciamento de inventário</a:t>
            </a:r>
          </a:p>
          <a:p>
            <a:r>
              <a:rPr lang="pt-BR" dirty="0"/>
              <a:t> tenha um desempenho otimizado em termos de</a:t>
            </a:r>
          </a:p>
          <a:p>
            <a:r>
              <a:rPr lang="pt-BR" dirty="0"/>
              <a:t> velocidade de carregamento, tempo de resposta e </a:t>
            </a:r>
          </a:p>
          <a:p>
            <a:r>
              <a:rPr lang="pt-BR" dirty="0"/>
              <a:t>capacidade de lidar com vários usuários simultâneos</a:t>
            </a:r>
          </a:p>
          <a:p>
            <a:r>
              <a:rPr lang="pt-BR" dirty="0"/>
              <a:t> sem gerar falhas.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227F16B-5BEE-5EDE-C5DB-F28A4C7E4F6D}"/>
              </a:ext>
            </a:extLst>
          </p:cNvPr>
          <p:cNvSpPr txBox="1"/>
          <p:nvPr/>
        </p:nvSpPr>
        <p:spPr>
          <a:xfrm>
            <a:off x="4359731" y="4463868"/>
            <a:ext cx="4449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Tempo de carregamento, tempo de resposta, </a:t>
            </a:r>
          </a:p>
          <a:p>
            <a:r>
              <a:rPr lang="pt-BR" dirty="0"/>
              <a:t>lidar com usuários simultâneos.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9D52EE-CC14-5796-EA50-9622A1672360}"/>
              </a:ext>
            </a:extLst>
          </p:cNvPr>
          <p:cNvSpPr txBox="1"/>
          <p:nvPr/>
        </p:nvSpPr>
        <p:spPr>
          <a:xfrm>
            <a:off x="4455360" y="520552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Essencial.</a:t>
            </a:r>
          </a:p>
        </p:txBody>
      </p:sp>
    </p:spTree>
    <p:extLst>
      <p:ext uri="{BB962C8B-B14F-4D97-AF65-F5344CB8AC3E}">
        <p14:creationId xmlns:p14="http://schemas.microsoft.com/office/powerpoint/2010/main" val="183389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122901"/>
              </p:ext>
            </p:extLst>
          </p:nvPr>
        </p:nvGraphicFramePr>
        <p:xfrm>
          <a:off x="1928421" y="1392465"/>
          <a:ext cx="8180779" cy="4623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71224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6615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18942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3678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133602" y="1555668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RNF03                NOME:  Confidencialidade e integridade.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8" y="209715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537808" y="2700731"/>
            <a:ext cx="12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2646652" y="3560262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ESCOPO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642804" y="4481881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45026" y="5085456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52469" y="5626944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E4BC43-4D56-57BD-9F97-FA7D7EBD7C0B}"/>
              </a:ext>
            </a:extLst>
          </p:cNvPr>
          <p:cNvSpPr txBox="1"/>
          <p:nvPr/>
        </p:nvSpPr>
        <p:spPr>
          <a:xfrm>
            <a:off x="4535458" y="1958656"/>
            <a:ext cx="5434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Garantir que o software possua uma segurança elevada </a:t>
            </a:r>
          </a:p>
          <a:p>
            <a:r>
              <a:rPr lang="pt-BR" dirty="0"/>
              <a:t>em relação aos dados contidos nele.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05D522-7570-A2E6-1F78-7CA716D5D606}"/>
              </a:ext>
            </a:extLst>
          </p:cNvPr>
          <p:cNvSpPr txBox="1"/>
          <p:nvPr/>
        </p:nvSpPr>
        <p:spPr>
          <a:xfrm>
            <a:off x="4566485" y="2767212"/>
            <a:ext cx="120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Segurança.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92CB8B-4E3E-2CC9-9701-7E6520A77DBD}"/>
              </a:ext>
            </a:extLst>
          </p:cNvPr>
          <p:cNvSpPr txBox="1"/>
          <p:nvPr/>
        </p:nvSpPr>
        <p:spPr>
          <a:xfrm>
            <a:off x="4382060" y="3162358"/>
            <a:ext cx="55219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Garantir que o software de gerenciamento de inventário </a:t>
            </a:r>
          </a:p>
          <a:p>
            <a:r>
              <a:rPr lang="pt-BR" dirty="0"/>
              <a:t>mantenha a integridade dos dados cadastrados,</a:t>
            </a:r>
          </a:p>
          <a:p>
            <a:r>
              <a:rPr lang="pt-BR" dirty="0"/>
              <a:t> impedindo-os de serem alterados ou corrompidos, </a:t>
            </a:r>
          </a:p>
          <a:p>
            <a:r>
              <a:rPr lang="pt-BR" dirty="0"/>
              <a:t>e protege-los de acessos não autorizados.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7B2C89-8EC6-2C55-E149-07BC82470D56}"/>
              </a:ext>
            </a:extLst>
          </p:cNvPr>
          <p:cNvSpPr txBox="1"/>
          <p:nvPr/>
        </p:nvSpPr>
        <p:spPr>
          <a:xfrm>
            <a:off x="4555861" y="4215893"/>
            <a:ext cx="290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  <a:p>
            <a:r>
              <a:rPr lang="pt-BR" dirty="0"/>
              <a:t> 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AF4960-7B10-888D-DEFF-D4340F97F744}"/>
              </a:ext>
            </a:extLst>
          </p:cNvPr>
          <p:cNvSpPr txBox="1"/>
          <p:nvPr/>
        </p:nvSpPr>
        <p:spPr>
          <a:xfrm>
            <a:off x="4608727" y="4492892"/>
            <a:ext cx="4954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 Quem pode acessar, data de registro, importância.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AFE0389-777E-55EB-F503-E01D59BB9B6B}"/>
              </a:ext>
            </a:extLst>
          </p:cNvPr>
          <p:cNvSpPr txBox="1"/>
          <p:nvPr/>
        </p:nvSpPr>
        <p:spPr>
          <a:xfrm>
            <a:off x="4608727" y="5096203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</a:t>
            </a:r>
          </a:p>
        </p:txBody>
      </p:sp>
    </p:spTree>
    <p:extLst>
      <p:ext uri="{BB962C8B-B14F-4D97-AF65-F5344CB8AC3E}">
        <p14:creationId xmlns:p14="http://schemas.microsoft.com/office/powerpoint/2010/main" val="385197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76614"/>
              </p:ext>
            </p:extLst>
          </p:nvPr>
        </p:nvGraphicFramePr>
        <p:xfrm>
          <a:off x="1920283" y="1357608"/>
          <a:ext cx="8180779" cy="476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86909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6615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17017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3678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210790" y="1454786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RNF04                        NOME: Autenticação e autorização.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8" y="209715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537808" y="2700731"/>
            <a:ext cx="12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2693043" y="3393779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ESCOPO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598530" y="4591861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47142" y="5158697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52469" y="5657277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E4BC43-4D56-57BD-9F97-FA7D7EBD7C0B}"/>
              </a:ext>
            </a:extLst>
          </p:cNvPr>
          <p:cNvSpPr txBox="1"/>
          <p:nvPr/>
        </p:nvSpPr>
        <p:spPr>
          <a:xfrm>
            <a:off x="4493232" y="1834000"/>
            <a:ext cx="5487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Garantir que o software cheque o login sempre que um </a:t>
            </a:r>
          </a:p>
          <a:p>
            <a:r>
              <a:rPr lang="pt-BR" dirty="0"/>
              <a:t> usuário tentar se conectar e caso seja validado,</a:t>
            </a:r>
          </a:p>
          <a:p>
            <a:r>
              <a:rPr lang="pt-BR" dirty="0"/>
              <a:t> mostre apenas os recursos que ele tenha acesso.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05D522-7570-A2E6-1F78-7CA716D5D606}"/>
              </a:ext>
            </a:extLst>
          </p:cNvPr>
          <p:cNvSpPr txBox="1"/>
          <p:nvPr/>
        </p:nvSpPr>
        <p:spPr>
          <a:xfrm>
            <a:off x="4566485" y="2767212"/>
            <a:ext cx="120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Segurança.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92CB8B-4E3E-2CC9-9701-7E6520A77DBD}"/>
              </a:ext>
            </a:extLst>
          </p:cNvPr>
          <p:cNvSpPr txBox="1"/>
          <p:nvPr/>
        </p:nvSpPr>
        <p:spPr>
          <a:xfrm>
            <a:off x="4322255" y="3002558"/>
            <a:ext cx="60210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  <a:p>
            <a:r>
              <a:rPr lang="pt-BR" dirty="0"/>
              <a:t> Garantir que o software de gerenciamento de inventário</a:t>
            </a:r>
          </a:p>
          <a:p>
            <a:r>
              <a:rPr lang="pt-BR" dirty="0"/>
              <a:t> consiga checar se as informações disponíveis condizem com</a:t>
            </a:r>
          </a:p>
          <a:p>
            <a:r>
              <a:rPr lang="pt-BR" dirty="0"/>
              <a:t> a de um acesso já cadastrado no software e dê autorização</a:t>
            </a:r>
          </a:p>
          <a:p>
            <a:r>
              <a:rPr lang="pt-BR" dirty="0"/>
              <a:t> para que o usuário acesse recursos de sua respectiva função.</a:t>
            </a:r>
          </a:p>
          <a:p>
            <a:r>
              <a:rPr lang="pt-BR" dirty="0"/>
              <a:t> </a:t>
            </a:r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7B2C89-8EC6-2C55-E149-07BC82470D56}"/>
              </a:ext>
            </a:extLst>
          </p:cNvPr>
          <p:cNvSpPr txBox="1"/>
          <p:nvPr/>
        </p:nvSpPr>
        <p:spPr>
          <a:xfrm>
            <a:off x="4473642" y="4606692"/>
            <a:ext cx="3584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Análise de informações cadastradas.</a:t>
            </a:r>
          </a:p>
          <a:p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6DBB784-A09B-EDAE-0BAB-BD37BB2E5D6A}"/>
              </a:ext>
            </a:extLst>
          </p:cNvPr>
          <p:cNvSpPr txBox="1"/>
          <p:nvPr/>
        </p:nvSpPr>
        <p:spPr>
          <a:xfrm>
            <a:off x="6975976" y="380041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A745BAE-DAD8-C55C-14D7-10ECDBD06D0A}"/>
              </a:ext>
            </a:extLst>
          </p:cNvPr>
          <p:cNvSpPr txBox="1"/>
          <p:nvPr/>
        </p:nvSpPr>
        <p:spPr>
          <a:xfrm>
            <a:off x="4519955" y="5158697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Essencial 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RNF03</a:t>
            </a:r>
          </a:p>
        </p:txBody>
      </p:sp>
    </p:spTree>
    <p:extLst>
      <p:ext uri="{BB962C8B-B14F-4D97-AF65-F5344CB8AC3E}">
        <p14:creationId xmlns:p14="http://schemas.microsoft.com/office/powerpoint/2010/main" val="231771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/>
        </p:nvGraphicFramePr>
        <p:xfrm>
          <a:off x="1920283" y="1357608"/>
          <a:ext cx="8180779" cy="476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86909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6615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17017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3678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210790" y="1454786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RNF05                        NOME: Portabilidade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8" y="209715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537808" y="2823927"/>
            <a:ext cx="12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CATEGORIA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2693043" y="3680424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ESCOPO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598530" y="4591861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47142" y="5158697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52469" y="5657277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E4BC43-4D56-57BD-9F97-FA7D7EBD7C0B}"/>
              </a:ext>
            </a:extLst>
          </p:cNvPr>
          <p:cNvSpPr txBox="1"/>
          <p:nvPr/>
        </p:nvSpPr>
        <p:spPr>
          <a:xfrm>
            <a:off x="4385106" y="1968355"/>
            <a:ext cx="588661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Garantir que o software consiga ser operado em diferentes</a:t>
            </a:r>
          </a:p>
          <a:p>
            <a:r>
              <a:rPr lang="pt-BR" dirty="0"/>
              <a:t> sistemas e dispositivos.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Portabilidade.</a:t>
            </a:r>
          </a:p>
          <a:p>
            <a:r>
              <a:rPr lang="pt-BR" dirty="0"/>
              <a:t>
Garantir que o software de gerenciamento de inventário</a:t>
            </a:r>
          </a:p>
          <a:p>
            <a:r>
              <a:rPr lang="pt-BR" dirty="0"/>
              <a:t> funcione corretamente nos diferentes sistemas operacionais</a:t>
            </a:r>
          </a:p>
          <a:p>
            <a:r>
              <a:rPr lang="pt-BR" dirty="0"/>
              <a:t> e dispositivos móveis.</a:t>
            </a:r>
          </a:p>
          <a:p>
            <a:endParaRPr lang="pt-BR" dirty="0"/>
          </a:p>
          <a:p>
            <a:r>
              <a:rPr lang="pt-BR" dirty="0"/>
              <a:t>Sucesso da portabilidade e número de portabilidades </a:t>
            </a:r>
          </a:p>
          <a:p>
            <a:r>
              <a:rPr lang="pt-BR" dirty="0"/>
              <a:t>suportadas.</a:t>
            </a:r>
          </a:p>
          <a:p>
            <a:endParaRPr lang="pt-BR" dirty="0"/>
          </a:p>
          <a:p>
            <a:r>
              <a:rPr lang="pt-BR" dirty="0"/>
              <a:t>Desejável.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RNF02.</a:t>
            </a:r>
          </a:p>
        </p:txBody>
      </p:sp>
    </p:spTree>
    <p:extLst>
      <p:ext uri="{BB962C8B-B14F-4D97-AF65-F5344CB8AC3E}">
        <p14:creationId xmlns:p14="http://schemas.microsoft.com/office/powerpoint/2010/main" val="3818001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89416"/>
              </p:ext>
            </p:extLst>
          </p:nvPr>
        </p:nvGraphicFramePr>
        <p:xfrm>
          <a:off x="1867072" y="1422323"/>
          <a:ext cx="8180779" cy="476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86909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6615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17017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3678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210790" y="1454786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RNF06                        NOME: Interface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7" y="2097156"/>
            <a:ext cx="7563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                Garantir que o software tenha uma interface agradável aos</a:t>
            </a:r>
          </a:p>
          <a:p>
            <a:r>
              <a:rPr lang="pt-BR" dirty="0"/>
              <a:t>                                    olhos e fácil de usar.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537808" y="2823927"/>
            <a:ext cx="341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CATEGORIA                 Usabilidade.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4425615" y="3478561"/>
            <a:ext cx="5555594" cy="945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Garantir que o software de gerenciamento de inventário tenha uma interface que usuários inexperientes consigam utilizar com facilidade.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663473" y="4662207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47142" y="5287945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52469" y="5757414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C293F74-C725-356C-15B9-EE487CDCB1F3}"/>
              </a:ext>
            </a:extLst>
          </p:cNvPr>
          <p:cNvSpPr txBox="1"/>
          <p:nvPr/>
        </p:nvSpPr>
        <p:spPr>
          <a:xfrm>
            <a:off x="2729609" y="381899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ESCOPO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A175D7-AA4E-872C-9118-6BC00FD10509}"/>
              </a:ext>
            </a:extLst>
          </p:cNvPr>
          <p:cNvSpPr txBox="1"/>
          <p:nvPr/>
        </p:nvSpPr>
        <p:spPr>
          <a:xfrm>
            <a:off x="4400613" y="4680028"/>
            <a:ext cx="3113698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Menus para navegação.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DA2A0E-6511-1F68-BF29-7CD1F4CA6F15}"/>
              </a:ext>
            </a:extLst>
          </p:cNvPr>
          <p:cNvSpPr txBox="1"/>
          <p:nvPr/>
        </p:nvSpPr>
        <p:spPr>
          <a:xfrm>
            <a:off x="4425615" y="524695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Importante. </a:t>
            </a:r>
          </a:p>
        </p:txBody>
      </p:sp>
    </p:spTree>
    <p:extLst>
      <p:ext uri="{BB962C8B-B14F-4D97-AF65-F5344CB8AC3E}">
        <p14:creationId xmlns:p14="http://schemas.microsoft.com/office/powerpoint/2010/main" val="203257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4CDE27F-7162-4762-AA0F-0573C12A90C7}"/>
              </a:ext>
            </a:extLst>
          </p:cNvPr>
          <p:cNvGraphicFramePr>
            <a:graphicFrameLocks noGrp="1"/>
          </p:cNvGraphicFramePr>
          <p:nvPr/>
        </p:nvGraphicFramePr>
        <p:xfrm>
          <a:off x="1867072" y="1422323"/>
          <a:ext cx="8180779" cy="476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31">
                  <a:extLst>
                    <a:ext uri="{9D8B030D-6E8A-4147-A177-3AD203B41FA5}">
                      <a16:colId xmlns:a16="http://schemas.microsoft.com/office/drawing/2014/main" val="4134375123"/>
                    </a:ext>
                  </a:extLst>
                </a:gridCol>
                <a:gridCol w="5684048">
                  <a:extLst>
                    <a:ext uri="{9D8B030D-6E8A-4147-A177-3AD203B41FA5}">
                      <a16:colId xmlns:a16="http://schemas.microsoft.com/office/drawing/2014/main" val="4157989275"/>
                    </a:ext>
                  </a:extLst>
                </a:gridCol>
              </a:tblGrid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5554"/>
                  </a:ext>
                </a:extLst>
              </a:tr>
              <a:tr h="86909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29022"/>
                  </a:ext>
                </a:extLst>
              </a:tr>
              <a:tr h="56615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65063"/>
                  </a:ext>
                </a:extLst>
              </a:tr>
              <a:tr h="117017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3593"/>
                  </a:ext>
                </a:extLst>
              </a:tr>
              <a:tr h="63678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043166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170"/>
                  </a:ext>
                </a:extLst>
              </a:tr>
              <a:tr h="50622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464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596D0AE-665B-4375-927D-E96378977E2F}"/>
              </a:ext>
            </a:extLst>
          </p:cNvPr>
          <p:cNvSpPr txBox="1"/>
          <p:nvPr/>
        </p:nvSpPr>
        <p:spPr>
          <a:xfrm>
            <a:off x="2210790" y="1454786"/>
            <a:ext cx="777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IDENTIFICADOR                 RNF07                      NOME: Acessibilidade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5CCDFF-BDB8-4CE7-6A85-F3959A5FB3B1}"/>
              </a:ext>
            </a:extLst>
          </p:cNvPr>
          <p:cNvSpPr txBox="1"/>
          <p:nvPr/>
        </p:nvSpPr>
        <p:spPr>
          <a:xfrm>
            <a:off x="2537807" y="2097156"/>
            <a:ext cx="7563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                Garantir que o software seja acessível para usuários com</a:t>
            </a:r>
          </a:p>
          <a:p>
            <a:r>
              <a:rPr lang="pt-BR" dirty="0"/>
              <a:t>                                    alguma deficiência.                                            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31797D-4A4C-65A3-7051-3AB00351BEA0}"/>
              </a:ext>
            </a:extLst>
          </p:cNvPr>
          <p:cNvSpPr txBox="1"/>
          <p:nvPr/>
        </p:nvSpPr>
        <p:spPr>
          <a:xfrm>
            <a:off x="2537808" y="2823927"/>
            <a:ext cx="3265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CATEGORIA                Usabilidade.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534238-12ED-2C09-4BE0-C1C29AF10C88}"/>
              </a:ext>
            </a:extLst>
          </p:cNvPr>
          <p:cNvSpPr txBox="1"/>
          <p:nvPr/>
        </p:nvSpPr>
        <p:spPr>
          <a:xfrm>
            <a:off x="4425615" y="3489117"/>
            <a:ext cx="5555594" cy="945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Garantir que o software de gerenciamento de inventário consiga uma acessibilidade de qualidade para usuários deficientes.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9D6055-9598-E514-5ABA-419F5A912FB0}"/>
              </a:ext>
            </a:extLst>
          </p:cNvPr>
          <p:cNvSpPr txBox="1"/>
          <p:nvPr/>
        </p:nvSpPr>
        <p:spPr>
          <a:xfrm>
            <a:off x="2663473" y="4662207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252E1D-D6FA-5727-6C64-45110B5C8AF9}"/>
              </a:ext>
            </a:extLst>
          </p:cNvPr>
          <p:cNvSpPr txBox="1"/>
          <p:nvPr/>
        </p:nvSpPr>
        <p:spPr>
          <a:xfrm>
            <a:off x="2447142" y="5287945"/>
            <a:ext cx="134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F67102-8BAF-1115-F3F2-CAD0003E3848}"/>
              </a:ext>
            </a:extLst>
          </p:cNvPr>
          <p:cNvSpPr txBox="1"/>
          <p:nvPr/>
        </p:nvSpPr>
        <p:spPr>
          <a:xfrm>
            <a:off x="2352469" y="5757414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C293F74-C725-356C-15B9-EE487CDCB1F3}"/>
              </a:ext>
            </a:extLst>
          </p:cNvPr>
          <p:cNvSpPr txBox="1"/>
          <p:nvPr/>
        </p:nvSpPr>
        <p:spPr>
          <a:xfrm>
            <a:off x="2729609" y="381899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ESCOPO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A175D7-AA4E-872C-9118-6BC00FD10509}"/>
              </a:ext>
            </a:extLst>
          </p:cNvPr>
          <p:cNvSpPr txBox="1"/>
          <p:nvPr/>
        </p:nvSpPr>
        <p:spPr>
          <a:xfrm>
            <a:off x="4400612" y="4680028"/>
            <a:ext cx="543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 Controle por teclas auxiliares e configuração de texto.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DA2A0E-6511-1F68-BF29-7CD1F4CA6F15}"/>
              </a:ext>
            </a:extLst>
          </p:cNvPr>
          <p:cNvSpPr txBox="1"/>
          <p:nvPr/>
        </p:nvSpPr>
        <p:spPr>
          <a:xfrm>
            <a:off x="4425615" y="524695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Essencial.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FC25A2-31A0-3A8E-F444-F6FAF83350E9}"/>
              </a:ext>
            </a:extLst>
          </p:cNvPr>
          <p:cNvSpPr txBox="1"/>
          <p:nvPr/>
        </p:nvSpPr>
        <p:spPr>
          <a:xfrm>
            <a:off x="4400612" y="573817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RNF05 e RNF06</a:t>
            </a:r>
          </a:p>
        </p:txBody>
      </p:sp>
    </p:spTree>
    <p:extLst>
      <p:ext uri="{BB962C8B-B14F-4D97-AF65-F5344CB8AC3E}">
        <p14:creationId xmlns:p14="http://schemas.microsoft.com/office/powerpoint/2010/main" val="690077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B8E27-94DD-F833-8170-F1212BBF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6356"/>
            <a:ext cx="12191980" cy="6845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419E14-C4AC-424E-8877-52A84576D13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REGRAS DE NEGÓCIO</a:t>
            </a:r>
          </a:p>
        </p:txBody>
      </p:sp>
    </p:spTree>
    <p:extLst>
      <p:ext uri="{BB962C8B-B14F-4D97-AF65-F5344CB8AC3E}">
        <p14:creationId xmlns:p14="http://schemas.microsoft.com/office/powerpoint/2010/main" val="3536348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8BA00-F4D3-4BDE-BC71-43EA8664D1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60787685"/>
              </p:ext>
            </p:extLst>
          </p:nvPr>
        </p:nvGraphicFramePr>
        <p:xfrm>
          <a:off x="1552555" y="1813041"/>
          <a:ext cx="9314069" cy="3611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744">
                  <a:extLst>
                    <a:ext uri="{9D8B030D-6E8A-4147-A177-3AD203B41FA5}">
                      <a16:colId xmlns:a16="http://schemas.microsoft.com/office/drawing/2014/main" val="2753936930"/>
                    </a:ext>
                  </a:extLst>
                </a:gridCol>
                <a:gridCol w="6863325">
                  <a:extLst>
                    <a:ext uri="{9D8B030D-6E8A-4147-A177-3AD203B41FA5}">
                      <a16:colId xmlns:a16="http://schemas.microsoft.com/office/drawing/2014/main" val="2669269987"/>
                    </a:ext>
                  </a:extLst>
                </a:gridCol>
              </a:tblGrid>
              <a:tr h="947050">
                <a:tc>
                  <a:txBody>
                    <a:bodyPr/>
                    <a:lstStyle/>
                    <a:p>
                      <a:r>
                        <a:rPr lang="pt-BR" dirty="0"/>
                        <a:t>    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8351"/>
                  </a:ext>
                </a:extLst>
              </a:tr>
              <a:tr h="1118263">
                <a:tc>
                  <a:txBody>
                    <a:bodyPr/>
                    <a:lstStyle/>
                    <a:p>
                      <a:r>
                        <a:rPr lang="pt-BR" dirty="0"/>
                        <a:t>         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3420"/>
                  </a:ext>
                </a:extLst>
              </a:tr>
              <a:tr h="773200">
                <a:tc>
                  <a:txBody>
                    <a:bodyPr/>
                    <a:lstStyle/>
                    <a:p>
                      <a:r>
                        <a:rPr lang="pt-BR" dirty="0"/>
                        <a:t>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44638"/>
                  </a:ext>
                </a:extLst>
              </a:tr>
              <a:tr h="77320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418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67E637A-5DA3-4251-8A3A-AE94122DBE52}"/>
              </a:ext>
            </a:extLst>
          </p:cNvPr>
          <p:cNvSpPr txBox="1"/>
          <p:nvPr/>
        </p:nvSpPr>
        <p:spPr>
          <a:xfrm>
            <a:off x="2140402" y="4050767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D0A658-CA87-4B6E-A0B6-0A5B914018E9}"/>
              </a:ext>
            </a:extLst>
          </p:cNvPr>
          <p:cNvSpPr txBox="1"/>
          <p:nvPr/>
        </p:nvSpPr>
        <p:spPr>
          <a:xfrm>
            <a:off x="2140402" y="3138445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F62D41-BB2B-4A29-BE78-64289A66E8DA}"/>
              </a:ext>
            </a:extLst>
          </p:cNvPr>
          <p:cNvSpPr txBox="1"/>
          <p:nvPr/>
        </p:nvSpPr>
        <p:spPr>
          <a:xfrm>
            <a:off x="2015964" y="485682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10571-A17F-4F9E-AA3B-A87AFAE73CDD}"/>
              </a:ext>
            </a:extLst>
          </p:cNvPr>
          <p:cNvSpPr txBox="1"/>
          <p:nvPr/>
        </p:nvSpPr>
        <p:spPr>
          <a:xfrm>
            <a:off x="1745673" y="2149434"/>
            <a:ext cx="866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IDENTIFICADOR                    RN01                                      NOME: Pedido autônomo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3E51069-DA06-42C4-B83D-4E9054D88646}"/>
              </a:ext>
            </a:extLst>
          </p:cNvPr>
          <p:cNvSpPr txBox="1"/>
          <p:nvPr/>
        </p:nvSpPr>
        <p:spPr>
          <a:xfrm>
            <a:off x="4069349" y="2999945"/>
            <a:ext cx="6277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Implementar a regra que o software irá gerar uma notificação de</a:t>
            </a:r>
          </a:p>
          <a:p>
            <a:r>
              <a:rPr lang="pt-BR" dirty="0"/>
              <a:t> pedido caso o estoque de um produto seja inferior a 5 unidades.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90AA9A9-B9C3-A0C8-0DCE-D761884E3D45}"/>
              </a:ext>
            </a:extLst>
          </p:cNvPr>
          <p:cNvSpPr txBox="1"/>
          <p:nvPr/>
        </p:nvSpPr>
        <p:spPr>
          <a:xfrm>
            <a:off x="4340340" y="485682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RF01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9DBB66-5544-B0AD-3338-E0CB5E0DAA96}"/>
              </a:ext>
            </a:extLst>
          </p:cNvPr>
          <p:cNvSpPr txBox="1"/>
          <p:nvPr/>
        </p:nvSpPr>
        <p:spPr>
          <a:xfrm>
            <a:off x="4279336" y="405076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Essencial.</a:t>
            </a:r>
          </a:p>
        </p:txBody>
      </p:sp>
    </p:spTree>
    <p:extLst>
      <p:ext uri="{BB962C8B-B14F-4D97-AF65-F5344CB8AC3E}">
        <p14:creationId xmlns:p14="http://schemas.microsoft.com/office/powerpoint/2010/main" val="2324704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328BA00-F4D3-4BDE-BC71-43EA8664D1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95805260"/>
              </p:ext>
            </p:extLst>
          </p:nvPr>
        </p:nvGraphicFramePr>
        <p:xfrm>
          <a:off x="1612075" y="1921267"/>
          <a:ext cx="9278532" cy="349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394">
                  <a:extLst>
                    <a:ext uri="{9D8B030D-6E8A-4147-A177-3AD203B41FA5}">
                      <a16:colId xmlns:a16="http://schemas.microsoft.com/office/drawing/2014/main" val="2753936930"/>
                    </a:ext>
                  </a:extLst>
                </a:gridCol>
                <a:gridCol w="6837138">
                  <a:extLst>
                    <a:ext uri="{9D8B030D-6E8A-4147-A177-3AD203B41FA5}">
                      <a16:colId xmlns:a16="http://schemas.microsoft.com/office/drawing/2014/main" val="2669269987"/>
                    </a:ext>
                  </a:extLst>
                </a:gridCol>
              </a:tblGrid>
              <a:tr h="1012735">
                <a:tc>
                  <a:txBody>
                    <a:bodyPr/>
                    <a:lstStyle/>
                    <a:p>
                      <a:r>
                        <a:rPr lang="pt-BR" dirty="0"/>
                        <a:t>    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8351"/>
                  </a:ext>
                </a:extLst>
              </a:tr>
              <a:tr h="826827">
                <a:tc>
                  <a:txBody>
                    <a:bodyPr/>
                    <a:lstStyle/>
                    <a:p>
                      <a:r>
                        <a:rPr lang="pt-BR" dirty="0"/>
                        <a:t>         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3420"/>
                  </a:ext>
                </a:extLst>
              </a:tr>
              <a:tr h="826827">
                <a:tc>
                  <a:txBody>
                    <a:bodyPr/>
                    <a:lstStyle/>
                    <a:p>
                      <a:r>
                        <a:rPr lang="pt-BR" dirty="0"/>
                        <a:t>     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844638"/>
                  </a:ext>
                </a:extLst>
              </a:tr>
              <a:tr h="826827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4186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67E637A-5DA3-4251-8A3A-AE94122DBE52}"/>
              </a:ext>
            </a:extLst>
          </p:cNvPr>
          <p:cNvSpPr txBox="1"/>
          <p:nvPr/>
        </p:nvSpPr>
        <p:spPr>
          <a:xfrm>
            <a:off x="2180204" y="3910567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PRIORIDADE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D0A658-CA87-4B6E-A0B6-0A5B914018E9}"/>
              </a:ext>
            </a:extLst>
          </p:cNvPr>
          <p:cNvSpPr txBox="1"/>
          <p:nvPr/>
        </p:nvSpPr>
        <p:spPr>
          <a:xfrm>
            <a:off x="2215933" y="3085414"/>
            <a:ext cx="141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DESCRIÇÃO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F62D41-BB2B-4A29-BE78-64289A66E8DA}"/>
              </a:ext>
            </a:extLst>
          </p:cNvPr>
          <p:cNvSpPr txBox="1"/>
          <p:nvPr/>
        </p:nvSpPr>
        <p:spPr>
          <a:xfrm>
            <a:off x="2055766" y="4800220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DEPENDÊNCIA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10571-A17F-4F9E-AA3B-A87AFAE73CDD}"/>
              </a:ext>
            </a:extLst>
          </p:cNvPr>
          <p:cNvSpPr txBox="1"/>
          <p:nvPr/>
        </p:nvSpPr>
        <p:spPr>
          <a:xfrm>
            <a:off x="1745673" y="2149434"/>
            <a:ext cx="866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IDENTIFICADOR                  RN02                                     NOME: Relatórios mensal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4F4E01-CBEE-38C4-D517-8AB45EB9B019}"/>
              </a:ext>
            </a:extLst>
          </p:cNvPr>
          <p:cNvSpPr txBox="1"/>
          <p:nvPr/>
        </p:nvSpPr>
        <p:spPr>
          <a:xfrm>
            <a:off x="3981053" y="2866881"/>
            <a:ext cx="67162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Implementar a regra que o software irá gerar o relatório das vendas </a:t>
            </a:r>
          </a:p>
          <a:p>
            <a:r>
              <a:rPr lang="pt-BR" dirty="0"/>
              <a:t>mensalmente e que eles estejam disponíveis apenas para a equipe de</a:t>
            </a:r>
          </a:p>
          <a:p>
            <a:r>
              <a:rPr lang="pt-BR" dirty="0"/>
              <a:t> gestão e seus superiores.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E626C0-554C-9398-662B-0B6E30FFEA5B}"/>
              </a:ext>
            </a:extLst>
          </p:cNvPr>
          <p:cNvSpPr txBox="1"/>
          <p:nvPr/>
        </p:nvSpPr>
        <p:spPr>
          <a:xfrm>
            <a:off x="4294598" y="391056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Essencial.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B31EA55-FD41-B6E9-60E0-A945736F9698}"/>
              </a:ext>
            </a:extLst>
          </p:cNvPr>
          <p:cNvSpPr txBox="1"/>
          <p:nvPr/>
        </p:nvSpPr>
        <p:spPr>
          <a:xfrm>
            <a:off x="4037057" y="481669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dirty="0"/>
              <a:t>RF03 e RNF04</a:t>
            </a:r>
          </a:p>
        </p:txBody>
      </p:sp>
    </p:spTree>
    <p:extLst>
      <p:ext uri="{BB962C8B-B14F-4D97-AF65-F5344CB8AC3E}">
        <p14:creationId xmlns:p14="http://schemas.microsoft.com/office/powerpoint/2010/main" val="3977351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Props1.xml><?xml version="1.0" encoding="utf-8"?>
<ds:datastoreItem xmlns:ds="http://schemas.openxmlformats.org/officeDocument/2006/customXml" ds:itemID="{71285C42-372F-40B6-97E4-166CFEFC4F8A}"/>
</file>

<file path=customXml/itemProps2.xml><?xml version="1.0" encoding="utf-8"?>
<ds:datastoreItem xmlns:ds="http://schemas.openxmlformats.org/officeDocument/2006/customXml" ds:itemID="{903ADB93-C153-49E6-AFAC-925F24F7AAC7}"/>
</file>

<file path=customXml/itemProps3.xml><?xml version="1.0" encoding="utf-8"?>
<ds:datastoreItem xmlns:ds="http://schemas.openxmlformats.org/officeDocument/2006/customXml" ds:itemID="{C6EC63AC-699F-492D-BE27-DB60B97FD807}"/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545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Tema do Office</vt:lpstr>
      <vt:lpstr>APRESENTAÇÃO APS REQUISITOS  </vt:lpstr>
      <vt:lpstr>REQUISITOS FUNCIONAIS</vt:lpstr>
      <vt:lpstr>Apresentação do PowerPoint</vt:lpstr>
      <vt:lpstr>Apresentação do PowerPoint</vt:lpstr>
      <vt:lpstr>Apresentação do PowerPoint</vt:lpstr>
      <vt:lpstr>Apresentação do PowerPoint</vt:lpstr>
      <vt:lpstr>REQUISITOS NÃO FUNCIONAIS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REGRAS DE NEGÓCIO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REQUISITOS FUNCIONAIS</dc:title>
  <dc:creator>RODRIGO CAVANHA</dc:creator>
  <cp:lastModifiedBy>Sarah Valério ferreira</cp:lastModifiedBy>
  <cp:revision>7</cp:revision>
  <dcterms:created xsi:type="dcterms:W3CDTF">2024-06-03T17:56:31Z</dcterms:created>
  <dcterms:modified xsi:type="dcterms:W3CDTF">2024-06-05T01:51:36Z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0x0101003D534C94BE7ACC4B82DB0C57D8B917FB</vt:lpwstr>
  </property>
</Properties>
</file>