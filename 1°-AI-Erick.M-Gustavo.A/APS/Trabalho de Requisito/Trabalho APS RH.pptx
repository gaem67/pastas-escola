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Brasika" charset="1" panose="00000000000000000000"/>
      <p:regular r:id="rId26"/>
    </p:embeddedFont>
    <p:embeddedFont>
      <p:font typeface="Angelica" charset="1" panose="02000503080000020004"/>
      <p:regular r:id="rId27"/>
    </p:embeddedFont>
    <p:embeddedFont>
      <p:font typeface="Sanchez" charset="1" panose="02000000000000000000"/>
      <p:regular r:id="rId28"/>
    </p:embeddedFont>
    <p:embeddedFont>
      <p:font typeface="Chokana" charset="1" panose="00000000000000000000"/>
      <p:regular r:id="rId29"/>
    </p:embeddedFont>
    <p:embeddedFont>
      <p:font typeface="Open Sans" charset="1" panose="020B0606030504020204"/>
      <p:regular r:id="rId30"/>
    </p:embeddedFont>
    <p:embeddedFont>
      <p:font typeface="Antonio Bold" charset="1" panose="02000803000000000000"/>
      <p:regular r:id="rId31"/>
    </p:embeddedFont>
    <p:embeddedFont>
      <p:font typeface="Open Sans Bold" charset="1" panose="020B0806030504020204"/>
      <p:regular r:id="rId32"/>
    </p:embeddedFont>
    <p:embeddedFont>
      <p:font typeface="Open Sauce Bold" charset="1" panose="00000800000000000000"/>
      <p:regular r:id="rId33"/>
    </p:embeddedFont>
    <p:embeddedFont>
      <p:font typeface="Open Sauce" charset="1" panose="000005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26.fntdata"/><Relationship Id="rId21" Type="http://schemas.openxmlformats.org/officeDocument/2006/relationships/slide" Target="slides/slide16.xml"/><Relationship Id="rId3" Type="http://schemas.openxmlformats.org/officeDocument/2006/relationships/viewProps" Target="viewProps.xml"/><Relationship Id="rId34" Type="http://schemas.openxmlformats.org/officeDocument/2006/relationships/font" Target="fonts/font34.fntdata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font" Target="fonts/font33.fntdata"/><Relationship Id="rId7" Type="http://schemas.openxmlformats.org/officeDocument/2006/relationships/slide" Target="slides/slide2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29" Type="http://schemas.openxmlformats.org/officeDocument/2006/relationships/font" Target="fonts/font29.fntdata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32.fntdata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font" Target="fonts/font28.fntdata"/><Relationship Id="rId5" Type="http://schemas.openxmlformats.org/officeDocument/2006/relationships/tableStyles" Target="tableStyles.xml"/><Relationship Id="rId36" Type="http://schemas.openxmlformats.org/officeDocument/2006/relationships/customXml" Target="../customXml/item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31.fntdata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27.fntdata"/><Relationship Id="rId30" Type="http://schemas.openxmlformats.org/officeDocument/2006/relationships/font" Target="fonts/font30.fntdata"/><Relationship Id="rId4" Type="http://schemas.openxmlformats.org/officeDocument/2006/relationships/theme" Target="theme/theme1.xml"/><Relationship Id="rId9" Type="http://schemas.openxmlformats.org/officeDocument/2006/relationships/slide" Target="slides/slide4.xml"/><Relationship Id="rId35" Type="http://schemas.openxmlformats.org/officeDocument/2006/relationships/customXml" Target="../customXml/item1.xml"/><Relationship Id="rId8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88304" y="-1513365"/>
            <a:ext cx="13313729" cy="13313729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1A49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10232992" cy="2697789"/>
          </a:xfrm>
          <a:custGeom>
            <a:avLst/>
            <a:gdLst/>
            <a:ahLst/>
            <a:cxnLst/>
            <a:rect r="r" b="b" t="t" l="l"/>
            <a:pathLst>
              <a:path h="2697789" w="10232992">
                <a:moveTo>
                  <a:pt x="0" y="0"/>
                </a:moveTo>
                <a:lnTo>
                  <a:pt x="10232992" y="0"/>
                </a:lnTo>
                <a:lnTo>
                  <a:pt x="10232992" y="2697789"/>
                </a:lnTo>
                <a:lnTo>
                  <a:pt x="0" y="26977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538801" y="2533778"/>
            <a:ext cx="6419463" cy="641946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/>
              <a:stretch>
                <a:fillRect l="-25059" t="0" r="-25059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955863" y="2866174"/>
            <a:ext cx="5585339" cy="558533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2700000">
            <a:off x="15363945" y="4833158"/>
            <a:ext cx="544671" cy="4958766"/>
            <a:chOff x="0" y="0"/>
            <a:chExt cx="143452" cy="13060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3452" cy="1306012"/>
            </a:xfrm>
            <a:custGeom>
              <a:avLst/>
              <a:gdLst/>
              <a:ahLst/>
              <a:cxnLst/>
              <a:rect r="r" b="b" t="t" l="l"/>
              <a:pathLst>
                <a:path h="1306012" w="143452">
                  <a:moveTo>
                    <a:pt x="0" y="0"/>
                  </a:moveTo>
                  <a:lnTo>
                    <a:pt x="143452" y="0"/>
                  </a:lnTo>
                  <a:lnTo>
                    <a:pt x="143452" y="1306012"/>
                  </a:lnTo>
                  <a:lnTo>
                    <a:pt x="0" y="13060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43452" cy="1334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8100000">
            <a:off x="15207258" y="1260043"/>
            <a:ext cx="535305" cy="5424554"/>
            <a:chOff x="0" y="0"/>
            <a:chExt cx="140986" cy="14286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0986" cy="1428689"/>
            </a:xfrm>
            <a:custGeom>
              <a:avLst/>
              <a:gdLst/>
              <a:ahLst/>
              <a:cxnLst/>
              <a:rect r="r" b="b" t="t" l="l"/>
              <a:pathLst>
                <a:path h="1428689" w="140986">
                  <a:moveTo>
                    <a:pt x="0" y="0"/>
                  </a:moveTo>
                  <a:lnTo>
                    <a:pt x="140986" y="0"/>
                  </a:lnTo>
                  <a:lnTo>
                    <a:pt x="140986" y="1428689"/>
                  </a:lnTo>
                  <a:lnTo>
                    <a:pt x="0" y="142868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0986" cy="1457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798248" y="1223296"/>
            <a:ext cx="8962348" cy="16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58"/>
              </a:lnSpc>
            </a:pPr>
            <a:r>
              <a:rPr lang="en-US" sz="10780" spc="-485">
                <a:solidFill>
                  <a:srgbClr val="000000"/>
                </a:solidFill>
                <a:latin typeface="Brasika"/>
              </a:rPr>
              <a:t>TRABALHO                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8825" y="2866174"/>
            <a:ext cx="11985281" cy="665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4"/>
              </a:lnSpc>
            </a:pPr>
            <a:r>
              <a:rPr lang="en-US" sz="4403" spc="-198">
                <a:solidFill>
                  <a:srgbClr val="000000"/>
                </a:solidFill>
                <a:latin typeface="Angelica"/>
              </a:rPr>
              <a:t>ANALISE E PROJETO DE SISTEMAS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8825" y="4105814"/>
            <a:ext cx="7224216" cy="2343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4"/>
              </a:lnSpc>
            </a:pPr>
            <a:r>
              <a:rPr lang="en-US" sz="4482">
                <a:solidFill>
                  <a:srgbClr val="000000"/>
                </a:solidFill>
                <a:latin typeface="Sanchez"/>
              </a:rPr>
              <a:t>Alunos: Ricardo, Miguel, Matheus Rocha, Nickolas e Murilo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-1082855" y="6665428"/>
            <a:ext cx="6279422" cy="4413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43"/>
              </a:lnSpc>
            </a:pPr>
            <a:r>
              <a:rPr lang="en-US" sz="21959">
                <a:solidFill>
                  <a:srgbClr val="39515B"/>
                </a:solidFill>
                <a:latin typeface="Chokana"/>
              </a:rPr>
              <a:t>1  AI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7700" y="6913431"/>
            <a:ext cx="1386332" cy="2153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76"/>
              </a:lnSpc>
            </a:pPr>
            <a:r>
              <a:rPr lang="en-US" sz="10697">
                <a:solidFill>
                  <a:srgbClr val="39515B"/>
                </a:solidFill>
                <a:latin typeface="Chokana"/>
              </a:rPr>
              <a:t>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493166" y="-2345661"/>
            <a:ext cx="13885891" cy="15752129"/>
            <a:chOff x="0" y="0"/>
            <a:chExt cx="5597682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97682" cy="6350000"/>
            </a:xfrm>
            <a:custGeom>
              <a:avLst/>
              <a:gdLst/>
              <a:ahLst/>
              <a:cxnLst/>
              <a:rect r="r" b="b" t="t" l="l"/>
              <a:pathLst>
                <a:path h="6350000" w="5597682">
                  <a:moveTo>
                    <a:pt x="2798841" y="0"/>
                  </a:moveTo>
                  <a:cubicBezTo>
                    <a:pt x="1253084" y="0"/>
                    <a:pt x="0" y="1421496"/>
                    <a:pt x="0" y="3175000"/>
                  </a:cubicBezTo>
                  <a:cubicBezTo>
                    <a:pt x="0" y="4928504"/>
                    <a:pt x="1253084" y="6350000"/>
                    <a:pt x="2798841" y="6350000"/>
                  </a:cubicBezTo>
                  <a:cubicBezTo>
                    <a:pt x="4344598" y="6350000"/>
                    <a:pt x="5597682" y="4928504"/>
                    <a:pt x="5597682" y="3175000"/>
                  </a:cubicBezTo>
                  <a:cubicBezTo>
                    <a:pt x="5597682" y="1421496"/>
                    <a:pt x="4344598" y="0"/>
                    <a:pt x="2798841" y="0"/>
                  </a:cubicBezTo>
                  <a:close/>
                </a:path>
              </a:pathLst>
            </a:custGeom>
            <a:solidFill>
              <a:srgbClr val="01A49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54560" y="1619239"/>
            <a:ext cx="6569296" cy="6704764"/>
            <a:chOff x="0" y="0"/>
            <a:chExt cx="1730185" cy="17658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30185" cy="1765864"/>
            </a:xfrm>
            <a:custGeom>
              <a:avLst/>
              <a:gdLst/>
              <a:ahLst/>
              <a:cxnLst/>
              <a:rect r="r" b="b" t="t" l="l"/>
              <a:pathLst>
                <a:path h="1765864" w="1730185">
                  <a:moveTo>
                    <a:pt x="0" y="0"/>
                  </a:moveTo>
                  <a:lnTo>
                    <a:pt x="1730185" y="0"/>
                  </a:lnTo>
                  <a:lnTo>
                    <a:pt x="1730185" y="1765864"/>
                  </a:lnTo>
                  <a:lnTo>
                    <a:pt x="0" y="1765864"/>
                  </a:ln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730185" cy="1794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511959" y="1028700"/>
            <a:ext cx="6747341" cy="674734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6390" y="0"/>
                  </a:moveTo>
                  <a:lnTo>
                    <a:pt x="786410" y="0"/>
                  </a:lnTo>
                  <a:cubicBezTo>
                    <a:pt x="800985" y="0"/>
                    <a:pt x="812800" y="11815"/>
                    <a:pt x="812800" y="26390"/>
                  </a:cubicBezTo>
                  <a:lnTo>
                    <a:pt x="812800" y="786410"/>
                  </a:lnTo>
                  <a:cubicBezTo>
                    <a:pt x="812800" y="800985"/>
                    <a:pt x="800985" y="812800"/>
                    <a:pt x="786410" y="812800"/>
                  </a:cubicBezTo>
                  <a:lnTo>
                    <a:pt x="26390" y="812800"/>
                  </a:lnTo>
                  <a:cubicBezTo>
                    <a:pt x="11815" y="812800"/>
                    <a:pt x="0" y="800985"/>
                    <a:pt x="0" y="786410"/>
                  </a:cubicBezTo>
                  <a:lnTo>
                    <a:pt x="0" y="26390"/>
                  </a:lnTo>
                  <a:cubicBezTo>
                    <a:pt x="0" y="11815"/>
                    <a:pt x="11815" y="0"/>
                    <a:pt x="263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46628" y="942975"/>
            <a:ext cx="7972486" cy="7971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47"/>
              </a:lnSpc>
            </a:pPr>
            <a:r>
              <a:rPr lang="en-US" sz="4533">
                <a:solidFill>
                  <a:srgbClr val="FFFFFF"/>
                </a:solidFill>
                <a:latin typeface="Open Sans"/>
              </a:rPr>
              <a:t>Bom dia! Somos a equipe de desenvolvimento de sistemas e estamos aqui para apresentar uma solução eficiente para a gestão de recursos humanos, focada em processos de recrutamento, folha de pagamento e avaliação de desempenho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A4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7608" y="2845276"/>
            <a:ext cx="11923812" cy="7590112"/>
            <a:chOff x="0" y="0"/>
            <a:chExt cx="4458962" cy="2838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58962" cy="2838356"/>
            </a:xfrm>
            <a:custGeom>
              <a:avLst/>
              <a:gdLst/>
              <a:ahLst/>
              <a:cxnLst/>
              <a:rect r="r" b="b" t="t" l="l"/>
              <a:pathLst>
                <a:path h="2838356" w="4458962">
                  <a:moveTo>
                    <a:pt x="0" y="0"/>
                  </a:moveTo>
                  <a:lnTo>
                    <a:pt x="3439524" y="0"/>
                  </a:lnTo>
                  <a:cubicBezTo>
                    <a:pt x="4001853" y="0"/>
                    <a:pt x="4458962" y="290973"/>
                    <a:pt x="4458962" y="648924"/>
                  </a:cubicBezTo>
                  <a:lnTo>
                    <a:pt x="4458962" y="2838356"/>
                  </a:lnTo>
                  <a:lnTo>
                    <a:pt x="0" y="2838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88" t="0" r="-78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4483" y="611124"/>
            <a:ext cx="6545825" cy="2234151"/>
            <a:chOff x="0" y="0"/>
            <a:chExt cx="6350000" cy="21673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18485"/>
              <a:ext cx="6312027" cy="2130344"/>
            </a:xfrm>
            <a:custGeom>
              <a:avLst/>
              <a:gdLst/>
              <a:ahLst/>
              <a:cxnLst/>
              <a:rect r="r" b="b" t="t" l="l"/>
              <a:pathLst>
                <a:path h="2130344" w="6312027">
                  <a:moveTo>
                    <a:pt x="5214112" y="2130344"/>
                  </a:moveTo>
                  <a:lnTo>
                    <a:pt x="1097788" y="2130344"/>
                  </a:lnTo>
                  <a:cubicBezTo>
                    <a:pt x="491490" y="2130344"/>
                    <a:pt x="0" y="1653429"/>
                    <a:pt x="0" y="1065111"/>
                  </a:cubicBezTo>
                  <a:cubicBezTo>
                    <a:pt x="0" y="476915"/>
                    <a:pt x="491490" y="0"/>
                    <a:pt x="1097788" y="0"/>
                  </a:cubicBezTo>
                  <a:lnTo>
                    <a:pt x="5214239" y="0"/>
                  </a:lnTo>
                  <a:cubicBezTo>
                    <a:pt x="5820537" y="0"/>
                    <a:pt x="6312027" y="476915"/>
                    <a:pt x="6312027" y="1065234"/>
                  </a:cubicBezTo>
                  <a:cubicBezTo>
                    <a:pt x="6311900" y="1653429"/>
                    <a:pt x="5820410" y="2130344"/>
                    <a:pt x="5214112" y="2130344"/>
                  </a:cubicBezTo>
                  <a:close/>
                </a:path>
              </a:pathLst>
            </a:custGeom>
            <a:solidFill>
              <a:srgbClr val="F5F6F6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2167314"/>
            </a:xfrm>
            <a:custGeom>
              <a:avLst/>
              <a:gdLst/>
              <a:ahLst/>
              <a:cxnLst/>
              <a:rect r="r" b="b" t="t" l="l"/>
              <a:pathLst>
                <a:path h="2167314" w="6350000">
                  <a:moveTo>
                    <a:pt x="5233162" y="2167314"/>
                  </a:moveTo>
                  <a:lnTo>
                    <a:pt x="1116838" y="2167314"/>
                  </a:lnTo>
                  <a:cubicBezTo>
                    <a:pt x="501015" y="2167314"/>
                    <a:pt x="0" y="1681157"/>
                    <a:pt x="0" y="1083719"/>
                  </a:cubicBezTo>
                  <a:cubicBezTo>
                    <a:pt x="0" y="486158"/>
                    <a:pt x="501015" y="0"/>
                    <a:pt x="1116838" y="0"/>
                  </a:cubicBezTo>
                  <a:lnTo>
                    <a:pt x="5233289" y="0"/>
                  </a:lnTo>
                  <a:cubicBezTo>
                    <a:pt x="5848985" y="0"/>
                    <a:pt x="6350000" y="486158"/>
                    <a:pt x="6350000" y="1083719"/>
                  </a:cubicBezTo>
                  <a:cubicBezTo>
                    <a:pt x="6350000" y="1681157"/>
                    <a:pt x="5848985" y="2167314"/>
                    <a:pt x="5233162" y="2167314"/>
                  </a:cubicBezTo>
                  <a:close/>
                  <a:moveTo>
                    <a:pt x="1116838" y="36970"/>
                  </a:moveTo>
                  <a:cubicBezTo>
                    <a:pt x="521970" y="36970"/>
                    <a:pt x="38100" y="506491"/>
                    <a:pt x="38100" y="1083719"/>
                  </a:cubicBezTo>
                  <a:cubicBezTo>
                    <a:pt x="38100" y="1660823"/>
                    <a:pt x="521970" y="2130468"/>
                    <a:pt x="1116838" y="2130468"/>
                  </a:cubicBezTo>
                  <a:lnTo>
                    <a:pt x="5233289" y="2130468"/>
                  </a:lnTo>
                  <a:cubicBezTo>
                    <a:pt x="5828030" y="2130468"/>
                    <a:pt x="6312027" y="1660947"/>
                    <a:pt x="6312027" y="1083719"/>
                  </a:cubicBezTo>
                  <a:cubicBezTo>
                    <a:pt x="6311900" y="506491"/>
                    <a:pt x="5828030" y="36970"/>
                    <a:pt x="5233162" y="36970"/>
                  </a:cubicBezTo>
                  <a:lnTo>
                    <a:pt x="1116838" y="36970"/>
                  </a:lnTo>
                  <a:close/>
                </a:path>
              </a:pathLst>
            </a:custGeom>
            <a:solidFill>
              <a:srgbClr val="F5F6F6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765101" y="1078184"/>
            <a:ext cx="5465883" cy="1401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138"/>
              </a:lnSpc>
            </a:pPr>
            <a:r>
              <a:rPr lang="en-US" sz="9281" spc="-185">
                <a:solidFill>
                  <a:srgbClr val="01A490"/>
                </a:solidFill>
                <a:latin typeface="Antonio Bold"/>
              </a:rPr>
              <a:t>Objetivo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44988" y="1438114"/>
            <a:ext cx="8843012" cy="9202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Open Sans"/>
              </a:rPr>
              <a:t>O nosso cliente precisava de um sistema que auxiliasse a área de RH, então estamos aqui para desenvolver um sistema próprio para gerenciar processos de recrutamento, folhas de pagamento e avaliações de desempenho.</a:t>
            </a:r>
          </a:p>
          <a:p>
            <a:pPr algn="ctr">
              <a:lnSpc>
                <a:spcPts val="727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751203" cy="10287000"/>
          </a:xfrm>
          <a:prstGeom prst="rect">
            <a:avLst/>
          </a:prstGeom>
          <a:solidFill>
            <a:srgbClr val="01A490"/>
          </a:solidFill>
        </p:spPr>
      </p:sp>
      <p:sp>
        <p:nvSpPr>
          <p:cNvPr name="AutoShape 3" id="3"/>
          <p:cNvSpPr/>
          <p:nvPr/>
        </p:nvSpPr>
        <p:spPr>
          <a:xfrm rot="0">
            <a:off x="5751203" y="0"/>
            <a:ext cx="12536797" cy="3162300"/>
          </a:xfrm>
          <a:prstGeom prst="rect">
            <a:avLst/>
          </a:prstGeom>
          <a:solidFill>
            <a:srgbClr val="F1EEEE"/>
          </a:solid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1307784" y="3585634"/>
            <a:ext cx="6268843" cy="6268818"/>
            <a:chOff x="0" y="0"/>
            <a:chExt cx="6350000" cy="63499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0" t="-529" r="0" b="-52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5014" y="3902407"/>
            <a:ext cx="3961175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F1EEEE"/>
                </a:solidFill>
                <a:latin typeface="Antonio Bold"/>
              </a:rPr>
              <a:t>Requisitos Funcionais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97715" y="600788"/>
            <a:ext cx="11478911" cy="185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8"/>
              </a:lnSpc>
            </a:pPr>
            <a:r>
              <a:rPr lang="en-US" sz="5306">
                <a:solidFill>
                  <a:srgbClr val="39515B"/>
                </a:solidFill>
                <a:latin typeface="Open Sans Bold"/>
              </a:rPr>
              <a:t>Sistema de gestão de recursos humanos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646124" y="-1060568"/>
            <a:ext cx="10471590" cy="5235795"/>
          </a:xfrm>
          <a:custGeom>
            <a:avLst/>
            <a:gdLst/>
            <a:ahLst/>
            <a:cxnLst/>
            <a:rect r="r" b="b" t="t" l="l"/>
            <a:pathLst>
              <a:path h="5235795" w="10471590">
                <a:moveTo>
                  <a:pt x="0" y="0"/>
                </a:moveTo>
                <a:lnTo>
                  <a:pt x="10471590" y="0"/>
                </a:lnTo>
                <a:lnTo>
                  <a:pt x="10471590" y="5235795"/>
                </a:lnTo>
                <a:lnTo>
                  <a:pt x="0" y="5235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21862" y="5998171"/>
            <a:ext cx="6520258" cy="6520258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1A490"/>
            </a:solidFill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8700" y="2576355"/>
          <a:ext cx="15218948" cy="6726682"/>
        </p:xfrm>
        <a:graphic>
          <a:graphicData uri="http://schemas.openxmlformats.org/drawingml/2006/table">
            <a:tbl>
              <a:tblPr/>
              <a:tblGrid>
                <a:gridCol w="4381256"/>
                <a:gridCol w="10837692"/>
              </a:tblGrid>
              <a:tr h="10969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Identificador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Open Sauce Bold"/>
                        </a:rPr>
                        <a:t>RF01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</a:tr>
              <a:tr h="18504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Descrição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Open Sauce"/>
                        </a:rPr>
                        <a:t>O sistema deve permitir o registro de dados pessoais, profissionais e de contato, além de  informações detalhadas sobre habilidades, experiências e histórico profissional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09896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Prioridade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"/>
                        </a:rPr>
                        <a:t>Alta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0969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Dependência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5833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Métrica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Open Sauce"/>
                        </a:rPr>
                        <a:t>Tempo médio de cadastro, número de cadastros por mês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812706" y="509587"/>
            <a:ext cx="1521894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399"/>
              </a:lnSpc>
            </a:pPr>
            <a:r>
              <a:rPr lang="en-US" sz="6999" spc="-139">
                <a:solidFill>
                  <a:srgbClr val="000000"/>
                </a:solidFill>
                <a:latin typeface="Antonio Bold"/>
              </a:rPr>
              <a:t>Cadastro de Funcionários e Candidatos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646124" y="-1060568"/>
            <a:ext cx="10471590" cy="5235795"/>
          </a:xfrm>
          <a:custGeom>
            <a:avLst/>
            <a:gdLst/>
            <a:ahLst/>
            <a:cxnLst/>
            <a:rect r="r" b="b" t="t" l="l"/>
            <a:pathLst>
              <a:path h="5235795" w="10471590">
                <a:moveTo>
                  <a:pt x="0" y="0"/>
                </a:moveTo>
                <a:lnTo>
                  <a:pt x="10471590" y="0"/>
                </a:lnTo>
                <a:lnTo>
                  <a:pt x="10471590" y="5235795"/>
                </a:lnTo>
                <a:lnTo>
                  <a:pt x="0" y="5235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21862" y="5998171"/>
            <a:ext cx="6520258" cy="6520258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1A490"/>
            </a:solidFill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12706" y="2257729"/>
          <a:ext cx="15651369" cy="6433502"/>
        </p:xfrm>
        <a:graphic>
          <a:graphicData uri="http://schemas.openxmlformats.org/drawingml/2006/table">
            <a:tbl>
              <a:tblPr/>
              <a:tblGrid>
                <a:gridCol w="4517817"/>
                <a:gridCol w="11133552"/>
              </a:tblGrid>
              <a:tr h="10969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Identificador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Open Sauce Bold"/>
                        </a:rPr>
                        <a:t>RF02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</a:tr>
              <a:tr h="14117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Descrição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uce"/>
                        </a:rPr>
                        <a:t>O sistema deve calcular precisamente os salários com base em horas trabalhadas, salário base, benefícios e impostos.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0969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Prioridade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"/>
                        </a:rPr>
                        <a:t>Alta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0969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Dependência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Open Sauce"/>
                        </a:rPr>
                        <a:t>RF01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73071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Métrica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Open Sauce"/>
                        </a:rPr>
                        <a:t>Tempo de processamento por folha, precisão dos cálculos de pagamento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812706" y="509587"/>
            <a:ext cx="1521894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399"/>
              </a:lnSpc>
            </a:pPr>
            <a:r>
              <a:rPr lang="en-US" sz="6999" spc="-139">
                <a:solidFill>
                  <a:srgbClr val="000000"/>
                </a:solidFill>
                <a:latin typeface="Antonio Bold"/>
              </a:rPr>
              <a:t>Processamento de Folha de Pagamento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646124" y="-1060568"/>
            <a:ext cx="10471590" cy="5235795"/>
          </a:xfrm>
          <a:custGeom>
            <a:avLst/>
            <a:gdLst/>
            <a:ahLst/>
            <a:cxnLst/>
            <a:rect r="r" b="b" t="t" l="l"/>
            <a:pathLst>
              <a:path h="5235795" w="10471590">
                <a:moveTo>
                  <a:pt x="0" y="0"/>
                </a:moveTo>
                <a:lnTo>
                  <a:pt x="10471590" y="0"/>
                </a:lnTo>
                <a:lnTo>
                  <a:pt x="10471590" y="5235795"/>
                </a:lnTo>
                <a:lnTo>
                  <a:pt x="0" y="5235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21862" y="5998171"/>
            <a:ext cx="6520258" cy="6520258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1A490"/>
            </a:solidFill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12706" y="2257729"/>
          <a:ext cx="15651369" cy="6433502"/>
        </p:xfrm>
        <a:graphic>
          <a:graphicData uri="http://schemas.openxmlformats.org/drawingml/2006/table">
            <a:tbl>
              <a:tblPr/>
              <a:tblGrid>
                <a:gridCol w="4517817"/>
                <a:gridCol w="11133552"/>
              </a:tblGrid>
              <a:tr h="10969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Identificador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Open Sauce Bold"/>
                        </a:rPr>
                        <a:t>RF03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</a:tr>
              <a:tr h="14117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Descrição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uce"/>
                        </a:rPr>
                        <a:t>O sistema deve possibilitar a administração de seleção e de recrutamento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0969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Prioridade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"/>
                        </a:rPr>
                        <a:t>Média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0969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Dependência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Open Sauce"/>
                        </a:rPr>
                        <a:t>RF01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73071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Métrica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Open Sauce"/>
                        </a:rPr>
                        <a:t>empo médio para completar uma fase de recrutamento, taxa de sucesso de contratação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812706" y="557204"/>
            <a:ext cx="15218948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919"/>
              </a:lnSpc>
            </a:pPr>
            <a:r>
              <a:rPr lang="en-US" sz="6599" spc="-131">
                <a:solidFill>
                  <a:srgbClr val="000000"/>
                </a:solidFill>
                <a:latin typeface="Antonio Bold"/>
              </a:rPr>
              <a:t>Gestão de Processos de Recrutamento e Seleção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646124" y="-1060568"/>
            <a:ext cx="10471590" cy="5235795"/>
          </a:xfrm>
          <a:custGeom>
            <a:avLst/>
            <a:gdLst/>
            <a:ahLst/>
            <a:cxnLst/>
            <a:rect r="r" b="b" t="t" l="l"/>
            <a:pathLst>
              <a:path h="5235795" w="10471590">
                <a:moveTo>
                  <a:pt x="0" y="0"/>
                </a:moveTo>
                <a:lnTo>
                  <a:pt x="10471590" y="0"/>
                </a:lnTo>
                <a:lnTo>
                  <a:pt x="10471590" y="5235795"/>
                </a:lnTo>
                <a:lnTo>
                  <a:pt x="0" y="5235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21862" y="5998171"/>
            <a:ext cx="6520258" cy="6520258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1A490"/>
            </a:solidFill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12706" y="2257729"/>
          <a:ext cx="15651369" cy="6119177"/>
        </p:xfrm>
        <a:graphic>
          <a:graphicData uri="http://schemas.openxmlformats.org/drawingml/2006/table">
            <a:tbl>
              <a:tblPr/>
              <a:tblGrid>
                <a:gridCol w="4517817"/>
                <a:gridCol w="11133552"/>
              </a:tblGrid>
              <a:tr h="10970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Identificador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Open Sauce Bold"/>
                        </a:rPr>
                        <a:t>RF04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</a:tr>
              <a:tr h="10970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Descrição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uce"/>
                        </a:rPr>
                        <a:t>O sistema deve possibilitar a recepção de feedback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0970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Prioridade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"/>
                        </a:rPr>
                        <a:t>Média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0970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Dependência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Open Sauce"/>
                        </a:rPr>
                        <a:t>RF01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73084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Métrica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Open Sauce"/>
                        </a:rPr>
                        <a:t>Número de avaliações concluídas trimestralmente, tempo médio para completar uma avaliação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812706" y="557204"/>
            <a:ext cx="1521894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279"/>
              </a:lnSpc>
            </a:pPr>
            <a:r>
              <a:rPr lang="en-US" sz="6899" spc="-137">
                <a:solidFill>
                  <a:srgbClr val="000000"/>
                </a:solidFill>
                <a:latin typeface="Antonio Bold"/>
              </a:rPr>
              <a:t>Avaliação de Desempenho e Feedback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751203" cy="10287000"/>
          </a:xfrm>
          <a:prstGeom prst="rect">
            <a:avLst/>
          </a:prstGeom>
          <a:solidFill>
            <a:srgbClr val="01A490"/>
          </a:solidFill>
        </p:spPr>
      </p:sp>
      <p:sp>
        <p:nvSpPr>
          <p:cNvPr name="AutoShape 3" id="3"/>
          <p:cNvSpPr/>
          <p:nvPr/>
        </p:nvSpPr>
        <p:spPr>
          <a:xfrm rot="0">
            <a:off x="5751203" y="0"/>
            <a:ext cx="12536797" cy="3162300"/>
          </a:xfrm>
          <a:prstGeom prst="rect">
            <a:avLst/>
          </a:prstGeom>
          <a:solidFill>
            <a:srgbClr val="F1EEEE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895014" y="3373769"/>
            <a:ext cx="3961175" cy="316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spc="-139">
                <a:solidFill>
                  <a:srgbClr val="F1EEEE"/>
                </a:solidFill>
                <a:latin typeface="Antonio Bold"/>
              </a:rPr>
              <a:t>Requisitos</a:t>
            </a:r>
          </a:p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F1EEEE"/>
                </a:solidFill>
                <a:latin typeface="Antonio Bold"/>
              </a:rPr>
              <a:t>        Não Funcionais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97715" y="600788"/>
            <a:ext cx="11478911" cy="185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8"/>
              </a:lnSpc>
            </a:pPr>
            <a:r>
              <a:rPr lang="en-US" sz="5306">
                <a:solidFill>
                  <a:srgbClr val="39515B"/>
                </a:solidFill>
                <a:latin typeface="Open Sans Bold"/>
              </a:rPr>
              <a:t>Sistema de gestão de recursos humanos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139765" y="3502322"/>
            <a:ext cx="6454397" cy="6067494"/>
          </a:xfrm>
          <a:custGeom>
            <a:avLst/>
            <a:gdLst/>
            <a:ahLst/>
            <a:cxnLst/>
            <a:rect r="r" b="b" t="t" l="l"/>
            <a:pathLst>
              <a:path h="6067494" w="6454397">
                <a:moveTo>
                  <a:pt x="0" y="0"/>
                </a:moveTo>
                <a:lnTo>
                  <a:pt x="6454397" y="0"/>
                </a:lnTo>
                <a:lnTo>
                  <a:pt x="6454397" y="6067494"/>
                </a:lnTo>
                <a:lnTo>
                  <a:pt x="0" y="60674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88" r="0" b="-3188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646124" y="-1060568"/>
            <a:ext cx="10471590" cy="5235795"/>
          </a:xfrm>
          <a:custGeom>
            <a:avLst/>
            <a:gdLst/>
            <a:ahLst/>
            <a:cxnLst/>
            <a:rect r="r" b="b" t="t" l="l"/>
            <a:pathLst>
              <a:path h="5235795" w="10471590">
                <a:moveTo>
                  <a:pt x="0" y="0"/>
                </a:moveTo>
                <a:lnTo>
                  <a:pt x="10471590" y="0"/>
                </a:lnTo>
                <a:lnTo>
                  <a:pt x="10471590" y="5235795"/>
                </a:lnTo>
                <a:lnTo>
                  <a:pt x="0" y="5235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21862" y="5998171"/>
            <a:ext cx="6520258" cy="6520258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1A490"/>
            </a:solidFill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12706" y="2257729"/>
          <a:ext cx="15651369" cy="6554687"/>
        </p:xfrm>
        <a:graphic>
          <a:graphicData uri="http://schemas.openxmlformats.org/drawingml/2006/table">
            <a:tbl>
              <a:tblPr/>
              <a:tblGrid>
                <a:gridCol w="4517817"/>
                <a:gridCol w="11133552"/>
              </a:tblGrid>
              <a:tr h="10969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Identificador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Open Sauce Bold"/>
                        </a:rPr>
                        <a:t>RNF01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</a:tr>
              <a:tr h="10969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Descrição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uce"/>
                        </a:rPr>
                        <a:t>O sistema deve assegurar a segurança dos dados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0969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Prioridade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"/>
                        </a:rPr>
                        <a:t>Alta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0989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Dependência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Open Sauce"/>
                        </a:rPr>
                        <a:t>RF01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21648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Métrica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Open Sauce"/>
                        </a:rPr>
                        <a:t>Número de incidentes de segurança , tempo de resposta a incidentes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028700" y="657765"/>
            <a:ext cx="1521894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399"/>
              </a:lnSpc>
            </a:pPr>
            <a:r>
              <a:rPr lang="en-US" sz="6999" spc="-139">
                <a:solidFill>
                  <a:srgbClr val="000000"/>
                </a:solidFill>
                <a:latin typeface="Antonio Bold"/>
              </a:rPr>
              <a:t>Segurança dos Dados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646124" y="-1060568"/>
            <a:ext cx="10471590" cy="5235795"/>
          </a:xfrm>
          <a:custGeom>
            <a:avLst/>
            <a:gdLst/>
            <a:ahLst/>
            <a:cxnLst/>
            <a:rect r="r" b="b" t="t" l="l"/>
            <a:pathLst>
              <a:path h="5235795" w="10471590">
                <a:moveTo>
                  <a:pt x="0" y="0"/>
                </a:moveTo>
                <a:lnTo>
                  <a:pt x="10471590" y="0"/>
                </a:lnTo>
                <a:lnTo>
                  <a:pt x="10471590" y="5235795"/>
                </a:lnTo>
                <a:lnTo>
                  <a:pt x="0" y="5235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21862" y="5998171"/>
            <a:ext cx="6520258" cy="6520258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1A490"/>
            </a:solidFill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12706" y="2257729"/>
          <a:ext cx="15651369" cy="6119177"/>
        </p:xfrm>
        <a:graphic>
          <a:graphicData uri="http://schemas.openxmlformats.org/drawingml/2006/table">
            <a:tbl>
              <a:tblPr/>
              <a:tblGrid>
                <a:gridCol w="4517817"/>
                <a:gridCol w="11133552"/>
              </a:tblGrid>
              <a:tr h="10970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Identificador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Open Sauce Bold"/>
                        </a:rPr>
                        <a:t>RNF02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</a:tr>
              <a:tr h="10970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Descrição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uce"/>
                        </a:rPr>
                        <a:t>O sistema deve assegurar a privacidade dos dados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0970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Prioridade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"/>
                        </a:rPr>
                        <a:t>Alta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0970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Dependência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Open Sauce"/>
                        </a:rPr>
                        <a:t>RNF01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73084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Métrica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Open Sauce"/>
                        </a:rPr>
                        <a:t>Número de violações de privacidade, tempo para resolver violações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028700" y="657765"/>
            <a:ext cx="1521894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399"/>
              </a:lnSpc>
            </a:pPr>
            <a:r>
              <a:rPr lang="en-US" sz="6999" spc="-139">
                <a:solidFill>
                  <a:srgbClr val="000000"/>
                </a:solidFill>
                <a:latin typeface="Antonio Bold"/>
              </a:rPr>
              <a:t>Privacidade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646124" y="-1060568"/>
            <a:ext cx="10471590" cy="5235795"/>
          </a:xfrm>
          <a:custGeom>
            <a:avLst/>
            <a:gdLst/>
            <a:ahLst/>
            <a:cxnLst/>
            <a:rect r="r" b="b" t="t" l="l"/>
            <a:pathLst>
              <a:path h="5235795" w="10471590">
                <a:moveTo>
                  <a:pt x="0" y="0"/>
                </a:moveTo>
                <a:lnTo>
                  <a:pt x="10471590" y="0"/>
                </a:lnTo>
                <a:lnTo>
                  <a:pt x="10471590" y="5235795"/>
                </a:lnTo>
                <a:lnTo>
                  <a:pt x="0" y="5235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21862" y="5998171"/>
            <a:ext cx="6520258" cy="6520258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1A490"/>
            </a:solidFill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12706" y="2257729"/>
          <a:ext cx="15651369" cy="6433502"/>
        </p:xfrm>
        <a:graphic>
          <a:graphicData uri="http://schemas.openxmlformats.org/drawingml/2006/table">
            <a:tbl>
              <a:tblPr/>
              <a:tblGrid>
                <a:gridCol w="4517817"/>
                <a:gridCol w="11133552"/>
              </a:tblGrid>
              <a:tr h="10969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Identificador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Open Sauce Bold"/>
                        </a:rPr>
                        <a:t>RNF03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</a:tr>
              <a:tr h="14117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Descrição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uce"/>
                        </a:rPr>
                        <a:t>O sistema deve ser capaz de se integrar de forma eficiente e bidirecional com os sistemas de contabilidade da empresa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0969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Prioridade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"/>
                        </a:rPr>
                        <a:t>Média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0969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Dependência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73071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Métrica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Open Sauce"/>
                        </a:rPr>
                        <a:t>Número de sistemas integrados, tempo necessário para integrar novos sistemas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028700" y="657765"/>
            <a:ext cx="1521894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399"/>
              </a:lnSpc>
            </a:pPr>
            <a:r>
              <a:rPr lang="en-US" sz="6999" spc="-139">
                <a:solidFill>
                  <a:srgbClr val="000000"/>
                </a:solidFill>
                <a:latin typeface="Antonio Bold"/>
              </a:rPr>
              <a:t>Capacidade de Integração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646124" y="-1060568"/>
            <a:ext cx="10471590" cy="5235795"/>
          </a:xfrm>
          <a:custGeom>
            <a:avLst/>
            <a:gdLst/>
            <a:ahLst/>
            <a:cxnLst/>
            <a:rect r="r" b="b" t="t" l="l"/>
            <a:pathLst>
              <a:path h="5235795" w="10471590">
                <a:moveTo>
                  <a:pt x="0" y="0"/>
                </a:moveTo>
                <a:lnTo>
                  <a:pt x="10471590" y="0"/>
                </a:lnTo>
                <a:lnTo>
                  <a:pt x="10471590" y="5235795"/>
                </a:lnTo>
                <a:lnTo>
                  <a:pt x="0" y="5235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21862" y="5998171"/>
            <a:ext cx="6520258" cy="6520258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1A490"/>
            </a:solidFill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12706" y="2257729"/>
          <a:ext cx="15651369" cy="6119177"/>
        </p:xfrm>
        <a:graphic>
          <a:graphicData uri="http://schemas.openxmlformats.org/drawingml/2006/table">
            <a:tbl>
              <a:tblPr/>
              <a:tblGrid>
                <a:gridCol w="4517817"/>
                <a:gridCol w="11133552"/>
              </a:tblGrid>
              <a:tr h="10970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Identificador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Open Sauce Bold"/>
                        </a:rPr>
                        <a:t>RNF04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</a:tr>
              <a:tr h="10970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Descrição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uce"/>
                        </a:rPr>
                        <a:t>O sistema deve ser eficiente e intuitivo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0970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Prioridade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"/>
                        </a:rPr>
                        <a:t>Média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0970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Dependência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73084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Métrica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Open Sauce"/>
                        </a:rPr>
                        <a:t>Satisfação dos usuários, tempo médio para realizar tarefas no sistema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028700" y="657765"/>
            <a:ext cx="1521894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399"/>
              </a:lnSpc>
            </a:pPr>
            <a:r>
              <a:rPr lang="en-US" sz="6999" spc="-139">
                <a:solidFill>
                  <a:srgbClr val="000000"/>
                </a:solidFill>
                <a:latin typeface="Antonio Bold"/>
              </a:rPr>
              <a:t>Usabilidade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751203" cy="10287000"/>
          </a:xfrm>
          <a:prstGeom prst="rect">
            <a:avLst/>
          </a:prstGeom>
          <a:solidFill>
            <a:srgbClr val="01A490"/>
          </a:solidFill>
        </p:spPr>
      </p:sp>
      <p:sp>
        <p:nvSpPr>
          <p:cNvPr name="AutoShape 3" id="3"/>
          <p:cNvSpPr/>
          <p:nvPr/>
        </p:nvSpPr>
        <p:spPr>
          <a:xfrm rot="0">
            <a:off x="5751203" y="0"/>
            <a:ext cx="12536797" cy="3162300"/>
          </a:xfrm>
          <a:prstGeom prst="rect">
            <a:avLst/>
          </a:prstGeom>
          <a:solidFill>
            <a:srgbClr val="F1EEEE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7355233" y="3382384"/>
            <a:ext cx="9904067" cy="6134670"/>
          </a:xfrm>
          <a:custGeom>
            <a:avLst/>
            <a:gdLst/>
            <a:ahLst/>
            <a:cxnLst/>
            <a:rect r="r" b="b" t="t" l="l"/>
            <a:pathLst>
              <a:path h="6134670" w="9904067">
                <a:moveTo>
                  <a:pt x="0" y="0"/>
                </a:moveTo>
                <a:lnTo>
                  <a:pt x="9904067" y="0"/>
                </a:lnTo>
                <a:lnTo>
                  <a:pt x="9904067" y="6134670"/>
                </a:lnTo>
                <a:lnTo>
                  <a:pt x="0" y="6134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71" r="0" b="-377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557648"/>
            <a:ext cx="3730796" cy="517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72"/>
              </a:lnSpc>
            </a:pPr>
            <a:r>
              <a:rPr lang="en-US" sz="8560" spc="-171">
                <a:solidFill>
                  <a:srgbClr val="F1EEEE"/>
                </a:solidFill>
                <a:latin typeface="Antonio Bold"/>
              </a:rPr>
              <a:t>Regras</a:t>
            </a:r>
          </a:p>
          <a:p>
            <a:pPr algn="l">
              <a:lnSpc>
                <a:spcPts val="10272"/>
              </a:lnSpc>
            </a:pPr>
            <a:r>
              <a:rPr lang="en-US" sz="8560" spc="-171">
                <a:solidFill>
                  <a:srgbClr val="F1EEEE"/>
                </a:solidFill>
                <a:latin typeface="Antonio Bold"/>
              </a:rPr>
              <a:t>      de</a:t>
            </a:r>
          </a:p>
          <a:p>
            <a:pPr algn="l">
              <a:lnSpc>
                <a:spcPts val="10272"/>
              </a:lnSpc>
            </a:pPr>
            <a:r>
              <a:rPr lang="en-US" sz="8560" spc="-171">
                <a:solidFill>
                  <a:srgbClr val="F1EEEE"/>
                </a:solidFill>
                <a:latin typeface="Antonio Bold"/>
              </a:rPr>
              <a:t>Negócio</a:t>
            </a:r>
          </a:p>
          <a:p>
            <a:pPr algn="l" marL="0" indent="0" lvl="0">
              <a:lnSpc>
                <a:spcPts val="1027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097715" y="600788"/>
            <a:ext cx="11478911" cy="185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8"/>
              </a:lnSpc>
            </a:pPr>
            <a:r>
              <a:rPr lang="en-US" sz="5306">
                <a:solidFill>
                  <a:srgbClr val="39515B"/>
                </a:solidFill>
                <a:latin typeface="Open Sans Bold"/>
              </a:rPr>
              <a:t>Sistema de gestão de recursos humanos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646124" y="-1060568"/>
            <a:ext cx="10471590" cy="5235795"/>
          </a:xfrm>
          <a:custGeom>
            <a:avLst/>
            <a:gdLst/>
            <a:ahLst/>
            <a:cxnLst/>
            <a:rect r="r" b="b" t="t" l="l"/>
            <a:pathLst>
              <a:path h="5235795" w="10471590">
                <a:moveTo>
                  <a:pt x="0" y="0"/>
                </a:moveTo>
                <a:lnTo>
                  <a:pt x="10471590" y="0"/>
                </a:lnTo>
                <a:lnTo>
                  <a:pt x="10471590" y="5235795"/>
                </a:lnTo>
                <a:lnTo>
                  <a:pt x="0" y="5235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21862" y="5998171"/>
            <a:ext cx="6520258" cy="6520258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1A490"/>
            </a:solidFill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12706" y="2257729"/>
          <a:ext cx="15651369" cy="6553200"/>
        </p:xfrm>
        <a:graphic>
          <a:graphicData uri="http://schemas.openxmlformats.org/drawingml/2006/table">
            <a:tbl>
              <a:tblPr/>
              <a:tblGrid>
                <a:gridCol w="4517817"/>
                <a:gridCol w="11133552"/>
              </a:tblGrid>
              <a:tr h="10969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Identificador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Open Sauce Bold"/>
                        </a:rPr>
                        <a:t>RN01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</a:tr>
              <a:tr h="10969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Descrição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uce"/>
                        </a:rPr>
                        <a:t>Cada funcionário deve ter uma avaliação trimestral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0969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Prioridade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"/>
                        </a:rPr>
                        <a:t>Média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0969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Dependência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Open Sauce"/>
                        </a:rPr>
                        <a:t>RF04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21653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Métrica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Open Sauce"/>
                        </a:rPr>
                        <a:t>Percentual de avaliações realizadas no prazo, feedback dos funcionários sobre o processo de avaliação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028700" y="657765"/>
            <a:ext cx="1521894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399"/>
              </a:lnSpc>
            </a:pPr>
            <a:r>
              <a:rPr lang="en-US" sz="6999" spc="-139">
                <a:solidFill>
                  <a:srgbClr val="000000"/>
                </a:solidFill>
                <a:latin typeface="Antonio Bold"/>
              </a:rPr>
              <a:t>Avaliação Trimestral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646124" y="-1060568"/>
            <a:ext cx="10471590" cy="5235795"/>
          </a:xfrm>
          <a:custGeom>
            <a:avLst/>
            <a:gdLst/>
            <a:ahLst/>
            <a:cxnLst/>
            <a:rect r="r" b="b" t="t" l="l"/>
            <a:pathLst>
              <a:path h="5235795" w="10471590">
                <a:moveTo>
                  <a:pt x="0" y="0"/>
                </a:moveTo>
                <a:lnTo>
                  <a:pt x="10471590" y="0"/>
                </a:lnTo>
                <a:lnTo>
                  <a:pt x="10471590" y="5235795"/>
                </a:lnTo>
                <a:lnTo>
                  <a:pt x="0" y="5235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21862" y="5998171"/>
            <a:ext cx="6520258" cy="6520258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1A490"/>
            </a:solidFill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12706" y="2257729"/>
          <a:ext cx="15651369" cy="6119177"/>
        </p:xfrm>
        <a:graphic>
          <a:graphicData uri="http://schemas.openxmlformats.org/drawingml/2006/table">
            <a:tbl>
              <a:tblPr/>
              <a:tblGrid>
                <a:gridCol w="4517817"/>
                <a:gridCol w="11133552"/>
              </a:tblGrid>
              <a:tr h="10970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Identificador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Open Sauce Bold"/>
                        </a:rPr>
                        <a:t>RN02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</a:tr>
              <a:tr h="10970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Descrição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uce"/>
                        </a:rPr>
                        <a:t>As avaliações devem ser armazenadas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0970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Prioridade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"/>
                        </a:rPr>
                        <a:t>Média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0970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Dependência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Open Sauce"/>
                        </a:rPr>
                        <a:t>RN01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73084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Métrica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Open Sauce"/>
                        </a:rPr>
                        <a:t> Percentual de avaliações arquivadas corretamente, integridade dos dados armazenados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812706" y="668953"/>
            <a:ext cx="1225527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399"/>
              </a:lnSpc>
            </a:pPr>
            <a:r>
              <a:rPr lang="en-US" sz="6999" spc="-139">
                <a:solidFill>
                  <a:srgbClr val="000000"/>
                </a:solidFill>
                <a:latin typeface="Antonio Bold"/>
              </a:rPr>
              <a:t>Armazenamento de Avaliações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646124" y="-1060568"/>
            <a:ext cx="10471590" cy="5235795"/>
          </a:xfrm>
          <a:custGeom>
            <a:avLst/>
            <a:gdLst/>
            <a:ahLst/>
            <a:cxnLst/>
            <a:rect r="r" b="b" t="t" l="l"/>
            <a:pathLst>
              <a:path h="5235795" w="10471590">
                <a:moveTo>
                  <a:pt x="0" y="0"/>
                </a:moveTo>
                <a:lnTo>
                  <a:pt x="10471590" y="0"/>
                </a:lnTo>
                <a:lnTo>
                  <a:pt x="10471590" y="5235795"/>
                </a:lnTo>
                <a:lnTo>
                  <a:pt x="0" y="5235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21862" y="5998171"/>
            <a:ext cx="6520258" cy="6520258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1A490"/>
            </a:solidFill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12706" y="2257729"/>
          <a:ext cx="15651369" cy="6867525"/>
        </p:xfrm>
        <a:graphic>
          <a:graphicData uri="http://schemas.openxmlformats.org/drawingml/2006/table">
            <a:tbl>
              <a:tblPr/>
              <a:tblGrid>
                <a:gridCol w="4517817"/>
                <a:gridCol w="11133552"/>
              </a:tblGrid>
              <a:tr h="109689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Identificador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Open Sauce Bold"/>
                        </a:rPr>
                        <a:t>RN03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</a:tr>
              <a:tr h="14116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Descrição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uce"/>
                        </a:rPr>
                        <a:t>As políticas e práticas de recrutamento da empresa devem ser seguidas durante todas as fases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09689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Prioridade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"/>
                        </a:rPr>
                        <a:t>Alta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09689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Dependência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Open Sauce"/>
                        </a:rPr>
                        <a:t>RF03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21651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Métrica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Open Sauce"/>
                        </a:rPr>
                        <a:t>Percentual de processos de recrutamento que seguem as fases definidas, tempo médio para completar todas as fases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812706" y="668953"/>
            <a:ext cx="1225527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399"/>
              </a:lnSpc>
            </a:pPr>
            <a:r>
              <a:rPr lang="en-US" sz="6999" spc="-139">
                <a:solidFill>
                  <a:srgbClr val="000000"/>
                </a:solidFill>
                <a:latin typeface="Antonio Bold"/>
              </a:rPr>
              <a:t>Fases de Recrutamento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646124" y="-1060568"/>
            <a:ext cx="10471590" cy="5235795"/>
          </a:xfrm>
          <a:custGeom>
            <a:avLst/>
            <a:gdLst/>
            <a:ahLst/>
            <a:cxnLst/>
            <a:rect r="r" b="b" t="t" l="l"/>
            <a:pathLst>
              <a:path h="5235795" w="10471590">
                <a:moveTo>
                  <a:pt x="0" y="0"/>
                </a:moveTo>
                <a:lnTo>
                  <a:pt x="10471590" y="0"/>
                </a:lnTo>
                <a:lnTo>
                  <a:pt x="10471590" y="5235795"/>
                </a:lnTo>
                <a:lnTo>
                  <a:pt x="0" y="5235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21862" y="5998171"/>
            <a:ext cx="6520258" cy="6520258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1A490"/>
            </a:solidFill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12706" y="2257729"/>
          <a:ext cx="15651369" cy="6119177"/>
        </p:xfrm>
        <a:graphic>
          <a:graphicData uri="http://schemas.openxmlformats.org/drawingml/2006/table">
            <a:tbl>
              <a:tblPr/>
              <a:tblGrid>
                <a:gridCol w="4517817"/>
                <a:gridCol w="11133552"/>
              </a:tblGrid>
              <a:tr h="10970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Identificador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Open Sauce Bold"/>
                        </a:rPr>
                        <a:t>RN04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</a:tr>
              <a:tr h="10970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Descrição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uce"/>
                        </a:rPr>
                        <a:t>O sistema deve seguir as normas trabalhistas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0970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Prioridade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"/>
                        </a:rPr>
                        <a:t>Alta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0970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Dependência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Open Sauce"/>
                        </a:rPr>
                        <a:t>RF03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173084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Open Sauce Bold"/>
                        </a:rPr>
                        <a:t>Métrica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Open Sauce"/>
                        </a:rPr>
                        <a:t>Percentual de conformidade com leis trabalhistas, número de auditorias internas e externas realizadas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812706" y="668953"/>
            <a:ext cx="1225527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399"/>
              </a:lnSpc>
            </a:pPr>
            <a:r>
              <a:rPr lang="en-US" sz="6999" spc="-139">
                <a:solidFill>
                  <a:srgbClr val="000000"/>
                </a:solidFill>
                <a:latin typeface="Antonio Bold"/>
              </a:rPr>
              <a:t>Conformidade Legal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A4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7886701" cy="10287000"/>
          </a:xfrm>
          <a:prstGeom prst="rect">
            <a:avLst/>
          </a:prstGeom>
          <a:solidFill>
            <a:srgbClr val="F1EEEE"/>
          </a:solidFill>
        </p:spPr>
      </p:sp>
      <p:grpSp>
        <p:nvGrpSpPr>
          <p:cNvPr name="Group 3" id="3"/>
          <p:cNvGrpSpPr/>
          <p:nvPr/>
        </p:nvGrpSpPr>
        <p:grpSpPr>
          <a:xfrm rot="-3270436">
            <a:off x="-3819097" y="5388148"/>
            <a:ext cx="12098771" cy="6654453"/>
            <a:chOff x="0" y="0"/>
            <a:chExt cx="4060919" cy="22335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9050" y="19050"/>
              <a:ext cx="4022947" cy="2195449"/>
            </a:xfrm>
            <a:custGeom>
              <a:avLst/>
              <a:gdLst/>
              <a:ahLst/>
              <a:cxnLst/>
              <a:rect r="r" b="b" t="t" l="l"/>
              <a:pathLst>
                <a:path h="2195449" w="4022947">
                  <a:moveTo>
                    <a:pt x="2925031" y="2195449"/>
                  </a:moveTo>
                  <a:lnTo>
                    <a:pt x="1097788" y="2195449"/>
                  </a:lnTo>
                  <a:cubicBezTo>
                    <a:pt x="491490" y="2195449"/>
                    <a:pt x="0" y="1703959"/>
                    <a:pt x="0" y="1097661"/>
                  </a:cubicBezTo>
                  <a:cubicBezTo>
                    <a:pt x="0" y="491490"/>
                    <a:pt x="491490" y="0"/>
                    <a:pt x="1097788" y="0"/>
                  </a:cubicBezTo>
                  <a:lnTo>
                    <a:pt x="2925158" y="0"/>
                  </a:lnTo>
                  <a:cubicBezTo>
                    <a:pt x="3531457" y="0"/>
                    <a:pt x="4022947" y="491490"/>
                    <a:pt x="4022947" y="1097788"/>
                  </a:cubicBezTo>
                  <a:cubicBezTo>
                    <a:pt x="4022820" y="1703959"/>
                    <a:pt x="3531329" y="2195449"/>
                    <a:pt x="2925031" y="2195449"/>
                  </a:cubicBezTo>
                  <a:close/>
                </a:path>
              </a:pathLst>
            </a:custGeom>
            <a:solidFill>
              <a:srgbClr val="F1EEEE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60920" cy="2233549"/>
            </a:xfrm>
            <a:custGeom>
              <a:avLst/>
              <a:gdLst/>
              <a:ahLst/>
              <a:cxnLst/>
              <a:rect r="r" b="b" t="t" l="l"/>
              <a:pathLst>
                <a:path h="2233549" w="4060920">
                  <a:moveTo>
                    <a:pt x="2944081" y="2233549"/>
                  </a:moveTo>
                  <a:lnTo>
                    <a:pt x="1116838" y="2233549"/>
                  </a:lnTo>
                  <a:cubicBezTo>
                    <a:pt x="501015" y="2233549"/>
                    <a:pt x="0" y="1732534"/>
                    <a:pt x="0" y="1116838"/>
                  </a:cubicBezTo>
                  <a:cubicBezTo>
                    <a:pt x="0" y="501015"/>
                    <a:pt x="501015" y="0"/>
                    <a:pt x="1116838" y="0"/>
                  </a:cubicBezTo>
                  <a:lnTo>
                    <a:pt x="2944208" y="0"/>
                  </a:lnTo>
                  <a:cubicBezTo>
                    <a:pt x="3559904" y="0"/>
                    <a:pt x="4060920" y="501015"/>
                    <a:pt x="4060920" y="1116838"/>
                  </a:cubicBezTo>
                  <a:cubicBezTo>
                    <a:pt x="4060920" y="1732534"/>
                    <a:pt x="3559904" y="2233549"/>
                    <a:pt x="2944081" y="2233549"/>
                  </a:cubicBezTo>
                  <a:close/>
                  <a:moveTo>
                    <a:pt x="1116838" y="38100"/>
                  </a:moveTo>
                  <a:cubicBezTo>
                    <a:pt x="521970" y="38100"/>
                    <a:pt x="38100" y="521970"/>
                    <a:pt x="38100" y="1116838"/>
                  </a:cubicBezTo>
                  <a:cubicBezTo>
                    <a:pt x="38100" y="1711579"/>
                    <a:pt x="521970" y="2195576"/>
                    <a:pt x="1116838" y="2195576"/>
                  </a:cubicBezTo>
                  <a:lnTo>
                    <a:pt x="2944208" y="2195576"/>
                  </a:lnTo>
                  <a:cubicBezTo>
                    <a:pt x="3538950" y="2195576"/>
                    <a:pt x="4022947" y="1711706"/>
                    <a:pt x="4022947" y="1116838"/>
                  </a:cubicBezTo>
                  <a:cubicBezTo>
                    <a:pt x="4022820" y="521970"/>
                    <a:pt x="3538949" y="38100"/>
                    <a:pt x="2944081" y="38100"/>
                  </a:cubicBezTo>
                  <a:lnTo>
                    <a:pt x="1116838" y="38100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028700" y="3822244"/>
            <a:ext cx="5552665" cy="5552643"/>
            <a:chOff x="0" y="0"/>
            <a:chExt cx="6350000" cy="63499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10333" t="0" r="-10333" b="0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 flipV="true">
            <a:off x="8769944" y="1028700"/>
            <a:ext cx="10023222" cy="0"/>
          </a:xfrm>
          <a:prstGeom prst="line">
            <a:avLst/>
          </a:prstGeom>
          <a:ln cap="rnd" w="752475">
            <a:solidFill>
              <a:srgbClr val="68D6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9485977" y="664901"/>
            <a:ext cx="6029216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15"/>
              </a:lnSpc>
            </a:pPr>
            <a:r>
              <a:rPr lang="en-US" sz="5096" spc="-101">
                <a:solidFill>
                  <a:srgbClr val="FFFFFF"/>
                </a:solidFill>
                <a:latin typeface="Antonio Bold"/>
              </a:rPr>
              <a:t>Conclusão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51552" y="1896111"/>
            <a:ext cx="7767866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Open Sans"/>
              </a:rPr>
              <a:t>Por fim, os benefícios do nosso sistema são: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86701" y="4112261"/>
            <a:ext cx="10243604" cy="487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4642">
                <a:solidFill>
                  <a:srgbClr val="FFFFFF"/>
                </a:solidFill>
                <a:latin typeface="Open Sans"/>
              </a:rPr>
              <a:t>•Eficiência nos processos de RH.</a:t>
            </a:r>
          </a:p>
          <a:p>
            <a:pPr algn="ctr">
              <a:lnSpc>
                <a:spcPts val="6500"/>
              </a:lnSpc>
            </a:pPr>
          </a:p>
          <a:p>
            <a:pPr algn="ctr">
              <a:lnSpc>
                <a:spcPts val="6500"/>
              </a:lnSpc>
            </a:pPr>
            <a:r>
              <a:rPr lang="en-US" sz="4642">
                <a:solidFill>
                  <a:srgbClr val="FFFFFF"/>
                </a:solidFill>
                <a:latin typeface="Open Sans"/>
              </a:rPr>
              <a:t>•</a:t>
            </a:r>
            <a:r>
              <a:rPr lang="en-US" sz="4642">
                <a:solidFill>
                  <a:srgbClr val="FFFFFF"/>
                </a:solidFill>
                <a:latin typeface="Open Sans"/>
              </a:rPr>
              <a:t>Melhor gerenciamento de talentos.</a:t>
            </a:r>
          </a:p>
          <a:p>
            <a:pPr algn="ctr">
              <a:lnSpc>
                <a:spcPts val="6500"/>
              </a:lnSpc>
            </a:pPr>
          </a:p>
          <a:p>
            <a:pPr algn="ctr">
              <a:lnSpc>
                <a:spcPts val="6500"/>
              </a:lnSpc>
            </a:pPr>
            <a:r>
              <a:rPr lang="en-US" sz="4642">
                <a:solidFill>
                  <a:srgbClr val="FFFFFF"/>
                </a:solidFill>
                <a:latin typeface="Open Sans"/>
              </a:rPr>
              <a:t>•</a:t>
            </a:r>
            <a:r>
              <a:rPr lang="en-US" sz="4642">
                <a:solidFill>
                  <a:srgbClr val="FFFFFF"/>
                </a:solidFill>
                <a:latin typeface="Open Sans"/>
              </a:rPr>
              <a:t>Conformidade com requisitos legais e de segurança.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866395" cy="10287000"/>
          </a:xfrm>
          <a:prstGeom prst="rect">
            <a:avLst/>
          </a:prstGeom>
          <a:solidFill>
            <a:srgbClr val="01A490"/>
          </a:solidFill>
        </p:spPr>
      </p:sp>
      <p:sp>
        <p:nvSpPr>
          <p:cNvPr name="AutoShape 3" id="3"/>
          <p:cNvSpPr/>
          <p:nvPr/>
        </p:nvSpPr>
        <p:spPr>
          <a:xfrm rot="0">
            <a:off x="6866395" y="0"/>
            <a:ext cx="11421605" cy="3162300"/>
          </a:xfrm>
          <a:prstGeom prst="rect">
            <a:avLst/>
          </a:prstGeom>
          <a:solidFill>
            <a:srgbClr val="F1EEEE"/>
          </a:solidFill>
        </p:spPr>
      </p:sp>
      <p:grpSp>
        <p:nvGrpSpPr>
          <p:cNvPr name="Group 4" id="4"/>
          <p:cNvGrpSpPr/>
          <p:nvPr/>
        </p:nvGrpSpPr>
        <p:grpSpPr>
          <a:xfrm rot="0">
            <a:off x="8079134" y="3849688"/>
            <a:ext cx="4442614" cy="5463797"/>
            <a:chOff x="0" y="0"/>
            <a:chExt cx="5923485" cy="72850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23485" cy="7285063"/>
            </a:xfrm>
            <a:custGeom>
              <a:avLst/>
              <a:gdLst/>
              <a:ahLst/>
              <a:cxnLst/>
              <a:rect r="r" b="b" t="t" l="l"/>
              <a:pathLst>
                <a:path h="7285063" w="5923485">
                  <a:moveTo>
                    <a:pt x="0" y="0"/>
                  </a:moveTo>
                  <a:lnTo>
                    <a:pt x="5923485" y="0"/>
                  </a:lnTo>
                  <a:lnTo>
                    <a:pt x="5923485" y="7285063"/>
                  </a:lnTo>
                  <a:lnTo>
                    <a:pt x="0" y="7285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019602" y="5717654"/>
            <a:ext cx="5876498" cy="4237086"/>
            <a:chOff x="0" y="0"/>
            <a:chExt cx="7835331" cy="56494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35331" cy="5649448"/>
            </a:xfrm>
            <a:custGeom>
              <a:avLst/>
              <a:gdLst/>
              <a:ahLst/>
              <a:cxnLst/>
              <a:rect r="r" b="b" t="t" l="l"/>
              <a:pathLst>
                <a:path h="5649448" w="7835331">
                  <a:moveTo>
                    <a:pt x="0" y="0"/>
                  </a:moveTo>
                  <a:lnTo>
                    <a:pt x="7835331" y="0"/>
                  </a:lnTo>
                  <a:lnTo>
                    <a:pt x="7835331" y="5649448"/>
                  </a:lnTo>
                  <a:lnTo>
                    <a:pt x="0" y="5649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546903" y="1019175"/>
            <a:ext cx="8945398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19"/>
              </a:lnSpc>
            </a:pPr>
            <a:r>
              <a:rPr lang="en-US" sz="7599" spc="-151">
                <a:solidFill>
                  <a:srgbClr val="39515B"/>
                </a:solidFill>
                <a:latin typeface="Antonio Bold"/>
              </a:rPr>
              <a:t>Obrigado pela atenção!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184" y="2105025"/>
            <a:ext cx="6682026" cy="6149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4"/>
              </a:lnSpc>
            </a:pPr>
            <a:r>
              <a:rPr lang="en-US" sz="3888">
                <a:solidFill>
                  <a:srgbClr val="F5F6F6"/>
                </a:solidFill>
                <a:latin typeface="Open Sans Bold"/>
              </a:rPr>
              <a:t>Matheus Rocha RM: 241038</a:t>
            </a:r>
          </a:p>
          <a:p>
            <a:pPr algn="ctr">
              <a:lnSpc>
                <a:spcPts val="5444"/>
              </a:lnSpc>
            </a:pPr>
          </a:p>
          <a:p>
            <a:pPr algn="ctr">
              <a:lnSpc>
                <a:spcPts val="5444"/>
              </a:lnSpc>
            </a:pPr>
            <a:r>
              <a:rPr lang="en-US" sz="3888">
                <a:solidFill>
                  <a:srgbClr val="F5F6F6"/>
                </a:solidFill>
                <a:latin typeface="Open Sans Bold"/>
              </a:rPr>
              <a:t>Miguel RM: 241033</a:t>
            </a:r>
          </a:p>
          <a:p>
            <a:pPr algn="ctr">
              <a:lnSpc>
                <a:spcPts val="5444"/>
              </a:lnSpc>
            </a:pPr>
          </a:p>
          <a:p>
            <a:pPr algn="ctr">
              <a:lnSpc>
                <a:spcPts val="5444"/>
              </a:lnSpc>
            </a:pPr>
            <a:r>
              <a:rPr lang="en-US" sz="3888">
                <a:solidFill>
                  <a:srgbClr val="F5F6F6"/>
                </a:solidFill>
                <a:latin typeface="Open Sans Bold"/>
              </a:rPr>
              <a:t>Murilo RM: 241536</a:t>
            </a:r>
          </a:p>
          <a:p>
            <a:pPr algn="ctr">
              <a:lnSpc>
                <a:spcPts val="5444"/>
              </a:lnSpc>
            </a:pPr>
          </a:p>
          <a:p>
            <a:pPr algn="ctr">
              <a:lnSpc>
                <a:spcPts val="5444"/>
              </a:lnSpc>
            </a:pPr>
            <a:r>
              <a:rPr lang="en-US" sz="3888">
                <a:solidFill>
                  <a:srgbClr val="F5F6F6"/>
                </a:solidFill>
                <a:latin typeface="Open Sans Bold"/>
              </a:rPr>
              <a:t>Nickolas RM: 241044</a:t>
            </a:r>
          </a:p>
          <a:p>
            <a:pPr algn="ctr">
              <a:lnSpc>
                <a:spcPts val="5444"/>
              </a:lnSpc>
            </a:pPr>
          </a:p>
          <a:p>
            <a:pPr algn="ctr">
              <a:lnSpc>
                <a:spcPts val="5444"/>
              </a:lnSpc>
            </a:pPr>
            <a:r>
              <a:rPr lang="en-US" sz="3888">
                <a:solidFill>
                  <a:srgbClr val="F5F6F6"/>
                </a:solidFill>
                <a:latin typeface="Open Sans Bold"/>
              </a:rPr>
              <a:t>Ricardo RM: 241045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D534C94BE7ACC4B82DB0C57D8B917FB" ma:contentTypeVersion="5" ma:contentTypeDescription="Crie um novo documento." ma:contentTypeScope="" ma:versionID="62a2c0150b63379dfc6dc29281e4e6f5">
  <xsd:schema xmlns:xsd="http://www.w3.org/2001/XMLSchema" xmlns:xs="http://www.w3.org/2001/XMLSchema" xmlns:p="http://schemas.microsoft.com/office/2006/metadata/properties" xmlns:ns2="c71b2e08-5f48-4826-b3b9-729c518ea3db" targetNamespace="http://schemas.microsoft.com/office/2006/metadata/properties" ma:root="true" ma:fieldsID="e31b8c47eae556db8a51ed9dd6ca2eeb" ns2:_="">
    <xsd:import namespace="c71b2e08-5f48-4826-b3b9-729c518ea3db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1b2e08-5f48-4826-b3b9-729c518ea3d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932FD2A-009B-475A-82F5-4C8E29BF031A}"/>
</file>

<file path=customXml/itemProps2.xml><?xml version="1.0" encoding="utf-8"?>
<ds:datastoreItem xmlns:ds="http://schemas.openxmlformats.org/officeDocument/2006/customXml" ds:itemID="{8157F68C-BFC8-4836-9F61-FC27BCD6CC19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DAGFItDiHLE</dc:identifier>
  <dcterms:modified xsi:type="dcterms:W3CDTF">2011-08-01T06:04:30Z</dcterms:modified>
  <cp:revision>1</cp:revision>
  <dc:title>Trabalho APS RH</dc:title>
</cp:coreProperties>
</file>